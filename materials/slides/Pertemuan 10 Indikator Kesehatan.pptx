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60" r:id="rId5"/>
    <p:sldMasterId id="2147483673" r:id="rId6"/>
  </p:sldMasterIdLst>
  <p:notesMasterIdLst>
    <p:notesMasterId r:id="rId98"/>
  </p:notesMasterIdLst>
  <p:handoutMasterIdLst>
    <p:handoutMasterId r:id="rId99"/>
  </p:handoutMasterIdLst>
  <p:sldIdLst>
    <p:sldId id="257" r:id="rId7"/>
    <p:sldId id="2752" r:id="rId8"/>
    <p:sldId id="2755" r:id="rId9"/>
    <p:sldId id="2756" r:id="rId10"/>
    <p:sldId id="2759" r:id="rId11"/>
    <p:sldId id="2762" r:id="rId12"/>
    <p:sldId id="2757" r:id="rId13"/>
    <p:sldId id="2754" r:id="rId14"/>
    <p:sldId id="2767" r:id="rId15"/>
    <p:sldId id="2768" r:id="rId16"/>
    <p:sldId id="2769" r:id="rId17"/>
    <p:sldId id="2852" r:id="rId18"/>
    <p:sldId id="2929" r:id="rId19"/>
    <p:sldId id="2917" r:id="rId20"/>
    <p:sldId id="2782" r:id="rId21"/>
    <p:sldId id="2772" r:id="rId22"/>
    <p:sldId id="2922" r:id="rId23"/>
    <p:sldId id="2930" r:id="rId24"/>
    <p:sldId id="2931" r:id="rId25"/>
    <p:sldId id="2920" r:id="rId26"/>
    <p:sldId id="2923" r:id="rId27"/>
    <p:sldId id="2928" r:id="rId28"/>
    <p:sldId id="2921" r:id="rId29"/>
    <p:sldId id="2935" r:id="rId30"/>
    <p:sldId id="2936" r:id="rId31"/>
    <p:sldId id="2940" r:id="rId32"/>
    <p:sldId id="2939" r:id="rId33"/>
    <p:sldId id="2933" r:id="rId34"/>
    <p:sldId id="2934" r:id="rId35"/>
    <p:sldId id="2771" r:id="rId36"/>
    <p:sldId id="2770" r:id="rId37"/>
    <p:sldId id="2773" r:id="rId38"/>
    <p:sldId id="2761" r:id="rId39"/>
    <p:sldId id="2777" r:id="rId40"/>
    <p:sldId id="2778" r:id="rId41"/>
    <p:sldId id="2779" r:id="rId42"/>
    <p:sldId id="2758" r:id="rId43"/>
    <p:sldId id="2753" r:id="rId44"/>
    <p:sldId id="2764" r:id="rId45"/>
    <p:sldId id="2776" r:id="rId46"/>
    <p:sldId id="2774" r:id="rId47"/>
    <p:sldId id="2775" r:id="rId48"/>
    <p:sldId id="2763" r:id="rId49"/>
    <p:sldId id="381" r:id="rId50"/>
    <p:sldId id="2635" r:id="rId51"/>
    <p:sldId id="2702" r:id="rId52"/>
    <p:sldId id="2703" r:id="rId53"/>
    <p:sldId id="2706" r:id="rId54"/>
    <p:sldId id="2704" r:id="rId55"/>
    <p:sldId id="2705" r:id="rId56"/>
    <p:sldId id="2707" r:id="rId57"/>
    <p:sldId id="2708" r:id="rId58"/>
    <p:sldId id="2709" r:id="rId59"/>
    <p:sldId id="2710" r:id="rId60"/>
    <p:sldId id="2713" r:id="rId61"/>
    <p:sldId id="2716" r:id="rId62"/>
    <p:sldId id="2717" r:id="rId63"/>
    <p:sldId id="2714" r:id="rId64"/>
    <p:sldId id="2715" r:id="rId65"/>
    <p:sldId id="2850" r:id="rId66"/>
    <p:sldId id="2718" r:id="rId67"/>
    <p:sldId id="2820" r:id="rId68"/>
    <p:sldId id="2821" r:id="rId69"/>
    <p:sldId id="2822" r:id="rId70"/>
    <p:sldId id="2823" r:id="rId71"/>
    <p:sldId id="2824" r:id="rId72"/>
    <p:sldId id="2825" r:id="rId73"/>
    <p:sldId id="2826" r:id="rId74"/>
    <p:sldId id="2827" r:id="rId75"/>
    <p:sldId id="2828" r:id="rId76"/>
    <p:sldId id="2829" r:id="rId77"/>
    <p:sldId id="2830" r:id="rId78"/>
    <p:sldId id="2831" r:id="rId79"/>
    <p:sldId id="2832" r:id="rId80"/>
    <p:sldId id="2833" r:id="rId81"/>
    <p:sldId id="2834" r:id="rId82"/>
    <p:sldId id="2835" r:id="rId83"/>
    <p:sldId id="2836" r:id="rId84"/>
    <p:sldId id="2837" r:id="rId85"/>
    <p:sldId id="2838" r:id="rId86"/>
    <p:sldId id="2839" r:id="rId87"/>
    <p:sldId id="2840" r:id="rId88"/>
    <p:sldId id="2841" r:id="rId89"/>
    <p:sldId id="2842" r:id="rId90"/>
    <p:sldId id="2843" r:id="rId91"/>
    <p:sldId id="2844" r:id="rId92"/>
    <p:sldId id="2845" r:id="rId93"/>
    <p:sldId id="2846" r:id="rId94"/>
    <p:sldId id="2847" r:id="rId95"/>
    <p:sldId id="2848" r:id="rId96"/>
    <p:sldId id="380"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272" autoAdjust="0"/>
  </p:normalViewPr>
  <p:slideViewPr>
    <p:cSldViewPr snapToGrid="0">
      <p:cViewPr varScale="1">
        <p:scale>
          <a:sx n="59" d="100"/>
          <a:sy n="59" d="100"/>
        </p:scale>
        <p:origin x="892" y="-44"/>
      </p:cViewPr>
      <p:guideLst/>
    </p:cSldViewPr>
  </p:slideViewPr>
  <p:notesTextViewPr>
    <p:cViewPr>
      <p:scale>
        <a:sx n="1" d="1"/>
        <a:sy n="1" d="1"/>
      </p:scale>
      <p:origin x="0" y="0"/>
    </p:cViewPr>
  </p:notesTextViewPr>
  <p:notesViewPr>
    <p:cSldViewPr snapToGrid="0">
      <p:cViewPr varScale="1">
        <p:scale>
          <a:sx n="48" d="100"/>
          <a:sy n="48" d="100"/>
        </p:scale>
        <p:origin x="2684" y="2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notesMaster" Target="notesMasters/notesMaster1.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1880F6-B574-42BC-BB47-F435F8AB9625}" type="datetimeFigureOut">
              <a:rPr lang="en-US" smtClean="0"/>
              <a:t>5/30/2026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28E37-38B1-4F55-B4FA-DC82753724CF}"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099F25-213B-4B5F-AEBB-627FCF0601CC}" type="datetimeFigureOut">
              <a:rPr lang="en-US" smtClean="0"/>
              <a:t>5/30/2026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71F94-8AAF-4E82-A393-F130E126715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03471F94-8AAF-4E82-A393-F130E1267150}" type="slidenum">
              <a:rPr lang="en-US" smtClean="0"/>
              <a:t>39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03471F94-8AAF-4E82-A393-F130E1267150}" type="slidenum">
              <a:rPr lang="en-US" smtClean="0"/>
              <a:t>41</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03471F94-8AAF-4E82-A393-F130E1267150}" type="slidenum">
              <a:rPr lang="en-US" smtClean="0"/>
              <a:t>42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872EE79-61B8-40D7-879D-8E51F5D30D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03471F94-8AAF-4E82-A393-F130E1267150}" type="slidenum">
              <a:rPr lang="en-US" smtClean="0"/>
              <a:t>46</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03471F94-8AAF-4E82-A393-F130E1267150}" type="slidenum">
              <a:rPr lang="en-US" smtClean="0"/>
              <a:t>48</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471F94-8AAF-4E82-A393-F130E1267150}" type="slidenum">
              <a:rPr lang="en-US" smtClean="0"/>
              <a:t>58</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471F94-8AAF-4E82-A393-F130E1267150}" type="slidenum">
              <a:rPr lang="en-US" smtClean="0"/>
              <a:t>59</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471F94-8AAF-4E82-A393-F130E1267150}" type="slidenum">
              <a:rPr lang="en-US" smtClean="0"/>
              <a:t>60</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8E8DF69-FFB1-4D3A-9D8C-5887E79674D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62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9A42D8B-3D66-4183-9EED-4092DC246A91}"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DD157F-B30D-45C0-A8C4-87ED8B4EF4BC}"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D5C9C-0AF2-420C-8D86-92D9B7E34F50}"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083AE2-DF21-46C8-9A31-2BEFE0F09850}"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88DABC-0D26-4B2A-B507-C10D63123242}" type="datetime1">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654F49-4A34-422C-961D-72560D6D087D}" type="datetime1">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CF9058-92BA-4D41-853D-892CE4830A82}" type="datetime1">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006020-4210-466B-97B4-8472ACBF5846}"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FB80B3-8C17-40F3-BFFB-63A972FB444D}"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55E78F-3B86-4810-8268-92058F1E91AD}"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5144DC-250F-4FCA-9831-B004B82B4F09}"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5A8FC8-090C-47F3-A46E-00FB6A2EC069}"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FF0FAB-73C7-4589-B3CB-230F48FA27B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B2BA1A-39F4-4C06-8200-8B847CBE6311}"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1BCA78-B390-403F-BE79-473F2F09A108}"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FF0FAB-73C7-4589-B3CB-230F48FA27B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B3678C-B758-4D58-A0BF-DAE20DE297DA}"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1669F6-7542-471F-99AF-82D7413C4BDA}" type="datetime1">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E59961-4B64-429B-9951-1046C0BB88C2}" type="datetime1">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1E53617-C7A5-4AE5-896A-42042689F8FE}" type="datetime1">
              <a:rPr lang="en-US" smtClean="0"/>
              <a:t>5/30/2026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CB3238D-728B-4113-AC76-E9361899571C}" type="datetime1">
              <a:rPr lang="en-US" smtClean="0"/>
              <a:t>5/30/2026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7FF0FAB-73C7-4589-B3CB-230F48FA27BF}"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D6232AC-3192-4009-A739-3098E29F8D1E}"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480482-8596-44A7-9D89-6D529B27F5DC}"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536630-FA15-4458-8C90-F10EABE02F0B}"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FF0FAB-73C7-4589-B3CB-230F48FA27BF}"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6236" y="304808"/>
            <a:ext cx="10668000" cy="1216025"/>
          </a:xfrm>
        </p:spPr>
        <p:txBody>
          <a:bodyPr/>
          <a:lstStyle/>
          <a:p>
            <a:r>
              <a:rPr lang="en-US"/>
              <a:t>Click to edit Master title style</a:t>
            </a:r>
          </a:p>
        </p:txBody>
      </p:sp>
      <p:sp>
        <p:nvSpPr>
          <p:cNvPr id="3" name="Table Placeholder 2"/>
          <p:cNvSpPr>
            <a:spLocks noGrp="1"/>
          </p:cNvSpPr>
          <p:nvPr>
            <p:ph type="tbl" idx="1"/>
          </p:nvPr>
        </p:nvSpPr>
        <p:spPr>
          <a:xfrm>
            <a:off x="755653" y="1752604"/>
            <a:ext cx="10668000" cy="4267200"/>
          </a:xfrm>
        </p:spPr>
        <p:txBody>
          <a:bodyPr/>
          <a:lstStyle/>
          <a:p>
            <a:pPr lvl="0"/>
            <a:endParaRPr lang="en-US" noProof="0"/>
          </a:p>
        </p:txBody>
      </p:sp>
      <p:sp>
        <p:nvSpPr>
          <p:cNvPr id="5" name="Date Placeholder 23"/>
          <p:cNvSpPr>
            <a:spLocks noGrp="1"/>
          </p:cNvSpPr>
          <p:nvPr>
            <p:ph type="dt" sz="half" idx="10"/>
          </p:nvPr>
        </p:nvSpPr>
        <p:spPr/>
        <p:txBody>
          <a:bodyPr/>
          <a:lstStyle>
            <a:lvl1pPr>
              <a:defRPr b="0">
                <a:latin typeface="Arial Narrow" panose="020B0606020202030204" pitchFamily="34" charset="0"/>
                <a:ea typeface="MS PGothic" panose="020B0600070205080204" pitchFamily="34" charset="-128"/>
                <a:cs typeface="+mn-cs"/>
              </a:defRPr>
            </a:lvl1pPr>
          </a:lstStyle>
          <a:p>
            <a:pPr>
              <a:defRPr/>
            </a:pPr>
            <a:fld id="{C58DFAE6-5288-4306-AAB4-9A18B2766674}" type="datetime1">
              <a:rPr lang="en-US" smtClean="0"/>
              <a:t>5/30/2026</a:t>
            </a:fld>
            <a:endParaRPr lang="en-US"/>
          </a:p>
        </p:txBody>
      </p:sp>
      <p:sp>
        <p:nvSpPr>
          <p:cNvPr id="6" name="Footer Placeholder 9"/>
          <p:cNvSpPr>
            <a:spLocks noGrp="1"/>
          </p:cNvSpPr>
          <p:nvPr>
            <p:ph type="ftr" sz="quarter" idx="11"/>
          </p:nvPr>
        </p:nvSpPr>
        <p:spPr/>
        <p:txBody>
          <a:bodyPr/>
          <a:lstStyle>
            <a:lvl1pPr>
              <a:defRPr b="0"/>
            </a:lvl1pPr>
          </a:lstStyle>
          <a:p>
            <a:pPr>
              <a:defRPr/>
            </a:pPr>
            <a:endParaRPr lang="en-US"/>
          </a:p>
        </p:txBody>
      </p:sp>
      <p:sp>
        <p:nvSpPr>
          <p:cNvPr id="7" name="Slide Number Placeholder 21"/>
          <p:cNvSpPr>
            <a:spLocks noGrp="1"/>
          </p:cNvSpPr>
          <p:nvPr>
            <p:ph type="sldNum" sz="quarter" idx="12"/>
          </p:nvPr>
        </p:nvSpPr>
        <p:spPr/>
        <p:txBody>
          <a:bodyPr/>
          <a:lstStyle>
            <a:lvl1pPr>
              <a:defRPr b="0">
                <a:latin typeface="Arial" panose="020B0604020202020204" pitchFamily="34" charset="0"/>
              </a:defRPr>
            </a:lvl1pPr>
          </a:lstStyle>
          <a:p>
            <a:pPr>
              <a:defRPr/>
            </a:pPr>
            <a:fld id="{6B671D77-DC8B-41CA-BDFA-63B03DA9354E}" type="slidenum">
              <a:rPr lang="en-US" altLang="id-ID"/>
              <a:t>‹#›</a:t>
            </a:fld>
            <a:endParaRPr lang="en-US" altLang="id-ID"/>
          </a:p>
        </p:txBody>
      </p:sp>
    </p:spTree>
  </p:cSld>
  <p:clrMapOvr>
    <a:masterClrMapping/>
  </p:clrMapOvr>
  <p:transition spd="slow">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9A42D8B-3D66-4183-9EED-4092DC246A91}"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DD157F-B30D-45C0-A8C4-87ED8B4EF4BC}"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D5C9C-0AF2-420C-8D86-92D9B7E34F50}"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083AE2-DF21-46C8-9A31-2BEFE0F09850}"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88DABC-0D26-4B2A-B507-C10D63123242}" type="datetime1">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654F49-4A34-422C-961D-72560D6D087D}" type="datetime1">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CF9058-92BA-4D41-853D-892CE4830A82}" type="datetime1">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006020-4210-466B-97B4-8472ACBF5846}"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FB80B3-8C17-40F3-BFFB-63A972FB444D}"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55E78F-3B86-4810-8268-92058F1E91AD}"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5144DC-250F-4FCA-9831-B004B82B4F09}"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C4682-3267-42F0-887A-3EAF67AF66B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E93255-9A1A-4442-9B7E-D9A6551961AC}" type="datetime1">
              <a:rPr lang="en-US" smtClean="0"/>
              <a:t>5/30/2026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4C4682-3267-42F0-887A-3EAF67AF66B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BE93255-9A1A-4442-9B7E-D9A6551961AC}" type="datetime1">
              <a:rPr lang="en-US" smtClean="0"/>
              <a:t>5/30/2026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44C4682-3267-42F0-887A-3EAF67AF66B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E93255-9A1A-4442-9B7E-D9A6551961AC}" type="datetime1">
              <a:rPr lang="en-US" smtClean="0"/>
              <a:t>5/30/2026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4C4682-3267-42F0-887A-3EAF67AF66B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2.jpe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jpeg"/><Relationship Id="rId5" Type="http://schemas.openxmlformats.org/officeDocument/2006/relationships/image" Target="../media/image18.png"/><Relationship Id="rId4"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jpeg"/><Relationship Id="rId4"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3.xml"/><Relationship Id="rId4" Type="http://schemas.openxmlformats.org/officeDocument/2006/relationships/image" Target="../media/image2.jpe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3.xml"/><Relationship Id="rId4" Type="http://schemas.openxmlformats.org/officeDocument/2006/relationships/image" Target="../media/image2.jpeg"/></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3.png"/><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3.xml"/><Relationship Id="rId4" Type="http://schemas.openxmlformats.org/officeDocument/2006/relationships/image" Target="../media/image2.jpeg"/></Relationships>
</file>

<file path=ppt/slides/_rels/slide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3.xml"/><Relationship Id="rId4" Type="http://schemas.openxmlformats.org/officeDocument/2006/relationships/image" Target="../media/image2.jpe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jpeg"/><Relationship Id="rId4" Type="http://schemas.openxmlformats.org/officeDocument/2006/relationships/image" Target="../media/image18.png"/></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8.png"/><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9.png"/><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0.png"/><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jpeg"/><Relationship Id="rId2" Type="http://schemas.openxmlformats.org/officeDocument/2006/relationships/slideLayout" Target="../slideLayouts/slideLayout23.xml"/><Relationship Id="rId1" Type="http://schemas.openxmlformats.org/officeDocument/2006/relationships/vmlDrawing" Target="../drawings/vmlDrawing1.vml"/><Relationship Id="rId6" Type="http://schemas.openxmlformats.org/officeDocument/2006/relationships/image" Target="../media/image32.emf"/><Relationship Id="rId5" Type="http://schemas.openxmlformats.org/officeDocument/2006/relationships/oleObject" Target="../embeddings/oleObject2.bin"/><Relationship Id="rId4" Type="http://schemas.openxmlformats.org/officeDocument/2006/relationships/image" Target="../media/image31.emf"/></Relationships>
</file>

<file path=ppt/slides/_rels/slide8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3.xml"/><Relationship Id="rId4" Type="http://schemas.openxmlformats.org/officeDocument/2006/relationships/image" Target="../media/image2.jpeg"/></Relationships>
</file>

<file path=ppt/slides/_rels/slide8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3.xml"/><Relationship Id="rId4" Type="http://schemas.openxmlformats.org/officeDocument/2006/relationships/image" Target="../media/image2.jpe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jpeg"/><Relationship Id="rId4" Type="http://schemas.openxmlformats.org/officeDocument/2006/relationships/image" Target="../media/image34.png"/></Relationships>
</file>

<file path=ppt/slides/_rels/slide8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8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8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5.png"/><Relationship Id="rId1" Type="http://schemas.openxmlformats.org/officeDocument/2006/relationships/slideLayout" Target="../slideLayouts/slideLayout23.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jpeg"/><Relationship Id="rId4" Type="http://schemas.openxmlformats.org/officeDocument/2006/relationships/image" Target="../media/image36.png"/></Relationships>
</file>

<file path=ppt/slides/_rels/slide8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7.emf"/><Relationship Id="rId1" Type="http://schemas.openxmlformats.org/officeDocument/2006/relationships/slideLayout" Target="../slideLayouts/slideLayout23.xml"/></Relationships>
</file>

<file path=ppt/slides/_rels/slide8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9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8.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sign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59750"/>
          <a:stretch>
            <a:fillRect/>
          </a:stretch>
        </p:blipFill>
        <p:spPr>
          <a:xfrm>
            <a:off x="20" y="10"/>
            <a:ext cx="4580077" cy="6400784"/>
          </a:xfrm>
          <a:prstGeom prst="rect">
            <a:avLst/>
          </a:prstGeom>
        </p:spPr>
      </p:pic>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p:cNvSpPr txBox="1"/>
          <p:nvPr/>
        </p:nvSpPr>
        <p:spPr>
          <a:xfrm>
            <a:off x="4969839" y="1445043"/>
            <a:ext cx="4459875"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Pertemuan</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10</a:t>
            </a:r>
            <a:endParaRPr kumimoji="0" lang="id-ID"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Official Statistics </a:t>
            </a: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Lanjutan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itle 1"/>
          <p:cNvSpPr txBox="1"/>
          <p:nvPr/>
        </p:nvSpPr>
        <p:spPr>
          <a:xfrm>
            <a:off x="4580096" y="2004788"/>
            <a:ext cx="7611884" cy="23178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48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Indikator</a:t>
            </a:r>
            <a:r>
              <a:rPr lang="en-US" sz="4800" b="1" noProof="0"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kumimoji="0" lang="en-US" sz="48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Kesehatan</a:t>
            </a:r>
            <a:endParaRPr kumimoji="0" lang="id-ID"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Content Placeholder 2"/>
          <p:cNvSpPr txBox="1"/>
          <p:nvPr/>
        </p:nvSpPr>
        <p:spPr>
          <a:xfrm>
            <a:off x="2741388" y="597499"/>
            <a:ext cx="8390540" cy="2831501"/>
          </a:xfrm>
          <a:prstGeom prst="rect">
            <a:avLst/>
          </a:prstGeom>
        </p:spPr>
        <p:txBody>
          <a:bodyPr vert="horz" lIns="91440" tIns="45720" rIns="91440" bIns="45720" rtlCol="0">
            <a:normAutofit fontScale="25000" lnSpcReduction="2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id-ID" sz="2600" b="0" i="0" u="none" strike="noStrike" kern="1200" cap="none" spc="0" normalizeH="0" baseline="0" noProof="1">
              <a:ln>
                <a:noFill/>
              </a:ln>
              <a:solidFill>
                <a:srgbClr val="0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lang="id-ID" sz="2600" noProof="1">
              <a:solidFill>
                <a:srgbClr val="000000"/>
              </a:solidFill>
              <a:latin typeface="Calibri" panose="020F0502020204030204"/>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id-ID" sz="2600" b="0" i="0" u="none" strike="noStrike" kern="1200" cap="none" spc="0" normalizeH="0" baseline="0" noProof="1">
              <a:ln>
                <a:noFill/>
              </a:ln>
              <a:solidFill>
                <a:srgbClr val="0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lang="id-ID" sz="2600" noProof="1">
              <a:solidFill>
                <a:srgbClr val="000000"/>
              </a:solidFill>
              <a:latin typeface="Calibri" panose="020F0502020204030204"/>
            </a:endParaRPr>
          </a:p>
          <a:p>
            <a:pPr marL="0" marR="0" lvl="0" indent="0"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id-ID" sz="17600" b="1" i="0" u="none" strike="noStrike" kern="1200" cap="none" spc="0" normalizeH="0" baseline="0" noProof="1">
                <a:ln>
                  <a:noFill/>
                </a:ln>
                <a:solidFill>
                  <a:srgbClr val="000000"/>
                </a:solidFill>
                <a:effectLst/>
                <a:uLnTx/>
                <a:uFillTx/>
                <a:latin typeface="Calibri" panose="020F0502020204030204"/>
                <a:ea typeface="+mn-ea"/>
                <a:cs typeface="+mn-cs"/>
              </a:rPr>
              <a:t>SUB TOPIK:</a:t>
            </a:r>
          </a:p>
          <a:p>
            <a:pPr marL="725805" lvl="1" indent="-462280">
              <a:lnSpc>
                <a:spcPct val="120000"/>
              </a:lnSpc>
              <a:spcBef>
                <a:spcPts val="600"/>
              </a:spcBef>
              <a:buFont typeface="+mj-ea"/>
              <a:buAutoNum type="circleNumDbPlain"/>
            </a:pPr>
            <a:r>
              <a:rPr lang="id-ID" sz="9600" noProof="1">
                <a:solidFill>
                  <a:srgbClr val="000000"/>
                </a:solidFill>
              </a:rPr>
              <a:t>Pendahuluan</a:t>
            </a:r>
          </a:p>
          <a:p>
            <a:pPr marL="725805" lvl="1" indent="-462280">
              <a:lnSpc>
                <a:spcPct val="120000"/>
              </a:lnSpc>
              <a:spcBef>
                <a:spcPts val="600"/>
              </a:spcBef>
              <a:buFont typeface="+mj-ea"/>
              <a:buAutoNum type="circleNumDbPlain"/>
            </a:pPr>
            <a:r>
              <a:rPr lang="id-ID" sz="9600" noProof="1">
                <a:solidFill>
                  <a:srgbClr val="000000"/>
                </a:solidFill>
              </a:rPr>
              <a:t>Isu Global</a:t>
            </a:r>
          </a:p>
          <a:p>
            <a:pPr marL="725805" lvl="1" indent="-462280">
              <a:lnSpc>
                <a:spcPct val="120000"/>
              </a:lnSpc>
              <a:spcBef>
                <a:spcPts val="600"/>
              </a:spcBef>
              <a:buFont typeface="+mj-ea"/>
              <a:buAutoNum type="circleNumDbPlain"/>
            </a:pPr>
            <a:r>
              <a:rPr lang="en-AU" sz="9600" noProof="1">
                <a:solidFill>
                  <a:srgbClr val="000000"/>
                </a:solidFill>
              </a:rPr>
              <a:t>Kesehatan masyarakat</a:t>
            </a:r>
            <a:endParaRPr lang="id-ID" sz="9600" noProof="1">
              <a:solidFill>
                <a:srgbClr val="000000"/>
              </a:solidFill>
            </a:endParaRPr>
          </a:p>
          <a:p>
            <a:pPr marL="725805" lvl="1" indent="-462280">
              <a:lnSpc>
                <a:spcPct val="120000"/>
              </a:lnSpc>
              <a:spcBef>
                <a:spcPts val="600"/>
              </a:spcBef>
              <a:buFont typeface="+mj-ea"/>
              <a:buAutoNum type="circleNumDbPlain"/>
            </a:pPr>
            <a:r>
              <a:rPr lang="en-AU" sz="9600" noProof="1">
                <a:solidFill>
                  <a:srgbClr val="000000"/>
                </a:solidFill>
              </a:rPr>
              <a:t>Kesehatan Reproduksi dan Keluarga Berencana</a:t>
            </a:r>
            <a:endParaRPr lang="id-ID" sz="9600" noProof="1">
              <a:solidFill>
                <a:srgbClr val="000000"/>
              </a:solidFill>
            </a:endParaRPr>
          </a:p>
          <a:p>
            <a:pPr marL="725805" lvl="1" indent="-462280">
              <a:lnSpc>
                <a:spcPct val="120000"/>
              </a:lnSpc>
              <a:spcBef>
                <a:spcPts val="600"/>
              </a:spcBef>
              <a:buFont typeface="+mj-ea"/>
              <a:buAutoNum type="circleNumDbPlain"/>
            </a:pPr>
            <a:r>
              <a:rPr lang="id-ID" sz="9600" noProof="1">
                <a:solidFill>
                  <a:srgbClr val="000000"/>
                </a:solidFill>
              </a:rPr>
              <a:t>G</a:t>
            </a:r>
            <a:r>
              <a:rPr lang="en-AU" sz="9600" noProof="1">
                <a:solidFill>
                  <a:srgbClr val="000000"/>
                </a:solidFill>
              </a:rPr>
              <a:t>izi</a:t>
            </a:r>
            <a:endParaRPr lang="id-ID" sz="9600" noProof="1">
              <a:solidFill>
                <a:srgbClr val="000000"/>
              </a:solidFill>
            </a:endParaRPr>
          </a:p>
          <a:p>
            <a:pPr marL="725805" lvl="1" indent="-462280">
              <a:lnSpc>
                <a:spcPct val="120000"/>
              </a:lnSpc>
              <a:spcBef>
                <a:spcPts val="600"/>
              </a:spcBef>
              <a:buFont typeface="+mj-ea"/>
              <a:buAutoNum type="circleNumDbPlain"/>
            </a:pPr>
            <a:r>
              <a:rPr lang="en-US" sz="9600" noProof="1">
                <a:solidFill>
                  <a:srgbClr val="000000"/>
                </a:solidFill>
              </a:rPr>
              <a:t>Perumahan</a:t>
            </a:r>
            <a:endParaRPr kumimoji="0" lang="id-ID" sz="9600" b="1" i="0" u="none" strike="noStrike" kern="1200" cap="none" spc="0" normalizeH="0" baseline="0" noProof="1">
              <a:ln>
                <a:noFill/>
              </a:ln>
              <a:solidFill>
                <a:srgbClr val="000000"/>
              </a:solidFill>
              <a:effectLst/>
              <a:uLnTx/>
              <a:uFillTx/>
              <a:latin typeface="Calibri" panose="020F0502020204030204"/>
              <a:ea typeface="+mn-ea"/>
              <a:cs typeface="+mn-cs"/>
            </a:endParaRPr>
          </a:p>
          <a:p>
            <a:pPr marL="1143000" marR="0" lvl="0" indent="-1143000" defTabSz="914400" rtl="0" eaLnBrk="1" fontAlgn="auto" latinLnBrk="0" hangingPunct="1">
              <a:lnSpc>
                <a:spcPct val="120000"/>
              </a:lnSpc>
              <a:spcBef>
                <a:spcPct val="20000"/>
              </a:spcBef>
              <a:spcAft>
                <a:spcPts val="0"/>
              </a:spcAft>
              <a:buClrTx/>
              <a:buSzTx/>
              <a:buFont typeface="Arial" panose="020B0604020202020204" pitchFamily="34" charset="0"/>
              <a:buAutoNum type="arabicPeriod"/>
              <a:defRPr/>
            </a:pPr>
            <a:endParaRPr kumimoji="0" lang="en-AU" sz="9600" b="1" i="0" u="none" strike="noStrike" kern="1200" cap="none" spc="0" normalizeH="0" baseline="0" noProof="1">
              <a:ln>
                <a:noFill/>
              </a:ln>
              <a:solidFill>
                <a:srgbClr val="000000"/>
              </a:solidFill>
              <a:effectLst/>
              <a:uLnTx/>
              <a:uFillTx/>
              <a:latin typeface="Calibri" panose="020F0502020204030204"/>
              <a:ea typeface="+mn-ea"/>
              <a:cs typeface="+mn-cs"/>
            </a:endParaRPr>
          </a:p>
          <a:p>
            <a:pPr marL="180975"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defRPr/>
            </a:pPr>
            <a:endParaRPr kumimoji="0" lang="en-US" altLang="en-US" sz="2400" b="0" i="0" u="none" strike="noStrike" kern="1200" cap="none" spc="0" normalizeH="0" baseline="0" noProof="1">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95000"/>
              </a:lnSpc>
              <a:spcBef>
                <a:spcPct val="0"/>
              </a:spcBef>
              <a:spcAft>
                <a:spcPts val="0"/>
              </a:spcAft>
              <a:buClrTx/>
              <a:buSzTx/>
              <a:buFont typeface="Arial" panose="020B0604020202020204" pitchFamily="34" charset="0"/>
              <a:buNone/>
              <a:defRPr/>
            </a:pPr>
            <a:endParaRPr kumimoji="0" lang="en-US" altLang="en-US" sz="2400" b="0" i="0" u="none" strike="noStrike" kern="1200" cap="none" spc="0" normalizeH="0" baseline="0" noProof="1">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95000"/>
              </a:lnSpc>
              <a:spcBef>
                <a:spcPct val="0"/>
              </a:spcBef>
              <a:spcAft>
                <a:spcPts val="0"/>
              </a:spcAft>
              <a:buClrTx/>
              <a:buSzTx/>
              <a:buFont typeface="Arial" panose="020B0604020202020204" pitchFamily="34" charset="0"/>
              <a:buNone/>
              <a:defRPr/>
            </a:pPr>
            <a:endParaRPr kumimoji="0" lang="en-US" altLang="en-US" sz="2400" b="0" i="0" u="none" strike="noStrike" kern="1200" cap="none" spc="0" normalizeH="0" baseline="0" noProof="1">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sign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59750"/>
          <a:stretch>
            <a:fillRect/>
          </a:stretch>
        </p:blipFill>
        <p:spPr>
          <a:xfrm>
            <a:off x="20" y="10"/>
            <a:ext cx="4580077" cy="6400784"/>
          </a:xfrm>
          <a:prstGeom prst="rect">
            <a:avLst/>
          </a:prstGeom>
        </p:spPr>
      </p:pic>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itle 1"/>
          <p:cNvSpPr txBox="1"/>
          <p:nvPr/>
        </p:nvSpPr>
        <p:spPr>
          <a:xfrm>
            <a:off x="5132439" y="1880354"/>
            <a:ext cx="5442156" cy="8419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P</a:t>
            </a:r>
            <a:r>
              <a:rPr kumimoji="0" lang="id-ID" sz="48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endahuluan</a:t>
            </a:r>
            <a:endParaRPr kumimoji="0" lang="id-ID"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tangle 1"/>
          <p:cNvSpPr/>
          <p:nvPr/>
        </p:nvSpPr>
        <p:spPr>
          <a:xfrm>
            <a:off x="1327355" y="720566"/>
            <a:ext cx="9202993" cy="646331"/>
          </a:xfrm>
          <a:prstGeom prst="rect">
            <a:avLst/>
          </a:prstGeom>
        </p:spPr>
        <p:txBody>
          <a:bodyPr wrap="square">
            <a:spAutoFit/>
          </a:bodyPr>
          <a:lstStyle/>
          <a:p>
            <a:r>
              <a:rPr lang="id-ID" sz="3600" b="1" noProof="1">
                <a:solidFill>
                  <a:srgbClr val="000000"/>
                </a:solidFill>
              </a:rPr>
              <a:t>Konsep &amp; Definisi Kesehatan</a:t>
            </a:r>
          </a:p>
        </p:txBody>
      </p:sp>
      <p:sp>
        <p:nvSpPr>
          <p:cNvPr id="7" name="Arrow: Pentagon 6"/>
          <p:cNvSpPr/>
          <p:nvPr/>
        </p:nvSpPr>
        <p:spPr>
          <a:xfrm>
            <a:off x="1021148" y="1825811"/>
            <a:ext cx="2877084" cy="1200329"/>
          </a:xfrm>
          <a:prstGeom prst="homePlate">
            <a:avLst>
              <a:gd name="adj" fmla="val 56682"/>
            </a:avLst>
          </a:prstGeom>
          <a:solidFill>
            <a:schemeClr val="accent2">
              <a:lumMod val="60000"/>
              <a:lumOff val="40000"/>
            </a:schemeClr>
          </a:solidFill>
          <a:ln>
            <a:solidFill>
              <a:schemeClr val="accent2"/>
            </a:solidFill>
          </a:ln>
        </p:spPr>
        <p:txBody>
          <a:bodyPr wrap="square">
            <a:spAutoFit/>
          </a:bodyPr>
          <a:lstStyle/>
          <a:p>
            <a:r>
              <a:rPr lang="id-ID" sz="2400" dirty="0"/>
              <a:t>World </a:t>
            </a:r>
            <a:r>
              <a:rPr lang="id-ID" sz="2400" dirty="0" err="1"/>
              <a:t>Health</a:t>
            </a:r>
            <a:r>
              <a:rPr lang="id-ID" sz="2400" dirty="0"/>
              <a:t> </a:t>
            </a:r>
            <a:r>
              <a:rPr lang="id-ID" sz="2400" dirty="0" err="1"/>
              <a:t>Organization</a:t>
            </a:r>
            <a:r>
              <a:rPr lang="id-ID" sz="2400" dirty="0"/>
              <a:t> (WHO), </a:t>
            </a:r>
          </a:p>
        </p:txBody>
      </p:sp>
      <p:sp>
        <p:nvSpPr>
          <p:cNvPr id="8" name="Rectangle 7"/>
          <p:cNvSpPr/>
          <p:nvPr/>
        </p:nvSpPr>
        <p:spPr>
          <a:xfrm>
            <a:off x="4410376" y="1779644"/>
            <a:ext cx="6943424" cy="1200329"/>
          </a:xfrm>
          <a:prstGeom prst="rect">
            <a:avLst/>
          </a:prstGeom>
        </p:spPr>
        <p:txBody>
          <a:bodyPr wrap="square">
            <a:spAutoFit/>
          </a:bodyPr>
          <a:lstStyle/>
          <a:p>
            <a:r>
              <a:rPr lang="id-ID" sz="2400" dirty="0"/>
              <a:t>kesehatan adalah keadaan sejahtera badan, jiwa dan sosial yang memungkinkan setiap orang hidup produktif secara sosial dan ekonomi. </a:t>
            </a:r>
          </a:p>
        </p:txBody>
      </p:sp>
      <p:sp>
        <p:nvSpPr>
          <p:cNvPr id="10" name="Arrow: Pentagon 9"/>
          <p:cNvSpPr/>
          <p:nvPr/>
        </p:nvSpPr>
        <p:spPr>
          <a:xfrm>
            <a:off x="898358" y="3750174"/>
            <a:ext cx="2999874" cy="1200329"/>
          </a:xfrm>
          <a:prstGeom prst="homePlate">
            <a:avLst>
              <a:gd name="adj" fmla="val 41981"/>
            </a:avLst>
          </a:prstGeom>
          <a:solidFill>
            <a:schemeClr val="accent2">
              <a:lumMod val="60000"/>
              <a:lumOff val="40000"/>
            </a:schemeClr>
          </a:solidFill>
          <a:ln>
            <a:solidFill>
              <a:schemeClr val="accent2"/>
            </a:solidFill>
          </a:ln>
        </p:spPr>
        <p:txBody>
          <a:bodyPr wrap="square">
            <a:spAutoFit/>
          </a:bodyPr>
          <a:lstStyle/>
          <a:p>
            <a:r>
              <a:rPr lang="id-ID" sz="2400" dirty="0" err="1"/>
              <a:t>Undang-Undang</a:t>
            </a:r>
            <a:r>
              <a:rPr lang="id-ID" sz="2400" dirty="0"/>
              <a:t> Kesehatan No. 36 Tahun 2009</a:t>
            </a:r>
          </a:p>
        </p:txBody>
      </p:sp>
      <p:sp>
        <p:nvSpPr>
          <p:cNvPr id="11" name="Rectangle 10"/>
          <p:cNvSpPr/>
          <p:nvPr/>
        </p:nvSpPr>
        <p:spPr>
          <a:xfrm>
            <a:off x="4410376" y="3617262"/>
            <a:ext cx="6627738" cy="1569660"/>
          </a:xfrm>
          <a:prstGeom prst="rect">
            <a:avLst/>
          </a:prstGeom>
        </p:spPr>
        <p:txBody>
          <a:bodyPr wrap="square">
            <a:spAutoFit/>
          </a:bodyPr>
          <a:lstStyle/>
          <a:p>
            <a:r>
              <a:rPr lang="id-ID" sz="2400" dirty="0"/>
              <a:t>kesehatan adalah keadaan sehat, baik secara fisik, mental, spiritual maupun sosial yang memungkinkan setiap orang untuk hidup produktif secara sosial dan ekonomi. (Notoatmodjo,2012).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tangle 1"/>
          <p:cNvSpPr/>
          <p:nvPr/>
        </p:nvSpPr>
        <p:spPr>
          <a:xfrm>
            <a:off x="1327355" y="720566"/>
            <a:ext cx="9202993" cy="646331"/>
          </a:xfrm>
          <a:prstGeom prst="rect">
            <a:avLst/>
          </a:prstGeom>
        </p:spPr>
        <p:txBody>
          <a:bodyPr wrap="square">
            <a:spAutoFit/>
          </a:bodyPr>
          <a:lstStyle/>
          <a:p>
            <a:r>
              <a:rPr lang="id-ID" sz="3600" b="1" noProof="1">
                <a:solidFill>
                  <a:srgbClr val="000000"/>
                </a:solidFill>
              </a:rPr>
              <a:t>Indikator Kesehatan</a:t>
            </a:r>
          </a:p>
        </p:txBody>
      </p:sp>
      <p:sp>
        <p:nvSpPr>
          <p:cNvPr id="5" name="Content Placeholder 2"/>
          <p:cNvSpPr txBox="1"/>
          <p:nvPr/>
        </p:nvSpPr>
        <p:spPr>
          <a:xfrm>
            <a:off x="2080314" y="1730350"/>
            <a:ext cx="8936029" cy="39703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95000"/>
              </a:lnSpc>
              <a:spcBef>
                <a:spcPct val="0"/>
              </a:spcBef>
            </a:pPr>
            <a:r>
              <a:rPr lang="en-US" altLang="en-US" dirty="0">
                <a:solidFill>
                  <a:srgbClr val="000000"/>
                </a:solidFill>
              </a:rPr>
              <a:t>With the goal of good health in mind, think of an indicator as</a:t>
            </a:r>
            <a:r>
              <a:rPr lang="en-US" altLang="en-US" i="1" dirty="0">
                <a:solidFill>
                  <a:srgbClr val="000000"/>
                </a:solidFill>
              </a:rPr>
              <a:t> </a:t>
            </a:r>
            <a:r>
              <a:rPr lang="en-US" altLang="en-US" i="1" dirty="0">
                <a:solidFill>
                  <a:srgbClr val="FF0000"/>
                </a:solidFill>
              </a:rPr>
              <a:t>“…a measure that helps quantify the achievement of a goal.”</a:t>
            </a:r>
          </a:p>
          <a:p>
            <a:pPr algn="r">
              <a:lnSpc>
                <a:spcPct val="95000"/>
              </a:lnSpc>
              <a:spcBef>
                <a:spcPts val="600"/>
              </a:spcBef>
            </a:pPr>
            <a:r>
              <a:rPr lang="en-US" altLang="en-US" i="1" dirty="0">
                <a:solidFill>
                  <a:srgbClr val="000000"/>
                </a:solidFill>
              </a:rPr>
              <a:t>Mark Friedman*</a:t>
            </a:r>
            <a:endParaRPr lang="en-US" altLang="en-US" noProof="1">
              <a:solidFill>
                <a:srgbClr val="000000"/>
              </a:solidFill>
            </a:endParaRPr>
          </a:p>
          <a:p>
            <a:endParaRPr lang="en-US" altLang="en-US" noProof="1">
              <a:solidFill>
                <a:srgbClr val="000000"/>
              </a:solidFill>
            </a:endParaRPr>
          </a:p>
          <a:p>
            <a:pPr marL="265430" algn="l"/>
            <a:r>
              <a:rPr lang="en-US" altLang="en-US" noProof="1">
                <a:solidFill>
                  <a:srgbClr val="000000"/>
                </a:solidFill>
              </a:rPr>
              <a:t>Indikator baik jika fokus pada persoalan pokok</a:t>
            </a:r>
            <a:r>
              <a:rPr lang="id-ID" altLang="en-US" noProof="1">
                <a:solidFill>
                  <a:srgbClr val="000000"/>
                </a:solidFill>
              </a:rPr>
              <a:t> </a:t>
            </a:r>
            <a:r>
              <a:rPr lang="en-US" altLang="en-US" noProof="1">
                <a:solidFill>
                  <a:srgbClr val="000000"/>
                </a:solidFill>
              </a:rPr>
              <a:t>kesehatan dan dapat membandingkan: antar waktu, antar wilayah, dan antar kelompok </a:t>
            </a:r>
            <a:r>
              <a:rPr lang="id-ID" altLang="en-US" noProof="1">
                <a:solidFill>
                  <a:srgbClr val="000000"/>
                </a:solidFill>
              </a:rPr>
              <a:t>masyarakat</a:t>
            </a:r>
            <a:endParaRPr lang="en-US" altLang="en-US" noProof="1">
              <a:solidFill>
                <a:srgbClr val="000000"/>
              </a:solidFill>
            </a:endParaRPr>
          </a:p>
          <a:p>
            <a:endParaRPr lang="id-ID" sz="1800" dirty="0">
              <a:latin typeface="Arial Narrow" panose="020B0606020202030204" pitchFamily="34" charset="0"/>
            </a:endParaRPr>
          </a:p>
          <a:p>
            <a:endParaRPr lang="id-ID" sz="1800" dirty="0">
              <a:latin typeface="Arial Narrow" panose="020B0606020202030204" pitchFamily="34" charset="0"/>
            </a:endParaRPr>
          </a:p>
          <a:p>
            <a:pPr>
              <a:lnSpc>
                <a:spcPct val="95000"/>
              </a:lnSpc>
              <a:spcBef>
                <a:spcPts val="600"/>
              </a:spcBef>
            </a:pPr>
            <a:endParaRPr lang="en-US" altLang="en-US" sz="1800" i="1" dirty="0">
              <a:solidFill>
                <a:srgbClr val="000000"/>
              </a:solidFill>
            </a:endParaRPr>
          </a:p>
        </p:txBody>
      </p:sp>
      <p:sp>
        <p:nvSpPr>
          <p:cNvPr id="6" name="TextBox 5"/>
          <p:cNvSpPr txBox="1"/>
          <p:nvPr/>
        </p:nvSpPr>
        <p:spPr>
          <a:xfrm>
            <a:off x="1972965" y="4950930"/>
            <a:ext cx="8246070" cy="584776"/>
          </a:xfrm>
          <a:prstGeom prst="rect">
            <a:avLst/>
          </a:prstGeom>
          <a:noFill/>
        </p:spPr>
        <p:txBody>
          <a:bodyPr wrap="square" rtlCol="0">
            <a:spAutoFit/>
          </a:bodyPr>
          <a:lstStyle/>
          <a:p>
            <a:r>
              <a:rPr lang="id-ID" sz="1400" dirty="0">
                <a:latin typeface="Arial Narrow" panose="020B0606020202030204" pitchFamily="34" charset="0"/>
              </a:rPr>
              <a:t>* Mark Friedman adalah ahli ekonomi dari USA yang banyak menulis tentang indikator. Salah satu tulisannya “</a:t>
            </a:r>
            <a:r>
              <a:rPr lang="id-ID" sz="1400" i="1" dirty="0">
                <a:latin typeface="Arial Narrow" panose="020B0606020202030204" pitchFamily="34" charset="0"/>
              </a:rPr>
              <a:t>Trying hard is not good enough: How to produce  measurable improvement for customers and communities</a:t>
            </a:r>
            <a:r>
              <a:rPr lang="id-ID" dirty="0">
                <a:latin typeface="Arial Narrow" panose="020B060602020203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tangle 1"/>
          <p:cNvSpPr/>
          <p:nvPr/>
        </p:nvSpPr>
        <p:spPr>
          <a:xfrm>
            <a:off x="1327355" y="720566"/>
            <a:ext cx="9202993" cy="4247317"/>
          </a:xfrm>
          <a:prstGeom prst="rect">
            <a:avLst/>
          </a:prstGeom>
        </p:spPr>
        <p:txBody>
          <a:bodyPr wrap="square">
            <a:spAutoFit/>
          </a:bodyPr>
          <a:lstStyle/>
          <a:p>
            <a:r>
              <a:rPr lang="id-ID" sz="3600" b="1" noProof="1">
                <a:solidFill>
                  <a:srgbClr val="000000"/>
                </a:solidFill>
              </a:rPr>
              <a:t>Kegunaan Indikator Kesehatan</a:t>
            </a:r>
          </a:p>
          <a:p>
            <a:endParaRPr lang="id-ID" sz="3600" b="1" noProof="1">
              <a:solidFill>
                <a:srgbClr val="000000"/>
              </a:solidFill>
            </a:endParaRPr>
          </a:p>
          <a:p>
            <a:pPr marL="544830" lvl="1" indent="-363855">
              <a:buFont typeface="Courier New" panose="02070309020205020404"/>
              <a:buChar char="o"/>
            </a:pPr>
            <a:r>
              <a:rPr lang="en-AU" sz="2400" noProof="1">
                <a:solidFill>
                  <a:srgbClr val="000000"/>
                </a:solidFill>
              </a:rPr>
              <a:t>Perencanaan pembangunan kesehatan masyarakat dan permasalahan kesehatan spesifik</a:t>
            </a:r>
          </a:p>
          <a:p>
            <a:pPr marL="544830" lvl="1" indent="-363855">
              <a:spcBef>
                <a:spcPts val="1200"/>
              </a:spcBef>
              <a:buFont typeface="Courier New" panose="02070309020205020404"/>
              <a:buChar char="o"/>
            </a:pPr>
            <a:r>
              <a:rPr lang="id-ID" sz="2400" noProof="1">
                <a:solidFill>
                  <a:srgbClr val="000000"/>
                </a:solidFill>
              </a:rPr>
              <a:t>M</a:t>
            </a:r>
            <a:r>
              <a:rPr lang="en-AU" sz="2400" noProof="1">
                <a:solidFill>
                  <a:srgbClr val="000000"/>
                </a:solidFill>
              </a:rPr>
              <a:t>engukur derajat dan status kesehatan masyarakat</a:t>
            </a:r>
          </a:p>
          <a:p>
            <a:pPr marL="544830" lvl="1" indent="-363855">
              <a:spcBef>
                <a:spcPts val="1200"/>
              </a:spcBef>
              <a:buFont typeface="Courier New" panose="02070309020205020404"/>
              <a:buChar char="o"/>
            </a:pPr>
            <a:r>
              <a:rPr lang="id-ID" sz="2400" noProof="1">
                <a:solidFill>
                  <a:srgbClr val="000000"/>
                </a:solidFill>
              </a:rPr>
              <a:t>M</a:t>
            </a:r>
            <a:r>
              <a:rPr lang="en-AU" sz="2400" noProof="1">
                <a:solidFill>
                  <a:srgbClr val="000000"/>
                </a:solidFill>
              </a:rPr>
              <a:t>emantau </a:t>
            </a:r>
            <a:r>
              <a:rPr lang="id-ID" sz="2400" noProof="1">
                <a:solidFill>
                  <a:srgbClr val="000000"/>
                </a:solidFill>
              </a:rPr>
              <a:t>dan mengevaluasi </a:t>
            </a:r>
            <a:r>
              <a:rPr lang="en-AU" sz="2400" noProof="1">
                <a:solidFill>
                  <a:srgbClr val="000000"/>
                </a:solidFill>
              </a:rPr>
              <a:t>perkembangan kesehatan masyarakat dan pelaksanaan program di bidang kesehatan</a:t>
            </a:r>
          </a:p>
          <a:p>
            <a:pPr marL="544830" lvl="1" indent="-363855">
              <a:spcBef>
                <a:spcPts val="1200"/>
              </a:spcBef>
              <a:buFont typeface="Courier New" panose="02070309020205020404"/>
              <a:buChar char="o"/>
            </a:pPr>
            <a:r>
              <a:rPr lang="en-AU" sz="2400" noProof="1">
                <a:solidFill>
                  <a:srgbClr val="000000"/>
                </a:solidFill>
              </a:rPr>
              <a:t>Mengetahui dan perbaikan permasalahan terkait kesehatan</a:t>
            </a:r>
            <a:r>
              <a:rPr lang="id-ID" sz="2400" noProof="1">
                <a:solidFill>
                  <a:srgbClr val="000000"/>
                </a:solidFill>
              </a:rPr>
              <a:t> </a:t>
            </a:r>
            <a:r>
              <a:rPr lang="en-AU" sz="2400" noProof="1">
                <a:solidFill>
                  <a:srgbClr val="000000"/>
                </a:solidFill>
              </a:rPr>
              <a:t>masyarakat dan permasalahan kesehatan spesifik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tangle 1"/>
          <p:cNvSpPr/>
          <p:nvPr/>
        </p:nvSpPr>
        <p:spPr>
          <a:xfrm>
            <a:off x="1327355" y="720566"/>
            <a:ext cx="9202993" cy="5047536"/>
          </a:xfrm>
          <a:prstGeom prst="rect">
            <a:avLst/>
          </a:prstGeom>
        </p:spPr>
        <p:txBody>
          <a:bodyPr wrap="square">
            <a:spAutoFit/>
          </a:bodyPr>
          <a:lstStyle/>
          <a:p>
            <a:r>
              <a:rPr lang="en-AU" sz="3600" b="1" noProof="1">
                <a:solidFill>
                  <a:srgbClr val="000000"/>
                </a:solidFill>
              </a:rPr>
              <a:t>Pemanfaatan Indikator Kesehatan</a:t>
            </a:r>
            <a:endParaRPr lang="id-ID" sz="3600" b="1" noProof="1">
              <a:solidFill>
                <a:srgbClr val="000000"/>
              </a:solidFill>
            </a:endParaRPr>
          </a:p>
          <a:p>
            <a:pPr marL="342900" lvl="0" indent="-342900">
              <a:spcBef>
                <a:spcPts val="1200"/>
              </a:spcBef>
              <a:buFont typeface="Arial" panose="020B0604020202020204" pitchFamily="34" charset="0"/>
              <a:buChar char="•"/>
            </a:pPr>
            <a:r>
              <a:rPr lang="en-AU" sz="2400" b="1" i="1" noProof="1">
                <a:solidFill>
                  <a:srgbClr val="000000"/>
                </a:solidFill>
              </a:rPr>
              <a:t>Disparities </a:t>
            </a:r>
            <a:r>
              <a:rPr lang="id-ID" sz="2400" b="1" i="1" noProof="1">
                <a:solidFill>
                  <a:srgbClr val="000000"/>
                </a:solidFill>
              </a:rPr>
              <a:t>Analysis </a:t>
            </a:r>
            <a:r>
              <a:rPr lang="en-AU" sz="2400" noProof="1">
                <a:solidFill>
                  <a:srgbClr val="000000"/>
                </a:solidFill>
              </a:rPr>
              <a:t>(</a:t>
            </a:r>
            <a:r>
              <a:rPr lang="id-ID" sz="2400" noProof="1">
                <a:solidFill>
                  <a:srgbClr val="000000"/>
                </a:solidFill>
              </a:rPr>
              <a:t>analisa k</a:t>
            </a:r>
            <a:r>
              <a:rPr lang="en-AU" sz="2400" noProof="1">
                <a:solidFill>
                  <a:srgbClr val="000000"/>
                </a:solidFill>
              </a:rPr>
              <a:t>etimpangan)</a:t>
            </a:r>
          </a:p>
          <a:p>
            <a:pPr marL="342900" lvl="0" indent="-342900">
              <a:spcBef>
                <a:spcPts val="1200"/>
              </a:spcBef>
              <a:buFont typeface="Arial" panose="020B0604020202020204" pitchFamily="34" charset="0"/>
              <a:buChar char="•"/>
            </a:pPr>
            <a:r>
              <a:rPr lang="en-AU" sz="2400" b="1" i="1" noProof="1">
                <a:solidFill>
                  <a:srgbClr val="000000"/>
                </a:solidFill>
              </a:rPr>
              <a:t>Social indicators </a:t>
            </a:r>
            <a:r>
              <a:rPr lang="en-AU" sz="2400" noProof="1">
                <a:solidFill>
                  <a:srgbClr val="000000"/>
                </a:solidFill>
              </a:rPr>
              <a:t>(masalah sosial)</a:t>
            </a:r>
          </a:p>
          <a:p>
            <a:pPr marL="342900" lvl="0" indent="-342900">
              <a:spcBef>
                <a:spcPts val="1200"/>
              </a:spcBef>
              <a:buFont typeface="Arial" panose="020B0604020202020204" pitchFamily="34" charset="0"/>
              <a:buChar char="•"/>
            </a:pPr>
            <a:r>
              <a:rPr lang="en-AU" sz="2400" b="1" i="1" noProof="1">
                <a:solidFill>
                  <a:srgbClr val="000000"/>
                </a:solidFill>
              </a:rPr>
              <a:t>Ranked comparisons, benchmarks, composite measures </a:t>
            </a:r>
            <a:r>
              <a:rPr lang="en-AU" sz="2400" noProof="1">
                <a:solidFill>
                  <a:srgbClr val="000000"/>
                </a:solidFill>
              </a:rPr>
              <a:t>(perbandingan untuk percontohan)</a:t>
            </a:r>
          </a:p>
          <a:p>
            <a:pPr marL="342900" lvl="0" indent="-342900">
              <a:spcBef>
                <a:spcPts val="1200"/>
              </a:spcBef>
              <a:buFont typeface="Arial" panose="020B0604020202020204" pitchFamily="34" charset="0"/>
              <a:buChar char="•"/>
            </a:pPr>
            <a:r>
              <a:rPr lang="en-AU" sz="2400" b="1" i="1" noProof="1">
                <a:solidFill>
                  <a:srgbClr val="000000"/>
                </a:solidFill>
              </a:rPr>
              <a:t>Children and families </a:t>
            </a:r>
            <a:r>
              <a:rPr lang="id-ID" sz="2400" b="1" i="1" noProof="1">
                <a:solidFill>
                  <a:srgbClr val="000000"/>
                </a:solidFill>
              </a:rPr>
              <a:t>empowerment </a:t>
            </a:r>
            <a:r>
              <a:rPr lang="en-AU" sz="2400" noProof="1">
                <a:solidFill>
                  <a:srgbClr val="000000"/>
                </a:solidFill>
              </a:rPr>
              <a:t>(pemberdayaan keluarga)</a:t>
            </a:r>
          </a:p>
          <a:p>
            <a:pPr marL="342900" lvl="0" indent="-342900">
              <a:spcBef>
                <a:spcPts val="1200"/>
              </a:spcBef>
              <a:buFont typeface="Arial" panose="020B0604020202020204" pitchFamily="34" charset="0"/>
              <a:buChar char="•"/>
            </a:pPr>
            <a:r>
              <a:rPr lang="en-AU" sz="2400" b="1" i="1" noProof="1">
                <a:solidFill>
                  <a:srgbClr val="000000"/>
                </a:solidFill>
              </a:rPr>
              <a:t>Local health planning </a:t>
            </a:r>
            <a:r>
              <a:rPr lang="en-AU" sz="2400" noProof="1">
                <a:solidFill>
                  <a:srgbClr val="000000"/>
                </a:solidFill>
              </a:rPr>
              <a:t>(perencanaan kesehatan)</a:t>
            </a:r>
          </a:p>
          <a:p>
            <a:pPr marL="342900" lvl="0" indent="-342900">
              <a:spcBef>
                <a:spcPts val="1200"/>
              </a:spcBef>
              <a:buFont typeface="Arial" panose="020B0604020202020204" pitchFamily="34" charset="0"/>
              <a:buChar char="•"/>
            </a:pPr>
            <a:r>
              <a:rPr lang="en-AU" sz="2400" b="1" i="1" noProof="1">
                <a:solidFill>
                  <a:srgbClr val="000000"/>
                </a:solidFill>
              </a:rPr>
              <a:t>Comprehensive indicator systems </a:t>
            </a:r>
            <a:r>
              <a:rPr lang="id-ID" sz="2400" b="1" i="1" noProof="1">
                <a:solidFill>
                  <a:srgbClr val="000000"/>
                </a:solidFill>
              </a:rPr>
              <a:t>analysis </a:t>
            </a:r>
            <a:r>
              <a:rPr lang="en-AU" sz="2400" noProof="1">
                <a:solidFill>
                  <a:srgbClr val="000000"/>
                </a:solidFill>
              </a:rPr>
              <a:t>(analisa lintas sektor)</a:t>
            </a:r>
          </a:p>
          <a:p>
            <a:pPr marL="342900" lvl="0" indent="-342900">
              <a:spcBef>
                <a:spcPts val="1200"/>
              </a:spcBef>
              <a:buFont typeface="Arial" panose="020B0604020202020204" pitchFamily="34" charset="0"/>
              <a:buChar char="•"/>
            </a:pPr>
            <a:r>
              <a:rPr lang="en-AU" sz="2400" b="1" i="1" noProof="1">
                <a:solidFill>
                  <a:srgbClr val="000000"/>
                </a:solidFill>
              </a:rPr>
              <a:t>Health system performance </a:t>
            </a:r>
            <a:r>
              <a:rPr lang="id-ID" sz="2400" b="1" i="1" noProof="1">
                <a:solidFill>
                  <a:srgbClr val="000000"/>
                </a:solidFill>
              </a:rPr>
              <a:t>evaluation </a:t>
            </a:r>
            <a:r>
              <a:rPr lang="en-AU" sz="2400" noProof="1">
                <a:solidFill>
                  <a:srgbClr val="000000"/>
                </a:solidFill>
              </a:rPr>
              <a:t>(evaluasi kinerja sistem kesehatan)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sign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59750"/>
          <a:stretch>
            <a:fillRect/>
          </a:stretch>
        </p:blipFill>
        <p:spPr>
          <a:xfrm>
            <a:off x="20" y="10"/>
            <a:ext cx="4580077" cy="6400784"/>
          </a:xfrm>
          <a:prstGeom prst="rect">
            <a:avLst/>
          </a:prstGeom>
        </p:spPr>
      </p:pic>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itle 1"/>
          <p:cNvSpPr txBox="1"/>
          <p:nvPr/>
        </p:nvSpPr>
        <p:spPr>
          <a:xfrm>
            <a:off x="4580097" y="824917"/>
            <a:ext cx="6377956" cy="68961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I</a:t>
            </a:r>
            <a:r>
              <a:rPr kumimoji="0" lang="id-ID" sz="48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su</a:t>
            </a:r>
            <a:r>
              <a:rPr lang="id-ID" sz="48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kumimoji="0" lang="id-ID"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Global dan </a:t>
            </a:r>
            <a:r>
              <a:rPr kumimoji="0" lang="id-ID" sz="48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Nasiona</a:t>
            </a:r>
            <a:r>
              <a:rPr lang="id-ID" sz="48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a:t>
            </a:r>
            <a:r>
              <a:rPr kumimoji="0" lang="id-ID" sz="4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 </a:t>
            </a:r>
          </a:p>
        </p:txBody>
      </p:sp>
      <p:pic>
        <p:nvPicPr>
          <p:cNvPr id="8" name="Picture 2" descr="https://bappeda.jogjaprov.go.id/dataku/static/images/sdgs/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275" y="1902541"/>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8" name="Picture 2" descr="https://bappeda.jogjaprov.go.id/dataku/static/images/sdgs/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591" y="634180"/>
            <a:ext cx="1799304" cy="17993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54925" y="636778"/>
            <a:ext cx="4899487" cy="461665"/>
          </a:xfrm>
          <a:prstGeom prst="rect">
            <a:avLst/>
          </a:prstGeom>
        </p:spPr>
        <p:txBody>
          <a:bodyPr wrap="square">
            <a:spAutoFit/>
          </a:bodyPr>
          <a:lstStyle/>
          <a:p>
            <a:pPr algn="ctr"/>
            <a:r>
              <a:rPr lang="id-ID" sz="2400" b="1" dirty="0" err="1">
                <a:solidFill>
                  <a:srgbClr val="252525"/>
                </a:solidFill>
                <a:latin typeface="Roboto"/>
              </a:rPr>
              <a:t>Sustainable</a:t>
            </a:r>
            <a:r>
              <a:rPr lang="id-ID" sz="2400" b="1" dirty="0">
                <a:solidFill>
                  <a:srgbClr val="252525"/>
                </a:solidFill>
                <a:latin typeface="Roboto"/>
              </a:rPr>
              <a:t> Development </a:t>
            </a:r>
            <a:r>
              <a:rPr lang="id-ID" sz="2400" b="1" dirty="0" err="1">
                <a:solidFill>
                  <a:srgbClr val="252525"/>
                </a:solidFill>
                <a:latin typeface="Roboto"/>
              </a:rPr>
              <a:t>Goals</a:t>
            </a:r>
            <a:endParaRPr lang="id-ID" sz="2400" b="1" dirty="0">
              <a:solidFill>
                <a:srgbClr val="252525"/>
              </a:solidFill>
              <a:latin typeface="Roboto"/>
            </a:endParaRPr>
          </a:p>
        </p:txBody>
      </p:sp>
      <p:sp>
        <p:nvSpPr>
          <p:cNvPr id="4" name="Rectangle 3"/>
          <p:cNvSpPr/>
          <p:nvPr/>
        </p:nvSpPr>
        <p:spPr>
          <a:xfrm>
            <a:off x="2814218" y="1248906"/>
            <a:ext cx="8326221" cy="646331"/>
          </a:xfrm>
          <a:prstGeom prst="rect">
            <a:avLst/>
          </a:prstGeom>
        </p:spPr>
        <p:txBody>
          <a:bodyPr wrap="square">
            <a:spAutoFit/>
          </a:bodyPr>
          <a:lstStyle/>
          <a:p>
            <a:pPr marL="365125" indent="-365125">
              <a:buFont typeface="Wingdings" panose="05000000000000000000" pitchFamily="2" charset="2"/>
              <a:buChar char="ü"/>
            </a:pPr>
            <a:r>
              <a:rPr lang="id-ID" dirty="0">
                <a:solidFill>
                  <a:srgbClr val="252525"/>
                </a:solidFill>
                <a:latin typeface="Roboto"/>
              </a:rPr>
              <a:t>Tujuan 3 </a:t>
            </a:r>
            <a:r>
              <a:rPr lang="id-ID" dirty="0" err="1">
                <a:solidFill>
                  <a:srgbClr val="252525"/>
                </a:solidFill>
                <a:latin typeface="Roboto"/>
              </a:rPr>
              <a:t>SDGs</a:t>
            </a:r>
            <a:r>
              <a:rPr lang="id-ID" dirty="0">
                <a:solidFill>
                  <a:srgbClr val="252525"/>
                </a:solidFill>
                <a:latin typeface="Roboto"/>
              </a:rPr>
              <a:t> (TPB): Menjamin kehidupan yang sehat dan meningkatkan kesejahteraan seluruh penduduk semua usia. </a:t>
            </a:r>
            <a:endParaRPr lang="id-ID" dirty="0"/>
          </a:p>
        </p:txBody>
      </p:sp>
      <p:sp>
        <p:nvSpPr>
          <p:cNvPr id="5" name="Rectangle 4"/>
          <p:cNvSpPr/>
          <p:nvPr/>
        </p:nvSpPr>
        <p:spPr>
          <a:xfrm>
            <a:off x="2913277" y="1911549"/>
            <a:ext cx="8128101" cy="369332"/>
          </a:xfrm>
          <a:prstGeom prst="rect">
            <a:avLst/>
          </a:prstGeom>
        </p:spPr>
        <p:txBody>
          <a:bodyPr wrap="square">
            <a:spAutoFit/>
          </a:bodyPr>
          <a:lstStyle/>
          <a:p>
            <a:pPr marL="285750" indent="-285750">
              <a:buFont typeface="Wingdings" panose="05000000000000000000" pitchFamily="2" charset="2"/>
              <a:buChar char="ü"/>
            </a:pPr>
            <a:r>
              <a:rPr lang="id-ID" dirty="0">
                <a:solidFill>
                  <a:srgbClr val="252525"/>
                </a:solidFill>
                <a:latin typeface="Roboto"/>
              </a:rPr>
              <a:t>Terdapat 13 target (diukur melalui 50 indikator) yaitu, </a:t>
            </a:r>
            <a:endParaRPr lang="id-ID" dirty="0"/>
          </a:p>
        </p:txBody>
      </p:sp>
      <p:sp>
        <p:nvSpPr>
          <p:cNvPr id="6" name="Rectangle 5"/>
          <p:cNvSpPr/>
          <p:nvPr/>
        </p:nvSpPr>
        <p:spPr>
          <a:xfrm>
            <a:off x="794070" y="2714125"/>
            <a:ext cx="10971209" cy="3447098"/>
          </a:xfrm>
          <a:prstGeom prst="rect">
            <a:avLst/>
          </a:prstGeom>
        </p:spPr>
        <p:txBody>
          <a:bodyPr wrap="square">
            <a:spAutoFit/>
          </a:bodyPr>
          <a:lstStyle/>
          <a:p>
            <a:pPr fontAlgn="base"/>
            <a:r>
              <a:rPr lang="id-ID" sz="2000" b="1" dirty="0"/>
              <a:t>3.1. Mengurangi kematian ibu</a:t>
            </a:r>
          </a:p>
          <a:p>
            <a:pPr marL="441325" indent="-441325" fontAlgn="base">
              <a:tabLst>
                <a:tab pos="441325" algn="l"/>
              </a:tabLst>
            </a:pPr>
            <a:r>
              <a:rPr lang="id-ID" sz="2000" dirty="0"/>
              <a:t>	Pada tahun 2030, mengurangi rasio angka kematian ibu hingga kurang dari 70 per 100.000 kelahiran hidup</a:t>
            </a:r>
          </a:p>
          <a:p>
            <a:pPr fontAlgn="base"/>
            <a:r>
              <a:rPr lang="id-ID" sz="2000" b="1" dirty="0"/>
              <a:t>3.2.</a:t>
            </a:r>
            <a:r>
              <a:rPr lang="id-ID" sz="2000" b="1" dirty="0">
                <a:solidFill>
                  <a:srgbClr val="252525"/>
                </a:solidFill>
                <a:latin typeface="Roboto"/>
              </a:rPr>
              <a:t> </a:t>
            </a:r>
            <a:r>
              <a:rPr lang="id-ID" sz="2000" b="1" dirty="0"/>
              <a:t>Mengakhiri semua kematian yang dapat dicegah di bawah usia 5 tahun</a:t>
            </a:r>
          </a:p>
          <a:p>
            <a:pPr marL="441325" fontAlgn="base"/>
            <a:r>
              <a:rPr lang="id-ID" sz="2000" dirty="0"/>
              <a:t>Pada tahun 2030, mengakhiri kematian bayi baru lahir dan balita yang dapat dicegah, dengan seluruh negara berusaha menurunkan Angka Kematian Neonatal setidaknya hingga 12 per 1.000 KH (Kelahiran Hidup) dan Angka Kematian Balita 25 per 1.000</a:t>
            </a:r>
          </a:p>
          <a:p>
            <a:pPr fontAlgn="base"/>
            <a:r>
              <a:rPr lang="id-ID" sz="2000" b="1" dirty="0"/>
              <a:t>3.3.  Memerangi penyakit menular</a:t>
            </a:r>
          </a:p>
          <a:p>
            <a:pPr marL="441325" fontAlgn="base"/>
            <a:r>
              <a:rPr lang="id-ID" sz="2000" dirty="0"/>
              <a:t>Pada tahun 2030, mengakhiri epidemi AIDS, tuberkulosis, malaria, dan penyakit tropis yang terabaikan, dan memerangi hepatitis, penyakit bersumber air, serta penyakit menular lainnya</a:t>
            </a:r>
            <a:endParaRPr lang="id-ID" dirty="0"/>
          </a:p>
          <a:p>
            <a:pPr marL="441325" fontAlgn="base"/>
            <a:endParaRPr lang="id-ID"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Rectangle 5"/>
          <p:cNvSpPr/>
          <p:nvPr/>
        </p:nvSpPr>
        <p:spPr>
          <a:xfrm>
            <a:off x="610235" y="575310"/>
            <a:ext cx="10970895" cy="5361940"/>
          </a:xfrm>
          <a:prstGeom prst="rect">
            <a:avLst/>
          </a:prstGeom>
        </p:spPr>
        <p:txBody>
          <a:bodyPr wrap="square">
            <a:noAutofit/>
          </a:bodyPr>
          <a:lstStyle/>
          <a:p>
            <a:pPr marL="441325" indent="-441325" fontAlgn="base"/>
            <a:r>
              <a:rPr lang="id-ID" sz="2000" b="1" dirty="0"/>
              <a:t>3.4. Pada tahun 2030, mengurangi hingga sepertiga angka kematian dini akibat penyakit tidak menular</a:t>
            </a:r>
            <a:r>
              <a:rPr lang="id-ID" sz="2000" dirty="0"/>
              <a:t>, melalui pencegahan dan pengobatan, serta meningkatkan kesehatan mental dan kesejahteraan</a:t>
            </a:r>
          </a:p>
          <a:p>
            <a:pPr marL="443230" indent="-443230" fontAlgn="base"/>
            <a:r>
              <a:rPr lang="id-ID" sz="2000" b="1" dirty="0"/>
              <a:t>3.5. Mencegah dan mengobati penyalahgunaan zat,</a:t>
            </a:r>
            <a:r>
              <a:rPr lang="id-ID" sz="2000" dirty="0"/>
              <a:t> termasuk penyalahgunaan narkotika dan penggunaan alkohol yang membahayakan</a:t>
            </a:r>
          </a:p>
          <a:p>
            <a:pPr fontAlgn="base"/>
            <a:r>
              <a:rPr lang="id-ID" sz="2000" b="1" dirty="0"/>
              <a:t>3.6. mengurangi kecelakaan lalu lintas dan kematian</a:t>
            </a:r>
          </a:p>
          <a:p>
            <a:pPr marL="443230" fontAlgn="base"/>
            <a:r>
              <a:rPr lang="id-ID" sz="2000" dirty="0"/>
              <a:t>Pada tahun 2030, mengurangi separuh jumlah kematian dan cedera akibat kecelakaan lalu lintas</a:t>
            </a:r>
          </a:p>
          <a:p>
            <a:pPr marL="443230" indent="-443230" fontAlgn="base"/>
            <a:r>
              <a:rPr lang="id-ID" sz="2000" b="1" dirty="0"/>
              <a:t>3.7. Akses universal terhadap perawatan seksual dan reproduksi, keluarga berencana dan pendidikan</a:t>
            </a:r>
          </a:p>
          <a:p>
            <a:pPr marL="443230" fontAlgn="base"/>
            <a:r>
              <a:rPr lang="id-ID" sz="2000" dirty="0"/>
              <a:t>Pada tahun 2030, menjamin akses universal terhadap layanan kesehatan seksual dan reproduksi, termasuk keluarga berencana, informasi dan pendidikan, dan integrasi kesehatan reproduksi ke dalam strategi dan program nasional</a:t>
            </a:r>
          </a:p>
          <a:p>
            <a:pPr fontAlgn="base"/>
            <a:r>
              <a:rPr lang="id-ID" sz="2000" b="1" dirty="0"/>
              <a:t>3.8. Mencapai cakupan kesehatan universal</a:t>
            </a:r>
          </a:p>
          <a:p>
            <a:pPr marL="443230" fontAlgn="base"/>
            <a:r>
              <a:rPr lang="id-ID" sz="2000" dirty="0"/>
              <a:t>Mencapai cakupan kesehatan universal, termasuk perlindungan risiko keuangan, akses terhadap pelayanan kesehatan dasar yang baik, dan akses terhadap obat-obatan dan vaksin dasar yang aman, efektif, berkualitas, dan terjangkau bagi semua orang</a:t>
            </a:r>
          </a:p>
          <a:p>
            <a:pPr fontAlgn="base"/>
            <a:r>
              <a:rPr lang="id-ID" sz="2000" b="1" dirty="0"/>
              <a:t>3.9. Mengurangi penyakit dan kematian akibat bahan kimia berbahaya dan polusi</a:t>
            </a:r>
          </a:p>
          <a:p>
            <a:pPr marL="443230" fontAlgn="base"/>
            <a:r>
              <a:rPr lang="id-ID" sz="2000" dirty="0"/>
              <a:t>Pada tahun 2030, secara substansial mengurangi jumlah kematian dan kesakitan akibat bahan kimia berbahaya serta polusi dan kontaminasi udara, air dan tanah</a:t>
            </a:r>
          </a:p>
          <a:p>
            <a:br>
              <a:rPr lang="id-ID" dirty="0"/>
            </a:br>
            <a:endParaRPr lang="id-ID" sz="2000" dirty="0"/>
          </a:p>
          <a:p>
            <a:pPr marL="441325" indent="-441325" fontAlgn="base"/>
            <a:endParaRPr lang="id-ID" dirty="0"/>
          </a:p>
          <a:p>
            <a:pPr marL="441325" fontAlgn="base"/>
            <a:endParaRPr lang="id-ID" dirty="0"/>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Rectangle 5"/>
          <p:cNvSpPr/>
          <p:nvPr/>
        </p:nvSpPr>
        <p:spPr>
          <a:xfrm>
            <a:off x="762000" y="786765"/>
            <a:ext cx="10591800" cy="5284470"/>
          </a:xfrm>
          <a:prstGeom prst="rect">
            <a:avLst/>
          </a:prstGeom>
        </p:spPr>
        <p:txBody>
          <a:bodyPr wrap="square">
            <a:noAutofit/>
          </a:bodyPr>
          <a:lstStyle/>
          <a:p>
            <a:pPr fontAlgn="base"/>
            <a:r>
              <a:rPr lang="id-ID" sz="2000" b="1" dirty="0"/>
              <a:t>3.A. Melaksanakan konvensi kerangka kerja WHO tentang pengendalian tembakau</a:t>
            </a:r>
          </a:p>
          <a:p>
            <a:pPr marL="443230" fontAlgn="base"/>
            <a:r>
              <a:rPr lang="id-ID" sz="2000" dirty="0"/>
              <a:t>Memperkuat pelaksanaan </a:t>
            </a:r>
            <a:r>
              <a:rPr lang="id-ID" sz="2000" dirty="0" err="1"/>
              <a:t>the</a:t>
            </a:r>
            <a:r>
              <a:rPr lang="id-ID" sz="2000" dirty="0"/>
              <a:t> </a:t>
            </a:r>
            <a:r>
              <a:rPr lang="id-ID" sz="2000" dirty="0" err="1"/>
              <a:t>Framework</a:t>
            </a:r>
            <a:r>
              <a:rPr lang="id-ID" sz="2000" dirty="0"/>
              <a:t> </a:t>
            </a:r>
            <a:r>
              <a:rPr lang="id-ID" sz="2000" dirty="0" err="1"/>
              <a:t>Convention</a:t>
            </a:r>
            <a:r>
              <a:rPr lang="id-ID" sz="2000" dirty="0"/>
              <a:t> </a:t>
            </a:r>
            <a:r>
              <a:rPr lang="id-ID" sz="2000" dirty="0" err="1"/>
              <a:t>on</a:t>
            </a:r>
            <a:r>
              <a:rPr lang="id-ID" sz="2000" dirty="0"/>
              <a:t> </a:t>
            </a:r>
            <a:r>
              <a:rPr lang="id-ID" sz="2000" dirty="0" err="1"/>
              <a:t>Tobacco</a:t>
            </a:r>
            <a:r>
              <a:rPr lang="id-ID" sz="2000" dirty="0"/>
              <a:t> </a:t>
            </a:r>
            <a:r>
              <a:rPr lang="id-ID" sz="2000" dirty="0" err="1"/>
              <a:t>Control</a:t>
            </a:r>
            <a:r>
              <a:rPr lang="id-ID" sz="2000" dirty="0"/>
              <a:t> WHO di seluruh negara sebagai langkah yang tepat</a:t>
            </a:r>
          </a:p>
          <a:p>
            <a:pPr marL="443230" indent="-443230" fontAlgn="base"/>
            <a:r>
              <a:rPr lang="id-ID" sz="2000" b="1" dirty="0"/>
              <a:t>3.B. Mendukung penelitian, pengembangan, dan akses universal terhadap vaksin dan obat-obatan yang terjangkau</a:t>
            </a:r>
          </a:p>
          <a:p>
            <a:pPr marL="443230" fontAlgn="base"/>
            <a:r>
              <a:rPr lang="id-ID" sz="2000" dirty="0"/>
              <a:t>Mendukung penelitian dan pengembangan vaksin dan obat penyakit menular dan tidak menular yang terutama berpengaruh terhadap negara berkembang</a:t>
            </a:r>
          </a:p>
          <a:p>
            <a:pPr fontAlgn="base"/>
            <a:r>
              <a:rPr lang="id-ID" sz="2000" b="1" dirty="0"/>
              <a:t>3.C. Meningkatkan pembiayaan kesehatan dan mendukung tenaga kesehatan di negara berkembang</a:t>
            </a:r>
          </a:p>
          <a:p>
            <a:pPr marL="443230" fontAlgn="base"/>
            <a:r>
              <a:rPr lang="id-ID" sz="2000" dirty="0"/>
              <a:t>Meningkatkan secara signifikan pembiayaan kesehatan dan rekrutmen, pengembangan, pelatihan, dan retensi tenaga kesehatan di negara berkembang, khususnya negara kurang berkembang, dan negara berkembang pulau kecil.</a:t>
            </a:r>
          </a:p>
          <a:p>
            <a:pPr fontAlgn="base"/>
            <a:r>
              <a:rPr lang="id-ID" sz="2000" b="1" dirty="0"/>
              <a:t>3.D. Meningkatkan sistem peringatan dini untuk risiko kesehatan global</a:t>
            </a:r>
          </a:p>
          <a:p>
            <a:pPr marL="443230" fontAlgn="base"/>
            <a:r>
              <a:rPr lang="id-ID" sz="2000" dirty="0"/>
              <a:t>Memperkuat kapasitas semua negara, khususnya negara-negara berkembang, untuk peringatan dini, pengurangan risiko dan manajemen risiko kesehatan nasional dan global</a:t>
            </a:r>
          </a:p>
          <a:p>
            <a:pPr fontAlgn="base"/>
            <a:endParaRPr lang="id-ID" dirty="0"/>
          </a:p>
          <a:p>
            <a:pPr fontAlgn="base"/>
            <a:endParaRPr lang="id-ID" dirty="0"/>
          </a:p>
          <a:p>
            <a:pPr fontAlgn="base"/>
            <a:endParaRPr lang="id-ID" dirty="0"/>
          </a:p>
          <a:p>
            <a:pPr marL="441325" indent="-441325" fontAlgn="base"/>
            <a:br>
              <a:rPr lang="id-ID" dirty="0"/>
            </a:br>
            <a:endParaRPr lang="id-ID" sz="2000" dirty="0"/>
          </a:p>
          <a:p>
            <a:pPr marL="441325" indent="-441325" fontAlgn="base"/>
            <a:endParaRPr lang="id-ID" dirty="0"/>
          </a:p>
          <a:p>
            <a:pPr marL="441325" fontAlgn="base"/>
            <a:endParaRPr lang="id-ID" dirty="0"/>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
        <p:nvSpPr>
          <p:cNvPr id="5" name="Rectangle 4"/>
          <p:cNvSpPr/>
          <p:nvPr/>
        </p:nvSpPr>
        <p:spPr>
          <a:xfrm>
            <a:off x="1167130" y="182245"/>
            <a:ext cx="9680575" cy="645160"/>
          </a:xfrm>
          <a:prstGeom prst="rect">
            <a:avLst/>
          </a:prstGeom>
        </p:spPr>
        <p:txBody>
          <a:bodyPr wrap="square">
            <a:spAutoFit/>
          </a:bodyPr>
          <a:lstStyle/>
          <a:p>
            <a:r>
              <a:rPr lang="id-ID" sz="3600" b="1" dirty="0"/>
              <a:t>Angka Kematian Ibu</a:t>
            </a:r>
            <a:r>
              <a:rPr lang="en-US" altLang="id-ID" sz="3600" b="1" dirty="0"/>
              <a:t> (</a:t>
            </a:r>
            <a:r>
              <a:rPr lang="en-US" altLang="id-ID" sz="3600" b="1" i="1" dirty="0"/>
              <a:t>Maternal Mortality</a:t>
            </a:r>
            <a:r>
              <a:rPr lang="en-US" altLang="id-ID" sz="3600" b="1" dirty="0"/>
              <a:t>) </a:t>
            </a:r>
          </a:p>
        </p:txBody>
      </p:sp>
      <p:sp>
        <p:nvSpPr>
          <p:cNvPr id="2" name="Text Box 1"/>
          <p:cNvSpPr txBox="1"/>
          <p:nvPr/>
        </p:nvSpPr>
        <p:spPr>
          <a:xfrm>
            <a:off x="1165225" y="2476500"/>
            <a:ext cx="9607550" cy="3088640"/>
          </a:xfrm>
          <a:prstGeom prst="rect">
            <a:avLst/>
          </a:prstGeom>
          <a:noFill/>
        </p:spPr>
        <p:txBody>
          <a:bodyPr wrap="square" rtlCol="0">
            <a:noAutofit/>
          </a:bodyPr>
          <a:lstStyle/>
          <a:p>
            <a:pPr algn="just" fontAlgn="base">
              <a:lnSpc>
                <a:spcPct val="100000"/>
              </a:lnSpc>
              <a:spcBef>
                <a:spcPts val="0"/>
              </a:spcBef>
              <a:spcAft>
                <a:spcPts val="800"/>
              </a:spcAft>
            </a:pPr>
            <a:r>
              <a:rPr lang="en-US" sz="2400" b="1">
                <a:latin typeface="Tahoma" panose="020B0604030504040204" pitchFamily="34" charset="0"/>
                <a:cs typeface="Tahoma" panose="020B0604030504040204" pitchFamily="34" charset="0"/>
              </a:rPr>
              <a:t>Untuk mencapai target  3.1  yaitu </a:t>
            </a:r>
            <a:r>
              <a:rPr lang="id-ID" sz="2400" b="1" dirty="0">
                <a:latin typeface="Tahoma" panose="020B0604030504040204" pitchFamily="34" charset="0"/>
                <a:cs typeface="Tahoma" panose="020B0604030504040204" pitchFamily="34" charset="0"/>
                <a:sym typeface="+mn-ea"/>
              </a:rPr>
              <a:t>Mengurangi kematian ibu</a:t>
            </a:r>
            <a:r>
              <a:rPr lang="en-US" altLang="id-ID" sz="2400" b="1" dirty="0">
                <a:latin typeface="Tahoma" panose="020B0604030504040204" pitchFamily="34" charset="0"/>
                <a:cs typeface="Tahoma" panose="020B0604030504040204" pitchFamily="34" charset="0"/>
              </a:rPr>
              <a:t> dan target 3.2  yaitu </a:t>
            </a:r>
            <a:r>
              <a:rPr lang="id-ID" sz="2400" b="1" dirty="0">
                <a:latin typeface="Tahoma" panose="020B0604030504040204" pitchFamily="34" charset="0"/>
                <a:cs typeface="Tahoma" panose="020B0604030504040204" pitchFamily="34" charset="0"/>
                <a:sym typeface="+mn-ea"/>
              </a:rPr>
              <a:t>Mengakhiri semua kematian yang dapat dicegah di bawah usia 5 tahun</a:t>
            </a:r>
            <a:r>
              <a:rPr lang="en-US" altLang="id-ID" sz="2400" b="1" dirty="0">
                <a:latin typeface="Tahoma" panose="020B0604030504040204" pitchFamily="34" charset="0"/>
                <a:cs typeface="Tahoma" panose="020B0604030504040204" pitchFamily="34" charset="0"/>
                <a:sym typeface="+mn-ea"/>
              </a:rPr>
              <a:t>, angka kematian bayi dan angka kematian neonatal: </a:t>
            </a:r>
          </a:p>
          <a:p>
            <a:pPr marL="342900" indent="-342900" fontAlgn="base">
              <a:lnSpc>
                <a:spcPct val="100000"/>
              </a:lnSpc>
              <a:spcBef>
                <a:spcPts val="0"/>
              </a:spcBef>
              <a:spcAft>
                <a:spcPts val="800"/>
              </a:spcAft>
              <a:buFont typeface="Arial" panose="020B0604020202020204" pitchFamily="34" charset="0"/>
              <a:buChar char="•"/>
            </a:pPr>
            <a:r>
              <a:rPr lang="en-US" altLang="en-US" sz="2400" dirty="0">
                <a:latin typeface="Tahoma" panose="020B0604030504040204" pitchFamily="34" charset="0"/>
                <a:cs typeface="Tahoma" panose="020B0604030504040204" pitchFamily="34" charset="0"/>
                <a:sym typeface="+mn-ea"/>
              </a:rPr>
              <a:t>diperlukan usaha yang sungguh-sungguh dari berbagai instansi terkait, mulai dari </a:t>
            </a:r>
            <a:r>
              <a:rPr lang="en-US" altLang="en-US" sz="2400" dirty="0">
                <a:solidFill>
                  <a:srgbClr val="996633"/>
                </a:solidFill>
                <a:latin typeface="Tahoma" panose="020B0604030504040204" pitchFamily="34" charset="0"/>
                <a:cs typeface="Tahoma" panose="020B0604030504040204" pitchFamily="34" charset="0"/>
                <a:sym typeface="+mn-ea"/>
              </a:rPr>
              <a:t>pemerintah</a:t>
            </a:r>
            <a:r>
              <a:rPr lang="en-US" altLang="en-US" sz="2400" dirty="0">
                <a:latin typeface="Tahoma" panose="020B0604030504040204" pitchFamily="34" charset="0"/>
                <a:cs typeface="Tahoma" panose="020B0604030504040204" pitchFamily="34" charset="0"/>
                <a:sym typeface="+mn-ea"/>
              </a:rPr>
              <a:t>, baik pusat maupun daerah, </a:t>
            </a:r>
            <a:r>
              <a:rPr lang="en-US" altLang="en-US" sz="2400" dirty="0">
                <a:solidFill>
                  <a:srgbClr val="00B050"/>
                </a:solidFill>
                <a:latin typeface="Tahoma" panose="020B0604030504040204" pitchFamily="34" charset="0"/>
                <a:cs typeface="Tahoma" panose="020B0604030504040204" pitchFamily="34" charset="0"/>
                <a:sym typeface="+mn-ea"/>
              </a:rPr>
              <a:t>LSM</a:t>
            </a:r>
            <a:r>
              <a:rPr lang="en-US" altLang="en-US" sz="2400" dirty="0">
                <a:latin typeface="Tahoma" panose="020B0604030504040204" pitchFamily="34" charset="0"/>
                <a:cs typeface="Tahoma" panose="020B0604030504040204" pitchFamily="34" charset="0"/>
                <a:sym typeface="+mn-ea"/>
              </a:rPr>
              <a:t> dan </a:t>
            </a:r>
            <a:r>
              <a:rPr lang="en-US" altLang="en-US" sz="2400" dirty="0">
                <a:solidFill>
                  <a:srgbClr val="990033"/>
                </a:solidFill>
                <a:latin typeface="Tahoma" panose="020B0604030504040204" pitchFamily="34" charset="0"/>
                <a:cs typeface="Tahoma" panose="020B0604030504040204" pitchFamily="34" charset="0"/>
                <a:sym typeface="+mn-ea"/>
              </a:rPr>
              <a:t>masyarakat</a:t>
            </a:r>
            <a:r>
              <a:rPr lang="en-US" altLang="en-US" sz="2400" dirty="0">
                <a:latin typeface="Tahoma" panose="020B0604030504040204" pitchFamily="34" charset="0"/>
                <a:cs typeface="Tahoma" panose="020B0604030504040204" pitchFamily="34" charset="0"/>
                <a:sym typeface="+mn-ea"/>
              </a:rPr>
              <a:t> pada umumnya.</a:t>
            </a:r>
          </a:p>
          <a:p>
            <a:pPr marL="342900" indent="-342900" fontAlgn="base">
              <a:buFont typeface="Arial" panose="020B0604020202020204" pitchFamily="34" charset="0"/>
              <a:buChar char="•"/>
            </a:pPr>
            <a:r>
              <a:rPr lang="en-US" altLang="en-US" sz="2400" dirty="0">
                <a:solidFill>
                  <a:srgbClr val="996633"/>
                </a:solidFill>
                <a:latin typeface="Tahoma" panose="020B0604030504040204" pitchFamily="34" charset="0"/>
                <a:cs typeface="Tahoma" panose="020B0604030504040204" pitchFamily="34" charset="0"/>
                <a:sym typeface="+mn-ea"/>
              </a:rPr>
              <a:t>indikator-indikator</a:t>
            </a:r>
            <a:r>
              <a:rPr lang="en-US" altLang="en-US" sz="2400" dirty="0">
                <a:latin typeface="Tahoma" panose="020B0604030504040204" pitchFamily="34" charset="0"/>
                <a:cs typeface="Tahoma" panose="020B0604030504040204" pitchFamily="34" charset="0"/>
                <a:sym typeface="+mn-ea"/>
              </a:rPr>
              <a:t> apa yang perlu diperhatikan untuk menurunkan </a:t>
            </a:r>
            <a:r>
              <a:rPr lang="en-US" altLang="en-US" sz="2400" dirty="0">
                <a:solidFill>
                  <a:srgbClr val="990033"/>
                </a:solidFill>
                <a:latin typeface="Tahoma" panose="020B0604030504040204" pitchFamily="34" charset="0"/>
                <a:cs typeface="Tahoma" panose="020B0604030504040204" pitchFamily="34" charset="0"/>
                <a:sym typeface="+mn-ea"/>
              </a:rPr>
              <a:t>Angka Kematian  Balita</a:t>
            </a:r>
            <a:r>
              <a:rPr lang="en-US" altLang="en-US" sz="2400" dirty="0">
                <a:latin typeface="Tahoma" panose="020B0604030504040204" pitchFamily="34" charset="0"/>
                <a:cs typeface="Tahoma" panose="020B0604030504040204" pitchFamily="34" charset="0"/>
                <a:sym typeface="+mn-ea"/>
              </a:rPr>
              <a:t> dan </a:t>
            </a:r>
            <a:r>
              <a:rPr lang="en-US" altLang="en-US" sz="2400" dirty="0">
                <a:solidFill>
                  <a:srgbClr val="008000"/>
                </a:solidFill>
                <a:latin typeface="Tahoma" panose="020B0604030504040204" pitchFamily="34" charset="0"/>
                <a:cs typeface="Tahoma" panose="020B0604030504040204" pitchFamily="34" charset="0"/>
                <a:sym typeface="+mn-ea"/>
              </a:rPr>
              <a:t>Angka Kematian Ibu</a:t>
            </a:r>
            <a:r>
              <a:rPr lang="en-US" altLang="en-US" sz="2400" dirty="0">
                <a:latin typeface="Tahoma" panose="020B0604030504040204" pitchFamily="34" charset="0"/>
                <a:cs typeface="Tahoma" panose="020B0604030504040204" pitchFamily="34" charset="0"/>
                <a:sym typeface="+mn-ea"/>
              </a:rPr>
              <a:t>?</a:t>
            </a:r>
            <a:endParaRPr lang="en-US" altLang="en-US" sz="2400" dirty="0">
              <a:latin typeface="Tahoma" panose="020B0604030504040204" pitchFamily="34" charset="0"/>
              <a:ea typeface="Tahoma" panose="020B0604030504040204" pitchFamily="34" charset="0"/>
            </a:endParaRPr>
          </a:p>
          <a:p>
            <a:pPr fontAlgn="base"/>
            <a:endParaRPr lang="id-ID" b="1" dirty="0"/>
          </a:p>
          <a:p>
            <a:r>
              <a:rPr lang="en-US"/>
              <a:t> </a:t>
            </a:r>
          </a:p>
        </p:txBody>
      </p:sp>
      <p:sp>
        <p:nvSpPr>
          <p:cNvPr id="9219" name="Content Placeholder 2"/>
          <p:cNvSpPr>
            <a:spLocks noGrp="1"/>
          </p:cNvSpPr>
          <p:nvPr>
            <p:ph sz="half" idx="1"/>
          </p:nvPr>
        </p:nvSpPr>
        <p:spPr>
          <a:xfrm>
            <a:off x="1165225" y="1065530"/>
            <a:ext cx="9609455" cy="1410970"/>
          </a:xfrm>
        </p:spPr>
        <p:txBody>
          <a:bodyPr vert="horz" wrap="square" lIns="91434" tIns="45717" rIns="91434" bIns="45717" anchor="t" anchorCtr="0">
            <a:normAutofit/>
          </a:bodyPr>
          <a:lstStyle/>
          <a:p>
            <a:pPr marL="463550" indent="-463550" algn="l" eaLnBrk="1" hangingPunct="1">
              <a:lnSpc>
                <a:spcPct val="100000"/>
              </a:lnSpc>
              <a:spcBef>
                <a:spcPts val="600"/>
              </a:spcBef>
              <a:spcAft>
                <a:spcPts val="600"/>
              </a:spcAft>
              <a:buFont typeface="Wingdings" panose="05000000000000000000" pitchFamily="2" charset="2"/>
              <a:buNone/>
            </a:pPr>
            <a:r>
              <a:rPr lang="en-US" altLang="en-US" b="1" dirty="0">
                <a:solidFill>
                  <a:srgbClr val="7030A0"/>
                </a:solidFill>
                <a:latin typeface="Tahoma" panose="020B0604030504040204" pitchFamily="34" charset="0"/>
                <a:cs typeface="Tahoma" panose="020B0604030504040204" pitchFamily="34" charset="0"/>
                <a:sym typeface="+mn-ea"/>
              </a:rPr>
              <a:t>Definisi Mortalitas </a:t>
            </a:r>
            <a:r>
              <a:rPr lang="en-US" altLang="en-US" b="1" dirty="0">
                <a:solidFill>
                  <a:srgbClr val="7030A0"/>
                </a:solidFill>
                <a:latin typeface="Tahoma" panose="020B0604030504040204" pitchFamily="34" charset="0"/>
                <a:cs typeface="Tahoma" panose="020B0604030504040204" pitchFamily="34" charset="0"/>
              </a:rPr>
              <a:t>Organisasi Kesehatan Dunia (WHO):</a:t>
            </a:r>
            <a:r>
              <a:rPr lang="en-US" altLang="en-US" dirty="0">
                <a:solidFill>
                  <a:srgbClr val="7030A0"/>
                </a:solidFill>
                <a:latin typeface="Tahoma" panose="020B0604030504040204" pitchFamily="34" charset="0"/>
                <a:cs typeface="Tahoma" panose="020B0604030504040204" pitchFamily="34" charset="0"/>
              </a:rPr>
              <a:t> </a:t>
            </a:r>
            <a:r>
              <a:rPr lang="en-US" altLang="en-US" dirty="0">
                <a:solidFill>
                  <a:srgbClr val="990033"/>
                </a:solidFill>
                <a:latin typeface="Tahoma" panose="020B0604030504040204" pitchFamily="34" charset="0"/>
                <a:cs typeface="Tahoma" panose="020B0604030504040204" pitchFamily="34" charset="0"/>
              </a:rPr>
              <a:t> menghilangnya semua tanda-tanda kehidupan secara permanen, yang bisa terjadi setiap saat setelah kelahiran hidup</a:t>
            </a:r>
            <a:r>
              <a:rPr lang="en-US" altLang="en-US" dirty="0">
                <a:latin typeface="Tahoma" panose="020B0604030504040204" pitchFamily="34" charset="0"/>
                <a:cs typeface="Tahoma" panose="020B0604030504040204" pitchFamily="34" charset="0"/>
              </a:rPr>
              <a:t>.</a:t>
            </a: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p:cNvSpPr>
            <a:spLocks noGrp="1"/>
          </p:cNvSpPr>
          <p:nvPr>
            <p:ph idx="1"/>
          </p:nvPr>
        </p:nvSpPr>
        <p:spPr>
          <a:xfrm>
            <a:off x="1981200" y="827405"/>
            <a:ext cx="7772400" cy="830263"/>
          </a:xfrm>
        </p:spPr>
        <p:txBody>
          <a:bodyPr vert="horz" wrap="square" lIns="91434" tIns="45717" rIns="91434" bIns="45717" anchor="t" anchorCtr="0"/>
          <a:lstStyle/>
          <a:p>
            <a:pPr eaLnBrk="1" hangingPunct="1">
              <a:buNone/>
            </a:pPr>
            <a:r>
              <a:rPr lang="en-US" altLang="en-US" sz="2400" dirty="0">
                <a:latin typeface="Tahoma" panose="020B0604030504040204" pitchFamily="34" charset="0"/>
                <a:cs typeface="Tahoma" panose="020B0604030504040204" pitchFamily="34" charset="0"/>
              </a:rPr>
              <a:t>Rumus:</a:t>
            </a:r>
            <a:endParaRPr lang="id-ID" altLang="en-US" sz="2400" dirty="0">
              <a:latin typeface="Tahoma" panose="020B0604030504040204" pitchFamily="34" charset="0"/>
              <a:ea typeface="Tahoma" panose="020B0604030504040204" pitchFamily="34" charset="0"/>
            </a:endParaRPr>
          </a:p>
        </p:txBody>
      </p:sp>
      <p:graphicFrame>
        <p:nvGraphicFramePr>
          <p:cNvPr id="43011" name="Table 43010"/>
          <p:cNvGraphicFramePr/>
          <p:nvPr/>
        </p:nvGraphicFramePr>
        <p:xfrm>
          <a:off x="2990850" y="1318260"/>
          <a:ext cx="4572000" cy="1066800"/>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534988">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AKI =</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 Kematian Ibu</a:t>
                      </a:r>
                      <a:endParaRPr lang="id-ID" altLang="x-none"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x</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latin typeface="Tahoma" panose="020B0604030504040204" pitchFamily="34" charset="0"/>
                          <a:cs typeface="Tahoma" panose="020B0604030504040204" pitchFamily="34" charset="0"/>
                        </a:rPr>
                        <a:t>K</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531812">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 Kelahiran Hidup</a:t>
                      </a:r>
                      <a:endParaRPr lang="id-ID" altLang="x-none"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35856" name="Group 16"/>
          <p:cNvGraphicFramePr>
            <a:graphicFrameLocks noGrp="1"/>
          </p:cNvGraphicFramePr>
          <p:nvPr/>
        </p:nvGraphicFramePr>
        <p:xfrm>
          <a:off x="1981200" y="2590800"/>
          <a:ext cx="8305800" cy="3307080"/>
        </p:xfrm>
        <a:graphic>
          <a:graphicData uri="http://schemas.openxmlformats.org/drawingml/2006/table">
            <a:tbl>
              <a:tblPr/>
              <a:tblGrid>
                <a:gridCol w="8305800">
                  <a:extLst>
                    <a:ext uri="{9D8B030D-6E8A-4147-A177-3AD203B41FA5}">
                      <a16:colId xmlns:a16="http://schemas.microsoft.com/office/drawing/2014/main" val="20000"/>
                    </a:ext>
                  </a:extLst>
                </a:gridCol>
              </a:tblGrid>
              <a:tr h="457200">
                <a:tc>
                  <a:txBody>
                    <a:bodyPr/>
                    <a:lstStyle/>
                    <a:p>
                      <a:pPr marL="0" marR="0" lvl="0" indent="0" algn="l" defTabSz="822325" rtl="0" eaLnBrk="1" fontAlgn="base" latinLnBrk="0" hangingPunct="1">
                        <a:lnSpc>
                          <a:spcPct val="100000"/>
                        </a:lnSpc>
                        <a:spcBef>
                          <a:spcPct val="0"/>
                        </a:spcBef>
                        <a:spcAft>
                          <a:spcPct val="0"/>
                        </a:spcAft>
                        <a:buClrTx/>
                        <a:buSzTx/>
                        <a:buFontTx/>
                        <a:buNone/>
                      </a:pPr>
                      <a:r>
                        <a:rPr kumimoji="0" lang="en-US" sz="2400" b="0" i="0" u="sng" strike="noStrike" cap="none" normalizeH="0" baseline="0">
                          <a:ln>
                            <a:noFill/>
                          </a:ln>
                          <a:solidFill>
                            <a:srgbClr val="663300"/>
                          </a:solidFill>
                          <a:effectLst/>
                          <a:latin typeface="Tahoma" panose="020B0604030504040204" pitchFamily="34" charset="0"/>
                          <a:cs typeface="Tahoma" panose="020B0604030504040204" pitchFamily="34" charset="0"/>
                        </a:rPr>
                        <a:t>Dimana:</a:t>
                      </a:r>
                      <a:endParaRPr kumimoji="0" lang="id-ID" sz="2400" b="0" i="0" u="sng" strike="noStrike" cap="none" normalizeH="0" baseline="0">
                        <a:ln>
                          <a:noFill/>
                        </a:ln>
                        <a:solidFill>
                          <a:srgbClr val="663300"/>
                        </a:solidFill>
                        <a:effectLst/>
                        <a:latin typeface="Tahoma" panose="020B0604030504040204" pitchFamily="34" charset="0"/>
                        <a:cs typeface="Tahoma" panose="020B0604030504040204" pitchFamily="34" charset="0"/>
                      </a:endParaRPr>
                    </a:p>
                  </a:txBody>
                  <a:tcPr marT="45713" marB="4571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1554480">
                <a:tc>
                  <a:txBody>
                    <a:bodyPr/>
                    <a:lstStyle/>
                    <a:p>
                      <a:pPr marL="222250" marR="0" lvl="0" indent="-222250" algn="l" defTabSz="822325" rtl="0" eaLnBrk="1" fontAlgn="base" latinLnBrk="0" hangingPunct="1">
                        <a:lnSpc>
                          <a:spcPct val="100000"/>
                        </a:lnSpc>
                        <a:spcBef>
                          <a:spcPct val="0"/>
                        </a:spcBef>
                        <a:spcAft>
                          <a:spcPct val="0"/>
                        </a:spcAft>
                        <a:buClrTx/>
                        <a:buSzTx/>
                        <a:buFontTx/>
                        <a:buChar char="•"/>
                      </a:pPr>
                      <a:r>
                        <a:rPr kumimoji="0" lang="en-US" sz="2400" b="0" i="0" u="none" strike="noStrike" cap="none" normalizeH="0" baseline="0">
                          <a:ln>
                            <a:noFill/>
                          </a:ln>
                          <a:solidFill>
                            <a:srgbClr val="000099"/>
                          </a:solidFill>
                          <a:effectLst/>
                          <a:latin typeface="Tahoma" panose="020B0604030504040204" pitchFamily="34" charset="0"/>
                          <a:cs typeface="Tahoma" panose="020B0604030504040204" pitchFamily="34" charset="0"/>
                        </a:rPr>
                        <a:t>Jumlah Kematian Ibu yang dimaksud adalah banyaknya kematian ibu yang disebabkan karena kehamilan, persalinan sampai 42 hari setelah melahirkan, pada tahun tertentu, di daerah tertentu.</a:t>
                      </a:r>
                      <a:endParaRPr kumimoji="0" lang="id-ID" sz="2400" b="0" i="0" u="none" strike="noStrike" cap="none" normalizeH="0" baseline="0">
                        <a:ln>
                          <a:noFill/>
                        </a:ln>
                        <a:solidFill>
                          <a:srgbClr val="000099"/>
                        </a:solidFill>
                        <a:effectLst/>
                        <a:latin typeface="Tahoma" panose="020B0604030504040204" pitchFamily="34" charset="0"/>
                        <a:cs typeface="Tahoma" panose="020B0604030504040204" pitchFamily="34" charset="0"/>
                      </a:endParaRPr>
                    </a:p>
                  </a:txBody>
                  <a:tcPr marT="45713" marB="4571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838200">
                <a:tc>
                  <a:txBody>
                    <a:bodyPr/>
                    <a:lstStyle/>
                    <a:p>
                      <a:pPr marL="222250" marR="0" lvl="0" indent="-222250" algn="l" defTabSz="822325" rtl="0" eaLnBrk="1" fontAlgn="base" latinLnBrk="0" hangingPunct="1">
                        <a:lnSpc>
                          <a:spcPct val="100000"/>
                        </a:lnSpc>
                        <a:spcBef>
                          <a:spcPct val="0"/>
                        </a:spcBef>
                        <a:spcAft>
                          <a:spcPct val="0"/>
                        </a:spcAft>
                        <a:buClrTx/>
                        <a:buSzTx/>
                        <a:buFontTx/>
                        <a:buChar char="•"/>
                      </a:pPr>
                      <a:r>
                        <a:rPr kumimoji="0" lang="en-US" sz="2400" b="0" i="0" u="none" strike="noStrike" cap="none" normalizeH="0" baseline="0">
                          <a:ln>
                            <a:noFill/>
                          </a:ln>
                          <a:solidFill>
                            <a:srgbClr val="000099"/>
                          </a:solidFill>
                          <a:effectLst/>
                          <a:latin typeface="Tahoma" panose="020B0604030504040204" pitchFamily="34" charset="0"/>
                          <a:cs typeface="Tahoma" panose="020B0604030504040204" pitchFamily="34" charset="0"/>
                        </a:rPr>
                        <a:t>Jumlah kelahiran hidup adalah banyaknya bayi yang lahir hidup pada tahun tertentu, di daerah tertentu.</a:t>
                      </a:r>
                      <a:endParaRPr kumimoji="0" lang="id-ID" sz="2400" b="0" i="0" u="none" strike="noStrike" cap="none" normalizeH="0" baseline="0">
                        <a:ln>
                          <a:noFill/>
                        </a:ln>
                        <a:solidFill>
                          <a:srgbClr val="000099"/>
                        </a:solidFill>
                        <a:effectLst/>
                        <a:latin typeface="Tahoma" panose="020B0604030504040204" pitchFamily="34" charset="0"/>
                        <a:cs typeface="Tahoma" panose="020B0604030504040204" pitchFamily="34" charset="0"/>
                      </a:endParaRPr>
                    </a:p>
                  </a:txBody>
                  <a:tcPr marT="45713" marB="4571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822325" rtl="0" eaLnBrk="1" fontAlgn="base" latinLnBrk="0" hangingPunct="1">
                        <a:lnSpc>
                          <a:spcPct val="100000"/>
                        </a:lnSpc>
                        <a:spcBef>
                          <a:spcPct val="0"/>
                        </a:spcBef>
                        <a:spcAft>
                          <a:spcPct val="0"/>
                        </a:spcAft>
                        <a:buClrTx/>
                        <a:buSzTx/>
                        <a:buFontTx/>
                        <a:buChar char="•"/>
                      </a:pPr>
                      <a:r>
                        <a:rPr kumimoji="0" lang="en-US" sz="2400" b="0" i="0" u="none" strike="noStrike" cap="none" normalizeH="0" baseline="0">
                          <a:ln>
                            <a:noFill/>
                          </a:ln>
                          <a:solidFill>
                            <a:srgbClr val="000099"/>
                          </a:solidFill>
                          <a:effectLst/>
                          <a:latin typeface="Tahoma" panose="020B0604030504040204" pitchFamily="34" charset="0"/>
                          <a:cs typeface="Tahoma" panose="020B0604030504040204" pitchFamily="34" charset="0"/>
                        </a:rPr>
                        <a:t> Konstanta = 100.000</a:t>
                      </a:r>
                      <a:endParaRPr kumimoji="0" lang="id-ID" sz="2400" b="0" i="0" u="none" strike="noStrike" cap="none" normalizeH="0" baseline="0">
                        <a:ln>
                          <a:noFill/>
                        </a:ln>
                        <a:solidFill>
                          <a:srgbClr val="000099"/>
                        </a:solidFill>
                        <a:effectLst/>
                        <a:latin typeface="Tahoma" panose="020B0604030504040204" pitchFamily="34" charset="0"/>
                        <a:cs typeface="Tahoma" panose="020B0604030504040204" pitchFamily="34" charset="0"/>
                      </a:endParaRPr>
                    </a:p>
                  </a:txBody>
                  <a:tcPr marT="45713" marB="4571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Rectangle 4"/>
          <p:cNvSpPr/>
          <p:nvPr/>
        </p:nvSpPr>
        <p:spPr>
          <a:xfrm>
            <a:off x="1167130" y="182245"/>
            <a:ext cx="9680575" cy="645160"/>
          </a:xfrm>
          <a:prstGeom prst="rect">
            <a:avLst/>
          </a:prstGeom>
        </p:spPr>
        <p:txBody>
          <a:bodyPr wrap="square">
            <a:spAutoFit/>
          </a:bodyPr>
          <a:lstStyle/>
          <a:p>
            <a:r>
              <a:rPr lang="id-ID" sz="3600" b="1" dirty="0"/>
              <a:t>Angka Kematian Ibu</a:t>
            </a:r>
            <a:r>
              <a:rPr lang="en-US" altLang="id-ID" sz="3600" b="1" dirty="0"/>
              <a:t> (Maternal Mortality)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
        <p:nvSpPr>
          <p:cNvPr id="5" name="Rectangle 4"/>
          <p:cNvSpPr/>
          <p:nvPr/>
        </p:nvSpPr>
        <p:spPr>
          <a:xfrm>
            <a:off x="1167130" y="182245"/>
            <a:ext cx="9680575" cy="583565"/>
          </a:xfrm>
          <a:prstGeom prst="rect">
            <a:avLst/>
          </a:prstGeom>
        </p:spPr>
        <p:txBody>
          <a:bodyPr wrap="square">
            <a:spAutoFit/>
          </a:bodyPr>
          <a:lstStyle/>
          <a:p>
            <a:r>
              <a:rPr lang="id-ID" sz="3200" b="1" dirty="0"/>
              <a:t>Angka Kematian Ibu</a:t>
            </a:r>
            <a:r>
              <a:rPr lang="en-US" altLang="id-ID" sz="3200" b="1" dirty="0"/>
              <a:t>/</a:t>
            </a:r>
            <a:r>
              <a:rPr lang="en-US" altLang="id-ID" sz="3200" b="1" i="1" dirty="0"/>
              <a:t>Maternal Mortality  </a:t>
            </a:r>
            <a:r>
              <a:rPr lang="en-US" altLang="id-ID" sz="3200" b="1" dirty="0"/>
              <a:t>LF2020</a:t>
            </a:r>
          </a:p>
        </p:txBody>
      </p:sp>
      <p:graphicFrame>
        <p:nvGraphicFramePr>
          <p:cNvPr id="7" name="Table 6"/>
          <p:cNvGraphicFramePr/>
          <p:nvPr/>
        </p:nvGraphicFramePr>
        <p:xfrm>
          <a:off x="1167130" y="827405"/>
          <a:ext cx="4126865" cy="4954905"/>
        </p:xfrm>
        <a:graphic>
          <a:graphicData uri="http://schemas.openxmlformats.org/drawingml/2006/table">
            <a:tbl>
              <a:tblPr/>
              <a:tblGrid>
                <a:gridCol w="782955">
                  <a:extLst>
                    <a:ext uri="{9D8B030D-6E8A-4147-A177-3AD203B41FA5}">
                      <a16:colId xmlns:a16="http://schemas.microsoft.com/office/drawing/2014/main" val="20000"/>
                    </a:ext>
                  </a:extLst>
                </a:gridCol>
                <a:gridCol w="2436495">
                  <a:extLst>
                    <a:ext uri="{9D8B030D-6E8A-4147-A177-3AD203B41FA5}">
                      <a16:colId xmlns:a16="http://schemas.microsoft.com/office/drawing/2014/main" val="20001"/>
                    </a:ext>
                  </a:extLst>
                </a:gridCol>
                <a:gridCol w="907415">
                  <a:extLst>
                    <a:ext uri="{9D8B030D-6E8A-4147-A177-3AD203B41FA5}">
                      <a16:colId xmlns:a16="http://schemas.microsoft.com/office/drawing/2014/main" val="20002"/>
                    </a:ext>
                  </a:extLst>
                </a:gridCol>
              </a:tblGrid>
              <a:tr h="334645">
                <a:tc>
                  <a:txBody>
                    <a:bodyPr/>
                    <a:lstStyle/>
                    <a:p>
                      <a:pPr indent="0" algn="ctr">
                        <a:buNone/>
                      </a:pPr>
                      <a:r>
                        <a:rPr lang="en-US" sz="1400" b="1">
                          <a:solidFill>
                            <a:srgbClr val="000000"/>
                          </a:solidFill>
                          <a:latin typeface="Calibri" panose="020F0502020204030204" charset="-122"/>
                        </a:rPr>
                        <a:t>No.</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4">
                        <a:lumMod val="20000"/>
                        <a:lumOff val="80000"/>
                      </a:schemeClr>
                    </a:solidFill>
                  </a:tcPr>
                </a:tc>
                <a:tc>
                  <a:txBody>
                    <a:bodyPr/>
                    <a:lstStyle/>
                    <a:p>
                      <a:pPr indent="64135" algn="ctr">
                        <a:buNone/>
                      </a:pPr>
                      <a:r>
                        <a:rPr lang="en-US" sz="1400" b="1">
                          <a:solidFill>
                            <a:srgbClr val="000000"/>
                          </a:solidFill>
                          <a:latin typeface="Calibri" panose="020F0502020204030204" charset="-122"/>
                        </a:rPr>
                        <a:t>PROVINSI</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4">
                        <a:lumMod val="20000"/>
                        <a:lumOff val="80000"/>
                      </a:schemeClr>
                    </a:solidFill>
                  </a:tcPr>
                </a:tc>
                <a:tc>
                  <a:txBody>
                    <a:bodyPr/>
                    <a:lstStyle/>
                    <a:p>
                      <a:pPr indent="0" algn="ctr">
                        <a:buNone/>
                      </a:pPr>
                      <a:r>
                        <a:rPr lang="en-US" sz="1400" b="1">
                          <a:solidFill>
                            <a:srgbClr val="000000"/>
                          </a:solidFill>
                          <a:latin typeface="Calibri" panose="020F0502020204030204" charset="-122"/>
                        </a:rPr>
                        <a:t>MMR</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0"/>
                  </a:ext>
                </a:extLst>
              </a:tr>
              <a:tr h="227965">
                <a:tc>
                  <a:txBody>
                    <a:bodyPr/>
                    <a:lstStyle/>
                    <a:p>
                      <a:pPr indent="0" algn="ctr">
                        <a:buNone/>
                      </a:pPr>
                      <a:r>
                        <a:rPr lang="en-US" sz="1400" b="0">
                          <a:solidFill>
                            <a:srgbClr val="000000"/>
                          </a:solidFill>
                          <a:latin typeface="Calibri" panose="020F0502020204030204" charset="-122"/>
                        </a:rPr>
                        <a:t>1</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ACEH</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201</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271780">
                <a:tc>
                  <a:txBody>
                    <a:bodyPr/>
                    <a:lstStyle/>
                    <a:p>
                      <a:pPr indent="0" algn="ctr">
                        <a:buNone/>
                      </a:pPr>
                      <a:r>
                        <a:rPr lang="en-US" sz="1400" b="0">
                          <a:solidFill>
                            <a:srgbClr val="000000"/>
                          </a:solidFill>
                          <a:latin typeface="Calibri" panose="020F0502020204030204" charset="-122"/>
                        </a:rPr>
                        <a:t>2</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SUMATERA UTARA</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195</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227965">
                <a:tc>
                  <a:txBody>
                    <a:bodyPr/>
                    <a:lstStyle/>
                    <a:p>
                      <a:pPr indent="0" algn="ctr">
                        <a:buNone/>
                      </a:pPr>
                      <a:r>
                        <a:rPr lang="en-US" sz="1400" b="0">
                          <a:solidFill>
                            <a:srgbClr val="000000"/>
                          </a:solidFill>
                          <a:latin typeface="Calibri" panose="020F0502020204030204" charset="-122"/>
                        </a:rPr>
                        <a:t>3</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SUMATERA BARAT</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178</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228600">
                <a:tc>
                  <a:txBody>
                    <a:bodyPr/>
                    <a:lstStyle/>
                    <a:p>
                      <a:pPr indent="0" algn="ctr">
                        <a:buNone/>
                      </a:pPr>
                      <a:r>
                        <a:rPr lang="en-US" sz="1400" b="0">
                          <a:solidFill>
                            <a:srgbClr val="000000"/>
                          </a:solidFill>
                          <a:latin typeface="Calibri" panose="020F0502020204030204" charset="-122"/>
                        </a:rPr>
                        <a:t>4</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RIAU</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158</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241300">
                <a:tc>
                  <a:txBody>
                    <a:bodyPr/>
                    <a:lstStyle/>
                    <a:p>
                      <a:pPr indent="0" algn="ctr">
                        <a:buNone/>
                      </a:pPr>
                      <a:r>
                        <a:rPr lang="en-US" sz="1400" b="0">
                          <a:solidFill>
                            <a:srgbClr val="000000"/>
                          </a:solidFill>
                          <a:latin typeface="Calibri" panose="020F0502020204030204" charset="-122"/>
                        </a:rPr>
                        <a:t>5</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JAMBI</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177</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5"/>
                  </a:ext>
                </a:extLst>
              </a:tr>
              <a:tr h="228600">
                <a:tc>
                  <a:txBody>
                    <a:bodyPr/>
                    <a:lstStyle/>
                    <a:p>
                      <a:pPr indent="0" algn="ctr">
                        <a:buNone/>
                      </a:pPr>
                      <a:r>
                        <a:rPr lang="en-US" sz="1400" b="0">
                          <a:solidFill>
                            <a:srgbClr val="000000"/>
                          </a:solidFill>
                          <a:latin typeface="Calibri" panose="020F0502020204030204" charset="-122"/>
                        </a:rPr>
                        <a:t>6</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SUMATERA SELATAN</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175</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6"/>
                  </a:ext>
                </a:extLst>
              </a:tr>
              <a:tr h="227965">
                <a:tc>
                  <a:txBody>
                    <a:bodyPr/>
                    <a:lstStyle/>
                    <a:p>
                      <a:pPr indent="0" algn="ctr">
                        <a:buNone/>
                      </a:pPr>
                      <a:r>
                        <a:rPr lang="en-US" sz="1400" b="0">
                          <a:solidFill>
                            <a:srgbClr val="000000"/>
                          </a:solidFill>
                          <a:latin typeface="Calibri" panose="020F0502020204030204" charset="-122"/>
                        </a:rPr>
                        <a:t>7</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BENGKULU</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179</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7"/>
                  </a:ext>
                </a:extLst>
              </a:tr>
              <a:tr h="228600">
                <a:tc>
                  <a:txBody>
                    <a:bodyPr/>
                    <a:lstStyle/>
                    <a:p>
                      <a:pPr indent="0" algn="ctr">
                        <a:buNone/>
                      </a:pPr>
                      <a:r>
                        <a:rPr lang="en-US" sz="1400" b="0">
                          <a:solidFill>
                            <a:srgbClr val="000000"/>
                          </a:solidFill>
                          <a:latin typeface="Calibri" panose="020F0502020204030204" charset="-122"/>
                        </a:rPr>
                        <a:t>8</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LAMPUNG</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192</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8"/>
                  </a:ext>
                </a:extLst>
              </a:tr>
              <a:tr h="196850">
                <a:tc>
                  <a:txBody>
                    <a:bodyPr/>
                    <a:lstStyle/>
                    <a:p>
                      <a:pPr indent="0" algn="ctr">
                        <a:buNone/>
                      </a:pPr>
                      <a:r>
                        <a:rPr lang="en-US" sz="1400" b="0">
                          <a:solidFill>
                            <a:srgbClr val="000000"/>
                          </a:solidFill>
                          <a:latin typeface="Calibri" panose="020F0502020204030204" charset="-122"/>
                        </a:rPr>
                        <a:t>9</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KEPULAUAN BANGKA BELITUNG</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198</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9"/>
                  </a:ext>
                </a:extLst>
              </a:tr>
              <a:tr h="228600">
                <a:tc>
                  <a:txBody>
                    <a:bodyPr/>
                    <a:lstStyle/>
                    <a:p>
                      <a:pPr indent="0" algn="ctr">
                        <a:buNone/>
                      </a:pPr>
                      <a:r>
                        <a:rPr lang="en-US" sz="1400" b="0">
                          <a:solidFill>
                            <a:srgbClr val="000000"/>
                          </a:solidFill>
                          <a:latin typeface="Calibri" panose="020F0502020204030204" charset="-122"/>
                        </a:rPr>
                        <a:t>10</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KEPULAUAN RIAU</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142</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0"/>
                  </a:ext>
                </a:extLst>
              </a:tr>
              <a:tr h="227965">
                <a:tc>
                  <a:txBody>
                    <a:bodyPr/>
                    <a:lstStyle/>
                    <a:p>
                      <a:pPr indent="0" algn="ctr">
                        <a:buNone/>
                      </a:pPr>
                      <a:r>
                        <a:rPr lang="en-US" sz="1400" b="0">
                          <a:solidFill>
                            <a:srgbClr val="000000"/>
                          </a:solidFill>
                          <a:latin typeface="Calibri" panose="020F0502020204030204" charset="-122"/>
                        </a:rPr>
                        <a:t>11</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DKI JAKARTA</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48</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1"/>
                  </a:ext>
                </a:extLst>
              </a:tr>
              <a:tr h="228600">
                <a:tc>
                  <a:txBody>
                    <a:bodyPr/>
                    <a:lstStyle/>
                    <a:p>
                      <a:pPr indent="0" algn="ctr">
                        <a:buNone/>
                      </a:pPr>
                      <a:r>
                        <a:rPr lang="en-US" sz="1400" b="0">
                          <a:solidFill>
                            <a:srgbClr val="000000"/>
                          </a:solidFill>
                          <a:latin typeface="Calibri" panose="020F0502020204030204" charset="-122"/>
                        </a:rPr>
                        <a:t>12</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JAWA BARAT</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187</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2"/>
                  </a:ext>
                </a:extLst>
              </a:tr>
              <a:tr h="227965">
                <a:tc>
                  <a:txBody>
                    <a:bodyPr/>
                    <a:lstStyle/>
                    <a:p>
                      <a:pPr indent="0" algn="ctr">
                        <a:buNone/>
                      </a:pPr>
                      <a:r>
                        <a:rPr lang="en-US" sz="1400" b="0">
                          <a:solidFill>
                            <a:srgbClr val="000000"/>
                          </a:solidFill>
                          <a:latin typeface="Calibri" panose="020F0502020204030204" charset="-122"/>
                        </a:rPr>
                        <a:t>13</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JAWA TENGAH</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183</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3"/>
                  </a:ext>
                </a:extLst>
              </a:tr>
              <a:tr h="228600">
                <a:tc>
                  <a:txBody>
                    <a:bodyPr/>
                    <a:lstStyle/>
                    <a:p>
                      <a:pPr indent="0" algn="ctr">
                        <a:buNone/>
                      </a:pPr>
                      <a:r>
                        <a:rPr lang="en-US" sz="1400" b="0">
                          <a:solidFill>
                            <a:srgbClr val="000000"/>
                          </a:solidFill>
                          <a:latin typeface="Calibri" panose="020F0502020204030204" charset="-122"/>
                        </a:rPr>
                        <a:t>14</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DI YOGYAKARTA</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58</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4"/>
                  </a:ext>
                </a:extLst>
              </a:tr>
              <a:tr h="227965">
                <a:tc>
                  <a:txBody>
                    <a:bodyPr/>
                    <a:lstStyle/>
                    <a:p>
                      <a:pPr indent="0" algn="ctr">
                        <a:buNone/>
                      </a:pPr>
                      <a:r>
                        <a:rPr lang="en-US" sz="1400" b="0">
                          <a:solidFill>
                            <a:srgbClr val="000000"/>
                          </a:solidFill>
                          <a:latin typeface="Calibri" panose="020F0502020204030204" charset="-122"/>
                        </a:rPr>
                        <a:t>15</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JAWA TIMUR</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184</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5"/>
                  </a:ext>
                </a:extLst>
              </a:tr>
              <a:tr h="228600">
                <a:tc>
                  <a:txBody>
                    <a:bodyPr/>
                    <a:lstStyle/>
                    <a:p>
                      <a:pPr indent="0" algn="ctr">
                        <a:buNone/>
                      </a:pPr>
                      <a:r>
                        <a:rPr lang="en-US" sz="1400" b="0">
                          <a:solidFill>
                            <a:srgbClr val="000000"/>
                          </a:solidFill>
                          <a:latin typeface="Calibri" panose="020F0502020204030204" charset="-122"/>
                        </a:rPr>
                        <a:t>16</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BANTEN</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127</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6"/>
                  </a:ext>
                </a:extLst>
              </a:tr>
              <a:tr h="227965">
                <a:tc>
                  <a:txBody>
                    <a:bodyPr/>
                    <a:lstStyle/>
                    <a:p>
                      <a:pPr indent="0" algn="ctr">
                        <a:buNone/>
                      </a:pPr>
                      <a:r>
                        <a:rPr lang="en-US" sz="1400" b="0">
                          <a:solidFill>
                            <a:srgbClr val="000000"/>
                          </a:solidFill>
                          <a:latin typeface="Calibri" panose="020F0502020204030204" charset="-122"/>
                        </a:rPr>
                        <a:t>17</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BALI</a:t>
                      </a:r>
                    </a:p>
                  </a:txBody>
                  <a:tcPr marL="12700" marR="12700" marT="12700" anchor="b">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85</a:t>
                      </a:r>
                    </a:p>
                  </a:txBody>
                  <a:tcPr marL="12700" marR="12700" marT="12700" anchor="b">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7"/>
                  </a:ext>
                </a:extLst>
              </a:tr>
            </a:tbl>
          </a:graphicData>
        </a:graphic>
      </p:graphicFrame>
      <p:graphicFrame>
        <p:nvGraphicFramePr>
          <p:cNvPr id="8" name="Table 7"/>
          <p:cNvGraphicFramePr/>
          <p:nvPr/>
        </p:nvGraphicFramePr>
        <p:xfrm>
          <a:off x="6341110" y="827405"/>
          <a:ext cx="4372610" cy="5291455"/>
        </p:xfrm>
        <a:graphic>
          <a:graphicData uri="http://schemas.openxmlformats.org/drawingml/2006/table">
            <a:tbl>
              <a:tblPr/>
              <a:tblGrid>
                <a:gridCol w="936625">
                  <a:extLst>
                    <a:ext uri="{9D8B030D-6E8A-4147-A177-3AD203B41FA5}">
                      <a16:colId xmlns:a16="http://schemas.microsoft.com/office/drawing/2014/main" val="20000"/>
                    </a:ext>
                  </a:extLst>
                </a:gridCol>
                <a:gridCol w="249936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tblGrid>
              <a:tr h="335280">
                <a:tc>
                  <a:txBody>
                    <a:bodyPr/>
                    <a:lstStyle/>
                    <a:p>
                      <a:pPr indent="0" algn="ctr">
                        <a:buNone/>
                      </a:pPr>
                      <a:r>
                        <a:rPr lang="en-US" sz="1600" b="1">
                          <a:solidFill>
                            <a:srgbClr val="000000"/>
                          </a:solidFill>
                          <a:latin typeface="Calibri" panose="020F0502020204030204" charset="-122"/>
                        </a:rPr>
                        <a:t>No.</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20000"/>
                        <a:lumOff val="80000"/>
                      </a:schemeClr>
                    </a:solidFill>
                  </a:tcPr>
                </a:tc>
                <a:tc>
                  <a:txBody>
                    <a:bodyPr/>
                    <a:lstStyle/>
                    <a:p>
                      <a:pPr indent="0" algn="ctr">
                        <a:buNone/>
                      </a:pPr>
                      <a:r>
                        <a:rPr lang="en-US" sz="1600" b="1">
                          <a:solidFill>
                            <a:srgbClr val="000000"/>
                          </a:solidFill>
                          <a:latin typeface="Calibri" panose="020F0502020204030204" charset="-122"/>
                        </a:rPr>
                        <a:t>PROVINSI</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20000"/>
                        <a:lumOff val="80000"/>
                      </a:schemeClr>
                    </a:solidFill>
                  </a:tcPr>
                </a:tc>
                <a:tc>
                  <a:txBody>
                    <a:bodyPr/>
                    <a:lstStyle/>
                    <a:p>
                      <a:pPr indent="0" algn="ctr">
                        <a:buNone/>
                      </a:pPr>
                      <a:r>
                        <a:rPr lang="en-US" sz="1600" b="1">
                          <a:solidFill>
                            <a:srgbClr val="000000"/>
                          </a:solidFill>
                          <a:latin typeface="Calibri" panose="020F0502020204030204" charset="-122"/>
                        </a:rPr>
                        <a:t>MMR</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0"/>
                  </a:ext>
                </a:extLst>
              </a:tr>
              <a:tr h="241300">
                <a:tc>
                  <a:txBody>
                    <a:bodyPr/>
                    <a:lstStyle/>
                    <a:p>
                      <a:pPr indent="0" algn="ctr">
                        <a:buNone/>
                      </a:pPr>
                      <a:r>
                        <a:rPr lang="en-US" sz="1400" b="0">
                          <a:solidFill>
                            <a:srgbClr val="000000"/>
                          </a:solidFill>
                          <a:latin typeface="Calibri" panose="020F0502020204030204" charset="-122"/>
                        </a:rPr>
                        <a:t>18</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NUSA TENGGARA BARAT</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257</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241300">
                <a:tc>
                  <a:txBody>
                    <a:bodyPr/>
                    <a:lstStyle/>
                    <a:p>
                      <a:pPr indent="0" algn="ctr">
                        <a:buNone/>
                      </a:pPr>
                      <a:r>
                        <a:rPr lang="en-US" sz="1400" b="0">
                          <a:solidFill>
                            <a:srgbClr val="000000"/>
                          </a:solidFill>
                          <a:latin typeface="Calibri" panose="020F0502020204030204" charset="-122"/>
                        </a:rPr>
                        <a:t>19</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NUSA TENGGARA TIMUR</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316</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241300">
                <a:tc>
                  <a:txBody>
                    <a:bodyPr/>
                    <a:lstStyle/>
                    <a:p>
                      <a:pPr indent="0" algn="ctr">
                        <a:buNone/>
                      </a:pPr>
                      <a:r>
                        <a:rPr lang="en-US" sz="1400" b="0">
                          <a:solidFill>
                            <a:srgbClr val="000000"/>
                          </a:solidFill>
                          <a:latin typeface="Calibri" panose="020F0502020204030204" charset="-122"/>
                        </a:rPr>
                        <a:t>20</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KALIMANTAN BARAT</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246</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241300">
                <a:tc>
                  <a:txBody>
                    <a:bodyPr/>
                    <a:lstStyle/>
                    <a:p>
                      <a:pPr indent="0" algn="ctr">
                        <a:buNone/>
                      </a:pPr>
                      <a:r>
                        <a:rPr lang="en-US" sz="1400" b="0">
                          <a:solidFill>
                            <a:srgbClr val="000000"/>
                          </a:solidFill>
                          <a:latin typeface="Calibri" panose="020F0502020204030204" charset="-122"/>
                        </a:rPr>
                        <a:t>21</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KALIMANTAN TENGAH</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200</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220345">
                <a:tc>
                  <a:txBody>
                    <a:bodyPr/>
                    <a:lstStyle/>
                    <a:p>
                      <a:pPr indent="0" algn="ctr">
                        <a:buNone/>
                      </a:pPr>
                      <a:r>
                        <a:rPr lang="en-US" sz="1400" b="0">
                          <a:solidFill>
                            <a:srgbClr val="000000"/>
                          </a:solidFill>
                          <a:latin typeface="Calibri" panose="020F0502020204030204" charset="-122"/>
                        </a:rPr>
                        <a:t>22</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KALIMANTAN SELATAN</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224</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5"/>
                  </a:ext>
                </a:extLst>
              </a:tr>
              <a:tr h="262890">
                <a:tc>
                  <a:txBody>
                    <a:bodyPr/>
                    <a:lstStyle/>
                    <a:p>
                      <a:pPr indent="0" algn="ctr">
                        <a:buNone/>
                      </a:pPr>
                      <a:r>
                        <a:rPr lang="en-US" sz="1400" b="0">
                          <a:solidFill>
                            <a:srgbClr val="000000"/>
                          </a:solidFill>
                          <a:latin typeface="Calibri" panose="020F0502020204030204" charset="-122"/>
                        </a:rPr>
                        <a:t>23</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KALIMANTAN TIMUR</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177</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6"/>
                  </a:ext>
                </a:extLst>
              </a:tr>
              <a:tr h="209550">
                <a:tc>
                  <a:txBody>
                    <a:bodyPr/>
                    <a:lstStyle/>
                    <a:p>
                      <a:pPr indent="0" algn="ctr">
                        <a:buNone/>
                      </a:pPr>
                      <a:r>
                        <a:rPr lang="en-US" sz="1400" b="0">
                          <a:solidFill>
                            <a:srgbClr val="000000"/>
                          </a:solidFill>
                          <a:latin typeface="Calibri" panose="020F0502020204030204" charset="-122"/>
                        </a:rPr>
                        <a:t>24</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KALIMANTAN UTARA</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194</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7"/>
                  </a:ext>
                </a:extLst>
              </a:tr>
              <a:tr h="241300">
                <a:tc>
                  <a:txBody>
                    <a:bodyPr/>
                    <a:lstStyle/>
                    <a:p>
                      <a:pPr indent="0" algn="ctr">
                        <a:buNone/>
                      </a:pPr>
                      <a:r>
                        <a:rPr lang="en-US" sz="1400" b="0">
                          <a:solidFill>
                            <a:srgbClr val="000000"/>
                          </a:solidFill>
                          <a:latin typeface="Calibri" panose="020F0502020204030204" charset="-122"/>
                        </a:rPr>
                        <a:t>25</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SULAWESI UTARA</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230</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8"/>
                  </a:ext>
                </a:extLst>
              </a:tr>
              <a:tr h="220345">
                <a:tc>
                  <a:txBody>
                    <a:bodyPr/>
                    <a:lstStyle/>
                    <a:p>
                      <a:pPr indent="0" algn="ctr">
                        <a:buNone/>
                      </a:pPr>
                      <a:r>
                        <a:rPr lang="en-US" sz="1400" b="0">
                          <a:solidFill>
                            <a:srgbClr val="000000"/>
                          </a:solidFill>
                          <a:latin typeface="Calibri" panose="020F0502020204030204" charset="-122"/>
                        </a:rPr>
                        <a:t>26</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SULAWESI TENGAH</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264</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9"/>
                  </a:ext>
                </a:extLst>
              </a:tr>
              <a:tr h="241935">
                <a:tc>
                  <a:txBody>
                    <a:bodyPr/>
                    <a:lstStyle/>
                    <a:p>
                      <a:pPr indent="0" algn="ctr">
                        <a:buNone/>
                      </a:pPr>
                      <a:r>
                        <a:rPr lang="en-US" sz="1400" b="0">
                          <a:solidFill>
                            <a:srgbClr val="000000"/>
                          </a:solidFill>
                          <a:latin typeface="Calibri" panose="020F0502020204030204" charset="-122"/>
                        </a:rPr>
                        <a:t>27</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SULAWESI SELATAN</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192</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0"/>
                  </a:ext>
                </a:extLst>
              </a:tr>
              <a:tr h="231140">
                <a:tc>
                  <a:txBody>
                    <a:bodyPr/>
                    <a:lstStyle/>
                    <a:p>
                      <a:pPr indent="0" algn="ctr">
                        <a:buNone/>
                      </a:pPr>
                      <a:r>
                        <a:rPr lang="en-US" sz="1400" b="0">
                          <a:solidFill>
                            <a:srgbClr val="000000"/>
                          </a:solidFill>
                          <a:latin typeface="Calibri" panose="020F0502020204030204" charset="-122"/>
                        </a:rPr>
                        <a:t>28</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SULAWESI TENGGARA</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226</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1"/>
                  </a:ext>
                </a:extLst>
              </a:tr>
              <a:tr h="210820">
                <a:tc>
                  <a:txBody>
                    <a:bodyPr/>
                    <a:lstStyle/>
                    <a:p>
                      <a:pPr indent="0" algn="ctr">
                        <a:buNone/>
                      </a:pPr>
                      <a:r>
                        <a:rPr lang="en-US" sz="1400" b="0">
                          <a:solidFill>
                            <a:srgbClr val="000000"/>
                          </a:solidFill>
                          <a:latin typeface="Calibri" panose="020F0502020204030204" charset="-122"/>
                        </a:rPr>
                        <a:t>29</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GORONTALO</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266</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2"/>
                  </a:ext>
                </a:extLst>
              </a:tr>
              <a:tr h="210820">
                <a:tc>
                  <a:txBody>
                    <a:bodyPr/>
                    <a:lstStyle/>
                    <a:p>
                      <a:pPr indent="0" algn="ctr">
                        <a:buNone/>
                      </a:pPr>
                      <a:r>
                        <a:rPr lang="en-US" sz="1400" b="0">
                          <a:solidFill>
                            <a:srgbClr val="000000"/>
                          </a:solidFill>
                          <a:latin typeface="Calibri" panose="020F0502020204030204" charset="-122"/>
                        </a:rPr>
                        <a:t>30</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SULAWESI BARAT</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274</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3"/>
                  </a:ext>
                </a:extLst>
              </a:tr>
              <a:tr h="210820">
                <a:tc>
                  <a:txBody>
                    <a:bodyPr/>
                    <a:lstStyle/>
                    <a:p>
                      <a:pPr indent="0" algn="ctr">
                        <a:buNone/>
                      </a:pPr>
                      <a:r>
                        <a:rPr lang="en-US" sz="1400" b="0">
                          <a:solidFill>
                            <a:srgbClr val="000000"/>
                          </a:solidFill>
                          <a:latin typeface="Calibri" panose="020F0502020204030204" charset="-122"/>
                        </a:rPr>
                        <a:t>31</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MALUKU</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261</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4"/>
                  </a:ext>
                </a:extLst>
              </a:tr>
              <a:tr h="210820">
                <a:tc>
                  <a:txBody>
                    <a:bodyPr/>
                    <a:lstStyle/>
                    <a:p>
                      <a:pPr indent="0" algn="ctr">
                        <a:buNone/>
                      </a:pPr>
                      <a:r>
                        <a:rPr lang="en-US" sz="1400" b="0">
                          <a:solidFill>
                            <a:srgbClr val="000000"/>
                          </a:solidFill>
                          <a:latin typeface="Calibri" panose="020F0502020204030204" charset="-122"/>
                        </a:rPr>
                        <a:t>32</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MALUKU UTARA</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255</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5"/>
                  </a:ext>
                </a:extLst>
              </a:tr>
              <a:tr h="210820">
                <a:tc>
                  <a:txBody>
                    <a:bodyPr/>
                    <a:lstStyle/>
                    <a:p>
                      <a:pPr indent="0" algn="ctr">
                        <a:buNone/>
                      </a:pPr>
                      <a:r>
                        <a:rPr lang="en-US" sz="1400" b="0">
                          <a:solidFill>
                            <a:srgbClr val="000000"/>
                          </a:solidFill>
                          <a:latin typeface="Calibri" panose="020F0502020204030204" charset="-122"/>
                        </a:rPr>
                        <a:t>33</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PAPUA BARAT</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343</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6"/>
                  </a:ext>
                </a:extLst>
              </a:tr>
              <a:tr h="210820">
                <a:tc>
                  <a:txBody>
                    <a:bodyPr/>
                    <a:lstStyle/>
                    <a:p>
                      <a:pPr indent="0" algn="ctr">
                        <a:buNone/>
                      </a:pPr>
                      <a:r>
                        <a:rPr lang="en-US" sz="1400" b="0">
                          <a:solidFill>
                            <a:srgbClr val="000000"/>
                          </a:solidFill>
                          <a:latin typeface="Calibri" panose="020F0502020204030204" charset="-122"/>
                        </a:rPr>
                        <a:t>34</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PAPUA</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565</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7"/>
                  </a:ext>
                </a:extLst>
              </a:tr>
              <a:tr h="335915">
                <a:tc>
                  <a:txBody>
                    <a:bodyPr/>
                    <a:lstStyle/>
                    <a:p>
                      <a:pPr indent="0" algn="ctr">
                        <a:buNone/>
                      </a:pPr>
                      <a:r>
                        <a:rPr lang="en-US" sz="1400" b="0">
                          <a:solidFill>
                            <a:srgbClr val="000000"/>
                          </a:solidFill>
                          <a:latin typeface="Calibri" panose="020F0502020204030204" charset="-122"/>
                        </a:rPr>
                        <a:t>35</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buNone/>
                      </a:pPr>
                      <a:r>
                        <a:rPr lang="en-US" sz="1400" b="0">
                          <a:solidFill>
                            <a:srgbClr val="000000"/>
                          </a:solidFill>
                          <a:latin typeface="Calibri" panose="020F0502020204030204" charset="-122"/>
                        </a:rPr>
                        <a:t>INDONESIA</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a:buNone/>
                      </a:pPr>
                      <a:r>
                        <a:rPr lang="en-US" sz="1400" b="0">
                          <a:solidFill>
                            <a:srgbClr val="000000"/>
                          </a:solidFill>
                          <a:latin typeface="Calibri" panose="020F0502020204030204" charset="-122"/>
                        </a:rPr>
                        <a:t>189</a:t>
                      </a:r>
                    </a:p>
                  </a:txBody>
                  <a:tcPr marL="12700" marR="12700" marT="12700" anchor="b">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pic>
        <p:nvPicPr>
          <p:cNvPr id="2" name="Picture 1"/>
          <p:cNvPicPr>
            <a:picLocks noChangeAspect="1"/>
          </p:cNvPicPr>
          <p:nvPr/>
        </p:nvPicPr>
        <p:blipFill rotWithShape="1">
          <a:blip r:embed="rId4"/>
          <a:srcRect l="46331" t="42151" r="24395" b="17648"/>
          <a:stretch>
            <a:fillRect/>
          </a:stretch>
        </p:blipFill>
        <p:spPr>
          <a:xfrm>
            <a:off x="3390899" y="793849"/>
            <a:ext cx="6579009" cy="4965501"/>
          </a:xfrm>
          <a:prstGeom prst="rect">
            <a:avLst/>
          </a:prstGeom>
          <a:ln>
            <a:solidFill>
              <a:schemeClr val="tx1"/>
            </a:solidFill>
          </a:ln>
        </p:spPr>
      </p:pic>
      <p:sp>
        <p:nvSpPr>
          <p:cNvPr id="4" name="TextBox 3"/>
          <p:cNvSpPr txBox="1"/>
          <p:nvPr/>
        </p:nvSpPr>
        <p:spPr>
          <a:xfrm>
            <a:off x="867699" y="793849"/>
            <a:ext cx="1934496" cy="3785652"/>
          </a:xfrm>
          <a:prstGeom prst="rect">
            <a:avLst/>
          </a:prstGeom>
          <a:noFill/>
        </p:spPr>
        <p:txBody>
          <a:bodyPr wrap="square" rtlCol="0">
            <a:spAutoFit/>
          </a:bodyPr>
          <a:lstStyle/>
          <a:p>
            <a:r>
              <a:rPr lang="id-ID" sz="2400" dirty="0"/>
              <a:t>Meskipun AKI di Indonesia mengalami penurunan, masih lebih tinggi dibandingkan negara tetangga di ASEAN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
        <p:nvSpPr>
          <p:cNvPr id="5" name="Rectangle 4"/>
          <p:cNvSpPr/>
          <p:nvPr/>
        </p:nvSpPr>
        <p:spPr>
          <a:xfrm>
            <a:off x="722672" y="275981"/>
            <a:ext cx="3569110" cy="6292850"/>
          </a:xfrm>
          <a:prstGeom prst="rect">
            <a:avLst/>
          </a:prstGeom>
        </p:spPr>
        <p:txBody>
          <a:bodyPr wrap="square">
            <a:spAutoFit/>
          </a:bodyPr>
          <a:lstStyle/>
          <a:p>
            <a:r>
              <a:rPr lang="id-ID" sz="2400" b="1" dirty="0"/>
              <a:t>Perbandingan Angka Kematian Ibu tahun 2020</a:t>
            </a:r>
          </a:p>
          <a:p>
            <a:pPr marL="342900" indent="-342900">
              <a:spcBef>
                <a:spcPts val="600"/>
              </a:spcBef>
              <a:spcAft>
                <a:spcPts val="600"/>
              </a:spcAft>
              <a:buFont typeface="Wingdings" panose="05000000000000000000" pitchFamily="2" charset="2"/>
              <a:buChar char="§"/>
            </a:pPr>
            <a:r>
              <a:rPr lang="id-ID" sz="2200" dirty="0"/>
              <a:t>Sebagai perbandingan AKI Indonesia tahun 2017 adalah 177, Malaysia 29, Thailand 37, Vietnam 43, dan </a:t>
            </a:r>
            <a:r>
              <a:rPr lang="id-ID" sz="2200" dirty="0" err="1"/>
              <a:t>Philipina</a:t>
            </a:r>
            <a:r>
              <a:rPr lang="id-ID" sz="2200" dirty="0"/>
              <a:t> 121.</a:t>
            </a:r>
          </a:p>
          <a:p>
            <a:pPr marL="342900" indent="-342900">
              <a:spcBef>
                <a:spcPts val="600"/>
              </a:spcBef>
              <a:spcAft>
                <a:spcPts val="600"/>
              </a:spcAft>
              <a:buFont typeface="Wingdings" panose="05000000000000000000" pitchFamily="2" charset="2"/>
              <a:buChar char="§"/>
            </a:pPr>
            <a:r>
              <a:rPr lang="id-ID" sz="2200" dirty="0">
                <a:sym typeface="+mn-ea"/>
              </a:rPr>
              <a:t>Meskipun terdapat penurunan kematian ibu</a:t>
            </a:r>
            <a:r>
              <a:rPr lang="en-US" altLang="id-ID" sz="2200" dirty="0">
                <a:sym typeface="+mn-ea"/>
              </a:rPr>
              <a:t>,</a:t>
            </a:r>
            <a:r>
              <a:rPr lang="id-ID" sz="2200" dirty="0">
                <a:sym typeface="+mn-ea"/>
              </a:rPr>
              <a:t> (AKI) Sub-Sahara Afrika pada tahun 2017 melebihi 500 kematian ibu per 100.000 kelahiran hidup, lebih dari 60 kali lipat angka kematian ibu di Uni Eropa.</a:t>
            </a:r>
            <a:endParaRPr lang="id-ID" sz="2200" dirty="0"/>
          </a:p>
          <a:p>
            <a:pPr marL="342900" indent="-342900">
              <a:spcBef>
                <a:spcPts val="600"/>
              </a:spcBef>
              <a:spcAft>
                <a:spcPts val="600"/>
              </a:spcAft>
              <a:buFont typeface="Wingdings" panose="05000000000000000000" pitchFamily="2" charset="2"/>
              <a:buChar char="§"/>
            </a:pPr>
            <a:endParaRPr lang="id-ID" sz="2200" dirty="0"/>
          </a:p>
        </p:txBody>
      </p:sp>
      <p:pic>
        <p:nvPicPr>
          <p:cNvPr id="4" name="Picture 3"/>
          <p:cNvPicPr>
            <a:picLocks noChangeAspect="1"/>
          </p:cNvPicPr>
          <p:nvPr/>
        </p:nvPicPr>
        <p:blipFill rotWithShape="1">
          <a:blip r:embed="rId4"/>
          <a:srcRect l="6875" t="20860" r="50000" b="11398"/>
          <a:stretch>
            <a:fillRect/>
          </a:stretch>
        </p:blipFill>
        <p:spPr>
          <a:xfrm>
            <a:off x="4893945" y="276225"/>
            <a:ext cx="6610985" cy="5849620"/>
          </a:xfrm>
          <a:prstGeom prst="rect">
            <a:avLst/>
          </a:prstGeom>
          <a:ln>
            <a:solidFill>
              <a:schemeClr val="bg1">
                <a:lumMod val="50000"/>
              </a:schemeClr>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Grp="1" noChangeAspect="1"/>
          </p:cNvPicPr>
          <p:nvPr>
            <p:ph sz="half" idx="1"/>
          </p:nvPr>
        </p:nvPicPr>
        <p:blipFill>
          <a:blip r:embed="rId2"/>
          <a:stretch>
            <a:fillRect/>
          </a:stretch>
        </p:blipFill>
        <p:spPr>
          <a:xfrm>
            <a:off x="2595245" y="2216785"/>
            <a:ext cx="5641340" cy="3445510"/>
          </a:xfrm>
          <a:prstGeom prst="rect">
            <a:avLst/>
          </a:prstGeom>
          <a:noFill/>
          <a:ln w="9525" cap="flat" cmpd="sng">
            <a:solidFill>
              <a:srgbClr val="800080"/>
            </a:solidFill>
            <a:prstDash val="solid"/>
            <a:miter/>
            <a:headEnd type="none" w="med" len="med"/>
            <a:tailEnd type="none" w="med" len="med"/>
          </a:ln>
        </p:spPr>
      </p:pic>
      <p:sp>
        <p:nvSpPr>
          <p:cNvPr id="20484" name="Rectangle 2"/>
          <p:cNvSpPr/>
          <p:nvPr/>
        </p:nvSpPr>
        <p:spPr>
          <a:xfrm>
            <a:off x="2595245" y="1300480"/>
            <a:ext cx="5466715" cy="521970"/>
          </a:xfrm>
          <a:prstGeom prst="rect">
            <a:avLst/>
          </a:prstGeom>
          <a:noFill/>
          <a:ln w="9525">
            <a:noFill/>
          </a:ln>
        </p:spPr>
        <p:txBody>
          <a:bodyPr wrap="square">
            <a:spAutoFit/>
          </a:bodyPr>
          <a:lstStyle/>
          <a:p>
            <a:r>
              <a:rPr lang="id-ID" altLang="x-none" sz="2800" b="1" dirty="0">
                <a:latin typeface="Times New Roman" panose="02020603050405020304" charset="0"/>
              </a:rPr>
              <a:t>Pola Kematian menurut Umur</a:t>
            </a:r>
            <a:endParaRPr sz="2800" dirty="0">
              <a:latin typeface="Times New Roman" panose="02020603050405020304" charset="0"/>
            </a:endParaRPr>
          </a:p>
        </p:txBody>
      </p:sp>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Balita, Anak, Bayi dan Neonatal </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35065"/>
            <a:ext cx="12192000" cy="6642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Content Placeholder 2"/>
          <p:cNvSpPr>
            <a:spLocks noGrp="1"/>
          </p:cNvSpPr>
          <p:nvPr>
            <p:ph idx="1"/>
          </p:nvPr>
        </p:nvSpPr>
        <p:spPr>
          <a:xfrm>
            <a:off x="2209800" y="1219200"/>
            <a:ext cx="7772400" cy="4894263"/>
          </a:xfrm>
        </p:spPr>
        <p:txBody>
          <a:bodyPr vert="horz" wrap="square" lIns="91434" tIns="45717" rIns="91434" bIns="45717" anchor="t" anchorCtr="0"/>
          <a:lstStyle/>
          <a:p>
            <a:pPr eaLnBrk="1" hangingPunct="1">
              <a:lnSpc>
                <a:spcPct val="110000"/>
              </a:lnSpc>
              <a:spcBef>
                <a:spcPts val="600"/>
              </a:spcBef>
              <a:spcAft>
                <a:spcPts val="600"/>
              </a:spcAft>
              <a:buNone/>
            </a:pPr>
            <a:r>
              <a:rPr lang="en-US" altLang="en-US" sz="2400" dirty="0">
                <a:solidFill>
                  <a:srgbClr val="663300"/>
                </a:solidFill>
                <a:latin typeface="Tahoma" panose="020B0604030504040204" pitchFamily="34" charset="0"/>
                <a:cs typeface="Tahoma" panose="020B0604030504040204" pitchFamily="34" charset="0"/>
              </a:rPr>
              <a:t>Konsep </a:t>
            </a:r>
            <a:endParaRPr lang="id-ID" altLang="en-US" sz="2400" dirty="0">
              <a:solidFill>
                <a:srgbClr val="663300"/>
              </a:solidFill>
              <a:latin typeface="Tahoma" panose="020B0604030504040204" pitchFamily="34" charset="0"/>
              <a:cs typeface="Tahoma" panose="020B0604030504040204" pitchFamily="34" charset="0"/>
            </a:endParaRPr>
          </a:p>
          <a:p>
            <a:pPr eaLnBrk="1" hangingPunct="1">
              <a:lnSpc>
                <a:spcPct val="110000"/>
              </a:lnSpc>
              <a:spcBef>
                <a:spcPts val="600"/>
              </a:spcBef>
              <a:spcAft>
                <a:spcPts val="600"/>
              </a:spcAft>
              <a:buNone/>
            </a:pPr>
            <a:r>
              <a:rPr lang="en-US" altLang="en-US" sz="2400" dirty="0">
                <a:latin typeface="Tahoma" panose="020B0604030504040204" pitchFamily="34" charset="0"/>
                <a:cs typeface="Tahoma" panose="020B0604030504040204" pitchFamily="34" charset="0"/>
              </a:rPr>
              <a:t>Balita atau bawah lima tahun adalah </a:t>
            </a:r>
            <a:r>
              <a:rPr lang="en-US" altLang="en-US" sz="2400" dirty="0">
                <a:solidFill>
                  <a:srgbClr val="800080"/>
                </a:solidFill>
                <a:latin typeface="Tahoma" panose="020B0604030504040204" pitchFamily="34" charset="0"/>
                <a:cs typeface="Tahoma" panose="020B0604030504040204" pitchFamily="34" charset="0"/>
              </a:rPr>
              <a:t>semua anak termasuk bayi yang baru lahir, yang berusia 0 sampai menjelang tepat 5 tahun (4 tahun, 11 bulan, 29 hari)</a:t>
            </a:r>
            <a:r>
              <a:rPr lang="en-US" altLang="en-US" sz="2400" dirty="0">
                <a:latin typeface="Tahoma" panose="020B0604030504040204" pitchFamily="34" charset="0"/>
                <a:cs typeface="Tahoma" panose="020B0604030504040204" pitchFamily="34" charset="0"/>
              </a:rPr>
              <a:t>. Pada umumnya ditulis dengan notasi </a:t>
            </a:r>
            <a:r>
              <a:rPr lang="en-US" altLang="en-US" sz="2400" dirty="0">
                <a:solidFill>
                  <a:srgbClr val="0070C0"/>
                </a:solidFill>
                <a:latin typeface="Tahoma" panose="020B0604030504040204" pitchFamily="34" charset="0"/>
                <a:cs typeface="Tahoma" panose="020B0604030504040204" pitchFamily="34" charset="0"/>
              </a:rPr>
              <a:t>0-4 tahun</a:t>
            </a:r>
            <a:r>
              <a:rPr lang="en-US" altLang="en-US" sz="2400" dirty="0">
                <a:latin typeface="Tahoma" panose="020B0604030504040204" pitchFamily="34" charset="0"/>
                <a:cs typeface="Tahoma" panose="020B0604030504040204" pitchFamily="34" charset="0"/>
              </a:rPr>
              <a:t>. </a:t>
            </a:r>
            <a:endParaRPr lang="id-ID" altLang="en-US" sz="2400" dirty="0">
              <a:latin typeface="Tahoma" panose="020B0604030504040204" pitchFamily="34" charset="0"/>
              <a:cs typeface="Tahoma" panose="020B0604030504040204" pitchFamily="34" charset="0"/>
            </a:endParaRPr>
          </a:p>
          <a:p>
            <a:pPr eaLnBrk="1" hangingPunct="1">
              <a:lnSpc>
                <a:spcPct val="110000"/>
              </a:lnSpc>
              <a:spcBef>
                <a:spcPts val="600"/>
              </a:spcBef>
              <a:spcAft>
                <a:spcPts val="600"/>
              </a:spcAft>
              <a:buNone/>
            </a:pPr>
            <a:r>
              <a:rPr lang="en-US" altLang="en-US" sz="2400" dirty="0">
                <a:solidFill>
                  <a:srgbClr val="990033"/>
                </a:solidFill>
                <a:latin typeface="Tahoma" panose="020B0604030504040204" pitchFamily="34" charset="0"/>
                <a:cs typeface="Tahoma" panose="020B0604030504040204" pitchFamily="34" charset="0"/>
              </a:rPr>
              <a:t>Definisi </a:t>
            </a:r>
            <a:endParaRPr lang="id-ID" altLang="en-US" sz="2400" dirty="0">
              <a:solidFill>
                <a:srgbClr val="990033"/>
              </a:solidFill>
              <a:latin typeface="Tahoma" panose="020B0604030504040204" pitchFamily="34" charset="0"/>
              <a:cs typeface="Tahoma" panose="020B0604030504040204" pitchFamily="34" charset="0"/>
            </a:endParaRPr>
          </a:p>
          <a:p>
            <a:pPr eaLnBrk="1" hangingPunct="1">
              <a:lnSpc>
                <a:spcPct val="110000"/>
              </a:lnSpc>
              <a:spcBef>
                <a:spcPts val="600"/>
              </a:spcBef>
              <a:spcAft>
                <a:spcPts val="600"/>
              </a:spcAft>
              <a:buNone/>
            </a:pPr>
            <a:r>
              <a:rPr lang="en-US" altLang="en-US" sz="2400" dirty="0">
                <a:latin typeface="Tahoma" panose="020B0604030504040204" pitchFamily="34" charset="0"/>
                <a:cs typeface="Tahoma" panose="020B0604030504040204" pitchFamily="34" charset="0"/>
              </a:rPr>
              <a:t>Angka Kematian Balita adalah jumlah </a:t>
            </a:r>
            <a:r>
              <a:rPr lang="en-US" altLang="en-US" sz="2400" dirty="0">
                <a:solidFill>
                  <a:srgbClr val="663300"/>
                </a:solidFill>
                <a:latin typeface="Tahoma" panose="020B0604030504040204" pitchFamily="34" charset="0"/>
                <a:cs typeface="Tahoma" panose="020B0604030504040204" pitchFamily="34" charset="0"/>
              </a:rPr>
              <a:t>kematian anak berusia 0-4 tahun</a:t>
            </a:r>
            <a:r>
              <a:rPr lang="en-US" altLang="en-US" sz="2400" dirty="0">
                <a:latin typeface="Tahoma" panose="020B0604030504040204" pitchFamily="34" charset="0"/>
                <a:cs typeface="Tahoma" panose="020B0604030504040204" pitchFamily="34" charset="0"/>
              </a:rPr>
              <a:t> selama satu tahun tertentu per 1.000 anak umur yang sama pada pertengahan tahun itu (termasuk kematian bayi).</a:t>
            </a:r>
            <a:endParaRPr lang="id-ID" altLang="en-US" sz="2400" dirty="0">
              <a:latin typeface="Tahoma" panose="020B0604030504040204" pitchFamily="34" charset="0"/>
              <a:ea typeface="Tahoma" panose="020B0604030504040204" pitchFamily="34" charset="0"/>
            </a:endParaRPr>
          </a:p>
        </p:txBody>
      </p:sp>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Balita</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a:xfrm>
            <a:off x="1981200" y="1066800"/>
            <a:ext cx="7772400" cy="4894263"/>
          </a:xfrm>
        </p:spPr>
        <p:txBody>
          <a:bodyPr vert="horz" wrap="square" lIns="91434" tIns="45717" rIns="91434" bIns="45717" anchor="t" anchorCtr="0"/>
          <a:lstStyle/>
          <a:p>
            <a:pPr eaLnBrk="1" hangingPunct="1">
              <a:buNone/>
            </a:pPr>
            <a:r>
              <a:rPr lang="en-US" altLang="en-US" sz="2400" dirty="0">
                <a:solidFill>
                  <a:srgbClr val="0070C0"/>
                </a:solidFill>
                <a:latin typeface="Tahoma" panose="020B0604030504040204" pitchFamily="34" charset="0"/>
                <a:cs typeface="Tahoma" panose="020B0604030504040204" pitchFamily="34" charset="0"/>
              </a:rPr>
              <a:t>Cara Menghitung</a:t>
            </a:r>
            <a:endParaRPr lang="id-ID" altLang="en-US" sz="2400" dirty="0">
              <a:solidFill>
                <a:srgbClr val="0070C0"/>
              </a:solidFill>
              <a:latin typeface="Tahoma" panose="020B0604030504040204" pitchFamily="34" charset="0"/>
              <a:ea typeface="Tahoma" panose="020B0604030504040204" pitchFamily="34" charset="0"/>
            </a:endParaRPr>
          </a:p>
        </p:txBody>
      </p:sp>
      <p:graphicFrame>
        <p:nvGraphicFramePr>
          <p:cNvPr id="37891" name="Table 37890"/>
          <p:cNvGraphicFramePr/>
          <p:nvPr/>
        </p:nvGraphicFramePr>
        <p:xfrm>
          <a:off x="3581400" y="1828800"/>
          <a:ext cx="4114800" cy="914400"/>
        </p:xfrm>
        <a:graphic>
          <a:graphicData uri="http://schemas.openxmlformats.org/drawingml/2006/table">
            <a:tbl>
              <a:tblPr/>
              <a:tblGrid>
                <a:gridCol w="1914525">
                  <a:extLst>
                    <a:ext uri="{9D8B030D-6E8A-4147-A177-3AD203B41FA5}">
                      <a16:colId xmlns:a16="http://schemas.microsoft.com/office/drawing/2014/main" val="20000"/>
                    </a:ext>
                  </a:extLst>
                </a:gridCol>
                <a:gridCol w="1435100">
                  <a:extLst>
                    <a:ext uri="{9D8B030D-6E8A-4147-A177-3AD203B41FA5}">
                      <a16:colId xmlns:a16="http://schemas.microsoft.com/office/drawing/2014/main" val="20001"/>
                    </a:ext>
                  </a:extLst>
                </a:gridCol>
                <a:gridCol w="287655">
                  <a:extLst>
                    <a:ext uri="{9D8B030D-6E8A-4147-A177-3AD203B41FA5}">
                      <a16:colId xmlns:a16="http://schemas.microsoft.com/office/drawing/2014/main" val="20002"/>
                    </a:ext>
                  </a:extLst>
                </a:gridCol>
                <a:gridCol w="477520">
                  <a:extLst>
                    <a:ext uri="{9D8B030D-6E8A-4147-A177-3AD203B41FA5}">
                      <a16:colId xmlns:a16="http://schemas.microsoft.com/office/drawing/2014/main" val="20003"/>
                    </a:ext>
                  </a:extLst>
                </a:gridCol>
              </a:tblGrid>
              <a:tr h="457200">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AK Balita =</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D</a:t>
                      </a:r>
                      <a:r>
                        <a:rPr baseline="-25000" dirty="0">
                          <a:latin typeface="Tahoma" panose="020B0604030504040204" pitchFamily="34" charset="0"/>
                          <a:cs typeface="Tahoma" panose="020B0604030504040204" pitchFamily="34" charset="0"/>
                        </a:rPr>
                        <a:t>0-4 thn</a:t>
                      </a:r>
                      <a:endParaRPr lang="id-ID" altLang="x-none"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x</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latin typeface="Tahoma" panose="020B0604030504040204" pitchFamily="34" charset="0"/>
                          <a:cs typeface="Tahoma" panose="020B0604030504040204" pitchFamily="34" charset="0"/>
                        </a:rPr>
                        <a:t>K</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457200">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 P</a:t>
                      </a:r>
                      <a:r>
                        <a:rPr baseline="-25000" dirty="0">
                          <a:latin typeface="Tahoma" panose="020B0604030504040204" pitchFamily="34" charset="0"/>
                          <a:cs typeface="Tahoma" panose="020B0604030504040204" pitchFamily="34" charset="0"/>
                        </a:rPr>
                        <a:t>0-4 thn</a:t>
                      </a:r>
                      <a:endParaRPr lang="id-ID" altLang="x-none"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37898" name="Table 37897"/>
          <p:cNvGraphicFramePr/>
          <p:nvPr/>
        </p:nvGraphicFramePr>
        <p:xfrm>
          <a:off x="1828800" y="2754313"/>
          <a:ext cx="8534400" cy="3383915"/>
        </p:xfrm>
        <a:graphic>
          <a:graphicData uri="http://schemas.openxmlformats.org/drawingml/2006/table">
            <a:tbl>
              <a:tblPr/>
              <a:tblGrid>
                <a:gridCol w="1722755">
                  <a:extLst>
                    <a:ext uri="{9D8B030D-6E8A-4147-A177-3AD203B41FA5}">
                      <a16:colId xmlns:a16="http://schemas.microsoft.com/office/drawing/2014/main" val="20000"/>
                    </a:ext>
                  </a:extLst>
                </a:gridCol>
                <a:gridCol w="626745">
                  <a:extLst>
                    <a:ext uri="{9D8B030D-6E8A-4147-A177-3AD203B41FA5}">
                      <a16:colId xmlns:a16="http://schemas.microsoft.com/office/drawing/2014/main" val="20001"/>
                    </a:ext>
                  </a:extLst>
                </a:gridCol>
                <a:gridCol w="6184900">
                  <a:extLst>
                    <a:ext uri="{9D8B030D-6E8A-4147-A177-3AD203B41FA5}">
                      <a16:colId xmlns:a16="http://schemas.microsoft.com/office/drawing/2014/main" val="20002"/>
                    </a:ext>
                  </a:extLst>
                </a:gridCol>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u="sng" dirty="0">
                          <a:solidFill>
                            <a:srgbClr val="663300"/>
                          </a:solidFill>
                          <a:latin typeface="Tahoma" panose="020B0604030504040204" pitchFamily="34" charset="0"/>
                          <a:cs typeface="Tahoma" panose="020B0604030504040204" pitchFamily="34" charset="0"/>
                        </a:rPr>
                        <a:t>Dimana:</a:t>
                      </a:r>
                      <a:endParaRPr lang="id-ID" altLang="x-none" u="sng"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2296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AK Balita</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Angka kematian anak berumur 0 tahun  sampai dengan kurang dari 5 tahun</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82359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D</a:t>
                      </a:r>
                      <a:r>
                        <a:rPr baseline="-25000" dirty="0">
                          <a:solidFill>
                            <a:srgbClr val="663300"/>
                          </a:solidFill>
                          <a:latin typeface="Tahoma" panose="020B0604030504040204" pitchFamily="34" charset="0"/>
                          <a:cs typeface="Tahoma" panose="020B0604030504040204" pitchFamily="34" charset="0"/>
                        </a:rPr>
                        <a:t>0-4 thn</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Banyaknya kematian anak berusia 0-4 th pada satu tahun ttt. di daerah ttt.</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2296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 P</a:t>
                      </a:r>
                      <a:r>
                        <a:rPr baseline="-25000" dirty="0">
                          <a:solidFill>
                            <a:srgbClr val="663300"/>
                          </a:solidFill>
                          <a:latin typeface="Tahoma" panose="020B0604030504040204" pitchFamily="34" charset="0"/>
                          <a:cs typeface="Tahoma" panose="020B0604030504040204" pitchFamily="34" charset="0"/>
                        </a:rPr>
                        <a:t>0-4 thn</a:t>
                      </a:r>
                      <a:endParaRPr lang="id-ID" altLang="x-none" baseline="-25000"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Jumlah penduduk berusia 0-4 th pada pertengahan tahun ttt. didaerah ttt.</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eaLnBrk="1" hangingPunct="1">
                        <a:buNone/>
                      </a:pPr>
                      <a:r>
                        <a:rPr dirty="0">
                          <a:solidFill>
                            <a:srgbClr val="663300"/>
                          </a:solidFill>
                          <a:latin typeface="Tahoma" panose="020B0604030504040204" pitchFamily="34" charset="0"/>
                          <a:cs typeface="Tahoma" panose="020B0604030504040204" pitchFamily="34" charset="0"/>
                        </a:rPr>
                        <a:t>K</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Bilangan konstan 1.000</a:t>
                      </a:r>
                      <a:endParaRPr lang="id-ID" altLang="x-none" dirty="0">
                        <a:solidFill>
                          <a:srgbClr val="663300"/>
                        </a:solidFill>
                        <a:latin typeface="Tahoma" panose="020B0604030504040204" pitchFamily="34" charset="0"/>
                        <a:ea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Balita</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Content Placeholder 2"/>
          <p:cNvSpPr>
            <a:spLocks noGrp="1"/>
          </p:cNvSpPr>
          <p:nvPr>
            <p:ph idx="1"/>
          </p:nvPr>
        </p:nvSpPr>
        <p:spPr>
          <a:xfrm>
            <a:off x="1523999" y="1223645"/>
            <a:ext cx="9680575" cy="4894263"/>
          </a:xfrm>
        </p:spPr>
        <p:txBody>
          <a:bodyPr vert="horz" wrap="square" lIns="91434" tIns="45717" rIns="91434" bIns="45717" anchor="t" anchorCtr="0">
            <a:normAutofit fontScale="92500"/>
          </a:bodyPr>
          <a:lstStyle/>
          <a:p>
            <a:pPr eaLnBrk="1" hangingPunct="1">
              <a:lnSpc>
                <a:spcPct val="110000"/>
              </a:lnSpc>
              <a:spcBef>
                <a:spcPts val="600"/>
              </a:spcBef>
              <a:spcAft>
                <a:spcPts val="600"/>
              </a:spcAft>
              <a:buNone/>
            </a:pPr>
            <a:r>
              <a:rPr lang="en-US" altLang="en-US" sz="2400" dirty="0">
                <a:solidFill>
                  <a:srgbClr val="800080"/>
                </a:solidFill>
                <a:latin typeface="Tahoma" panose="020B0604030504040204" pitchFamily="34" charset="0"/>
                <a:cs typeface="Tahoma" panose="020B0604030504040204" pitchFamily="34" charset="0"/>
              </a:rPr>
              <a:t>Konsep  </a:t>
            </a:r>
            <a:endParaRPr lang="id-ID" altLang="en-US" sz="2400" dirty="0">
              <a:solidFill>
                <a:srgbClr val="800080"/>
              </a:solidFill>
              <a:latin typeface="Tahoma" panose="020B0604030504040204" pitchFamily="34" charset="0"/>
              <a:cs typeface="Tahoma" panose="020B0604030504040204" pitchFamily="34" charset="0"/>
            </a:endParaRPr>
          </a:p>
          <a:p>
            <a:pPr eaLnBrk="1" hangingPunct="1">
              <a:lnSpc>
                <a:spcPct val="110000"/>
              </a:lnSpc>
              <a:spcBef>
                <a:spcPts val="600"/>
              </a:spcBef>
              <a:spcAft>
                <a:spcPts val="600"/>
              </a:spcAft>
            </a:pPr>
            <a:r>
              <a:rPr lang="en-US" altLang="en-US" sz="2400" dirty="0">
                <a:latin typeface="Tahoma" panose="020B0604030504040204" pitchFamily="34" charset="0"/>
                <a:cs typeface="Tahoma" panose="020B0604030504040204" pitchFamily="34" charset="0"/>
              </a:rPr>
              <a:t>penduduk yang berusia </a:t>
            </a:r>
            <a:r>
              <a:rPr lang="en-US" altLang="en-US" sz="2400" dirty="0">
                <a:solidFill>
                  <a:srgbClr val="996633"/>
                </a:solidFill>
                <a:latin typeface="Tahoma" panose="020B0604030504040204" pitchFamily="34" charset="0"/>
                <a:cs typeface="Tahoma" panose="020B0604030504040204" pitchFamily="34" charset="0"/>
              </a:rPr>
              <a:t>satu sampai menjelang 5 tahun</a:t>
            </a:r>
            <a:r>
              <a:rPr lang="en-US" altLang="en-US" sz="2400" dirty="0">
                <a:latin typeface="Tahoma" panose="020B0604030504040204" pitchFamily="34" charset="0"/>
                <a:cs typeface="Tahoma" panose="020B0604030504040204" pitchFamily="34" charset="0"/>
              </a:rPr>
              <a:t> atau </a:t>
            </a:r>
            <a:r>
              <a:rPr lang="en-US" altLang="en-US" sz="2400" dirty="0">
                <a:solidFill>
                  <a:srgbClr val="008000"/>
                </a:solidFill>
                <a:latin typeface="Tahoma" panose="020B0604030504040204" pitchFamily="34" charset="0"/>
                <a:cs typeface="Tahoma" panose="020B0604030504040204" pitchFamily="34" charset="0"/>
              </a:rPr>
              <a:t>tepatnya 1 sampai dengan 4 tahun 11 bulan 29 hari</a:t>
            </a:r>
            <a:r>
              <a:rPr lang="en-US" altLang="en-US" sz="2400" dirty="0">
                <a:latin typeface="Tahoma" panose="020B0604030504040204" pitchFamily="34" charset="0"/>
                <a:cs typeface="Tahoma" panose="020B0604030504040204" pitchFamily="34" charset="0"/>
              </a:rPr>
              <a:t>. </a:t>
            </a:r>
            <a:endParaRPr lang="id-ID" altLang="en-US" sz="2400" dirty="0">
              <a:latin typeface="Tahoma" panose="020B0604030504040204" pitchFamily="34" charset="0"/>
              <a:cs typeface="Tahoma" panose="020B0604030504040204" pitchFamily="34" charset="0"/>
            </a:endParaRPr>
          </a:p>
          <a:p>
            <a:pPr eaLnBrk="1" hangingPunct="1">
              <a:lnSpc>
                <a:spcPct val="110000"/>
              </a:lnSpc>
              <a:spcBef>
                <a:spcPts val="600"/>
              </a:spcBef>
              <a:spcAft>
                <a:spcPts val="600"/>
              </a:spcAft>
            </a:pPr>
            <a:r>
              <a:rPr lang="en-US" altLang="en-US" sz="2400" dirty="0">
                <a:latin typeface="Tahoma" panose="020B0604030504040204" pitchFamily="34" charset="0"/>
                <a:cs typeface="Tahoma" panose="020B0604030504040204" pitchFamily="34" charset="0"/>
              </a:rPr>
              <a:t>Mencerminkan </a:t>
            </a:r>
            <a:r>
              <a:rPr lang="en-US" altLang="en-US" sz="2400" dirty="0">
                <a:solidFill>
                  <a:srgbClr val="990033"/>
                </a:solidFill>
                <a:latin typeface="Tahoma" panose="020B0604030504040204" pitchFamily="34" charset="0"/>
                <a:cs typeface="Tahoma" panose="020B0604030504040204" pitchFamily="34" charset="0"/>
              </a:rPr>
              <a:t>kondisi kesehatan lingkungan</a:t>
            </a:r>
            <a:r>
              <a:rPr lang="en-US" altLang="en-US" sz="2400" dirty="0">
                <a:latin typeface="Tahoma" panose="020B0604030504040204" pitchFamily="34" charset="0"/>
                <a:cs typeface="Tahoma" panose="020B0604030504040204" pitchFamily="34" charset="0"/>
              </a:rPr>
              <a:t> yang langsung mempengaruhi tingkat kesehatan anak. </a:t>
            </a:r>
          </a:p>
          <a:p>
            <a:pPr eaLnBrk="1" hangingPunct="1">
              <a:lnSpc>
                <a:spcPct val="110000"/>
              </a:lnSpc>
              <a:spcBef>
                <a:spcPts val="600"/>
              </a:spcBef>
              <a:spcAft>
                <a:spcPts val="600"/>
              </a:spcAft>
            </a:pPr>
            <a:r>
              <a:rPr lang="en-US" altLang="en-US" sz="2400" dirty="0">
                <a:latin typeface="Tahoma" panose="020B0604030504040204" pitchFamily="34" charset="0"/>
                <a:cs typeface="Tahoma" panose="020B0604030504040204" pitchFamily="34" charset="0"/>
              </a:rPr>
              <a:t>Angka Kematian Anak akan tinggi bila terjadi:</a:t>
            </a:r>
          </a:p>
          <a:p>
            <a:pPr eaLnBrk="1" hangingPunct="1">
              <a:lnSpc>
                <a:spcPct val="110000"/>
              </a:lnSpc>
              <a:spcBef>
                <a:spcPts val="600"/>
              </a:spcBef>
              <a:spcAft>
                <a:spcPts val="600"/>
              </a:spcAft>
              <a:buNone/>
            </a:pPr>
            <a:r>
              <a:rPr lang="en-US" altLang="en-US" sz="2400" dirty="0">
                <a:solidFill>
                  <a:srgbClr val="0070C0"/>
                </a:solidFill>
                <a:latin typeface="Tahoma" panose="020B0604030504040204" pitchFamily="34" charset="0"/>
                <a:cs typeface="Tahoma" panose="020B0604030504040204" pitchFamily="34" charset="0"/>
              </a:rPr>
              <a:t>	- salah gizi atau gizi buruk</a:t>
            </a:r>
            <a:r>
              <a:rPr lang="en-US" altLang="en-US" sz="2400" dirty="0">
                <a:latin typeface="Tahoma" panose="020B0604030504040204" pitchFamily="34" charset="0"/>
                <a:cs typeface="Tahoma" panose="020B0604030504040204" pitchFamily="34" charset="0"/>
              </a:rPr>
              <a:t>, </a:t>
            </a:r>
          </a:p>
          <a:p>
            <a:pPr eaLnBrk="1" hangingPunct="1">
              <a:lnSpc>
                <a:spcPct val="110000"/>
              </a:lnSpc>
              <a:spcBef>
                <a:spcPts val="600"/>
              </a:spcBef>
              <a:spcAft>
                <a:spcPts val="600"/>
              </a:spcAft>
              <a:buNone/>
            </a:pPr>
            <a:r>
              <a:rPr lang="en-US" altLang="en-US" sz="2400" dirty="0">
                <a:latin typeface="Tahoma" panose="020B0604030504040204" pitchFamily="34" charset="0"/>
                <a:cs typeface="Tahoma" panose="020B0604030504040204" pitchFamily="34" charset="0"/>
              </a:rPr>
              <a:t>	- </a:t>
            </a:r>
            <a:r>
              <a:rPr lang="en-US" altLang="en-US" sz="2400" dirty="0">
                <a:solidFill>
                  <a:srgbClr val="7030A0"/>
                </a:solidFill>
                <a:latin typeface="Tahoma" panose="020B0604030504040204" pitchFamily="34" charset="0"/>
                <a:cs typeface="Tahoma" panose="020B0604030504040204" pitchFamily="34" charset="0"/>
              </a:rPr>
              <a:t>kebersihan diri dan kebersihan yang buruk</a:t>
            </a:r>
            <a:r>
              <a:rPr lang="en-US" altLang="en-US" sz="2400" dirty="0">
                <a:latin typeface="Tahoma" panose="020B0604030504040204" pitchFamily="34" charset="0"/>
                <a:cs typeface="Tahoma" panose="020B0604030504040204" pitchFamily="34" charset="0"/>
              </a:rPr>
              <a:t>, </a:t>
            </a:r>
          </a:p>
          <a:p>
            <a:pPr eaLnBrk="1" hangingPunct="1">
              <a:lnSpc>
                <a:spcPct val="110000"/>
              </a:lnSpc>
              <a:spcBef>
                <a:spcPts val="600"/>
              </a:spcBef>
              <a:spcAft>
                <a:spcPts val="600"/>
              </a:spcAft>
              <a:buNone/>
            </a:pPr>
            <a:r>
              <a:rPr lang="en-US" altLang="en-US" sz="2400" dirty="0">
                <a:latin typeface="Tahoma" panose="020B0604030504040204" pitchFamily="34" charset="0"/>
                <a:cs typeface="Tahoma" panose="020B0604030504040204" pitchFamily="34" charset="0"/>
              </a:rPr>
              <a:t>	- </a:t>
            </a:r>
            <a:r>
              <a:rPr lang="en-US" altLang="en-US" sz="2400" dirty="0">
                <a:solidFill>
                  <a:srgbClr val="663300"/>
                </a:solidFill>
                <a:latin typeface="Tahoma" panose="020B0604030504040204" pitchFamily="34" charset="0"/>
                <a:cs typeface="Tahoma" panose="020B0604030504040204" pitchFamily="34" charset="0"/>
              </a:rPr>
              <a:t>tingginya prevalensi penyakit menular pada anak</a:t>
            </a:r>
            <a:r>
              <a:rPr lang="en-US" altLang="en-US" sz="2400" dirty="0">
                <a:latin typeface="Tahoma" panose="020B0604030504040204" pitchFamily="34" charset="0"/>
                <a:cs typeface="Tahoma" panose="020B0604030504040204" pitchFamily="34" charset="0"/>
              </a:rPr>
              <a:t>, </a:t>
            </a:r>
          </a:p>
          <a:p>
            <a:pPr eaLnBrk="1" hangingPunct="1">
              <a:lnSpc>
                <a:spcPct val="110000"/>
              </a:lnSpc>
              <a:spcBef>
                <a:spcPts val="600"/>
              </a:spcBef>
              <a:spcAft>
                <a:spcPts val="600"/>
              </a:spcAft>
              <a:buNone/>
            </a:pPr>
            <a:r>
              <a:rPr lang="en-US" altLang="en-US" sz="2400" dirty="0">
                <a:solidFill>
                  <a:srgbClr val="00B050"/>
                </a:solidFill>
                <a:latin typeface="Tahoma" panose="020B0604030504040204" pitchFamily="34" charset="0"/>
                <a:cs typeface="Tahoma" panose="020B0604030504040204" pitchFamily="34" charset="0"/>
              </a:rPr>
              <a:t>	- kecelakaan yang terjadi di dalam atau sekitar rumah</a:t>
            </a:r>
            <a:r>
              <a:rPr lang="en-US" altLang="en-US" sz="2400" dirty="0">
                <a:latin typeface="Tahoma" panose="020B0604030504040204" pitchFamily="34" charset="0"/>
                <a:cs typeface="Tahoma" panose="020B0604030504040204" pitchFamily="34" charset="0"/>
              </a:rPr>
              <a:t> (Budi Utomo, 1985).</a:t>
            </a:r>
            <a:endParaRPr lang="id-ID" altLang="en-US" sz="2400" dirty="0">
              <a:latin typeface="Tahoma" panose="020B0604030504040204" pitchFamily="34" charset="0"/>
              <a:ea typeface="Tahoma" panose="020B0604030504040204" pitchFamily="34" charset="0"/>
            </a:endParaRPr>
          </a:p>
        </p:txBody>
      </p:sp>
      <p:sp>
        <p:nvSpPr>
          <p:cNvPr id="5" name="Rectangle 4"/>
          <p:cNvSpPr/>
          <p:nvPr/>
        </p:nvSpPr>
        <p:spPr>
          <a:xfrm>
            <a:off x="1256030" y="578485"/>
            <a:ext cx="9680575" cy="645160"/>
          </a:xfrm>
          <a:prstGeom prst="rect">
            <a:avLst/>
          </a:prstGeom>
        </p:spPr>
        <p:txBody>
          <a:bodyPr wrap="square">
            <a:spAutoFit/>
          </a:bodyPr>
          <a:lstStyle/>
          <a:p>
            <a:r>
              <a:rPr lang="id-ID" sz="3600" b="1" dirty="0"/>
              <a:t>Angka Kematian </a:t>
            </a:r>
            <a:r>
              <a:rPr lang="en-US" altLang="id-ID" sz="3600" b="1" dirty="0"/>
              <a:t>Anak</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Table 34817"/>
          <p:cNvGraphicFramePr/>
          <p:nvPr/>
        </p:nvGraphicFramePr>
        <p:xfrm>
          <a:off x="2667000" y="990600"/>
          <a:ext cx="3733800" cy="1295400"/>
        </p:xfrm>
        <a:graphic>
          <a:graphicData uri="http://schemas.openxmlformats.org/drawingml/2006/table">
            <a:tbl>
              <a:tblPr/>
              <a:tblGrid>
                <a:gridCol w="16891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66700">
                  <a:extLst>
                    <a:ext uri="{9D8B030D-6E8A-4147-A177-3AD203B41FA5}">
                      <a16:colId xmlns:a16="http://schemas.microsoft.com/office/drawing/2014/main" val="20002"/>
                    </a:ext>
                  </a:extLst>
                </a:gridCol>
                <a:gridCol w="444500">
                  <a:extLst>
                    <a:ext uri="{9D8B030D-6E8A-4147-A177-3AD203B41FA5}">
                      <a16:colId xmlns:a16="http://schemas.microsoft.com/office/drawing/2014/main" val="20003"/>
                    </a:ext>
                  </a:extLst>
                </a:gridCol>
              </a:tblGrid>
              <a:tr h="649288">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AK Anak =</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D</a:t>
                      </a:r>
                      <a:r>
                        <a:rPr baseline="-25000" dirty="0">
                          <a:latin typeface="Tahoma" panose="020B0604030504040204" pitchFamily="34" charset="0"/>
                          <a:cs typeface="Tahoma" panose="020B0604030504040204" pitchFamily="34" charset="0"/>
                        </a:rPr>
                        <a:t>1-4 thn</a:t>
                      </a:r>
                      <a:endParaRPr lang="id-ID" altLang="x-none"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x</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latin typeface="Tahoma" panose="020B0604030504040204" pitchFamily="34" charset="0"/>
                          <a:cs typeface="Tahoma" panose="020B0604030504040204" pitchFamily="34" charset="0"/>
                        </a:rPr>
                        <a:t>K</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646112">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 P</a:t>
                      </a:r>
                      <a:r>
                        <a:rPr baseline="-25000" dirty="0">
                          <a:latin typeface="Tahoma" panose="020B0604030504040204" pitchFamily="34" charset="0"/>
                          <a:cs typeface="Tahoma" panose="020B0604030504040204" pitchFamily="34" charset="0"/>
                        </a:rPr>
                        <a:t>1-4 thn</a:t>
                      </a:r>
                      <a:endParaRPr lang="id-ID" altLang="x-none"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34825" name="Table 34824"/>
          <p:cNvGraphicFramePr/>
          <p:nvPr/>
        </p:nvGraphicFramePr>
        <p:xfrm>
          <a:off x="1981200" y="2362200"/>
          <a:ext cx="8305800" cy="3749739"/>
        </p:xfrm>
        <a:graphic>
          <a:graphicData uri="http://schemas.openxmlformats.org/drawingml/2006/table">
            <a:tbl>
              <a:tblPr/>
              <a:tblGrid>
                <a:gridCol w="14478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6065520">
                  <a:extLst>
                    <a:ext uri="{9D8B030D-6E8A-4147-A177-3AD203B41FA5}">
                      <a16:colId xmlns:a16="http://schemas.microsoft.com/office/drawing/2014/main" val="20002"/>
                    </a:ext>
                  </a:extLst>
                </a:gridCol>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u="sng" dirty="0">
                          <a:solidFill>
                            <a:srgbClr val="663300"/>
                          </a:solidFill>
                          <a:latin typeface="Tahoma" panose="020B0604030504040204" pitchFamily="34" charset="0"/>
                          <a:cs typeface="Tahoma" panose="020B0604030504040204" pitchFamily="34" charset="0"/>
                        </a:rPr>
                        <a:t>Dimana:</a:t>
                      </a:r>
                      <a:endParaRPr lang="id-ID" altLang="x-none" u="sng"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2359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AK Anak</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Angka Kematian Anak berumur 1 tahun sampai dengan kurang dari 5 tahun</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118872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D</a:t>
                      </a:r>
                      <a:r>
                        <a:rPr baseline="-25000" dirty="0">
                          <a:solidFill>
                            <a:srgbClr val="663300"/>
                          </a:solidFill>
                          <a:latin typeface="Tahoma" panose="020B0604030504040204" pitchFamily="34" charset="0"/>
                          <a:cs typeface="Tahoma" panose="020B0604030504040204" pitchFamily="34" charset="0"/>
                        </a:rPr>
                        <a:t>1-4 thn</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Banyaknya kematian anak berusia 1-4 th (yang belum tepat berusia 5 tahun) pada satu tahun tertentu di daerah tertentu</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2296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 P</a:t>
                      </a:r>
                      <a:r>
                        <a:rPr baseline="-25000" dirty="0">
                          <a:solidFill>
                            <a:srgbClr val="663300"/>
                          </a:solidFill>
                          <a:latin typeface="Tahoma" panose="020B0604030504040204" pitchFamily="34" charset="0"/>
                          <a:cs typeface="Tahoma" panose="020B0604030504040204" pitchFamily="34" charset="0"/>
                        </a:rPr>
                        <a:t>1-4 thn</a:t>
                      </a:r>
                      <a:endParaRPr lang="id-ID" altLang="x-none" baseline="-25000"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Jumlah penduduk berusia 1-4 pada pertengahan tahun ttt. didaerah ttt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eaLnBrk="1" hangingPunct="1">
                        <a:buNone/>
                      </a:pPr>
                      <a:r>
                        <a:rPr dirty="0">
                          <a:solidFill>
                            <a:srgbClr val="663300"/>
                          </a:solidFill>
                          <a:latin typeface="Tahoma" panose="020B0604030504040204" pitchFamily="34" charset="0"/>
                          <a:cs typeface="Tahoma" panose="020B0604030504040204" pitchFamily="34" charset="0"/>
                        </a:rPr>
                        <a:t>K</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Bilangan konstan 1.000</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Anak</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09" name="Group 41"/>
          <p:cNvGraphicFramePr>
            <a:graphicFrameLocks noGrp="1"/>
          </p:cNvGraphicFramePr>
          <p:nvPr>
            <p:ph idx="1"/>
          </p:nvPr>
        </p:nvGraphicFramePr>
        <p:xfrm>
          <a:off x="2209800" y="0"/>
          <a:ext cx="7239000" cy="6786880"/>
        </p:xfrm>
        <a:graphic>
          <a:graphicData uri="http://schemas.openxmlformats.org/drawingml/2006/table">
            <a:tbl>
              <a:tblPr/>
              <a:tblGrid>
                <a:gridCol w="2743200">
                  <a:extLst>
                    <a:ext uri="{9D8B030D-6E8A-4147-A177-3AD203B41FA5}">
                      <a16:colId xmlns:a16="http://schemas.microsoft.com/office/drawing/2014/main" val="20000"/>
                    </a:ext>
                  </a:extLst>
                </a:gridCol>
                <a:gridCol w="1236345">
                  <a:extLst>
                    <a:ext uri="{9D8B030D-6E8A-4147-A177-3AD203B41FA5}">
                      <a16:colId xmlns:a16="http://schemas.microsoft.com/office/drawing/2014/main" val="20001"/>
                    </a:ext>
                  </a:extLst>
                </a:gridCol>
                <a:gridCol w="1236980">
                  <a:extLst>
                    <a:ext uri="{9D8B030D-6E8A-4147-A177-3AD203B41FA5}">
                      <a16:colId xmlns:a16="http://schemas.microsoft.com/office/drawing/2014/main" val="20002"/>
                    </a:ext>
                  </a:extLst>
                </a:gridCol>
                <a:gridCol w="1010920">
                  <a:extLst>
                    <a:ext uri="{9D8B030D-6E8A-4147-A177-3AD203B41FA5}">
                      <a16:colId xmlns:a16="http://schemas.microsoft.com/office/drawing/2014/main" val="20003"/>
                    </a:ext>
                  </a:extLst>
                </a:gridCol>
                <a:gridCol w="1011555">
                  <a:extLst>
                    <a:ext uri="{9D8B030D-6E8A-4147-A177-3AD203B41FA5}">
                      <a16:colId xmlns:a16="http://schemas.microsoft.com/office/drawing/2014/main" val="20004"/>
                    </a:ext>
                  </a:extLst>
                </a:gridCol>
              </a:tblGrid>
              <a:tr h="777875">
                <a:tc gridSpan="5">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Tabel</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Angka</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Kematian</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Anak</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dan</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Balita</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untuk</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Periode</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10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Tahun</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sebelum</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Survai</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menurut</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Karakteristik</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Ekonomi</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dan</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Sosial</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46125">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Latar Belakang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gridSpan="2">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Angka</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Kematian</a:t>
                      </a: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Anak</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tc gridSpan="2">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Angka</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Kematian</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Balita</a:t>
                      </a: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extLst>
                  <a:ext uri="{0D108BD9-81ED-4DB2-BD59-A6C34878D82A}">
                    <a16:rowId xmlns:a16="http://schemas.microsoft.com/office/drawing/2014/main" val="10001"/>
                  </a:ext>
                </a:extLst>
              </a:tr>
              <a:tr h="304800">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Tahun</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2003</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2007</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2003</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2007</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2"/>
                  </a:ext>
                </a:extLst>
              </a:tr>
              <a:tr h="914400">
                <a:tc>
                  <a:txBody>
                    <a:bodyPr/>
                    <a:lstStyle/>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Tempat Tinggal</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Perkotaan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Perdesaan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7FFD1">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11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13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7FFD1">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7</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6</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7FFD1">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42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65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7FFD1">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38</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60</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7FFD1">
                        <a:alpha val="50195"/>
                      </a:srgbClr>
                    </a:solidFill>
                  </a:tcPr>
                </a:tc>
                <a:extLst>
                  <a:ext uri="{0D108BD9-81ED-4DB2-BD59-A6C34878D82A}">
                    <a16:rowId xmlns:a16="http://schemas.microsoft.com/office/drawing/2014/main" val="10003"/>
                  </a:ext>
                </a:extLst>
              </a:tr>
              <a:tr h="1828800">
                <a:tc>
                  <a:txBody>
                    <a:bodyPr/>
                    <a:lstStyle/>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Pendidikan Ibu</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Tidak Sekolah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Tidak Tamat SD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Tamat SD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Tdk Tamat SMP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Tamat SMP+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585E0">
                        <a:alpha val="39999"/>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25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16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11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11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5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585E0">
                        <a:alpha val="39999"/>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22</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19</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12</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10</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8</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585E0">
                        <a:alpha val="39999"/>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90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80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54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47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28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585E0">
                        <a:alpha val="39999"/>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94</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69</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56</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45</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32</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585E0">
                        <a:alpha val="39999"/>
                      </a:srgbClr>
                    </a:solidFill>
                  </a:tcPr>
                </a:tc>
                <a:extLst>
                  <a:ext uri="{0D108BD9-81ED-4DB2-BD59-A6C34878D82A}">
                    <a16:rowId xmlns:a16="http://schemas.microsoft.com/office/drawing/2014/main" val="10004"/>
                  </a:ext>
                </a:extLst>
              </a:tr>
              <a:tr h="1905000">
                <a:tc>
                  <a:txBody>
                    <a:bodyPr/>
                    <a:lstStyle/>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Indeks Kekayaan</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Terbawah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Menengah Bawah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Menengah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Menengah Atas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p>
                      <a:pPr marL="0" marR="0" lvl="0" indent="0" algn="l"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Tahoma" panose="020B0604030504040204" pitchFamily="34" charset="0"/>
                          <a:cs typeface="Tahoma" panose="020B0604030504040204" pitchFamily="34" charset="0"/>
                        </a:rPr>
                        <a:t>    Teratas </a:t>
                      </a:r>
                      <a:endParaRPr kumimoji="0" lang="id-ID" sz="2000" b="0" i="0" u="none" strike="noStrike" cap="none" normalizeH="0" baseline="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17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15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12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9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5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23</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12</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12</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8</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6</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77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64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56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45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22 </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alpha val="50195"/>
                      </a:srgbClr>
                    </a:solidFill>
                  </a:tcPr>
                </a:tc>
                <a:tc>
                  <a:txBody>
                    <a:bodyPr/>
                    <a:lstStyle/>
                    <a:p>
                      <a:pPr marL="0" marR="0" lvl="0" indent="0" algn="ctr" defTabSz="822325"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77</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59</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44</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36</a:t>
                      </a:r>
                    </a:p>
                    <a:p>
                      <a:pPr marL="0" marR="0" lvl="0" indent="0" algn="ctr" defTabSz="822325"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32</a:t>
                      </a:r>
                      <a:endParaRPr kumimoji="0" lang="id-ID" sz="20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alpha val="50195"/>
                      </a:srgbClr>
                    </a:solidFill>
                  </a:tcPr>
                </a:tc>
                <a:extLst>
                  <a:ext uri="{0D108BD9-81ED-4DB2-BD59-A6C34878D82A}">
                    <a16:rowId xmlns:a16="http://schemas.microsoft.com/office/drawing/2014/main" val="10005"/>
                  </a:ext>
                </a:extLst>
              </a:tr>
              <a:tr h="309880">
                <a:tc gridSpan="5">
                  <a:txBody>
                    <a:bodyPr/>
                    <a:lstStyle/>
                    <a:p>
                      <a:pPr marL="0" marR="0" lvl="0" indent="0" algn="l" defTabSz="822325"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Sumber</a:t>
                      </a:r>
                      <a:r>
                        <a:rPr kumimoji="0" lang="en-US" sz="16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Data: SDKI 2002-2003, 2007, </a:t>
                      </a:r>
                      <a:r>
                        <a:rPr kumimoji="0" lang="en-US" sz="16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untuk</a:t>
                      </a:r>
                      <a:r>
                        <a:rPr kumimoji="0" lang="en-US" sz="16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16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periode</a:t>
                      </a:r>
                      <a:r>
                        <a:rPr kumimoji="0" lang="en-US" sz="16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10 </a:t>
                      </a:r>
                      <a:r>
                        <a:rPr kumimoji="0" lang="en-US" sz="16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tahun</a:t>
                      </a:r>
                      <a:r>
                        <a:rPr kumimoji="0" lang="en-US" sz="16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16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sebelum</a:t>
                      </a:r>
                      <a:r>
                        <a:rPr kumimoji="0" lang="en-US" sz="16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r>
                        <a:rPr kumimoji="0" lang="en-US" sz="1600" b="0" i="0" u="none" strike="noStrike" cap="none" normalizeH="0" baseline="0" dirty="0" err="1">
                          <a:ln>
                            <a:noFill/>
                          </a:ln>
                          <a:solidFill>
                            <a:schemeClr val="tx1"/>
                          </a:solidFill>
                          <a:effectLst/>
                          <a:latin typeface="Tahoma" panose="020B0604030504040204" pitchFamily="34" charset="0"/>
                          <a:cs typeface="Tahoma" panose="020B0604030504040204" pitchFamily="34" charset="0"/>
                        </a:rPr>
                        <a:t>survai</a:t>
                      </a:r>
                      <a:r>
                        <a:rPr kumimoji="0" lang="en-US" sz="1800" b="0" i="0" u="none" strike="noStrike" cap="none" normalizeH="0" baseline="0" dirty="0">
                          <a:ln>
                            <a:noFill/>
                          </a:ln>
                          <a:solidFill>
                            <a:schemeClr val="tx1"/>
                          </a:solidFill>
                          <a:effectLst/>
                          <a:latin typeface="Tahoma" panose="020B0604030504040204" pitchFamily="34" charset="0"/>
                          <a:cs typeface="Tahoma" panose="020B0604030504040204" pitchFamily="34" charset="0"/>
                        </a:rPr>
                        <a:t>. </a:t>
                      </a:r>
                      <a:endParaRPr kumimoji="0" lang="id-ID" sz="1800" b="0" i="0" u="none" strike="noStrike" cap="none" normalizeH="0" baseline="0" dirty="0">
                        <a:ln>
                          <a:noFill/>
                        </a:ln>
                        <a:solidFill>
                          <a:schemeClr val="tx1"/>
                        </a:solidFill>
                        <a:effectLst/>
                        <a:latin typeface="Tahoma" panose="020B0604030504040204" pitchFamily="34" charset="0"/>
                        <a:cs typeface="Tahoma" panose="020B0604030504040204" pitchFamily="34"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Table 34817"/>
          <p:cNvGraphicFramePr/>
          <p:nvPr/>
        </p:nvGraphicFramePr>
        <p:xfrm>
          <a:off x="2667000" y="990600"/>
          <a:ext cx="3733800" cy="1295400"/>
        </p:xfrm>
        <a:graphic>
          <a:graphicData uri="http://schemas.openxmlformats.org/drawingml/2006/table">
            <a:tbl>
              <a:tblPr/>
              <a:tblGrid>
                <a:gridCol w="16891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66700">
                  <a:extLst>
                    <a:ext uri="{9D8B030D-6E8A-4147-A177-3AD203B41FA5}">
                      <a16:colId xmlns:a16="http://schemas.microsoft.com/office/drawing/2014/main" val="20002"/>
                    </a:ext>
                  </a:extLst>
                </a:gridCol>
                <a:gridCol w="444500">
                  <a:extLst>
                    <a:ext uri="{9D8B030D-6E8A-4147-A177-3AD203B41FA5}">
                      <a16:colId xmlns:a16="http://schemas.microsoft.com/office/drawing/2014/main" val="20003"/>
                    </a:ext>
                  </a:extLst>
                </a:gridCol>
              </a:tblGrid>
              <a:tr h="649288">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AK Anak =</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D</a:t>
                      </a:r>
                      <a:r>
                        <a:rPr baseline="-25000" dirty="0">
                          <a:latin typeface="Tahoma" panose="020B0604030504040204" pitchFamily="34" charset="0"/>
                          <a:cs typeface="Tahoma" panose="020B0604030504040204" pitchFamily="34" charset="0"/>
                        </a:rPr>
                        <a:t>1-4 thn</a:t>
                      </a:r>
                      <a:endParaRPr lang="id-ID" altLang="x-none"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x</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latin typeface="Tahoma" panose="020B0604030504040204" pitchFamily="34" charset="0"/>
                          <a:cs typeface="Tahoma" panose="020B0604030504040204" pitchFamily="34" charset="0"/>
                        </a:rPr>
                        <a:t>K</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646112">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 P</a:t>
                      </a:r>
                      <a:r>
                        <a:rPr baseline="-25000" dirty="0">
                          <a:latin typeface="Tahoma" panose="020B0604030504040204" pitchFamily="34" charset="0"/>
                          <a:cs typeface="Tahoma" panose="020B0604030504040204" pitchFamily="34" charset="0"/>
                        </a:rPr>
                        <a:t>1-4 thn</a:t>
                      </a:r>
                      <a:endParaRPr lang="id-ID" altLang="x-none"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34825" name="Table 34824"/>
          <p:cNvGraphicFramePr/>
          <p:nvPr/>
        </p:nvGraphicFramePr>
        <p:xfrm>
          <a:off x="1981200" y="2362200"/>
          <a:ext cx="8305800" cy="3749739"/>
        </p:xfrm>
        <a:graphic>
          <a:graphicData uri="http://schemas.openxmlformats.org/drawingml/2006/table">
            <a:tbl>
              <a:tblPr/>
              <a:tblGrid>
                <a:gridCol w="14478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6065520">
                  <a:extLst>
                    <a:ext uri="{9D8B030D-6E8A-4147-A177-3AD203B41FA5}">
                      <a16:colId xmlns:a16="http://schemas.microsoft.com/office/drawing/2014/main" val="20002"/>
                    </a:ext>
                  </a:extLst>
                </a:gridCol>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u="sng" dirty="0">
                          <a:solidFill>
                            <a:srgbClr val="663300"/>
                          </a:solidFill>
                          <a:latin typeface="Tahoma" panose="020B0604030504040204" pitchFamily="34" charset="0"/>
                          <a:cs typeface="Tahoma" panose="020B0604030504040204" pitchFamily="34" charset="0"/>
                        </a:rPr>
                        <a:t>Dimana:</a:t>
                      </a:r>
                      <a:endParaRPr lang="id-ID" altLang="x-none" u="sng"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2359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AK Anak</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Angka Kematian Anak berumur 1 tahun sampai dengan kurang dari 5 tahun</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118872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D</a:t>
                      </a:r>
                      <a:r>
                        <a:rPr baseline="-25000" dirty="0">
                          <a:solidFill>
                            <a:srgbClr val="663300"/>
                          </a:solidFill>
                          <a:latin typeface="Tahoma" panose="020B0604030504040204" pitchFamily="34" charset="0"/>
                          <a:cs typeface="Tahoma" panose="020B0604030504040204" pitchFamily="34" charset="0"/>
                        </a:rPr>
                        <a:t>1-4 thn</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Banyaknya kematian anak berusia 1-4 th (yang belum tepat berusia 5 tahun) pada satu tahun tertentu di daerah tertentu</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2296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dirty="0">
                          <a:solidFill>
                            <a:srgbClr val="663300"/>
                          </a:solidFill>
                          <a:latin typeface="Tahoma" panose="020B0604030504040204" pitchFamily="34" charset="0"/>
                          <a:cs typeface="Tahoma" panose="020B0604030504040204" pitchFamily="34" charset="0"/>
                        </a:rPr>
                        <a:t>∑ P</a:t>
                      </a:r>
                      <a:r>
                        <a:rPr baseline="-25000" dirty="0">
                          <a:solidFill>
                            <a:srgbClr val="663300"/>
                          </a:solidFill>
                          <a:latin typeface="Tahoma" panose="020B0604030504040204" pitchFamily="34" charset="0"/>
                          <a:cs typeface="Tahoma" panose="020B0604030504040204" pitchFamily="34" charset="0"/>
                        </a:rPr>
                        <a:t>1-4 thn</a:t>
                      </a:r>
                      <a:endParaRPr lang="id-ID" altLang="x-none" baseline="-25000"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Jumlah penduduk berusia 1-4 pada pertengahan tahun ttt. didaerah ttt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eaLnBrk="1" hangingPunct="1">
                        <a:buNone/>
                      </a:pPr>
                      <a:r>
                        <a:rPr dirty="0">
                          <a:solidFill>
                            <a:srgbClr val="663300"/>
                          </a:solidFill>
                          <a:latin typeface="Tahoma" panose="020B0604030504040204" pitchFamily="34" charset="0"/>
                          <a:cs typeface="Tahoma" panose="020B0604030504040204" pitchFamily="34" charset="0"/>
                        </a:rPr>
                        <a:t>K</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solidFill>
                            <a:srgbClr val="663300"/>
                          </a:solidFill>
                          <a:latin typeface="Tahoma" panose="020B0604030504040204" pitchFamily="34" charset="0"/>
                          <a:cs typeface="Tahoma" panose="020B0604030504040204" pitchFamily="34" charset="0"/>
                        </a:rPr>
                        <a:t>=</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solidFill>
                            <a:srgbClr val="663300"/>
                          </a:solidFill>
                          <a:latin typeface="Tahoma" panose="020B0604030504040204" pitchFamily="34" charset="0"/>
                          <a:cs typeface="Tahoma" panose="020B0604030504040204" pitchFamily="34" charset="0"/>
                        </a:rPr>
                        <a:t>Bilangan konstan 1.000</a:t>
                      </a:r>
                      <a:endParaRPr lang="id-ID" altLang="x-none" dirty="0">
                        <a:solidFill>
                          <a:srgbClr val="663300"/>
                        </a:solidFill>
                        <a:latin typeface="Tahoma" panose="020B0604030504040204" pitchFamily="34" charset="0"/>
                        <a:ea typeface="Tahoma" panose="020B0604030504040204" pitchFamily="34" charset="0"/>
                      </a:endParaRPr>
                    </a:p>
                  </a:txBody>
                  <a:tcPr marT="45728" marB="45728">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Anak</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91285" y="939165"/>
            <a:ext cx="9456420" cy="1703070"/>
          </a:xfrm>
        </p:spPr>
        <p:txBody>
          <a:bodyPr vert="horz" wrap="square" lIns="91434" tIns="45717" rIns="91434" bIns="45717" numCol="1" anchor="t" anchorCtr="0" compatLnSpc="1">
            <a:noAutofit/>
          </a:bodyPr>
          <a:lstStyle/>
          <a:p>
            <a:pPr marL="0" marR="0" lvl="0" indent="0" algn="l" defTabSz="915035" rtl="0" eaLnBrk="1" fontAlgn="base" latinLnBrk="0" hangingPunct="1">
              <a:lnSpc>
                <a:spcPct val="110000"/>
              </a:lnSpc>
              <a:spcBef>
                <a:spcPts val="600"/>
              </a:spcBef>
              <a:spcAft>
                <a:spcPts val="600"/>
              </a:spcAft>
              <a:buClrTx/>
              <a:buSzTx/>
              <a:buFontTx/>
              <a:buNone/>
              <a:defRPr/>
            </a:pPr>
            <a:r>
              <a:rPr kumimoji="0" lang="en-US" sz="1900" b="1" i="0" u="none" strike="noStrike" kern="0" cap="none" spc="0" normalizeH="0" baseline="0" noProof="0">
                <a:ln>
                  <a:noFill/>
                </a:ln>
                <a:solidFill>
                  <a:srgbClr val="800080"/>
                </a:solidFill>
                <a:effectLst/>
                <a:uLnTx/>
                <a:uFillTx/>
                <a:latin typeface="Tahoma" panose="020B0604030504040204" pitchFamily="34" charset="0"/>
                <a:ea typeface="Tahoma" panose="020B0604030504040204" pitchFamily="34" charset="0"/>
                <a:cs typeface="Tahoma" panose="020B0604030504040204" pitchFamily="34" charset="0"/>
              </a:rPr>
              <a:t>Definisi </a:t>
            </a:r>
            <a:br>
              <a:rPr kumimoji="0" lang="en-US" sz="1900" b="1"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rPr>
            </a:br>
            <a:r>
              <a:rPr kumimoji="0" lang="en-US" sz="1900" b="0"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rPr>
              <a:t>Angka Kematian Neo-Natal adalah kematian yang terjadi </a:t>
            </a:r>
            <a:r>
              <a:rPr kumimoji="0" lang="en-US" sz="2220" b="0" i="0" u="none" strike="noStrike" kern="0" cap="none" spc="0" normalizeH="0" baseline="0" noProof="0">
                <a:ln>
                  <a:noFill/>
                </a:ln>
                <a:solidFill>
                  <a:srgbClr val="0070C0"/>
                </a:solidFill>
                <a:effectLst/>
                <a:uLnTx/>
                <a:uFillTx/>
                <a:latin typeface="Tahoma" panose="020B0604030504040204" pitchFamily="34" charset="0"/>
                <a:ea typeface="Tahoma" panose="020B0604030504040204" pitchFamily="34" charset="0"/>
                <a:cs typeface="Tahoma" panose="020B0604030504040204" pitchFamily="34" charset="0"/>
              </a:rPr>
              <a:t>sebelum bayi berumur satu bulan</a:t>
            </a:r>
            <a:r>
              <a:rPr kumimoji="0" lang="en-US" sz="1900" b="0"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rPr>
              <a:t> atau 28 hari per 1.000 kelahiran hidup pada satu tahun tertentu. </a:t>
            </a:r>
            <a:endParaRPr kumimoji="0" lang="id-ID" sz="1900" b="0"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5035" rtl="0" eaLnBrk="1" fontAlgn="base" latinLnBrk="0" hangingPunct="1">
              <a:lnSpc>
                <a:spcPct val="110000"/>
              </a:lnSpc>
              <a:spcBef>
                <a:spcPts val="600"/>
              </a:spcBef>
              <a:spcAft>
                <a:spcPts val="600"/>
              </a:spcAft>
              <a:buClrTx/>
              <a:buSzTx/>
              <a:buFontTx/>
              <a:buNone/>
              <a:defRPr/>
            </a:pPr>
            <a:r>
              <a:rPr kumimoji="0" lang="en-US" sz="1900" b="1"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rPr>
              <a:t>Rumus:</a:t>
            </a:r>
            <a:endParaRPr kumimoji="0" lang="id-ID" sz="1900" b="1"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5035" rtl="0" eaLnBrk="1" fontAlgn="base" latinLnBrk="0" hangingPunct="1">
              <a:lnSpc>
                <a:spcPct val="110000"/>
              </a:lnSpc>
              <a:spcBef>
                <a:spcPts val="600"/>
              </a:spcBef>
              <a:spcAft>
                <a:spcPts val="600"/>
              </a:spcAft>
              <a:buClrTx/>
              <a:buSzTx/>
              <a:buFontTx/>
              <a:buChar char="•"/>
              <a:defRPr/>
            </a:pPr>
            <a:endParaRPr kumimoji="0" lang="id-ID" sz="1700" b="1" i="0" u="none" strike="noStrike" kern="0" cap="none" spc="0" normalizeH="0" baseline="0" noProof="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endParaRPr>
          </a:p>
        </p:txBody>
      </p:sp>
      <p:graphicFrame>
        <p:nvGraphicFramePr>
          <p:cNvPr id="29700" name="Table 29699"/>
          <p:cNvGraphicFramePr/>
          <p:nvPr/>
        </p:nvGraphicFramePr>
        <p:xfrm>
          <a:off x="3657600" y="2641918"/>
          <a:ext cx="4495800" cy="944245"/>
        </p:xfrm>
        <a:graphic>
          <a:graphicData uri="http://schemas.openxmlformats.org/drawingml/2006/table">
            <a:tbl>
              <a:tblPr/>
              <a:tblGrid>
                <a:gridCol w="1981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81000">
                  <a:extLst>
                    <a:ext uri="{9D8B030D-6E8A-4147-A177-3AD203B41FA5}">
                      <a16:colId xmlns:a16="http://schemas.microsoft.com/office/drawing/2014/main" val="20003"/>
                    </a:ext>
                  </a:extLst>
                </a:gridCol>
              </a:tblGrid>
              <a:tr h="471805">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AK Neo-Natal =</a:t>
                      </a:r>
                      <a:endParaRPr lang="id-ID" altLang="x-none" sz="2000"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D</a:t>
                      </a:r>
                      <a:r>
                        <a:rPr sz="2000" baseline="-25000" dirty="0">
                          <a:latin typeface="Tahoma" panose="020B0604030504040204" pitchFamily="34" charset="0"/>
                          <a:cs typeface="Tahoma" panose="020B0604030504040204" pitchFamily="34" charset="0"/>
                        </a:rPr>
                        <a:t>0-&lt;1 blln</a:t>
                      </a:r>
                      <a:endParaRPr lang="id-ID" altLang="x-none" sz="2000"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x</a:t>
                      </a:r>
                      <a:endParaRPr lang="id-ID" altLang="x-none" sz="2000"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dirty="0">
                          <a:latin typeface="Tahoma" panose="020B0604030504040204" pitchFamily="34" charset="0"/>
                          <a:cs typeface="Tahoma" panose="020B0604030504040204" pitchFamily="34" charset="0"/>
                        </a:rPr>
                        <a:t>K</a:t>
                      </a:r>
                      <a:endParaRPr lang="id-ID" altLang="x-none" sz="2000"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472440">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 Lahir Hidup</a:t>
                      </a:r>
                      <a:endParaRPr lang="id-ID" altLang="x-none" sz="2000"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29707" name="Table 29706"/>
          <p:cNvGraphicFramePr/>
          <p:nvPr/>
        </p:nvGraphicFramePr>
        <p:xfrm>
          <a:off x="1824355" y="3783648"/>
          <a:ext cx="7848600" cy="2472588"/>
        </p:xfrm>
        <a:graphic>
          <a:graphicData uri="http://schemas.openxmlformats.org/drawingml/2006/table">
            <a:tbl>
              <a:tblPr/>
              <a:tblGrid>
                <a:gridCol w="1676400">
                  <a:extLst>
                    <a:ext uri="{9D8B030D-6E8A-4147-A177-3AD203B41FA5}">
                      <a16:colId xmlns:a16="http://schemas.microsoft.com/office/drawing/2014/main" val="20000"/>
                    </a:ext>
                  </a:extLst>
                </a:gridCol>
                <a:gridCol w="228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274955">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u="sng" dirty="0">
                          <a:solidFill>
                            <a:srgbClr val="990033"/>
                          </a:solidFill>
                          <a:latin typeface="Tahoma" panose="020B0604030504040204" pitchFamily="34" charset="0"/>
                          <a:cs typeface="Tahoma" panose="020B0604030504040204" pitchFamily="34" charset="0"/>
                        </a:rPr>
                        <a:t>Dimana:</a:t>
                      </a:r>
                      <a:endParaRPr lang="id-ID" altLang="x-none" sz="1800" u="sng"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3053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sz="1800" dirty="0">
                          <a:solidFill>
                            <a:srgbClr val="990033"/>
                          </a:solidFill>
                          <a:latin typeface="Tahoma" panose="020B0604030504040204" pitchFamily="34" charset="0"/>
                          <a:cs typeface="Tahoma" panose="020B0604030504040204" pitchFamily="34" charset="0"/>
                        </a:rPr>
                        <a:t>AK Neo-Natal</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Angka Kematian Bayi umur 0-&lt;1bulan </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4483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sz="1800" dirty="0">
                          <a:solidFill>
                            <a:srgbClr val="990033"/>
                          </a:solidFill>
                          <a:latin typeface="Tahoma" panose="020B0604030504040204" pitchFamily="34" charset="0"/>
                          <a:cs typeface="Tahoma" panose="020B0604030504040204" pitchFamily="34" charset="0"/>
                        </a:rPr>
                        <a:t>D</a:t>
                      </a:r>
                      <a:r>
                        <a:rPr sz="1800" baseline="-25000" dirty="0">
                          <a:solidFill>
                            <a:srgbClr val="990033"/>
                          </a:solidFill>
                          <a:latin typeface="Tahoma" panose="020B0604030504040204" pitchFamily="34" charset="0"/>
                          <a:cs typeface="Tahoma" panose="020B0604030504040204" pitchFamily="34" charset="0"/>
                        </a:rPr>
                        <a:t>0-&lt;1 bln</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Jumlah Kematian Bayi umur 0 - kurang 1 bulan pada satu tahun tertentu di daerah tertentu</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540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sz="1800" dirty="0">
                          <a:solidFill>
                            <a:srgbClr val="990033"/>
                          </a:solidFill>
                          <a:latin typeface="Tahoma" panose="020B0604030504040204" pitchFamily="34" charset="0"/>
                          <a:cs typeface="Tahoma" panose="020B0604030504040204" pitchFamily="34" charset="0"/>
                        </a:rPr>
                        <a:t>∑ Lahir Hidup</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Jumlah Kelahiran Hidup pada satu tahun tertentu di daerah tertentu</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9624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eaLnBrk="1" hangingPunct="1">
                        <a:buNone/>
                      </a:pPr>
                      <a:r>
                        <a:rPr sz="1800" dirty="0">
                          <a:solidFill>
                            <a:srgbClr val="990033"/>
                          </a:solidFill>
                          <a:latin typeface="Tahoma" panose="020B0604030504040204" pitchFamily="34" charset="0"/>
                          <a:cs typeface="Tahoma" panose="020B0604030504040204" pitchFamily="34" charset="0"/>
                        </a:rPr>
                        <a:t>K</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Bilangan konstan 1.000</a:t>
                      </a:r>
                      <a:endParaRPr lang="id-ID" altLang="x-none" sz="1800" dirty="0">
                        <a:solidFill>
                          <a:srgbClr val="990033"/>
                        </a:solidFill>
                        <a:latin typeface="Tahoma" panose="020B0604030504040204" pitchFamily="34" charset="0"/>
                        <a:ea typeface="Tahoma" panose="020B0604030504040204" pitchFamily="34" charset="0"/>
                        <a:cs typeface="Tahoma" panose="020B0604030504040204" pitchFamily="34" charset="0"/>
                      </a:endParaRPr>
                    </a:p>
                  </a:txBody>
                  <a:tcPr marT="45703" marB="45703">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Neonatal </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1579880" y="1066800"/>
            <a:ext cx="9032875" cy="2049780"/>
          </a:xfrm>
          <a:prstGeom prst="rect">
            <a:avLst/>
          </a:prstGeom>
          <a:noFill/>
          <a:ln w="9525">
            <a:noFill/>
            <a:miter lim="800000"/>
          </a:ln>
          <a:effectLst/>
        </p:spPr>
        <p:txBody>
          <a:bodyPr lIns="91434" tIns="45717" rIns="91434" bIns="45717"/>
          <a:lstStyle/>
          <a:p>
            <a:pPr marR="0" defTabSz="915035">
              <a:lnSpc>
                <a:spcPct val="110000"/>
              </a:lnSpc>
              <a:spcBef>
                <a:spcPts val="600"/>
              </a:spcBef>
              <a:spcAft>
                <a:spcPts val="600"/>
              </a:spcAft>
              <a:buClrTx/>
              <a:buSzTx/>
              <a:buFontTx/>
              <a:buNone/>
              <a:defRPr/>
            </a:pPr>
            <a:r>
              <a:rPr kumimoji="0" lang="en-US" sz="2000" b="1" kern="0" cap="none" spc="0" normalizeH="0" baseline="0" noProof="0">
                <a:solidFill>
                  <a:srgbClr val="800080"/>
                </a:solidFill>
                <a:latin typeface="Tahoma" panose="020B0604030504040204" pitchFamily="34" charset="0"/>
                <a:ea typeface="Tahoma" panose="020B0604030504040204" pitchFamily="34" charset="0"/>
                <a:cs typeface="Tahoma" panose="020B0604030504040204" pitchFamily="34" charset="0"/>
              </a:rPr>
              <a:t>Definisi </a:t>
            </a:r>
            <a:br>
              <a:rPr kumimoji="0" lang="en-US" sz="2000" b="1" kern="0" cap="none" spc="0" normalizeH="0" baseline="0" noProof="0">
                <a:latin typeface="Tahoma" panose="020B0604030504040204" pitchFamily="34" charset="0"/>
                <a:ea typeface="Tahoma" panose="020B0604030504040204" pitchFamily="34" charset="0"/>
                <a:cs typeface="Tahoma" panose="020B0604030504040204" pitchFamily="34" charset="0"/>
              </a:rPr>
            </a:br>
            <a:r>
              <a:rPr kumimoji="0" lang="en-US" sz="2000" kern="1200" cap="none" spc="0" normalizeH="0" baseline="0" noProof="0">
                <a:latin typeface="Tahoma" panose="020B0604030504040204" pitchFamily="34" charset="0"/>
                <a:ea typeface="Tahoma" panose="020B0604030504040204" pitchFamily="34" charset="0"/>
                <a:cs typeface="Tahoma" panose="020B0604030504040204" pitchFamily="34" charset="0"/>
              </a:rPr>
              <a:t>Angka Kematian Post Neo-natal atau </a:t>
            </a:r>
            <a:r>
              <a:rPr kumimoji="0" lang="en-US" sz="2000" i="1" kern="1200" cap="none" spc="0" normalizeH="0" baseline="0" noProof="0">
                <a:latin typeface="Tahoma" panose="020B0604030504040204" pitchFamily="34" charset="0"/>
                <a:ea typeface="Tahoma" panose="020B0604030504040204" pitchFamily="34" charset="0"/>
                <a:cs typeface="Tahoma" panose="020B0604030504040204" pitchFamily="34" charset="0"/>
              </a:rPr>
              <a:t>Post Neo-natal Death Rate</a:t>
            </a:r>
            <a:r>
              <a:rPr kumimoji="0" lang="en-US" sz="2000" kern="1200" cap="none" spc="0" normalizeH="0" baseline="0" noProof="0">
                <a:latin typeface="Tahoma" panose="020B0604030504040204" pitchFamily="34" charset="0"/>
                <a:ea typeface="Tahoma" panose="020B0604030504040204" pitchFamily="34" charset="0"/>
                <a:cs typeface="Tahoma" panose="020B0604030504040204" pitchFamily="34" charset="0"/>
              </a:rPr>
              <a:t> adalah kematian yang terjadi pada bayi yang </a:t>
            </a:r>
            <a:r>
              <a:rPr kumimoji="0" lang="en-US" sz="2000" kern="1200" cap="none" spc="0" normalizeH="0" baseline="0" noProof="0">
                <a:solidFill>
                  <a:srgbClr val="990033"/>
                </a:solidFill>
                <a:latin typeface="Tahoma" panose="020B0604030504040204" pitchFamily="34" charset="0"/>
                <a:ea typeface="Tahoma" panose="020B0604030504040204" pitchFamily="34" charset="0"/>
                <a:cs typeface="Tahoma" panose="020B0604030504040204" pitchFamily="34" charset="0"/>
              </a:rPr>
              <a:t>berumur antara 1 bulan sampai dengan kurang 1 tahun</a:t>
            </a:r>
            <a:r>
              <a:rPr kumimoji="0" lang="en-US" sz="2000" kern="1200" cap="none" spc="0" normalizeH="0" baseline="0" noProof="0">
                <a:latin typeface="Tahoma" panose="020B0604030504040204" pitchFamily="34" charset="0"/>
                <a:ea typeface="Tahoma" panose="020B0604030504040204" pitchFamily="34" charset="0"/>
                <a:cs typeface="Tahoma" panose="020B0604030504040204" pitchFamily="34" charset="0"/>
              </a:rPr>
              <a:t> per 1.000 kelahiran hidup pada satu tahun tertentu</a:t>
            </a:r>
            <a:r>
              <a:rPr kumimoji="0" lang="en-US" sz="2000" kern="0" cap="none" spc="0" normalizeH="0" baseline="0" noProof="0">
                <a:latin typeface="Tahoma" panose="020B0604030504040204" pitchFamily="34" charset="0"/>
                <a:ea typeface="Tahoma" panose="020B0604030504040204" pitchFamily="34" charset="0"/>
                <a:cs typeface="Tahoma" panose="020B0604030504040204" pitchFamily="34" charset="0"/>
              </a:rPr>
              <a:t>. </a:t>
            </a:r>
            <a:endParaRPr kumimoji="0" lang="id-ID" sz="2000" kern="0" cap="none" spc="0" normalizeH="0" baseline="0" noProof="0">
              <a:latin typeface="Tahoma" panose="020B0604030504040204" pitchFamily="34" charset="0"/>
              <a:ea typeface="Tahoma" panose="020B0604030504040204" pitchFamily="34" charset="0"/>
              <a:cs typeface="Tahoma" panose="020B0604030504040204" pitchFamily="34" charset="0"/>
            </a:endParaRPr>
          </a:p>
          <a:p>
            <a:pPr marL="342900" marR="0" indent="-342900" defTabSz="915035">
              <a:lnSpc>
                <a:spcPct val="110000"/>
              </a:lnSpc>
              <a:spcBef>
                <a:spcPts val="600"/>
              </a:spcBef>
              <a:spcAft>
                <a:spcPts val="600"/>
              </a:spcAft>
              <a:buClrTx/>
              <a:buSzTx/>
              <a:buFontTx/>
              <a:buNone/>
              <a:defRPr/>
            </a:pPr>
            <a:r>
              <a:rPr kumimoji="0" lang="en-US" sz="2000" b="1" kern="0" cap="none" spc="0" normalizeH="0" baseline="0" noProof="0">
                <a:latin typeface="Tahoma" panose="020B0604030504040204" pitchFamily="34" charset="0"/>
                <a:ea typeface="Tahoma" panose="020B0604030504040204" pitchFamily="34" charset="0"/>
                <a:cs typeface="Tahoma" panose="020B0604030504040204" pitchFamily="34" charset="0"/>
              </a:rPr>
              <a:t>Rumus:</a:t>
            </a:r>
            <a:endParaRPr kumimoji="0" lang="id-ID" sz="2000" b="1" kern="0" cap="none" spc="0" normalizeH="0" baseline="0" noProof="0">
              <a:latin typeface="Tahoma" panose="020B0604030504040204" pitchFamily="34" charset="0"/>
              <a:ea typeface="Tahoma" panose="020B0604030504040204" pitchFamily="34" charset="0"/>
              <a:cs typeface="Tahoma" panose="020B0604030504040204" pitchFamily="34" charset="0"/>
            </a:endParaRPr>
          </a:p>
          <a:p>
            <a:pPr marL="342900" marR="0" indent="-342900" defTabSz="915035">
              <a:lnSpc>
                <a:spcPct val="110000"/>
              </a:lnSpc>
              <a:spcBef>
                <a:spcPts val="600"/>
              </a:spcBef>
              <a:spcAft>
                <a:spcPts val="600"/>
              </a:spcAft>
              <a:buClrTx/>
              <a:buSzTx/>
              <a:buFontTx/>
              <a:buChar char="•"/>
              <a:defRPr/>
            </a:pPr>
            <a:endParaRPr kumimoji="0" lang="id-ID" sz="2000" b="1" kern="0" cap="none" spc="0" normalizeH="0" baseline="0" noProof="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0724" name="Table 30723"/>
          <p:cNvGraphicFramePr/>
          <p:nvPr/>
        </p:nvGraphicFramePr>
        <p:xfrm>
          <a:off x="3733165" y="2752725"/>
          <a:ext cx="4953000" cy="990600"/>
        </p:xfrm>
        <a:graphic>
          <a:graphicData uri="http://schemas.openxmlformats.org/drawingml/2006/table">
            <a:tbl>
              <a:tblPr/>
              <a:tblGrid>
                <a:gridCol w="2552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228600">
                  <a:extLst>
                    <a:ext uri="{9D8B030D-6E8A-4147-A177-3AD203B41FA5}">
                      <a16:colId xmlns:a16="http://schemas.microsoft.com/office/drawing/2014/main" val="20002"/>
                    </a:ext>
                  </a:extLst>
                </a:gridCol>
                <a:gridCol w="381000">
                  <a:extLst>
                    <a:ext uri="{9D8B030D-6E8A-4147-A177-3AD203B41FA5}">
                      <a16:colId xmlns:a16="http://schemas.microsoft.com/office/drawing/2014/main" val="20003"/>
                    </a:ext>
                  </a:extLst>
                </a:gridCol>
              </a:tblGrid>
              <a:tr h="496888">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AK Post Neo-Natal =</a:t>
                      </a:r>
                      <a:endParaRPr lang="id-ID" altLang="x-none" sz="2000"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D</a:t>
                      </a:r>
                      <a:r>
                        <a:rPr sz="2000" baseline="-25000" dirty="0">
                          <a:latin typeface="Tahoma" panose="020B0604030504040204" pitchFamily="34" charset="0"/>
                          <a:cs typeface="Tahoma" panose="020B0604030504040204" pitchFamily="34" charset="0"/>
                        </a:rPr>
                        <a:t>1 bln-&lt;1 thn</a:t>
                      </a:r>
                      <a:endParaRPr lang="id-ID" altLang="x-none" sz="2000"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x</a:t>
                      </a:r>
                      <a:endParaRPr lang="id-ID" altLang="x-none" sz="2000"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dirty="0">
                          <a:latin typeface="Tahoma" panose="020B0604030504040204" pitchFamily="34" charset="0"/>
                          <a:cs typeface="Tahoma" panose="020B0604030504040204" pitchFamily="34" charset="0"/>
                        </a:rPr>
                        <a:t>K</a:t>
                      </a:r>
                      <a:endParaRPr lang="id-ID" altLang="x-none" sz="2000"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493712">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latin typeface="Tahoma" panose="020B0604030504040204" pitchFamily="34" charset="0"/>
                          <a:cs typeface="Tahoma" panose="020B0604030504040204" pitchFamily="34" charset="0"/>
                        </a:rPr>
                        <a:t>∑ Lahir Hidup</a:t>
                      </a:r>
                      <a:endParaRPr lang="id-ID" altLang="x-none" sz="2000"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30731" name="Table 30730"/>
          <p:cNvGraphicFramePr/>
          <p:nvPr/>
        </p:nvGraphicFramePr>
        <p:xfrm>
          <a:off x="1844675" y="3592513"/>
          <a:ext cx="8305800" cy="2663869"/>
        </p:xfrm>
        <a:graphic>
          <a:graphicData uri="http://schemas.openxmlformats.org/drawingml/2006/table">
            <a:tbl>
              <a:tblPr/>
              <a:tblGrid>
                <a:gridCol w="2057400">
                  <a:extLst>
                    <a:ext uri="{9D8B030D-6E8A-4147-A177-3AD203B41FA5}">
                      <a16:colId xmlns:a16="http://schemas.microsoft.com/office/drawing/2014/main" val="20000"/>
                    </a:ext>
                  </a:extLst>
                </a:gridCol>
                <a:gridCol w="228600">
                  <a:extLst>
                    <a:ext uri="{9D8B030D-6E8A-4147-A177-3AD203B41FA5}">
                      <a16:colId xmlns:a16="http://schemas.microsoft.com/office/drawing/2014/main" val="20001"/>
                    </a:ext>
                  </a:extLst>
                </a:gridCol>
                <a:gridCol w="6019800">
                  <a:extLst>
                    <a:ext uri="{9D8B030D-6E8A-4147-A177-3AD203B41FA5}">
                      <a16:colId xmlns:a16="http://schemas.microsoft.com/office/drawing/2014/main" val="20002"/>
                    </a:ext>
                  </a:extLst>
                </a:gridCol>
              </a:tblGrid>
              <a:tr h="371475">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u="sng" dirty="0">
                          <a:solidFill>
                            <a:srgbClr val="990033"/>
                          </a:solidFill>
                          <a:latin typeface="Tahoma" panose="020B0604030504040204" pitchFamily="34" charset="0"/>
                          <a:cs typeface="Tahoma" panose="020B0604030504040204" pitchFamily="34" charset="0"/>
                        </a:rPr>
                        <a:t>Dimana:</a:t>
                      </a:r>
                      <a:endParaRPr lang="id-ID" altLang="x-none" sz="1800" u="sng"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008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sz="1800" dirty="0">
                          <a:solidFill>
                            <a:srgbClr val="990033"/>
                          </a:solidFill>
                          <a:latin typeface="Tahoma" panose="020B0604030504040204" pitchFamily="34" charset="0"/>
                          <a:cs typeface="Tahoma" panose="020B0604030504040204" pitchFamily="34" charset="0"/>
                        </a:rPr>
                        <a:t>AK Post Neo-Natal</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Angka Kematian Bayi berumur 1 bulan sampai dengan kurang dari 1 tahun</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64071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sz="1800" dirty="0">
                          <a:solidFill>
                            <a:srgbClr val="990033"/>
                          </a:solidFill>
                          <a:latin typeface="Tahoma" panose="020B0604030504040204" pitchFamily="34" charset="0"/>
                          <a:cs typeface="Tahoma" panose="020B0604030504040204" pitchFamily="34" charset="0"/>
                        </a:rPr>
                        <a:t>D</a:t>
                      </a:r>
                      <a:r>
                        <a:rPr sz="1800" baseline="-25000" dirty="0">
                          <a:solidFill>
                            <a:srgbClr val="990033"/>
                          </a:solidFill>
                          <a:latin typeface="Tahoma" panose="020B0604030504040204" pitchFamily="34" charset="0"/>
                          <a:cs typeface="Tahoma" panose="020B0604030504040204" pitchFamily="34" charset="0"/>
                        </a:rPr>
                        <a:t>1 bln-&lt;1 thn</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Jumlah Kematian Bayi berumur 1 bulan - kurang dari 1 tahun pada satu tahun tertentu di daerah tertentu</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4008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defTabSz="822325" eaLnBrk="1" hangingPunct="1">
                        <a:buNone/>
                      </a:pPr>
                      <a:r>
                        <a:rPr sz="1800" dirty="0">
                          <a:solidFill>
                            <a:srgbClr val="990033"/>
                          </a:solidFill>
                          <a:latin typeface="Tahoma" panose="020B0604030504040204" pitchFamily="34" charset="0"/>
                          <a:cs typeface="Tahoma" panose="020B0604030504040204" pitchFamily="34" charset="0"/>
                        </a:rPr>
                        <a:t>∑ Lahir Hidup</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Jumlah Kelahiran Hidup pada satu tahun tertentu di daerah tertentu</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714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r" eaLnBrk="1" hangingPunct="1">
                        <a:buNone/>
                      </a:pPr>
                      <a:r>
                        <a:rPr sz="1800" dirty="0">
                          <a:solidFill>
                            <a:srgbClr val="990033"/>
                          </a:solidFill>
                          <a:latin typeface="Tahoma" panose="020B0604030504040204" pitchFamily="34" charset="0"/>
                          <a:cs typeface="Tahoma" panose="020B0604030504040204" pitchFamily="34" charset="0"/>
                        </a:rPr>
                        <a:t>K</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1800" dirty="0">
                          <a:solidFill>
                            <a:srgbClr val="990033"/>
                          </a:solidFill>
                          <a:latin typeface="Tahoma" panose="020B0604030504040204" pitchFamily="34" charset="0"/>
                          <a:cs typeface="Tahoma" panose="020B0604030504040204" pitchFamily="34" charset="0"/>
                        </a:rPr>
                        <a:t>=</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1800" dirty="0">
                          <a:solidFill>
                            <a:srgbClr val="990033"/>
                          </a:solidFill>
                          <a:latin typeface="Tahoma" panose="020B0604030504040204" pitchFamily="34" charset="0"/>
                          <a:cs typeface="Tahoma" panose="020B0604030504040204" pitchFamily="34" charset="0"/>
                        </a:rPr>
                        <a:t>Bilangan konstan 1.000</a:t>
                      </a:r>
                      <a:endParaRPr lang="id-ID" altLang="x-none" sz="1800" dirty="0">
                        <a:solidFill>
                          <a:srgbClr val="990033"/>
                        </a:solidFill>
                        <a:latin typeface="Tahoma" panose="020B0604030504040204" pitchFamily="34" charset="0"/>
                        <a:ea typeface="Tahoma" panose="020B0604030504040204" pitchFamily="34" charset="0"/>
                      </a:endParaRPr>
                    </a:p>
                  </a:txBody>
                  <a:tcPr marT="45731" marB="45731">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4"/>
          <p:cNvSpPr/>
          <p:nvPr/>
        </p:nvSpPr>
        <p:spPr>
          <a:xfrm>
            <a:off x="1369695" y="309245"/>
            <a:ext cx="9680575" cy="645160"/>
          </a:xfrm>
          <a:prstGeom prst="rect">
            <a:avLst/>
          </a:prstGeom>
        </p:spPr>
        <p:txBody>
          <a:bodyPr wrap="square">
            <a:spAutoFit/>
          </a:bodyPr>
          <a:lstStyle/>
          <a:p>
            <a:r>
              <a:rPr lang="id-ID" sz="3600" b="1" dirty="0"/>
              <a:t>Angka Kematian </a:t>
            </a:r>
            <a:r>
              <a:rPr lang="en-US" altLang="id-ID" sz="3600" b="1" dirty="0"/>
              <a:t>Post Neonatal </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idx="1"/>
          </p:nvPr>
        </p:nvSpPr>
        <p:spPr>
          <a:xfrm>
            <a:off x="1328420" y="1962785"/>
            <a:ext cx="7772400" cy="609600"/>
          </a:xfrm>
        </p:spPr>
        <p:txBody>
          <a:bodyPr vert="horz" wrap="square" lIns="91434" tIns="45717" rIns="91434" bIns="45717" anchor="t" anchorCtr="0"/>
          <a:lstStyle/>
          <a:p>
            <a:pPr eaLnBrk="1" hangingPunct="1">
              <a:lnSpc>
                <a:spcPct val="110000"/>
              </a:lnSpc>
              <a:spcBef>
                <a:spcPts val="600"/>
              </a:spcBef>
              <a:spcAft>
                <a:spcPts val="600"/>
              </a:spcAft>
              <a:buNone/>
            </a:pPr>
            <a:r>
              <a:rPr lang="en-US" altLang="en-US" sz="2400" dirty="0">
                <a:solidFill>
                  <a:srgbClr val="336600"/>
                </a:solidFill>
                <a:latin typeface="Tahoma" panose="020B0604030504040204" pitchFamily="34" charset="0"/>
                <a:cs typeface="Tahoma" panose="020B0604030504040204" pitchFamily="34" charset="0"/>
              </a:rPr>
              <a:t>Cara Menghitung:</a:t>
            </a:r>
            <a:endParaRPr lang="id-ID" altLang="en-US" sz="2400" dirty="0">
              <a:solidFill>
                <a:srgbClr val="336600"/>
              </a:solidFill>
              <a:latin typeface="Tahoma" panose="020B0604030504040204" pitchFamily="34" charset="0"/>
              <a:ea typeface="Tahoma" panose="020B0604030504040204" pitchFamily="34" charset="0"/>
            </a:endParaRPr>
          </a:p>
        </p:txBody>
      </p:sp>
      <p:graphicFrame>
        <p:nvGraphicFramePr>
          <p:cNvPr id="26627" name="Table 26626"/>
          <p:cNvGraphicFramePr/>
          <p:nvPr/>
        </p:nvGraphicFramePr>
        <p:xfrm>
          <a:off x="4164330" y="2236470"/>
          <a:ext cx="4166235" cy="1334770"/>
        </p:xfrm>
        <a:graphic>
          <a:graphicData uri="http://schemas.openxmlformats.org/drawingml/2006/table">
            <a:tbl>
              <a:tblPr/>
              <a:tblGrid>
                <a:gridCol w="1163320">
                  <a:extLst>
                    <a:ext uri="{9D8B030D-6E8A-4147-A177-3AD203B41FA5}">
                      <a16:colId xmlns:a16="http://schemas.microsoft.com/office/drawing/2014/main" val="20000"/>
                    </a:ext>
                  </a:extLst>
                </a:gridCol>
                <a:gridCol w="2228215">
                  <a:extLst>
                    <a:ext uri="{9D8B030D-6E8A-4147-A177-3AD203B41FA5}">
                      <a16:colId xmlns:a16="http://schemas.microsoft.com/office/drawing/2014/main" val="20001"/>
                    </a:ext>
                  </a:extLst>
                </a:gridCol>
                <a:gridCol w="290195">
                  <a:extLst>
                    <a:ext uri="{9D8B030D-6E8A-4147-A177-3AD203B41FA5}">
                      <a16:colId xmlns:a16="http://schemas.microsoft.com/office/drawing/2014/main" val="20002"/>
                    </a:ext>
                  </a:extLst>
                </a:gridCol>
                <a:gridCol w="484505">
                  <a:extLst>
                    <a:ext uri="{9D8B030D-6E8A-4147-A177-3AD203B41FA5}">
                      <a16:colId xmlns:a16="http://schemas.microsoft.com/office/drawing/2014/main" val="20003"/>
                    </a:ext>
                  </a:extLst>
                </a:gridCol>
              </a:tblGrid>
              <a:tr h="669290">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AKB =</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D</a:t>
                      </a:r>
                      <a:r>
                        <a:rPr baseline="-25000" dirty="0">
                          <a:latin typeface="Tahoma" panose="020B0604030504040204" pitchFamily="34" charset="0"/>
                          <a:cs typeface="Tahoma" panose="020B0604030504040204" pitchFamily="34" charset="0"/>
                        </a:rPr>
                        <a:t>0-&lt;1 th</a:t>
                      </a:r>
                      <a:endParaRPr lang="id-ID" altLang="x-none" baseline="-25000" dirty="0">
                        <a:latin typeface="Tahoma" panose="020B0604030504040204" pitchFamily="34" charset="0"/>
                        <a:ea typeface="Tahoma" panose="020B0604030504040204" pitchFamily="34" charset="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x</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tc row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dirty="0">
                          <a:latin typeface="Tahoma" panose="020B0604030504040204" pitchFamily="34" charset="0"/>
                          <a:cs typeface="Tahoma" panose="020B0604030504040204" pitchFamily="34" charset="0"/>
                        </a:rPr>
                        <a:t>K</a:t>
                      </a:r>
                      <a:endParaRPr lang="id-ID" altLang="x-none" dirty="0">
                        <a:latin typeface="Tahoma" panose="020B0604030504040204" pitchFamily="34" charset="0"/>
                        <a:ea typeface="Tahoma" panose="020B0604030504040204" pitchFamily="34" charset="0"/>
                      </a:endParaRPr>
                    </a:p>
                  </a:txBody>
                  <a:tcPr anchor="ctr">
                    <a:lnL>
                      <a:noFill/>
                    </a:lnL>
                    <a:lnR>
                      <a:noFill/>
                    </a:lnR>
                    <a:lnT>
                      <a:noFill/>
                    </a:lnT>
                    <a:lnB>
                      <a:noFill/>
                    </a:lnB>
                    <a:lnTlToBr>
                      <a:noFill/>
                    </a:lnTlToBr>
                    <a:lnBlToTr>
                      <a:noFill/>
                    </a:lnBlToTr>
                    <a:solidFill>
                      <a:srgbClr val="7030A0">
                        <a:alpha val="50195"/>
                      </a:srgbClr>
                    </a:solidFill>
                  </a:tcPr>
                </a:tc>
                <a:extLst>
                  <a:ext uri="{0D108BD9-81ED-4DB2-BD59-A6C34878D82A}">
                    <a16:rowId xmlns:a16="http://schemas.microsoft.com/office/drawing/2014/main" val="10000"/>
                  </a:ext>
                </a:extLst>
              </a:tr>
              <a:tr h="665480">
                <a:tc vMerge="1">
                  <a:txBody>
                    <a:bodyPr/>
                    <a:lstStyle/>
                    <a:p>
                      <a:endParaRPr lang="en-US"/>
                    </a:p>
                  </a:txBody>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dirty="0">
                          <a:latin typeface="Tahoma" panose="020B0604030504040204" pitchFamily="34" charset="0"/>
                          <a:cs typeface="Tahoma" panose="020B0604030504040204" pitchFamily="34" charset="0"/>
                        </a:rPr>
                        <a:t>∑ Lahir Hidup</a:t>
                      </a:r>
                      <a:endParaRPr lang="id-ID" altLang="x-none" baseline="-25000" dirty="0">
                        <a:latin typeface="Tahoma" panose="020B0604030504040204" pitchFamily="34" charset="0"/>
                        <a:ea typeface="Tahoma" panose="020B0604030504040204" pitchFamily="34" charset="0"/>
                      </a:endParaRP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solidFill>
                      <a:srgbClr val="7030A0">
                        <a:alpha val="50195"/>
                      </a:srgbClr>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graphicFrame>
        <p:nvGraphicFramePr>
          <p:cNvPr id="26634" name="Table 26633"/>
          <p:cNvGraphicFramePr/>
          <p:nvPr/>
        </p:nvGraphicFramePr>
        <p:xfrm>
          <a:off x="1713865" y="3543300"/>
          <a:ext cx="9066530" cy="2713307"/>
        </p:xfrm>
        <a:graphic>
          <a:graphicData uri="http://schemas.openxmlformats.org/drawingml/2006/table">
            <a:tbl>
              <a:tblPr/>
              <a:tblGrid>
                <a:gridCol w="1584325">
                  <a:extLst>
                    <a:ext uri="{9D8B030D-6E8A-4147-A177-3AD203B41FA5}">
                      <a16:colId xmlns:a16="http://schemas.microsoft.com/office/drawing/2014/main" val="20000"/>
                    </a:ext>
                  </a:extLst>
                </a:gridCol>
                <a:gridCol w="616585">
                  <a:extLst>
                    <a:ext uri="{9D8B030D-6E8A-4147-A177-3AD203B41FA5}">
                      <a16:colId xmlns:a16="http://schemas.microsoft.com/office/drawing/2014/main" val="20001"/>
                    </a:ext>
                  </a:extLst>
                </a:gridCol>
                <a:gridCol w="6865620">
                  <a:extLst>
                    <a:ext uri="{9D8B030D-6E8A-4147-A177-3AD203B41FA5}">
                      <a16:colId xmlns:a16="http://schemas.microsoft.com/office/drawing/2014/main" val="20002"/>
                    </a:ext>
                  </a:extLst>
                </a:gridCol>
              </a:tblGrid>
              <a:tr h="36195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u="sng" dirty="0">
                          <a:solidFill>
                            <a:srgbClr val="002060"/>
                          </a:solidFill>
                          <a:latin typeface="Tahoma" panose="020B0604030504040204" pitchFamily="34" charset="0"/>
                          <a:cs typeface="Tahoma" panose="020B0604030504040204" pitchFamily="34" charset="0"/>
                        </a:rPr>
                        <a:t>Dimana:</a:t>
                      </a:r>
                      <a:endParaRPr lang="id-ID" altLang="x-none" sz="2000" u="sng"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783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l" defTabSz="822325" eaLnBrk="1" hangingPunct="1">
                        <a:buNone/>
                      </a:pPr>
                      <a:r>
                        <a:rPr sz="2000" dirty="0">
                          <a:solidFill>
                            <a:srgbClr val="663300"/>
                          </a:solidFill>
                          <a:latin typeface="Tahoma" panose="020B0604030504040204" pitchFamily="34" charset="0"/>
                          <a:cs typeface="Tahoma" panose="020B0604030504040204" pitchFamily="34" charset="0"/>
                        </a:rPr>
                        <a:t>AKB</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solidFill>
                            <a:srgbClr val="663300"/>
                          </a:solidFill>
                          <a:latin typeface="Tahoma" panose="020B0604030504040204" pitchFamily="34" charset="0"/>
                          <a:cs typeface="Tahoma" panose="020B0604030504040204" pitchFamily="34" charset="0"/>
                        </a:rPr>
                        <a:t>=</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dirty="0">
                          <a:solidFill>
                            <a:srgbClr val="663300"/>
                          </a:solidFill>
                          <a:latin typeface="Tahoma" panose="020B0604030504040204" pitchFamily="34" charset="0"/>
                          <a:cs typeface="Tahoma" panose="020B0604030504040204" pitchFamily="34" charset="0"/>
                        </a:rPr>
                        <a:t>Angka Kematian Bayi / </a:t>
                      </a:r>
                      <a:r>
                        <a:rPr sz="2000" i="1" dirty="0">
                          <a:solidFill>
                            <a:srgbClr val="663300"/>
                          </a:solidFill>
                          <a:latin typeface="Tahoma" panose="020B0604030504040204" pitchFamily="34" charset="0"/>
                          <a:cs typeface="Tahoma" panose="020B0604030504040204" pitchFamily="34" charset="0"/>
                        </a:rPr>
                        <a:t>Infant Mortality Rate</a:t>
                      </a:r>
                      <a:r>
                        <a:rPr sz="2000" dirty="0">
                          <a:solidFill>
                            <a:srgbClr val="663300"/>
                          </a:solidFill>
                          <a:latin typeface="Tahoma" panose="020B0604030504040204" pitchFamily="34" charset="0"/>
                          <a:cs typeface="Tahoma" panose="020B0604030504040204" pitchFamily="34" charset="0"/>
                        </a:rPr>
                        <a:t> (IMR)</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7531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l" defTabSz="822325" eaLnBrk="1" hangingPunct="1">
                        <a:buNone/>
                      </a:pPr>
                      <a:r>
                        <a:rPr sz="2000" dirty="0">
                          <a:solidFill>
                            <a:srgbClr val="663300"/>
                          </a:solidFill>
                          <a:latin typeface="Tahoma" panose="020B0604030504040204" pitchFamily="34" charset="0"/>
                          <a:cs typeface="Tahoma" panose="020B0604030504040204" pitchFamily="34" charset="0"/>
                        </a:rPr>
                        <a:t>D</a:t>
                      </a:r>
                      <a:r>
                        <a:rPr sz="2000" baseline="-25000" dirty="0">
                          <a:solidFill>
                            <a:srgbClr val="663300"/>
                          </a:solidFill>
                          <a:latin typeface="Tahoma" panose="020B0604030504040204" pitchFamily="34" charset="0"/>
                          <a:cs typeface="Tahoma" panose="020B0604030504040204" pitchFamily="34" charset="0"/>
                        </a:rPr>
                        <a:t>0-&lt;1 th</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solidFill>
                            <a:srgbClr val="663300"/>
                          </a:solidFill>
                          <a:latin typeface="Tahoma" panose="020B0604030504040204" pitchFamily="34" charset="0"/>
                          <a:cs typeface="Tahoma" panose="020B0604030504040204" pitchFamily="34" charset="0"/>
                        </a:rPr>
                        <a:t>=</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dirty="0">
                          <a:solidFill>
                            <a:srgbClr val="663300"/>
                          </a:solidFill>
                          <a:latin typeface="Tahoma" panose="020B0604030504040204" pitchFamily="34" charset="0"/>
                          <a:cs typeface="Tahoma" panose="020B0604030504040204" pitchFamily="34" charset="0"/>
                        </a:rPr>
                        <a:t>Jumlah Kematian Bayi (berumur kurang 1 tahun) pada satu tahun ttt di daerah ttt.</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1402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l" defTabSz="822325" eaLnBrk="1" hangingPunct="1">
                        <a:buNone/>
                      </a:pPr>
                      <a:r>
                        <a:rPr sz="2000" dirty="0">
                          <a:solidFill>
                            <a:srgbClr val="663300"/>
                          </a:solidFill>
                          <a:latin typeface="Tahoma" panose="020B0604030504040204" pitchFamily="34" charset="0"/>
                          <a:cs typeface="Tahoma" panose="020B0604030504040204" pitchFamily="34" charset="0"/>
                        </a:rPr>
                        <a:t>∑ Lahir Hidup</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solidFill>
                            <a:srgbClr val="663300"/>
                          </a:solidFill>
                          <a:latin typeface="Tahoma" panose="020B0604030504040204" pitchFamily="34" charset="0"/>
                          <a:cs typeface="Tahoma" panose="020B0604030504040204" pitchFamily="34" charset="0"/>
                        </a:rPr>
                        <a:t>=</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dirty="0">
                          <a:solidFill>
                            <a:srgbClr val="663300"/>
                          </a:solidFill>
                          <a:latin typeface="Tahoma" panose="020B0604030504040204" pitchFamily="34" charset="0"/>
                          <a:cs typeface="Tahoma" panose="020B0604030504040204" pitchFamily="34" charset="0"/>
                        </a:rPr>
                        <a:t>Jumlah Kelahiran Hidup 1 tahun tertentu di daerah tertentu</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l" eaLnBrk="1" hangingPunct="1">
                        <a:buNone/>
                      </a:pPr>
                      <a:r>
                        <a:rPr sz="2000" dirty="0">
                          <a:solidFill>
                            <a:srgbClr val="663300"/>
                          </a:solidFill>
                          <a:latin typeface="Tahoma" panose="020B0604030504040204" pitchFamily="34" charset="0"/>
                          <a:cs typeface="Tahoma" panose="020B0604030504040204" pitchFamily="34" charset="0"/>
                        </a:rPr>
                        <a:t>K</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algn="ctr" defTabSz="822325" eaLnBrk="1" hangingPunct="1">
                        <a:buNone/>
                      </a:pPr>
                      <a:r>
                        <a:rPr sz="2000" dirty="0">
                          <a:solidFill>
                            <a:srgbClr val="663300"/>
                          </a:solidFill>
                          <a:latin typeface="Tahoma" panose="020B0604030504040204" pitchFamily="34" charset="0"/>
                          <a:cs typeface="Tahoma" panose="020B0604030504040204" pitchFamily="34" charset="0"/>
                        </a:rPr>
                        <a:t>=</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mn-ea"/>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charset="0"/>
                          <a:ea typeface="+mn-ea"/>
                          <a:cs typeface="+mn-cs"/>
                        </a:defRPr>
                      </a:lvl5pPr>
                    </a:lstStyle>
                    <a:p>
                      <a:pPr lvl="0" defTabSz="822325" eaLnBrk="1" hangingPunct="1">
                        <a:buNone/>
                      </a:pPr>
                      <a:r>
                        <a:rPr sz="2000" dirty="0">
                          <a:solidFill>
                            <a:srgbClr val="663300"/>
                          </a:solidFill>
                          <a:latin typeface="Tahoma" panose="020B0604030504040204" pitchFamily="34" charset="0"/>
                          <a:cs typeface="Tahoma" panose="020B0604030504040204" pitchFamily="34" charset="0"/>
                        </a:rPr>
                        <a:t>Bilangan konstan 1.000</a:t>
                      </a:r>
                      <a:endParaRPr lang="id-ID" altLang="x-none" sz="2000" dirty="0">
                        <a:solidFill>
                          <a:srgbClr val="663300"/>
                        </a:solidFill>
                        <a:latin typeface="Tahoma" panose="020B0604030504040204" pitchFamily="34" charset="0"/>
                        <a:ea typeface="Tahoma" panose="020B0604030504040204" pitchFamily="34" charset="0"/>
                        <a:cs typeface="Tahoma" panose="020B0604030504040204" pitchFamily="34" charset="0"/>
                      </a:endParaRPr>
                    </a:p>
                  </a:txBody>
                  <a:tcPr marT="45712" marB="45712">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459" name="Content Placeholder 2"/>
          <p:cNvSpPr>
            <a:spLocks noGrp="1"/>
          </p:cNvSpPr>
          <p:nvPr/>
        </p:nvSpPr>
        <p:spPr>
          <a:xfrm>
            <a:off x="1167130" y="982980"/>
            <a:ext cx="10320020" cy="1097915"/>
          </a:xfrm>
          <a:prstGeom prst="rect">
            <a:avLst/>
          </a:prstGeom>
        </p:spPr>
        <p:txBody>
          <a:bodyPr vert="horz" wrap="square" lIns="91434" tIns="45717" rIns="91434" bIns="45717" numCol="1" rtlCol="0" anchor="t" anchorCtr="0" compatLnSpc="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881880" marR="0" lvl="0" indent="-4881880" algn="l" defTabSz="914400" rtl="0" eaLnBrk="1" fontAlgn="base" latinLnBrk="0" hangingPunct="1">
              <a:lnSpc>
                <a:spcPct val="110000"/>
              </a:lnSpc>
              <a:spcBef>
                <a:spcPts val="600"/>
              </a:spcBef>
              <a:spcAft>
                <a:spcPts val="600"/>
              </a:spcAft>
              <a:buClrTx/>
              <a:buSzTx/>
              <a:buFontTx/>
              <a:buNone/>
              <a:defRPr/>
            </a:pPr>
            <a:r>
              <a:rPr kumimoji="0" lang="en-US" altLang="en-US" sz="2300" b="0" i="0" u="none" strike="noStrike" kern="0" cap="none" spc="0" normalizeH="0" baseline="0" noProof="0" dirty="0" err="1">
                <a:ln>
                  <a:noFill/>
                </a:ln>
                <a:solidFill>
                  <a:schemeClr val="tx1"/>
                </a:solidFill>
                <a:effectLst/>
                <a:uLnTx/>
                <a:uFillTx/>
                <a:latin typeface="Tahoma" panose="020B0604030504040204" pitchFamily="34" charset="0"/>
                <a:ea typeface="+mn-ea"/>
                <a:cs typeface="Tahoma" panose="020B0604030504040204" pitchFamily="34" charset="0"/>
              </a:rPr>
              <a:t>Kematian</a:t>
            </a:r>
            <a:r>
              <a:rPr kumimoji="0" lang="en-US" altLang="en-US" sz="23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chemeClr val="tx1"/>
                </a:solidFill>
                <a:effectLst/>
                <a:uLnTx/>
                <a:uFillTx/>
                <a:latin typeface="Tahoma" panose="020B0604030504040204" pitchFamily="34" charset="0"/>
                <a:ea typeface="+mn-ea"/>
                <a:cs typeface="Tahoma" panose="020B0604030504040204" pitchFamily="34" charset="0"/>
              </a:rPr>
              <a:t>bayi</a:t>
            </a:r>
            <a:r>
              <a:rPr kumimoji="0" lang="en-US" altLang="en-US" sz="23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chemeClr val="tx1"/>
                </a:solidFill>
                <a:effectLst/>
                <a:uLnTx/>
                <a:uFillTx/>
                <a:latin typeface="Tahoma" panose="020B0604030504040204" pitchFamily="34" charset="0"/>
                <a:ea typeface="+mn-ea"/>
                <a:cs typeface="Tahoma" panose="020B0604030504040204" pitchFamily="34" charset="0"/>
              </a:rPr>
              <a:t>kematian</a:t>
            </a:r>
            <a:r>
              <a:rPr kumimoji="0" lang="en-US" altLang="en-US" sz="23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rPr>
              <a:t> yang </a:t>
            </a:r>
            <a:r>
              <a:rPr kumimoji="0" lang="en-US" altLang="en-US" sz="2300" b="0" i="0" u="none" strike="noStrike" kern="0" cap="none" spc="0" normalizeH="0" baseline="0" noProof="0" dirty="0" err="1">
                <a:ln>
                  <a:noFill/>
                </a:ln>
                <a:solidFill>
                  <a:schemeClr val="tx1"/>
                </a:solidFill>
                <a:effectLst/>
                <a:uLnTx/>
                <a:uFillTx/>
                <a:latin typeface="Tahoma" panose="020B0604030504040204" pitchFamily="34" charset="0"/>
                <a:ea typeface="+mn-ea"/>
                <a:cs typeface="Tahoma" panose="020B0604030504040204" pitchFamily="34" charset="0"/>
              </a:rPr>
              <a:t>terjadi</a:t>
            </a:r>
            <a:r>
              <a:rPr kumimoji="0" lang="en-US" altLang="en-US" sz="23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chemeClr val="tx1"/>
                </a:solidFill>
                <a:effectLst/>
                <a:uLnTx/>
                <a:uFillTx/>
                <a:latin typeface="Tahoma" panose="020B0604030504040204" pitchFamily="34" charset="0"/>
                <a:ea typeface="+mn-ea"/>
                <a:cs typeface="Tahoma" panose="020B0604030504040204" pitchFamily="34" charset="0"/>
              </a:rPr>
              <a:t>antara</a:t>
            </a:r>
            <a:r>
              <a:rPr kumimoji="0" lang="en-US" altLang="en-US" sz="23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saat</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setelah</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bayi</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lahir</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sampai</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bayi</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belum</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berusia</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tepat</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satu</a:t>
            </a:r>
            <a:r>
              <a:rPr kumimoji="0" lang="en-US" altLang="en-US" sz="2300" b="0" i="0" u="none" strike="noStrike" kern="0" cap="none" spc="0" normalizeH="0" baseline="0" noProof="0" dirty="0">
                <a:ln>
                  <a:noFill/>
                </a:ln>
                <a:solidFill>
                  <a:srgbClr val="0070C0"/>
                </a:solidFill>
                <a:effectLst/>
                <a:uLnTx/>
                <a:uFillTx/>
                <a:latin typeface="Tahoma" panose="020B0604030504040204" pitchFamily="34" charset="0"/>
                <a:ea typeface="+mn-ea"/>
                <a:cs typeface="Tahoma" panose="020B0604030504040204" pitchFamily="34" charset="0"/>
              </a:rPr>
              <a:t> </a:t>
            </a:r>
            <a:r>
              <a:rPr kumimoji="0" lang="en-US" altLang="en-US" sz="2300" b="0" i="0" u="none" strike="noStrike" kern="0" cap="none" spc="0" normalizeH="0" baseline="0" noProof="0" dirty="0" err="1">
                <a:ln>
                  <a:noFill/>
                </a:ln>
                <a:solidFill>
                  <a:srgbClr val="0070C0"/>
                </a:solidFill>
                <a:effectLst/>
                <a:uLnTx/>
                <a:uFillTx/>
                <a:latin typeface="Tahoma" panose="020B0604030504040204" pitchFamily="34" charset="0"/>
                <a:ea typeface="+mn-ea"/>
                <a:cs typeface="Tahoma" panose="020B0604030504040204" pitchFamily="34" charset="0"/>
              </a:rPr>
              <a:t>tahun</a:t>
            </a:r>
            <a:r>
              <a:rPr kumimoji="0" lang="en-US" altLang="en-US" sz="23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rPr>
              <a:t>.</a:t>
            </a:r>
          </a:p>
          <a:p>
            <a:pPr marL="342900" marR="0" lvl="0" indent="-342900" algn="l" defTabSz="914400" rtl="0" eaLnBrk="1" fontAlgn="base" latinLnBrk="0" hangingPunct="1">
              <a:lnSpc>
                <a:spcPct val="110000"/>
              </a:lnSpc>
              <a:spcBef>
                <a:spcPts val="600"/>
              </a:spcBef>
              <a:spcAft>
                <a:spcPts val="600"/>
              </a:spcAft>
              <a:buClrTx/>
              <a:buSzTx/>
              <a:buFontTx/>
              <a:buNone/>
              <a:defRPr/>
            </a:pPr>
            <a:endParaRPr kumimoji="0" lang="en-US" altLang="en-US" sz="2000" b="0" i="0" u="none" strike="noStrike" kern="0" cap="none" spc="0" normalizeH="0" baseline="0" noProof="0" dirty="0">
              <a:ln>
                <a:noFill/>
              </a:ln>
              <a:solidFill>
                <a:schemeClr val="tx1"/>
              </a:solidFill>
              <a:effectLst/>
              <a:uLnTx/>
              <a:uFillTx/>
              <a:latin typeface="Tahoma" panose="020B0604030504040204" pitchFamily="34" charset="0"/>
              <a:ea typeface="+mn-ea"/>
              <a:cs typeface="Tahoma" panose="020B0604030504040204" pitchFamily="34" charset="0"/>
            </a:endParaRPr>
          </a:p>
        </p:txBody>
      </p:sp>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Bayi </a:t>
            </a:r>
          </a:p>
        </p:txBody>
      </p:sp>
      <p:pic>
        <p:nvPicPr>
          <p:cNvPr id="38" name="Content Placeholder 37" descr="A picture containing drawing, device  Description automatically generated"/>
          <p:cNvPicPr>
            <a:picLocks noGrp="1" noChangeAspect="1"/>
          </p:cNvPicPr>
          <p:nvPr>
            <p:ph sz="half" idx="2"/>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436370" y="882015"/>
            <a:ext cx="9410700" cy="939800"/>
          </a:xfrm>
        </p:spPr>
        <p:txBody>
          <a:bodyPr vert="horz" wrap="square" lIns="91434" tIns="45717" rIns="91434" bIns="45717" anchor="ctr" anchorCtr="0"/>
          <a:lstStyle/>
          <a:p>
            <a:pPr eaLnBrk="1" hangingPunct="1"/>
            <a:r>
              <a:rPr lang="en-US" altLang="en-US" sz="2200" b="1" dirty="0">
                <a:solidFill>
                  <a:srgbClr val="990033"/>
                </a:solidFill>
                <a:latin typeface="Tahoma" panose="020B0604030504040204" pitchFamily="34" charset="0"/>
                <a:cs typeface="Tahoma" panose="020B0604030504040204" pitchFamily="34" charset="0"/>
              </a:rPr>
              <a:t>Kegunaan Angka Kematian Bayi, Neonatal, Post Neo Natal, anak dan Balita </a:t>
            </a:r>
            <a:endParaRPr lang="id-ID" altLang="en-US" sz="2200" b="1" dirty="0">
              <a:solidFill>
                <a:srgbClr val="990033"/>
              </a:solidFill>
            </a:endParaRPr>
          </a:p>
        </p:txBody>
      </p:sp>
      <p:sp>
        <p:nvSpPr>
          <p:cNvPr id="25603" name="Content Placeholder 2"/>
          <p:cNvSpPr>
            <a:spLocks noGrp="1"/>
          </p:cNvSpPr>
          <p:nvPr>
            <p:ph idx="1"/>
          </p:nvPr>
        </p:nvSpPr>
        <p:spPr>
          <a:xfrm>
            <a:off x="2011045" y="1860550"/>
            <a:ext cx="8458200" cy="4726305"/>
          </a:xfrm>
        </p:spPr>
        <p:txBody>
          <a:bodyPr vert="horz" wrap="square" lIns="91434" tIns="45717" rIns="91434" bIns="45717" anchor="t" anchorCtr="0"/>
          <a:lstStyle/>
          <a:p>
            <a:pPr eaLnBrk="1" hangingPunct="1">
              <a:lnSpc>
                <a:spcPct val="100000"/>
              </a:lnSpc>
              <a:spcBef>
                <a:spcPts val="1200"/>
              </a:spcBef>
              <a:spcAft>
                <a:spcPts val="1200"/>
              </a:spcAft>
            </a:pPr>
            <a:r>
              <a:rPr lang="en-US" altLang="en-US" sz="2200" dirty="0">
                <a:latin typeface="Tahoma" panose="020B0604030504040204" pitchFamily="34" charset="0"/>
                <a:cs typeface="Tahoma" panose="020B0604030504040204" pitchFamily="34" charset="0"/>
              </a:rPr>
              <a:t>Program untuk mengurangi angka kematian neo-natal adalah bersangkutan dengan program </a:t>
            </a:r>
            <a:r>
              <a:rPr lang="en-US" altLang="en-US" sz="2200" dirty="0">
                <a:solidFill>
                  <a:srgbClr val="CC9900"/>
                </a:solidFill>
                <a:latin typeface="Tahoma" panose="020B0604030504040204" pitchFamily="34" charset="0"/>
                <a:cs typeface="Tahoma" panose="020B0604030504040204" pitchFamily="34" charset="0"/>
              </a:rPr>
              <a:t>pelayanan kesehatan ibu hamil</a:t>
            </a:r>
            <a:r>
              <a:rPr lang="en-US" altLang="en-US" sz="2200" dirty="0">
                <a:latin typeface="Tahoma" panose="020B0604030504040204" pitchFamily="34" charset="0"/>
                <a:cs typeface="Tahoma" panose="020B0604030504040204" pitchFamily="34" charset="0"/>
              </a:rPr>
              <a:t>, misalnya program </a:t>
            </a:r>
            <a:r>
              <a:rPr lang="en-US" altLang="en-US" sz="2200" dirty="0">
                <a:solidFill>
                  <a:srgbClr val="008000"/>
                </a:solidFill>
                <a:latin typeface="Tahoma" panose="020B0604030504040204" pitchFamily="34" charset="0"/>
                <a:cs typeface="Tahoma" panose="020B0604030504040204" pitchFamily="34" charset="0"/>
              </a:rPr>
              <a:t>pemberian pil besi</a:t>
            </a:r>
            <a:r>
              <a:rPr lang="en-US" altLang="en-US" sz="2200" dirty="0">
                <a:latin typeface="Tahoma" panose="020B0604030504040204" pitchFamily="34" charset="0"/>
                <a:cs typeface="Tahoma" panose="020B0604030504040204" pitchFamily="34" charset="0"/>
              </a:rPr>
              <a:t> dan </a:t>
            </a:r>
            <a:r>
              <a:rPr lang="en-US" altLang="en-US" sz="2200" dirty="0">
                <a:solidFill>
                  <a:srgbClr val="0070C0"/>
                </a:solidFill>
                <a:latin typeface="Tahoma" panose="020B0604030504040204" pitchFamily="34" charset="0"/>
                <a:cs typeface="Tahoma" panose="020B0604030504040204" pitchFamily="34" charset="0"/>
              </a:rPr>
              <a:t>suntikan anti tetanus</a:t>
            </a:r>
            <a:r>
              <a:rPr lang="en-US" altLang="en-US" sz="2200" dirty="0">
                <a:latin typeface="Tahoma" panose="020B0604030504040204" pitchFamily="34" charset="0"/>
                <a:cs typeface="Tahoma" panose="020B0604030504040204" pitchFamily="34" charset="0"/>
              </a:rPr>
              <a:t>. </a:t>
            </a:r>
            <a:endParaRPr lang="id-ID" altLang="en-US" sz="2200" dirty="0">
              <a:latin typeface="Tahoma" panose="020B0604030504040204" pitchFamily="34" charset="0"/>
              <a:cs typeface="Tahoma" panose="020B0604030504040204" pitchFamily="34" charset="0"/>
            </a:endParaRPr>
          </a:p>
          <a:p>
            <a:pPr eaLnBrk="1" hangingPunct="1">
              <a:lnSpc>
                <a:spcPct val="100000"/>
              </a:lnSpc>
              <a:spcBef>
                <a:spcPts val="1200"/>
              </a:spcBef>
              <a:spcAft>
                <a:spcPts val="1200"/>
              </a:spcAft>
            </a:pPr>
            <a:r>
              <a:rPr lang="en-US" altLang="en-US" sz="2200" dirty="0">
                <a:latin typeface="Tahoma" panose="020B0604030504040204" pitchFamily="34" charset="0"/>
                <a:cs typeface="Tahoma" panose="020B0604030504040204" pitchFamily="34" charset="0"/>
              </a:rPr>
              <a:t>Angka Kematian Post-NeoNatal dan Angka Kematian Anak serta Kematian Balita berguna untuk:</a:t>
            </a:r>
          </a:p>
          <a:p>
            <a:pPr eaLnBrk="1" hangingPunct="1">
              <a:lnSpc>
                <a:spcPct val="100000"/>
              </a:lnSpc>
              <a:spcBef>
                <a:spcPts val="600"/>
              </a:spcBef>
              <a:spcAft>
                <a:spcPts val="600"/>
              </a:spcAft>
              <a:buNone/>
            </a:pPr>
            <a:r>
              <a:rPr lang="en-US" altLang="en-US" sz="2200" dirty="0">
                <a:latin typeface="Tahoma" panose="020B0604030504040204" pitchFamily="34" charset="0"/>
                <a:cs typeface="Tahoma" panose="020B0604030504040204" pitchFamily="34" charset="0"/>
              </a:rPr>
              <a:t>	- mengembangkan program </a:t>
            </a:r>
            <a:r>
              <a:rPr lang="en-US" altLang="en-US" sz="2200" dirty="0">
                <a:solidFill>
                  <a:schemeClr val="tx2"/>
                </a:solidFill>
                <a:latin typeface="Tahoma" panose="020B0604030504040204" pitchFamily="34" charset="0"/>
                <a:cs typeface="Tahoma" panose="020B0604030504040204" pitchFamily="34" charset="0"/>
              </a:rPr>
              <a:t>imunisasi</a:t>
            </a:r>
            <a:r>
              <a:rPr lang="en-US" altLang="en-US" sz="2200" dirty="0">
                <a:latin typeface="Tahoma" panose="020B0604030504040204" pitchFamily="34" charset="0"/>
                <a:cs typeface="Tahoma" panose="020B0604030504040204" pitchFamily="34" charset="0"/>
              </a:rPr>
              <a:t>, </a:t>
            </a:r>
          </a:p>
          <a:p>
            <a:pPr eaLnBrk="1" hangingPunct="1">
              <a:lnSpc>
                <a:spcPct val="100000"/>
              </a:lnSpc>
              <a:spcBef>
                <a:spcPts val="600"/>
              </a:spcBef>
              <a:spcAft>
                <a:spcPts val="600"/>
              </a:spcAft>
              <a:buNone/>
            </a:pPr>
            <a:r>
              <a:rPr lang="en-US" altLang="en-US" sz="2200" dirty="0">
                <a:latin typeface="Tahoma" panose="020B0604030504040204" pitchFamily="34" charset="0"/>
                <a:cs typeface="Tahoma" panose="020B0604030504040204" pitchFamily="34" charset="0"/>
              </a:rPr>
              <a:t>	- Program </a:t>
            </a:r>
            <a:r>
              <a:rPr lang="en-US" altLang="en-US" sz="2200" dirty="0">
                <a:solidFill>
                  <a:schemeClr val="tx2"/>
                </a:solidFill>
                <a:latin typeface="Tahoma" panose="020B0604030504040204" pitchFamily="34" charset="0"/>
                <a:cs typeface="Tahoma" panose="020B0604030504040204" pitchFamily="34" charset="0"/>
              </a:rPr>
              <a:t>pencegahan penyakit menular terutama anak,</a:t>
            </a:r>
          </a:p>
          <a:p>
            <a:pPr eaLnBrk="1" hangingPunct="1">
              <a:lnSpc>
                <a:spcPct val="100000"/>
              </a:lnSpc>
              <a:spcBef>
                <a:spcPts val="600"/>
              </a:spcBef>
              <a:spcAft>
                <a:spcPts val="600"/>
              </a:spcAft>
              <a:buNone/>
            </a:pPr>
            <a:r>
              <a:rPr lang="en-US" altLang="en-US" sz="2200" dirty="0">
                <a:solidFill>
                  <a:schemeClr val="tx2"/>
                </a:solidFill>
                <a:latin typeface="Tahoma" panose="020B0604030504040204" pitchFamily="34" charset="0"/>
                <a:cs typeface="Tahoma" panose="020B0604030504040204" pitchFamily="34" charset="0"/>
              </a:rPr>
              <a:t>	- Program penerangan tentang gizi, dan </a:t>
            </a:r>
          </a:p>
          <a:p>
            <a:pPr eaLnBrk="1" hangingPunct="1">
              <a:lnSpc>
                <a:spcPct val="100000"/>
              </a:lnSpc>
              <a:spcBef>
                <a:spcPts val="600"/>
              </a:spcBef>
              <a:spcAft>
                <a:spcPts val="600"/>
              </a:spcAft>
              <a:buNone/>
            </a:pPr>
            <a:r>
              <a:rPr lang="en-US" altLang="en-US" sz="2200" dirty="0">
                <a:latin typeface="Tahoma" panose="020B0604030504040204" pitchFamily="34" charset="0"/>
                <a:cs typeface="Tahoma" panose="020B0604030504040204" pitchFamily="34" charset="0"/>
              </a:rPr>
              <a:t>	- </a:t>
            </a:r>
            <a:r>
              <a:rPr lang="en-US" altLang="en-US" sz="2200" dirty="0">
                <a:solidFill>
                  <a:schemeClr val="tx2"/>
                </a:solidFill>
                <a:latin typeface="Tahoma" panose="020B0604030504040204" pitchFamily="34" charset="0"/>
                <a:cs typeface="Tahoma" panose="020B0604030504040204" pitchFamily="34" charset="0"/>
              </a:rPr>
              <a:t>Pemberian makanan sehat untuk anak dibawah usia 5 th</a:t>
            </a:r>
            <a:endParaRPr lang="id-ID" altLang="en-US" sz="2200" dirty="0">
              <a:solidFill>
                <a:schemeClr val="tx2"/>
              </a:solidFill>
              <a:latin typeface="Tahoma" panose="020B0604030504040204" pitchFamily="34" charset="0"/>
              <a:ea typeface="Tahoma" panose="020B0604030504040204" pitchFamily="34" charset="0"/>
            </a:endParaRPr>
          </a:p>
        </p:txBody>
      </p:sp>
      <p:sp>
        <p:nvSpPr>
          <p:cNvPr id="5" name="Rectangle 4"/>
          <p:cNvSpPr/>
          <p:nvPr/>
        </p:nvSpPr>
        <p:spPr>
          <a:xfrm>
            <a:off x="1255395" y="198120"/>
            <a:ext cx="9680575" cy="645160"/>
          </a:xfrm>
          <a:prstGeom prst="rect">
            <a:avLst/>
          </a:prstGeom>
        </p:spPr>
        <p:txBody>
          <a:bodyPr wrap="square">
            <a:spAutoFit/>
          </a:bodyPr>
          <a:lstStyle/>
          <a:p>
            <a:r>
              <a:rPr lang="id-ID" sz="3600" b="1" dirty="0"/>
              <a:t>Angka Kematian </a:t>
            </a:r>
            <a:r>
              <a:rPr lang="en-US" altLang="id-ID" sz="3600" b="1" dirty="0"/>
              <a:t>Bayi </a:t>
            </a:r>
          </a:p>
        </p:txBody>
      </p:sp>
      <p:pic>
        <p:nvPicPr>
          <p:cNvPr id="38" name="Picture 37" descr="A picture containing drawing, device  Description automatically generated"/>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Balita, Anak, Bayi dan Neonatal </a:t>
            </a:r>
          </a:p>
        </p:txBody>
      </p:sp>
      <p:sp>
        <p:nvSpPr>
          <p:cNvPr id="2" name="Text Box 1"/>
          <p:cNvSpPr txBox="1"/>
          <p:nvPr/>
        </p:nvSpPr>
        <p:spPr>
          <a:xfrm>
            <a:off x="570230" y="1122680"/>
            <a:ext cx="4191635" cy="4838700"/>
          </a:xfrm>
          <a:prstGeom prst="rect">
            <a:avLst/>
          </a:prstGeom>
          <a:solidFill>
            <a:schemeClr val="accent4">
              <a:lumMod val="20000"/>
              <a:lumOff val="80000"/>
            </a:schemeClr>
          </a:solidFill>
        </p:spPr>
        <p:txBody>
          <a:bodyPr wrap="square" rtlCol="0" anchor="t">
            <a:noAutofit/>
          </a:bodyPr>
          <a:lstStyle/>
          <a:p>
            <a:endParaRPr lang="en-US"/>
          </a:p>
          <a:p>
            <a:pPr indent="0">
              <a:buFont typeface="Arial" panose="020B0604020202020204" pitchFamily="34" charset="0"/>
              <a:buNone/>
            </a:pPr>
            <a:r>
              <a:rPr lang="en-US" sz="2200"/>
              <a:t>Berikut ini </a:t>
            </a:r>
            <a:r>
              <a:rPr lang="en-US" sz="2200">
                <a:sym typeface="+mn-ea"/>
              </a:rPr>
              <a:t>angka kematian Penduduk Usia Dini berdasarkan SP 2020:</a:t>
            </a:r>
            <a:endParaRPr lang="en-US" sz="2200"/>
          </a:p>
          <a:p>
            <a:pPr marL="342900" indent="-342900">
              <a:lnSpc>
                <a:spcPct val="100000"/>
              </a:lnSpc>
              <a:spcBef>
                <a:spcPts val="1200"/>
              </a:spcBef>
              <a:spcAft>
                <a:spcPts val="1200"/>
              </a:spcAft>
              <a:buFont typeface="Arial" panose="020B0604020202020204" pitchFamily="34" charset="0"/>
              <a:buChar char="•"/>
            </a:pPr>
            <a:r>
              <a:rPr lang="en-US" sz="2200"/>
              <a:t>Anak Usia 0-28 hari(Neonatal): 9,3 anak per 1.000 kelahiran</a:t>
            </a:r>
          </a:p>
          <a:p>
            <a:pPr marL="342900" indent="-342900">
              <a:lnSpc>
                <a:spcPct val="100000"/>
              </a:lnSpc>
              <a:spcBef>
                <a:spcPts val="1200"/>
              </a:spcBef>
              <a:spcAft>
                <a:spcPts val="1200"/>
              </a:spcAft>
              <a:buFont typeface="Arial" panose="020B0604020202020204" pitchFamily="34" charset="0"/>
              <a:buChar char="•"/>
            </a:pPr>
            <a:r>
              <a:rPr lang="en-US" sz="2200"/>
              <a:t>Anak Usia 1-4 Tahun: 2,98 anak per 1.000 kelahiran</a:t>
            </a:r>
          </a:p>
          <a:p>
            <a:pPr marL="342900" indent="-342900">
              <a:lnSpc>
                <a:spcPct val="100000"/>
              </a:lnSpc>
              <a:spcBef>
                <a:spcPts val="1200"/>
              </a:spcBef>
              <a:spcAft>
                <a:spcPts val="1200"/>
              </a:spcAft>
              <a:buFont typeface="Arial" panose="020B0604020202020204" pitchFamily="34" charset="0"/>
              <a:buChar char="•"/>
            </a:pPr>
            <a:r>
              <a:rPr lang="en-US" sz="2200"/>
              <a:t>Balita (kurang dari 5 tahun): 19,83 anak per 1.000 kelahiran</a:t>
            </a:r>
          </a:p>
        </p:txBody>
      </p:sp>
      <p:pic>
        <p:nvPicPr>
          <p:cNvPr id="3" name="Content Placeholder 2"/>
          <p:cNvPicPr>
            <a:picLocks noGrp="1" noChangeAspect="1"/>
          </p:cNvPicPr>
          <p:nvPr>
            <p:ph sz="half" idx="1"/>
          </p:nvPr>
        </p:nvPicPr>
        <p:blipFill>
          <a:blip r:embed="rId2"/>
          <a:srcRect l="35692" t="43952" r="21253" b="22244"/>
          <a:stretch>
            <a:fillRect/>
          </a:stretch>
        </p:blipFill>
        <p:spPr>
          <a:xfrm>
            <a:off x="5474970" y="2162810"/>
            <a:ext cx="5730240" cy="3223260"/>
          </a:xfrm>
          <a:prstGeom prst="rect">
            <a:avLst/>
          </a:prstGeom>
          <a:ln>
            <a:solidFill>
              <a:schemeClr val="tx1"/>
            </a:solidFill>
          </a:ln>
        </p:spPr>
      </p:pic>
      <p:sp>
        <p:nvSpPr>
          <p:cNvPr id="6" name="Text Box 5"/>
          <p:cNvSpPr txBox="1"/>
          <p:nvPr/>
        </p:nvSpPr>
        <p:spPr>
          <a:xfrm>
            <a:off x="5217160" y="1280795"/>
            <a:ext cx="6383020" cy="645160"/>
          </a:xfrm>
          <a:prstGeom prst="rect">
            <a:avLst/>
          </a:prstGeom>
          <a:noFill/>
        </p:spPr>
        <p:txBody>
          <a:bodyPr wrap="square" rtlCol="0">
            <a:spAutoFit/>
          </a:bodyPr>
          <a:lstStyle/>
          <a:p>
            <a:r>
              <a:rPr lang="en-US" b="1">
                <a:sym typeface="+mn-ea"/>
              </a:rPr>
              <a:t>Angka Kematian Penduduk Usia Dini berdasarkan Hasil SP 2020:</a:t>
            </a:r>
            <a:endParaRPr lang="en-US" b="1"/>
          </a:p>
          <a:p>
            <a:endParaRPr lang="en-US" b="1"/>
          </a:p>
        </p:txBody>
      </p:sp>
      <p:pic>
        <p:nvPicPr>
          <p:cNvPr id="38" name="Content Placeholder 37" descr="A picture containing drawing, device  Description automatically generated"/>
          <p:cNvPicPr>
            <a:picLocks noGrp="1" noChangeAspect="1"/>
          </p:cNvPicPr>
          <p:nvPr>
            <p:ph sz="half" idx="2"/>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56655"/>
            <a:ext cx="12192000" cy="6007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Rectangle 4"/>
          <p:cNvSpPr/>
          <p:nvPr/>
        </p:nvSpPr>
        <p:spPr>
          <a:xfrm>
            <a:off x="1167130" y="182245"/>
            <a:ext cx="9680575" cy="645160"/>
          </a:xfrm>
          <a:prstGeom prst="rect">
            <a:avLst/>
          </a:prstGeom>
        </p:spPr>
        <p:txBody>
          <a:bodyPr wrap="square">
            <a:spAutoFit/>
          </a:bodyPr>
          <a:lstStyle/>
          <a:p>
            <a:r>
              <a:rPr lang="id-ID" sz="3600" b="1" dirty="0"/>
              <a:t>Angka Kematian </a:t>
            </a:r>
            <a:r>
              <a:rPr lang="en-US" altLang="id-ID" sz="3600" b="1" dirty="0"/>
              <a:t>Balita, Anak, Bayi dan Neonatal </a:t>
            </a:r>
          </a:p>
        </p:txBody>
      </p:sp>
      <p:pic>
        <p:nvPicPr>
          <p:cNvPr id="100" name="Content Placeholder 99"/>
          <p:cNvPicPr>
            <a:picLocks noGrp="1" noChangeAspect="1"/>
          </p:cNvPicPr>
          <p:nvPr>
            <p:ph sz="half" idx="1"/>
          </p:nvPr>
        </p:nvPicPr>
        <p:blipFill>
          <a:blip r:embed="rId2"/>
          <a:stretch>
            <a:fillRect/>
          </a:stretch>
        </p:blipFill>
        <p:spPr>
          <a:xfrm>
            <a:off x="838200" y="2105660"/>
            <a:ext cx="5181600" cy="3790950"/>
          </a:xfrm>
          <a:prstGeom prst="rect">
            <a:avLst/>
          </a:prstGeom>
          <a:noFill/>
          <a:ln w="9525">
            <a:noFill/>
          </a:ln>
        </p:spPr>
      </p:pic>
      <p:pic>
        <p:nvPicPr>
          <p:cNvPr id="7" name="Content Placeholder 6"/>
          <p:cNvPicPr>
            <a:picLocks noGrp="1" noChangeAspect="1"/>
          </p:cNvPicPr>
          <p:nvPr>
            <p:ph sz="half" idx="2"/>
          </p:nvPr>
        </p:nvPicPr>
        <p:blipFill>
          <a:blip r:embed="rId3"/>
          <a:srcRect l="13813" t="17503" r="39862" b="29108"/>
          <a:stretch>
            <a:fillRect/>
          </a:stretch>
        </p:blipFill>
        <p:spPr>
          <a:xfrm>
            <a:off x="2312670" y="1574800"/>
            <a:ext cx="6792595" cy="4403090"/>
          </a:xfrm>
          <a:prstGeom prst="rect">
            <a:avLst/>
          </a:prstGeom>
          <a:ln>
            <a:solidFill>
              <a:schemeClr val="tx1"/>
            </a:solidFill>
          </a:ln>
        </p:spPr>
      </p:pic>
      <p:sp>
        <p:nvSpPr>
          <p:cNvPr id="9" name="Text Box 8"/>
          <p:cNvSpPr txBox="1"/>
          <p:nvPr/>
        </p:nvSpPr>
        <p:spPr>
          <a:xfrm>
            <a:off x="2521585" y="1061720"/>
            <a:ext cx="6139815" cy="398780"/>
          </a:xfrm>
          <a:prstGeom prst="rect">
            <a:avLst/>
          </a:prstGeom>
          <a:noFill/>
        </p:spPr>
        <p:txBody>
          <a:bodyPr wrap="square" rtlCol="0">
            <a:spAutoFit/>
          </a:bodyPr>
          <a:lstStyle/>
          <a:p>
            <a:r>
              <a:rPr lang="en-US" sz="2000" b="1"/>
              <a:t>Tren Angka Kematian Bayi menurut Sensus 1971 - 2020</a:t>
            </a:r>
          </a:p>
        </p:txBody>
      </p:sp>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
        <p:nvSpPr>
          <p:cNvPr id="5" name="Rectangle 4"/>
          <p:cNvSpPr/>
          <p:nvPr/>
        </p:nvSpPr>
        <p:spPr>
          <a:xfrm>
            <a:off x="693175" y="571309"/>
            <a:ext cx="3569110" cy="5647700"/>
          </a:xfrm>
          <a:prstGeom prst="rect">
            <a:avLst/>
          </a:prstGeom>
        </p:spPr>
        <p:txBody>
          <a:bodyPr wrap="square">
            <a:spAutoFit/>
          </a:bodyPr>
          <a:lstStyle/>
          <a:p>
            <a:r>
              <a:rPr lang="id-ID" sz="2400" b="1" dirty="0"/>
              <a:t>Penyakit menular paling mematikan dari waktu ke waktu</a:t>
            </a:r>
          </a:p>
          <a:p>
            <a:pPr marL="342900" indent="-342900">
              <a:spcBef>
                <a:spcPts val="600"/>
              </a:spcBef>
              <a:spcAft>
                <a:spcPts val="600"/>
              </a:spcAft>
              <a:buFont typeface="Wingdings" panose="05000000000000000000" pitchFamily="2" charset="2"/>
              <a:buChar char="§"/>
            </a:pPr>
            <a:r>
              <a:rPr lang="id-ID" sz="2200" dirty="0"/>
              <a:t>Grafik menunjukkan jumlah kematian tahunan akibat beberapa penyakit menular paling mematikan di kalangan anak-anak.</a:t>
            </a:r>
          </a:p>
          <a:p>
            <a:pPr marL="342900" indent="-342900">
              <a:spcBef>
                <a:spcPts val="600"/>
              </a:spcBef>
              <a:spcAft>
                <a:spcPts val="600"/>
              </a:spcAft>
              <a:buFont typeface="Wingdings" panose="05000000000000000000" pitchFamily="2" charset="2"/>
              <a:buChar char="§"/>
            </a:pPr>
            <a:r>
              <a:rPr lang="id-ID" sz="2200" dirty="0"/>
              <a:t>Kematian yang disebabkan oleh malaria dan HIV/AIDS meningkat tahun 1990an. </a:t>
            </a:r>
          </a:p>
          <a:p>
            <a:pPr marL="342900" indent="-342900">
              <a:spcBef>
                <a:spcPts val="600"/>
              </a:spcBef>
              <a:spcAft>
                <a:spcPts val="600"/>
              </a:spcAft>
              <a:buFont typeface="Wingdings" panose="05000000000000000000" pitchFamily="2" charset="2"/>
              <a:buChar char="§"/>
            </a:pPr>
            <a:r>
              <a:rPr lang="id-ID" sz="2200" dirty="0"/>
              <a:t>Sejak tahun 2005 dan seterusnya, jumlah kematian akibat penyakit ini telah menurun.</a:t>
            </a:r>
          </a:p>
        </p:txBody>
      </p:sp>
      <p:pic>
        <p:nvPicPr>
          <p:cNvPr id="6" name="Picture 5"/>
          <p:cNvPicPr>
            <a:picLocks noChangeAspect="1"/>
          </p:cNvPicPr>
          <p:nvPr/>
        </p:nvPicPr>
        <p:blipFill rotWithShape="1">
          <a:blip r:embed="rId4"/>
          <a:srcRect l="6875" t="24151" r="48750" b="8331"/>
          <a:stretch>
            <a:fillRect/>
          </a:stretch>
        </p:blipFill>
        <p:spPr>
          <a:xfrm>
            <a:off x="5219700" y="294968"/>
            <a:ext cx="6642742" cy="5685313"/>
          </a:xfrm>
          <a:prstGeom prst="rect">
            <a:avLst/>
          </a:prstGeom>
          <a:ln>
            <a:solidFill>
              <a:schemeClr val="tx1"/>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pic>
        <p:nvPicPr>
          <p:cNvPr id="2" name="Picture 1"/>
          <p:cNvPicPr>
            <a:picLocks noChangeAspect="1"/>
          </p:cNvPicPr>
          <p:nvPr/>
        </p:nvPicPr>
        <p:blipFill rotWithShape="1">
          <a:blip r:embed="rId4"/>
          <a:srcRect l="20323" t="13763" r="24154" b="11030"/>
          <a:stretch>
            <a:fillRect/>
          </a:stretch>
        </p:blipFill>
        <p:spPr>
          <a:xfrm>
            <a:off x="3799332" y="72467"/>
            <a:ext cx="8082117" cy="6157689"/>
          </a:xfrm>
          <a:prstGeom prst="rect">
            <a:avLst/>
          </a:prstGeom>
        </p:spPr>
      </p:pic>
      <p:sp>
        <p:nvSpPr>
          <p:cNvPr id="4" name="Rectangle 3"/>
          <p:cNvSpPr/>
          <p:nvPr/>
        </p:nvSpPr>
        <p:spPr>
          <a:xfrm>
            <a:off x="310550" y="349597"/>
            <a:ext cx="3214315" cy="4401205"/>
          </a:xfrm>
          <a:prstGeom prst="rect">
            <a:avLst/>
          </a:prstGeom>
        </p:spPr>
        <p:txBody>
          <a:bodyPr wrap="square">
            <a:spAutoFit/>
          </a:bodyPr>
          <a:lstStyle/>
          <a:p>
            <a:r>
              <a:rPr lang="id-ID" sz="2000" b="1" dirty="0"/>
              <a:t>Angka Harapan Hidup (AHH)</a:t>
            </a:r>
          </a:p>
          <a:p>
            <a:pPr marL="342900" indent="-342900">
              <a:buFont typeface="Arial" panose="020B0604020202020204" pitchFamily="34" charset="0"/>
              <a:buChar char="•"/>
            </a:pPr>
            <a:r>
              <a:rPr lang="id-ID" sz="2000" dirty="0"/>
              <a:t>Untuk memahami kesehatan suatu populasi, dapat dilakukan dengan melihat angka harapan hidup (saat lahir).</a:t>
            </a:r>
          </a:p>
          <a:p>
            <a:r>
              <a:rPr lang="id-ID" sz="2000" dirty="0"/>
              <a:t> </a:t>
            </a:r>
          </a:p>
          <a:p>
            <a:pPr marL="342900" indent="-342900">
              <a:buFont typeface="Arial" panose="020B0604020202020204" pitchFamily="34" charset="0"/>
              <a:buChar char="•"/>
            </a:pPr>
            <a:r>
              <a:rPr lang="id-ID" sz="2000" dirty="0"/>
              <a:t>Peta menunjukkan tahun 2021 AHH di beberapa negara Sub-</a:t>
            </a:r>
            <a:r>
              <a:rPr lang="id-ID" sz="2000" dirty="0" err="1"/>
              <a:t>Saharan</a:t>
            </a:r>
            <a:r>
              <a:rPr lang="id-ID" sz="2000" dirty="0"/>
              <a:t> adalah 60 tahun, dibandingkan beberapa negara yang mencapai di atas 80 </a:t>
            </a:r>
            <a:r>
              <a:rPr lang="id-ID" sz="2000" dirty="0" err="1"/>
              <a:t>th</a:t>
            </a:r>
            <a:r>
              <a:rPr lang="id-ID" sz="2000" dirty="0"/>
              <a:t> seperti Jepang.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AutoShape 2" descr="https://sdgs.bappenas.go.id/website/wp-content/uploads/2023/12/GOAL_3_TARGET_3.7.svg"/>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id-ID"/>
          </a:p>
        </p:txBody>
      </p:sp>
      <p:sp>
        <p:nvSpPr>
          <p:cNvPr id="5" name="Rectangle 4"/>
          <p:cNvSpPr/>
          <p:nvPr/>
        </p:nvSpPr>
        <p:spPr>
          <a:xfrm>
            <a:off x="693175" y="571309"/>
            <a:ext cx="3569110" cy="4524315"/>
          </a:xfrm>
          <a:prstGeom prst="rect">
            <a:avLst/>
          </a:prstGeom>
        </p:spPr>
        <p:txBody>
          <a:bodyPr wrap="square">
            <a:spAutoFit/>
          </a:bodyPr>
          <a:lstStyle/>
          <a:p>
            <a:pPr marL="342900" indent="-342900">
              <a:buFont typeface="Arial" panose="020B0604020202020204" pitchFamily="34" charset="0"/>
              <a:buChar char="•"/>
            </a:pPr>
            <a:r>
              <a:rPr lang="id-ID" sz="2400" dirty="0"/>
              <a:t>Salah satu upaya meningkatkan derajat kesehatan Masyarakat adalah dengan Investasi kesehatan.</a:t>
            </a:r>
          </a:p>
          <a:p>
            <a:endParaRPr lang="id-ID" sz="2400" b="1" dirty="0"/>
          </a:p>
          <a:p>
            <a:pPr marL="342900" indent="-342900">
              <a:buFont typeface="Arial" panose="020B0604020202020204" pitchFamily="34" charset="0"/>
              <a:buChar char="•"/>
            </a:pPr>
            <a:r>
              <a:rPr lang="id-ID" sz="2400" dirty="0"/>
              <a:t>Gambar berikut menunjukkan adanya hubungan negatif antara pengeluaran kesehatan </a:t>
            </a:r>
            <a:r>
              <a:rPr lang="id-ID" sz="2400" dirty="0" err="1"/>
              <a:t>perkapita</a:t>
            </a:r>
            <a:r>
              <a:rPr lang="id-ID" sz="2400" dirty="0"/>
              <a:t> dengan kematian anak</a:t>
            </a:r>
          </a:p>
        </p:txBody>
      </p:sp>
      <p:pic>
        <p:nvPicPr>
          <p:cNvPr id="2" name="Picture 1"/>
          <p:cNvPicPr>
            <a:picLocks noChangeAspect="1"/>
          </p:cNvPicPr>
          <p:nvPr/>
        </p:nvPicPr>
        <p:blipFill rotWithShape="1">
          <a:blip r:embed="rId4"/>
          <a:srcRect l="6875" t="17420" r="46513" b="18065"/>
          <a:stretch>
            <a:fillRect/>
          </a:stretch>
        </p:blipFill>
        <p:spPr>
          <a:xfrm>
            <a:off x="4546982" y="281724"/>
            <a:ext cx="7364058" cy="5733333"/>
          </a:xfrm>
          <a:prstGeom prst="rect">
            <a:avLst/>
          </a:prstGeom>
          <a:ln>
            <a:solidFill>
              <a:schemeClr val="bg2">
                <a:lumMod val="50000"/>
              </a:schemeClr>
            </a:solid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sign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59750"/>
          <a:stretch>
            <a:fillRect/>
          </a:stretch>
        </p:blipFill>
        <p:spPr>
          <a:xfrm>
            <a:off x="20" y="10"/>
            <a:ext cx="4580077" cy="6400784"/>
          </a:xfrm>
          <a:prstGeom prst="rect">
            <a:avLst/>
          </a:prstGeom>
        </p:spPr>
      </p:pic>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Rectangle 2"/>
          <p:cNvSpPr/>
          <p:nvPr/>
        </p:nvSpPr>
        <p:spPr>
          <a:xfrm>
            <a:off x="5136125" y="444873"/>
            <a:ext cx="6426610" cy="2585323"/>
          </a:xfrm>
          <a:prstGeom prst="rect">
            <a:avLst/>
          </a:prstGeom>
        </p:spPr>
        <p:txBody>
          <a:bodyPr wrap="square">
            <a:spAutoFit/>
          </a:bodyPr>
          <a:lstStyle/>
          <a:p>
            <a:r>
              <a:rPr lang="id-ID" sz="5400" b="1" dirty="0"/>
              <a:t>Kesehatan Reproduksi dan Keluarga Berencana</a:t>
            </a:r>
          </a:p>
        </p:txBody>
      </p:sp>
      <p:pic>
        <p:nvPicPr>
          <p:cNvPr id="10" name="Picture 2" descr="Hidup Sehat Keluarga... - Hidup Sehat Keluarga Bahagi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1480" y="2937756"/>
            <a:ext cx="4962809" cy="32905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tangle 1"/>
          <p:cNvSpPr/>
          <p:nvPr/>
        </p:nvSpPr>
        <p:spPr>
          <a:xfrm>
            <a:off x="1381432" y="794300"/>
            <a:ext cx="9972367" cy="1339662"/>
          </a:xfrm>
          <a:prstGeom prst="rect">
            <a:avLst/>
          </a:prstGeom>
        </p:spPr>
        <p:txBody>
          <a:bodyPr wrap="square">
            <a:spAutoFit/>
          </a:bodyPr>
          <a:lstStyle/>
          <a:p>
            <a:pPr>
              <a:lnSpc>
                <a:spcPct val="115000"/>
              </a:lnSpc>
              <a:spcAft>
                <a:spcPts val="0"/>
              </a:spcAft>
            </a:pPr>
            <a:r>
              <a:rPr lang="en-US" sz="2400" b="1" dirty="0" err="1">
                <a:latin typeface="Times New Roman" panose="02020603050405020304" charset="0"/>
                <a:ea typeface="Times New Roman" panose="02020603050405020304" charset="0"/>
                <a:cs typeface="Times New Roman" panose="02020603050405020304" charset="0"/>
              </a:rPr>
              <a:t>Kesehatan</a:t>
            </a:r>
            <a:r>
              <a:rPr lang="en-US" sz="2400" b="1" dirty="0">
                <a:latin typeface="Times New Roman" panose="02020603050405020304" charset="0"/>
                <a:ea typeface="Times New Roman" panose="02020603050405020304" charset="0"/>
                <a:cs typeface="Times New Roman" panose="02020603050405020304" charset="0"/>
              </a:rPr>
              <a:t> </a:t>
            </a:r>
            <a:r>
              <a:rPr lang="en-US" sz="2400" b="1" dirty="0" err="1">
                <a:latin typeface="Times New Roman" panose="02020603050405020304" charset="0"/>
                <a:ea typeface="Times New Roman" panose="02020603050405020304" charset="0"/>
                <a:cs typeface="Times New Roman" panose="02020603050405020304" charset="0"/>
              </a:rPr>
              <a:t>Reproduksi</a:t>
            </a:r>
            <a:br>
              <a:rPr lang="en-US" sz="2400" dirty="0">
                <a:latin typeface="Times New Roman" panose="02020603050405020304" charset="0"/>
                <a:ea typeface="Times New Roman" panose="02020603050405020304" charset="0"/>
                <a:cs typeface="Times New Roman" panose="02020603050405020304" charset="0"/>
              </a:rPr>
            </a:br>
            <a:r>
              <a:rPr lang="en-US" sz="2400" dirty="0" err="1">
                <a:latin typeface="Times New Roman" panose="02020603050405020304" charset="0"/>
                <a:ea typeface="Times New Roman" panose="02020603050405020304" charset="0"/>
                <a:cs typeface="Times New Roman" panose="02020603050405020304" charset="0"/>
              </a:rPr>
              <a:t>Kesehatan</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Reproduksi</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adalah</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keadaan</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sejahtera</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fisik</a:t>
            </a:r>
            <a:r>
              <a:rPr lang="en-US" sz="2400" dirty="0">
                <a:latin typeface="Times New Roman" panose="02020603050405020304" charset="0"/>
                <a:ea typeface="Times New Roman" panose="02020603050405020304" charset="0"/>
                <a:cs typeface="Times New Roman" panose="02020603050405020304" charset="0"/>
              </a:rPr>
              <a:t>, mental dan </a:t>
            </a:r>
            <a:r>
              <a:rPr lang="en-US" sz="2400" dirty="0" err="1">
                <a:latin typeface="Times New Roman" panose="02020603050405020304" charset="0"/>
                <a:ea typeface="Times New Roman" panose="02020603050405020304" charset="0"/>
                <a:cs typeface="Times New Roman" panose="02020603050405020304" charset="0"/>
              </a:rPr>
              <a:t>sosial</a:t>
            </a:r>
            <a:r>
              <a:rPr lang="en-US" sz="2400" dirty="0">
                <a:latin typeface="Times New Roman" panose="02020603050405020304" charset="0"/>
                <a:ea typeface="Times New Roman" panose="02020603050405020304" charset="0"/>
                <a:cs typeface="Times New Roman" panose="02020603050405020304" charset="0"/>
              </a:rPr>
              <a:t> yang </a:t>
            </a:r>
            <a:r>
              <a:rPr lang="en-US" sz="2400" dirty="0" err="1">
                <a:latin typeface="Times New Roman" panose="02020603050405020304" charset="0"/>
                <a:ea typeface="Times New Roman" panose="02020603050405020304" charset="0"/>
                <a:cs typeface="Times New Roman" panose="02020603050405020304" charset="0"/>
              </a:rPr>
              <a:t>utuh</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dalam</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segala</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hal</a:t>
            </a:r>
            <a:r>
              <a:rPr lang="en-US" sz="2400" dirty="0">
                <a:latin typeface="Times New Roman" panose="02020603050405020304" charset="0"/>
                <a:ea typeface="Times New Roman" panose="02020603050405020304" charset="0"/>
                <a:cs typeface="Times New Roman" panose="02020603050405020304" charset="0"/>
              </a:rPr>
              <a:t> yang </a:t>
            </a:r>
            <a:r>
              <a:rPr lang="en-US" sz="2400" dirty="0" err="1">
                <a:latin typeface="Times New Roman" panose="02020603050405020304" charset="0"/>
                <a:ea typeface="Times New Roman" panose="02020603050405020304" charset="0"/>
                <a:cs typeface="Times New Roman" panose="02020603050405020304" charset="0"/>
              </a:rPr>
              <a:t>berkaitan</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dengan</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fungsi</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peran</a:t>
            </a:r>
            <a:r>
              <a:rPr lang="en-US" sz="2400" dirty="0">
                <a:latin typeface="Times New Roman" panose="02020603050405020304" charset="0"/>
                <a:ea typeface="Times New Roman" panose="02020603050405020304" charset="0"/>
                <a:cs typeface="Times New Roman" panose="02020603050405020304" charset="0"/>
              </a:rPr>
              <a:t> &amp; </a:t>
            </a:r>
            <a:r>
              <a:rPr lang="en-US" sz="2400" dirty="0" err="1">
                <a:latin typeface="Times New Roman" panose="02020603050405020304" charset="0"/>
                <a:ea typeface="Times New Roman" panose="02020603050405020304" charset="0"/>
                <a:cs typeface="Times New Roman" panose="02020603050405020304" charset="0"/>
              </a:rPr>
              <a:t>sistem</a:t>
            </a:r>
            <a:r>
              <a:rPr lang="en-US" sz="2400" dirty="0">
                <a:latin typeface="Times New Roman" panose="02020603050405020304" charset="0"/>
                <a:ea typeface="Times New Roman" panose="02020603050405020304" charset="0"/>
                <a:cs typeface="Times New Roman" panose="02020603050405020304" charset="0"/>
              </a:rPr>
              <a:t> </a:t>
            </a:r>
            <a:r>
              <a:rPr lang="en-US" sz="2400" dirty="0" err="1">
                <a:latin typeface="Times New Roman" panose="02020603050405020304" charset="0"/>
                <a:ea typeface="Times New Roman" panose="02020603050405020304" charset="0"/>
                <a:cs typeface="Times New Roman" panose="02020603050405020304" charset="0"/>
              </a:rPr>
              <a:t>reproduksi</a:t>
            </a:r>
            <a:r>
              <a:rPr lang="en-US" sz="2400" dirty="0">
                <a:latin typeface="Times New Roman" panose="02020603050405020304" charset="0"/>
                <a:ea typeface="Times New Roman" panose="02020603050405020304" charset="0"/>
                <a:cs typeface="Times New Roman" panose="02020603050405020304" charset="0"/>
              </a:rPr>
              <a:t>.</a:t>
            </a:r>
            <a:endParaRPr lang="id-ID" sz="2400" dirty="0">
              <a:effectLst/>
              <a:latin typeface="Calibri" panose="020F0502020204030204" pitchFamily="34" charset="0"/>
              <a:ea typeface="Calibri" panose="020F0502020204030204" pitchFamily="34" charset="0"/>
              <a:cs typeface="Times New Roman" panose="02020603050405020304" charset="0"/>
            </a:endParaRPr>
          </a:p>
        </p:txBody>
      </p:sp>
      <p:sp>
        <p:nvSpPr>
          <p:cNvPr id="5" name="Rectangle 4"/>
          <p:cNvSpPr/>
          <p:nvPr/>
        </p:nvSpPr>
        <p:spPr>
          <a:xfrm>
            <a:off x="1381432" y="2459504"/>
            <a:ext cx="9792536" cy="1938992"/>
          </a:xfrm>
          <a:prstGeom prst="rect">
            <a:avLst/>
          </a:prstGeom>
        </p:spPr>
        <p:txBody>
          <a:bodyPr wrap="square">
            <a:spAutoFit/>
          </a:bodyPr>
          <a:lstStyle/>
          <a:p>
            <a:r>
              <a:rPr lang="id-ID" sz="2400" dirty="0">
                <a:latin typeface="Times New Roman" panose="02020603050405020304" charset="0"/>
                <a:cs typeface="Times New Roman" panose="02020603050405020304" charset="0"/>
              </a:rPr>
              <a:t>Perempuan di negara-negara berpendapatan rendah memiliki risiko kematian ibu yang tinggi. </a:t>
            </a:r>
            <a:r>
              <a:rPr lang="id-ID" sz="2400" dirty="0" err="1">
                <a:latin typeface="Times New Roman" panose="02020603050405020304" charset="0"/>
                <a:cs typeface="Times New Roman" panose="02020603050405020304" charset="0"/>
              </a:rPr>
              <a:t>Resiko</a:t>
            </a:r>
            <a:r>
              <a:rPr lang="id-ID" sz="2400" dirty="0">
                <a:latin typeface="Times New Roman" panose="02020603050405020304" charset="0"/>
                <a:cs typeface="Times New Roman" panose="02020603050405020304" charset="0"/>
              </a:rPr>
              <a:t> kematian perempuan berusia 15 tahun disebabkan karena kematian maternal. Di negara-negara berpendapatan tinggi, angka kematian ibu (maternal)  adalah 1 dari 5.300, sementara di negara-negara berpendapatan rendah 1 </a:t>
            </a:r>
            <a:r>
              <a:rPr lang="id-ID" sz="2400" dirty="0" err="1">
                <a:latin typeface="Times New Roman" panose="02020603050405020304" charset="0"/>
                <a:cs typeface="Times New Roman" panose="02020603050405020304" charset="0"/>
              </a:rPr>
              <a:t>diantara</a:t>
            </a:r>
            <a:r>
              <a:rPr lang="id-ID" sz="2400" dirty="0">
                <a:latin typeface="Times New Roman" panose="02020603050405020304" charset="0"/>
                <a:cs typeface="Times New Roman" panose="02020603050405020304" charset="0"/>
              </a:rPr>
              <a:t> 49 perempuan.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tangle 1"/>
          <p:cNvSpPr/>
          <p:nvPr/>
        </p:nvSpPr>
        <p:spPr>
          <a:xfrm>
            <a:off x="1081547" y="846277"/>
            <a:ext cx="9316065" cy="4524315"/>
          </a:xfrm>
          <a:prstGeom prst="rect">
            <a:avLst/>
          </a:prstGeom>
        </p:spPr>
        <p:txBody>
          <a:bodyPr wrap="square">
            <a:spAutoFit/>
          </a:bodyPr>
          <a:lstStyle/>
          <a:p>
            <a:pPr marL="342900" indent="-342900">
              <a:buFont typeface="Arial" panose="020B0604020202020204" pitchFamily="34" charset="0"/>
              <a:buChar char="•"/>
            </a:pPr>
            <a:r>
              <a:rPr lang="id-ID" sz="2400" dirty="0"/>
              <a:t>Perempuan meninggal akibat komplikasi selama dan setelah kehamilan dan persalinan dan sebagian besar dapat dicegah atau diobati. Komplikasi lain mungkin sudah ada sebelum kehamilan namun memburuk selama kehamilan. </a:t>
            </a:r>
          </a:p>
          <a:p>
            <a:pPr marL="342900" indent="-342900">
              <a:buFont typeface="Arial" panose="020B0604020202020204" pitchFamily="34" charset="0"/>
              <a:buChar char="•"/>
            </a:pPr>
            <a:r>
              <a:rPr lang="id-ID" sz="2400" dirty="0"/>
              <a:t>Komplikasi utama yang menyebabkan hampir 75% kematian ibu adalah:</a:t>
            </a:r>
            <a:endParaRPr lang="id-ID" sz="2400" dirty="0">
              <a:latin typeface="Times New Roman" panose="02020603050405020304" charset="0"/>
              <a:cs typeface="Times New Roman" panose="02020603050405020304" charset="0"/>
            </a:endParaRPr>
          </a:p>
          <a:p>
            <a:pPr marL="342900" indent="11430">
              <a:buFont typeface="Wingdings" panose="05000000000000000000" pitchFamily="2" charset="2"/>
              <a:buChar char="ü"/>
            </a:pPr>
            <a:r>
              <a:rPr lang="en-US" sz="2400" dirty="0">
                <a:latin typeface="Times New Roman" panose="02020603050405020304" charset="0"/>
                <a:cs typeface="Times New Roman" panose="02020603050405020304" charset="0"/>
              </a:rPr>
              <a:t>severe bleeding </a:t>
            </a:r>
            <a:r>
              <a:rPr lang="id-ID" sz="2400" dirty="0">
                <a:latin typeface="Times New Roman" panose="02020603050405020304" charset="0"/>
                <a:cs typeface="Times New Roman" panose="02020603050405020304" charset="0"/>
              </a:rPr>
              <a:t>(</a:t>
            </a:r>
            <a:r>
              <a:rPr lang="id-ID" sz="2400" dirty="0"/>
              <a:t>pendarahan, kebanyakan setelah melahirkan);</a:t>
            </a:r>
          </a:p>
          <a:p>
            <a:pPr marL="342900" indent="11430">
              <a:buFont typeface="Wingdings" panose="05000000000000000000" pitchFamily="2" charset="2"/>
              <a:buChar char="ü"/>
            </a:pPr>
            <a:r>
              <a:rPr lang="en-US" sz="2400" dirty="0">
                <a:latin typeface="Times New Roman" panose="02020603050405020304" charset="0"/>
                <a:cs typeface="Times New Roman" panose="02020603050405020304" charset="0"/>
              </a:rPr>
              <a:t>Infections</a:t>
            </a:r>
            <a:r>
              <a:rPr lang="id-ID" sz="2400" dirty="0">
                <a:latin typeface="Times New Roman" panose="02020603050405020304" charset="0"/>
                <a:cs typeface="Times New Roman" panose="02020603050405020304" charset="0"/>
              </a:rPr>
              <a:t> (</a:t>
            </a:r>
            <a:r>
              <a:rPr lang="id-ID" sz="2400" dirty="0"/>
              <a:t>infeksi, biasanya setelah melahirkan);</a:t>
            </a:r>
          </a:p>
          <a:p>
            <a:pPr marL="633730" indent="-279400">
              <a:buFont typeface="Wingdings" panose="05000000000000000000" pitchFamily="2" charset="2"/>
              <a:buChar char="ü"/>
            </a:pPr>
            <a:r>
              <a:rPr lang="en-US" sz="2400" dirty="0">
                <a:latin typeface="Times New Roman" panose="02020603050405020304" charset="0"/>
                <a:cs typeface="Times New Roman" panose="02020603050405020304" charset="0"/>
              </a:rPr>
              <a:t>high blood pressure (</a:t>
            </a:r>
            <a:r>
              <a:rPr lang="id-ID" sz="2400" dirty="0"/>
              <a:t>tekanan darah tinggi selama kehamilan/ </a:t>
            </a:r>
            <a:r>
              <a:rPr lang="id-ID" sz="2400" dirty="0" err="1"/>
              <a:t>preeklampsia</a:t>
            </a:r>
            <a:r>
              <a:rPr lang="id-ID" sz="2400" dirty="0"/>
              <a:t> dan </a:t>
            </a:r>
            <a:r>
              <a:rPr lang="id-ID" sz="2400" dirty="0" err="1"/>
              <a:t>eklamsia</a:t>
            </a:r>
            <a:r>
              <a:rPr lang="id-ID" sz="2400" dirty="0"/>
              <a:t>);</a:t>
            </a:r>
          </a:p>
          <a:p>
            <a:pPr marL="342900" indent="11430">
              <a:buFont typeface="Wingdings" panose="05000000000000000000" pitchFamily="2" charset="2"/>
              <a:buChar char="ü"/>
            </a:pPr>
            <a:r>
              <a:rPr lang="en-US" sz="2400" dirty="0">
                <a:latin typeface="Times New Roman" panose="02020603050405020304" charset="0"/>
                <a:cs typeface="Times New Roman" panose="02020603050405020304" charset="0"/>
              </a:rPr>
              <a:t>complications from delivery</a:t>
            </a:r>
            <a:r>
              <a:rPr lang="id-ID" sz="2400" dirty="0">
                <a:latin typeface="Times New Roman" panose="02020603050405020304" charset="0"/>
                <a:cs typeface="Times New Roman" panose="02020603050405020304" charset="0"/>
              </a:rPr>
              <a:t> (</a:t>
            </a:r>
            <a:r>
              <a:rPr lang="id-ID" sz="2400" dirty="0"/>
              <a:t>komplikasi persalinan); </a:t>
            </a:r>
          </a:p>
          <a:p>
            <a:pPr marL="342900" indent="11430">
              <a:buFont typeface="Wingdings" panose="05000000000000000000" pitchFamily="2" charset="2"/>
              <a:buChar char="ü"/>
            </a:pPr>
            <a:r>
              <a:rPr lang="en-US" sz="2400" dirty="0">
                <a:latin typeface="Times New Roman" panose="02020603050405020304" charset="0"/>
                <a:cs typeface="Times New Roman" panose="02020603050405020304" charset="0"/>
              </a:rPr>
              <a:t>unsafe abortion</a:t>
            </a:r>
            <a:r>
              <a:rPr lang="id-ID" sz="2400" dirty="0">
                <a:latin typeface="Times New Roman" panose="02020603050405020304" charset="0"/>
                <a:cs typeface="Times New Roman" panose="02020603050405020304" charset="0"/>
              </a:rPr>
              <a:t> (</a:t>
            </a:r>
            <a:r>
              <a:rPr lang="id-ID" sz="2400" dirty="0"/>
              <a:t>aborsi yang tidak aman).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Rectangle 2"/>
          <p:cNvSpPr/>
          <p:nvPr/>
        </p:nvSpPr>
        <p:spPr>
          <a:xfrm>
            <a:off x="1120877" y="630386"/>
            <a:ext cx="10117393" cy="5401479"/>
          </a:xfrm>
          <a:prstGeom prst="rect">
            <a:avLst/>
          </a:prstGeom>
        </p:spPr>
        <p:txBody>
          <a:bodyPr wrap="square">
            <a:spAutoFit/>
          </a:bodyPr>
          <a:lstStyle/>
          <a:p>
            <a:pPr>
              <a:spcAft>
                <a:spcPts val="600"/>
              </a:spcAft>
            </a:pPr>
            <a:r>
              <a:rPr lang="id-ID" sz="2200" b="1" dirty="0"/>
              <a:t>Faktor-faktor yang menghalangi perempuan untuk menerima atau mencari pelayanan selama hamil dan melahirkan:</a:t>
            </a:r>
          </a:p>
          <a:p>
            <a:pPr marL="36195" indent="-342900">
              <a:buFont typeface="+mj-lt"/>
              <a:buAutoNum type="arabicPeriod"/>
            </a:pPr>
            <a:r>
              <a:rPr lang="id-ID" sz="2200" dirty="0"/>
              <a:t>kegagalan sistem kesehatan 	</a:t>
            </a:r>
          </a:p>
          <a:p>
            <a:pPr marL="633730" indent="-279400">
              <a:buFontTx/>
              <a:buChar char="-"/>
            </a:pPr>
            <a:r>
              <a:rPr lang="id-ID" sz="2200" dirty="0"/>
              <a:t>buruknya kualitas layanan (termasuk sikap tidak hormat, penganiayaan dan pelecehan); </a:t>
            </a:r>
          </a:p>
          <a:p>
            <a:pPr marL="633730" indent="-279400">
              <a:buFontTx/>
              <a:buChar char="-"/>
            </a:pPr>
            <a:r>
              <a:rPr lang="id-ID" sz="2200" dirty="0"/>
              <a:t>jumlah tenaga kesehatan yang tidak memadai dan kurang terlatih,</a:t>
            </a:r>
          </a:p>
          <a:p>
            <a:pPr marL="633730" indent="-279400">
              <a:buFontTx/>
              <a:buChar char="-"/>
            </a:pPr>
            <a:r>
              <a:rPr lang="id-ID" sz="2200" dirty="0"/>
              <a:t>kekurangan pasokan medis penting; dan </a:t>
            </a:r>
            <a:endParaRPr lang="en-US" sz="2200" dirty="0"/>
          </a:p>
          <a:p>
            <a:pPr marL="633730" indent="-279400">
              <a:buFontTx/>
              <a:buChar char="-"/>
            </a:pPr>
            <a:r>
              <a:rPr lang="id-ID" sz="2200" dirty="0"/>
              <a:t>buruknya akuntabilitas sistem kesehatan;.</a:t>
            </a:r>
          </a:p>
          <a:p>
            <a:pPr marL="354330" indent="-354330">
              <a:spcAft>
                <a:spcPts val="600"/>
              </a:spcAft>
              <a:buFont typeface="+mj-lt"/>
              <a:buAutoNum type="arabicPeriod" startAt="2"/>
            </a:pPr>
            <a:r>
              <a:rPr lang="id-ID" sz="2200" dirty="0"/>
              <a:t>faktor-faktor penentu sosial (pendapatan, akses terhadap pendidikan, ras dan etnis) sehingga beberapa sub-populasi berisiko lebih besar;</a:t>
            </a:r>
          </a:p>
          <a:p>
            <a:pPr marL="354330" indent="-354330">
              <a:spcAft>
                <a:spcPts val="600"/>
              </a:spcAft>
              <a:buFont typeface="+mj-lt"/>
              <a:buAutoNum type="arabicPeriod" startAt="2"/>
            </a:pPr>
            <a:r>
              <a:rPr lang="id-ID" sz="2200" dirty="0"/>
              <a:t>norma dan/atau </a:t>
            </a:r>
            <a:r>
              <a:rPr lang="id-ID" sz="2200" dirty="0" err="1"/>
              <a:t>ketidaksetaraan</a:t>
            </a:r>
            <a:r>
              <a:rPr lang="id-ID" sz="2200" dirty="0"/>
              <a:t> gender, mengakibatkan rendahnya prioritas terhadap hak-hak perempuan dan anak perempuan, layanan kesehatan seksual dan reproduksi yang aman, berkualitas dan terjangkau; </a:t>
            </a:r>
          </a:p>
          <a:p>
            <a:pPr marL="354330" indent="-354330">
              <a:spcAft>
                <a:spcPts val="600"/>
              </a:spcAft>
              <a:buFont typeface="+mj-lt"/>
              <a:buAutoNum type="arabicPeriod" startAt="2"/>
            </a:pPr>
            <a:r>
              <a:rPr lang="id-ID" sz="2200" dirty="0"/>
              <a:t>faktor eksternal yang berkontribusi terhadap ketidakstabilan sistem kesehatan, seperti krisis iklim dan kemanusiaan.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sign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59750"/>
          <a:stretch>
            <a:fillRect/>
          </a:stretch>
        </p:blipFill>
        <p:spPr>
          <a:xfrm>
            <a:off x="20" y="10"/>
            <a:ext cx="4580077" cy="6400784"/>
          </a:xfrm>
          <a:prstGeom prst="rect">
            <a:avLst/>
          </a:prstGeom>
        </p:spPr>
      </p:pic>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itle 1"/>
          <p:cNvSpPr txBox="1"/>
          <p:nvPr/>
        </p:nvSpPr>
        <p:spPr>
          <a:xfrm>
            <a:off x="5132440" y="358351"/>
            <a:ext cx="5879690" cy="85878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40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Kesehatan</a:t>
            </a:r>
            <a:r>
              <a:rPr kumimoji="0" lang="id-ID" sz="4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 Masyarakat</a:t>
            </a:r>
          </a:p>
        </p:txBody>
      </p:sp>
      <p:pic>
        <p:nvPicPr>
          <p:cNvPr id="8" name="Picture 7"/>
          <p:cNvPicPr>
            <a:picLocks noChangeAspect="1"/>
          </p:cNvPicPr>
          <p:nvPr/>
        </p:nvPicPr>
        <p:blipFill>
          <a:blip r:embed="rId5"/>
          <a:stretch>
            <a:fillRect/>
          </a:stretch>
        </p:blipFill>
        <p:spPr>
          <a:xfrm>
            <a:off x="6474542" y="1217133"/>
            <a:ext cx="3510116" cy="492016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38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Content Placeholder 2"/>
          <p:cNvSpPr txBox="1"/>
          <p:nvPr/>
        </p:nvSpPr>
        <p:spPr>
          <a:xfrm>
            <a:off x="1520071" y="1236443"/>
            <a:ext cx="8390540" cy="26497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3855" marR="0" lvl="0" indent="-363855" algn="l" defTabSz="914400" rtl="0" eaLnBrk="1" fontAlgn="auto" latinLnBrk="0" hangingPunct="1">
              <a:lnSpc>
                <a:spcPct val="100000"/>
              </a:lnSpc>
              <a:spcBef>
                <a:spcPts val="1200"/>
              </a:spcBef>
              <a:spcAft>
                <a:spcPts val="0"/>
              </a:spcAft>
              <a:buClrTx/>
              <a:buSzTx/>
              <a:buFont typeface="Arial" panose="020B0604020202020204" pitchFamily="34" charset="0"/>
              <a:buNone/>
              <a:tabLst>
                <a:tab pos="363220" algn="l"/>
              </a:tabLst>
              <a:defRPr/>
            </a:pPr>
            <a:r>
              <a:rPr kumimoji="0" lang="en-AU" sz="3600" b="1" i="0" u="none" strike="noStrike" kern="1200" cap="none" spc="0" normalizeH="0" baseline="0" noProof="1">
                <a:ln>
                  <a:noFill/>
                </a:ln>
                <a:solidFill>
                  <a:srgbClr val="000000"/>
                </a:solidFill>
                <a:effectLst/>
                <a:uLnTx/>
                <a:uFillTx/>
                <a:latin typeface="Calibri" panose="020F0502020204030204"/>
                <a:ea typeface="+mn-ea"/>
                <a:cs typeface="+mn-cs"/>
              </a:rPr>
              <a:t>Kesehatan masyarakat</a:t>
            </a:r>
          </a:p>
          <a:p>
            <a:pPr marL="443230" lvl="0" indent="-262255" defTabSz="914400">
              <a:spcBef>
                <a:spcPts val="1200"/>
              </a:spcBef>
              <a:spcAft>
                <a:spcPts val="1200"/>
              </a:spcAft>
              <a:buFont typeface="Lucida Grande"/>
              <a:buChar char="-"/>
              <a:defRPr/>
            </a:pPr>
            <a:r>
              <a:rPr kumimoji="0" lang="en-AU" sz="2400" b="0" i="0" u="none" strike="noStrike" kern="1200" cap="none" spc="0" normalizeH="0" baseline="0" noProof="1">
                <a:ln>
                  <a:noFill/>
                </a:ln>
                <a:solidFill>
                  <a:srgbClr val="000000"/>
                </a:solidFill>
                <a:effectLst/>
                <a:uLnTx/>
                <a:uFillTx/>
                <a:latin typeface="Cambria" panose="02040503050406030204" pitchFamily="18" charset="0"/>
                <a:ea typeface="+mn-ea"/>
                <a:cs typeface="Tahoma" panose="020B0604030504040204" pitchFamily="34" charset="0"/>
              </a:rPr>
              <a:t>Meningkatkan </a:t>
            </a:r>
            <a:r>
              <a:rPr lang="de-DE" sz="2400" noProof="1">
                <a:solidFill>
                  <a:srgbClr val="000000"/>
                </a:solidFill>
                <a:latin typeface="Cambria" panose="02040503050406030204" pitchFamily="18" charset="0"/>
                <a:cs typeface="Tahoma" panose="020B0604030504040204" pitchFamily="34" charset="0"/>
              </a:rPr>
              <a:t>derajat kesehatan (hidup lebih lama) dan status kesehatan masyarakat</a:t>
            </a:r>
            <a:r>
              <a:rPr lang="id-ID" sz="2400" noProof="1">
                <a:solidFill>
                  <a:srgbClr val="000000"/>
                </a:solidFill>
                <a:latin typeface="Cambria" panose="02040503050406030204" pitchFamily="18" charset="0"/>
                <a:cs typeface="Tahoma" panose="020B0604030504040204" pitchFamily="34" charset="0"/>
              </a:rPr>
              <a:t> (</a:t>
            </a:r>
            <a:r>
              <a:rPr lang="de-DE" sz="2400" noProof="1">
                <a:solidFill>
                  <a:srgbClr val="000000"/>
                </a:solidFill>
                <a:latin typeface="Cambria" panose="02040503050406030204" pitchFamily="18" charset="0"/>
                <a:cs typeface="Tahoma" panose="020B0604030504040204" pitchFamily="34" charset="0"/>
              </a:rPr>
              <a:t>sehat</a:t>
            </a:r>
            <a:r>
              <a:rPr lang="id-ID" sz="2400" noProof="1">
                <a:solidFill>
                  <a:srgbClr val="000000"/>
                </a:solidFill>
                <a:latin typeface="Cambria" panose="02040503050406030204" pitchFamily="18" charset="0"/>
                <a:cs typeface="Tahoma" panose="020B0604030504040204" pitchFamily="34" charset="0"/>
              </a:rPr>
              <a:t>)</a:t>
            </a:r>
            <a:endParaRPr lang="de-DE" sz="2400" noProof="1">
              <a:solidFill>
                <a:srgbClr val="000000"/>
              </a:solidFill>
              <a:latin typeface="Cambria" panose="02040503050406030204" pitchFamily="18" charset="0"/>
              <a:cs typeface="Tahoma" panose="020B0604030504040204" pitchFamily="34" charset="0"/>
            </a:endParaRPr>
          </a:p>
          <a:p>
            <a:pPr marL="443230" marR="0" lvl="0" indent="-262255" algn="l" defTabSz="914400" rtl="0" eaLnBrk="1" fontAlgn="auto" latinLnBrk="0" hangingPunct="1">
              <a:spcBef>
                <a:spcPts val="1200"/>
              </a:spcBef>
              <a:spcAft>
                <a:spcPts val="1200"/>
              </a:spcAft>
              <a:buClrTx/>
              <a:buSzTx/>
              <a:buFont typeface="Lucida Grande"/>
              <a:buChar char="-"/>
              <a:defRPr/>
            </a:pPr>
            <a:r>
              <a:rPr kumimoji="0" lang="de-DE" sz="2400" b="0" i="0" u="none" strike="noStrike" kern="1200" cap="none" spc="0" normalizeH="0" baseline="0" noProof="1">
                <a:ln>
                  <a:noFill/>
                </a:ln>
                <a:solidFill>
                  <a:srgbClr val="000000"/>
                </a:solidFill>
                <a:effectLst/>
                <a:uLnTx/>
                <a:uFillTx/>
                <a:latin typeface="Cambria" panose="02040503050406030204" pitchFamily="18" charset="0"/>
                <a:ea typeface="+mn-ea"/>
                <a:cs typeface="Tahoma" panose="020B0604030504040204" pitchFamily="34" charset="0"/>
              </a:rPr>
              <a:t>4 program utama: promotif, preventif, kuratif, rehabilitatif</a:t>
            </a:r>
          </a:p>
          <a:p>
            <a:pPr marL="180975"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defRPr/>
            </a:pPr>
            <a:endParaRPr kumimoji="0" lang="en-US" altLang="en-US" sz="2400" b="0" i="0" u="none" strike="noStrike" kern="1200" cap="none" spc="0" normalizeH="0" baseline="0" noProof="1">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95000"/>
              </a:lnSpc>
              <a:spcBef>
                <a:spcPct val="0"/>
              </a:spcBef>
              <a:spcAft>
                <a:spcPts val="0"/>
              </a:spcAft>
              <a:buClrTx/>
              <a:buSzTx/>
              <a:buFont typeface="Arial" panose="020B0604020202020204" pitchFamily="34" charset="0"/>
              <a:buNone/>
              <a:defRPr/>
            </a:pPr>
            <a:endParaRPr kumimoji="0" lang="en-US" altLang="en-US" sz="2400" b="0" i="0" u="none" strike="noStrike" kern="1200" cap="none" spc="0" normalizeH="0" baseline="0" noProof="1">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95000"/>
              </a:lnSpc>
              <a:spcBef>
                <a:spcPct val="0"/>
              </a:spcBef>
              <a:spcAft>
                <a:spcPts val="0"/>
              </a:spcAft>
              <a:buClrTx/>
              <a:buSzTx/>
              <a:buFont typeface="Arial" panose="020B0604020202020204" pitchFamily="34" charset="0"/>
              <a:buNone/>
              <a:defRPr/>
            </a:pPr>
            <a:endParaRPr kumimoji="0" lang="en-US" altLang="en-US" sz="2400" b="0" i="0" u="none" strike="noStrike" kern="1200" cap="none" spc="0" normalizeH="0" baseline="0" noProof="1">
              <a:ln>
                <a:noFill/>
              </a:ln>
              <a:solidFill>
                <a:srgbClr val="000000"/>
              </a:solidFill>
              <a:effectLst/>
              <a:uLnTx/>
              <a:uFillTx/>
              <a:latin typeface="Calibri" panose="020F0502020204030204"/>
              <a:ea typeface="+mn-ea"/>
              <a:cs typeface="+mn-cs"/>
            </a:endParaRPr>
          </a:p>
        </p:txBody>
      </p:sp>
      <p:sp>
        <p:nvSpPr>
          <p:cNvPr id="8" name="TextBox 7"/>
          <p:cNvSpPr txBox="1"/>
          <p:nvPr/>
        </p:nvSpPr>
        <p:spPr>
          <a:xfrm>
            <a:off x="1520071" y="301414"/>
            <a:ext cx="6871761" cy="584775"/>
          </a:xfrm>
          <a:prstGeom prst="rect">
            <a:avLst/>
          </a:prstGeom>
          <a:solidFill>
            <a:schemeClr val="accent4">
              <a:lumMod val="60000"/>
              <a:lumOff val="40000"/>
            </a:schemeClr>
          </a:solidFill>
          <a:ln>
            <a:solidFill>
              <a:schemeClr val="accent4">
                <a:lumMod val="50000"/>
              </a:schemeClr>
            </a:solidFill>
          </a:ln>
        </p:spPr>
        <p:txBody>
          <a:bodyPr wrap="square" rtlCol="0">
            <a:spAutoFit/>
          </a:bodyPr>
          <a:lstStyle/>
          <a:p>
            <a:r>
              <a:rPr lang="id-ID" sz="3200" b="1" dirty="0"/>
              <a:t>Pembangunan Bidang Kesehatan</a:t>
            </a:r>
            <a:endParaRPr lang="en-US" sz="32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000141" y="6259990"/>
            <a:ext cx="2743200" cy="365125"/>
          </a:xfrm>
        </p:spPr>
        <p:txBody>
          <a:bodyPr/>
          <a:lstStyle/>
          <a:p>
            <a:fld id="{B82CCC60-E8CD-4174-8B1A-7DF615B22EEF}" type="slidenum">
              <a:rPr lang="en-US" smtClean="0"/>
              <a:t>39</a:t>
            </a:fld>
            <a:endParaRPr lang="en-US" dirty="0"/>
          </a:p>
        </p:txBody>
      </p:sp>
      <p:pic>
        <p:nvPicPr>
          <p:cNvPr id="10" name="Picture 9"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1" y="6187800"/>
            <a:ext cx="12192001" cy="689610"/>
          </a:xfrm>
          <a:prstGeom prst="rect">
            <a:avLst/>
          </a:prstGeom>
          <a:ln>
            <a:noFill/>
          </a:ln>
          <a:effectLst>
            <a:outerShdw blurRad="190500" algn="tl" rotWithShape="0">
              <a:srgbClr val="000000">
                <a:alpha val="70000"/>
              </a:srgbClr>
            </a:outerShdw>
          </a:effectLst>
        </p:spPr>
      </p:pic>
      <p:sp>
        <p:nvSpPr>
          <p:cNvPr id="9" name="TextBox 8"/>
          <p:cNvSpPr txBox="1"/>
          <p:nvPr/>
        </p:nvSpPr>
        <p:spPr>
          <a:xfrm>
            <a:off x="1520071" y="301414"/>
            <a:ext cx="6871761" cy="584775"/>
          </a:xfrm>
          <a:prstGeom prst="rect">
            <a:avLst/>
          </a:prstGeom>
          <a:solidFill>
            <a:schemeClr val="accent4">
              <a:lumMod val="60000"/>
              <a:lumOff val="40000"/>
            </a:schemeClr>
          </a:solidFill>
          <a:ln>
            <a:solidFill>
              <a:schemeClr val="accent4">
                <a:lumMod val="50000"/>
              </a:schemeClr>
            </a:solidFill>
          </a:ln>
        </p:spPr>
        <p:txBody>
          <a:bodyPr wrap="square" rtlCol="0">
            <a:spAutoFit/>
          </a:bodyPr>
          <a:lstStyle/>
          <a:p>
            <a:r>
              <a:rPr lang="id-ID" sz="3200" b="1" dirty="0"/>
              <a:t>Pembangunan Bidang Kesehatan</a:t>
            </a:r>
            <a:endParaRPr lang="en-US" sz="3200" b="1" dirty="0"/>
          </a:p>
        </p:txBody>
      </p:sp>
      <p:sp>
        <p:nvSpPr>
          <p:cNvPr id="11" name="Content Placeholder 2"/>
          <p:cNvSpPr txBox="1"/>
          <p:nvPr/>
        </p:nvSpPr>
        <p:spPr>
          <a:xfrm>
            <a:off x="1900729" y="1112894"/>
            <a:ext cx="8390540" cy="473385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noProof="1">
                <a:solidFill>
                  <a:srgbClr val="000000"/>
                </a:solidFill>
                <a:latin typeface="Cambria" panose="02040503050406030204"/>
                <a:cs typeface="Cambria" panose="02040503050406030204"/>
              </a:rPr>
              <a:t>Promotif</a:t>
            </a:r>
            <a:r>
              <a:rPr lang="id-ID" sz="2200" b="1" noProof="1">
                <a:solidFill>
                  <a:srgbClr val="000000"/>
                </a:solidFill>
                <a:latin typeface="Cambria" panose="02040503050406030204"/>
                <a:cs typeface="Cambria" panose="02040503050406030204"/>
              </a:rPr>
              <a:t>/</a:t>
            </a:r>
            <a:r>
              <a:rPr lang="en-US" sz="2200" b="1" noProof="1">
                <a:solidFill>
                  <a:srgbClr val="000000"/>
                </a:solidFill>
                <a:latin typeface="Cambria" panose="02040503050406030204"/>
                <a:cs typeface="Cambria" panose="02040503050406030204"/>
              </a:rPr>
              <a:t>kampanye</a:t>
            </a:r>
          </a:p>
          <a:p>
            <a:pPr lvl="1">
              <a:spcBef>
                <a:spcPts val="0"/>
              </a:spcBef>
            </a:pPr>
            <a:r>
              <a:rPr lang="en-US" sz="2000" noProof="1">
                <a:solidFill>
                  <a:srgbClr val="000000"/>
                </a:solidFill>
                <a:latin typeface="Cambria" panose="02040503050406030204"/>
                <a:cs typeface="Cambria" panose="02040503050406030204"/>
              </a:rPr>
              <a:t>perilaku hidup sehat</a:t>
            </a:r>
          </a:p>
          <a:p>
            <a:pPr lvl="1">
              <a:spcBef>
                <a:spcPts val="0"/>
              </a:spcBef>
            </a:pPr>
            <a:r>
              <a:rPr lang="en-US" sz="2000" noProof="1">
                <a:solidFill>
                  <a:srgbClr val="000000"/>
                </a:solidFill>
                <a:latin typeface="Cambria" panose="02040503050406030204"/>
                <a:cs typeface="Cambria" panose="02040503050406030204"/>
              </a:rPr>
              <a:t>ciptakan lingkungan sehat</a:t>
            </a:r>
          </a:p>
          <a:p>
            <a:pPr lvl="1">
              <a:spcBef>
                <a:spcPts val="0"/>
              </a:spcBef>
            </a:pPr>
            <a:r>
              <a:rPr lang="en-US" sz="2000" noProof="1">
                <a:solidFill>
                  <a:srgbClr val="000000"/>
                </a:solidFill>
                <a:latin typeface="Cambria" panose="02040503050406030204"/>
                <a:cs typeface="Cambria" panose="02040503050406030204"/>
              </a:rPr>
              <a:t>hindari (asap) rokok, olahraga memadai, bergerak 10.000 langkah/hari</a:t>
            </a:r>
          </a:p>
          <a:p>
            <a:pPr lvl="1">
              <a:spcBef>
                <a:spcPts val="0"/>
              </a:spcBef>
            </a:pPr>
            <a:r>
              <a:rPr lang="en-US" sz="2000" noProof="1">
                <a:solidFill>
                  <a:srgbClr val="000000"/>
                </a:solidFill>
                <a:latin typeface="Cambria" panose="02040503050406030204"/>
                <a:cs typeface="Cambria" panose="02040503050406030204"/>
              </a:rPr>
              <a:t>makanan seimbang: karbohidrat, protein, lemak, serat</a:t>
            </a:r>
          </a:p>
          <a:p>
            <a:pPr>
              <a:spcBef>
                <a:spcPts val="1200"/>
              </a:spcBef>
            </a:pPr>
            <a:r>
              <a:rPr lang="en-US" sz="2200" b="1" noProof="1">
                <a:solidFill>
                  <a:srgbClr val="000000"/>
                </a:solidFill>
                <a:latin typeface="Cambria" panose="02040503050406030204"/>
              </a:rPr>
              <a:t>Preventif</a:t>
            </a:r>
          </a:p>
          <a:p>
            <a:pPr lvl="1">
              <a:spcBef>
                <a:spcPts val="0"/>
              </a:spcBef>
            </a:pPr>
            <a:r>
              <a:rPr lang="en-US" sz="2000" noProof="1">
                <a:solidFill>
                  <a:srgbClr val="000000"/>
                </a:solidFill>
                <a:latin typeface="Cambria" panose="02040503050406030204"/>
                <a:cs typeface="Cambria" panose="02040503050406030204"/>
              </a:rPr>
              <a:t>pencegahan</a:t>
            </a:r>
          </a:p>
          <a:p>
            <a:pPr lvl="1">
              <a:spcBef>
                <a:spcPts val="0"/>
              </a:spcBef>
            </a:pPr>
            <a:r>
              <a:rPr lang="en-US" sz="2000" noProof="1">
                <a:solidFill>
                  <a:srgbClr val="000000"/>
                </a:solidFill>
                <a:latin typeface="Cambria" panose="02040503050406030204"/>
                <a:cs typeface="Cambria" panose="02040503050406030204"/>
              </a:rPr>
              <a:t>imunisasi: pemberian kekebalan buatan, sejak lahir</a:t>
            </a:r>
          </a:p>
          <a:p>
            <a:pPr lvl="1">
              <a:spcBef>
                <a:spcPts val="0"/>
              </a:spcBef>
            </a:pPr>
            <a:r>
              <a:rPr lang="en-US" sz="2000" noProof="1">
                <a:solidFill>
                  <a:srgbClr val="000000"/>
                </a:solidFill>
                <a:latin typeface="Cambria" panose="02040503050406030204"/>
                <a:cs typeface="Cambria" panose="02040503050406030204"/>
              </a:rPr>
              <a:t>pembersihan/</a:t>
            </a:r>
            <a:r>
              <a:rPr lang="en-US" sz="2000" i="1" noProof="1">
                <a:solidFill>
                  <a:srgbClr val="000000"/>
                </a:solidFill>
                <a:latin typeface="Cambria" panose="02040503050406030204"/>
                <a:cs typeface="Cambria" panose="02040503050406030204"/>
              </a:rPr>
              <a:t>treatment</a:t>
            </a:r>
            <a:r>
              <a:rPr lang="en-US" sz="2000" noProof="1">
                <a:solidFill>
                  <a:srgbClr val="000000"/>
                </a:solidFill>
                <a:latin typeface="Cambria" panose="02040503050406030204"/>
                <a:cs typeface="Cambria" panose="02040503050406030204"/>
              </a:rPr>
              <a:t> lingkungan</a:t>
            </a:r>
          </a:p>
          <a:p>
            <a:pPr>
              <a:lnSpc>
                <a:spcPct val="100000"/>
              </a:lnSpc>
              <a:spcBef>
                <a:spcPts val="1200"/>
              </a:spcBef>
            </a:pPr>
            <a:r>
              <a:rPr lang="en-US" sz="2200" b="1" noProof="1">
                <a:solidFill>
                  <a:srgbClr val="000000"/>
                </a:solidFill>
                <a:latin typeface="Cambria" panose="02040503050406030204"/>
              </a:rPr>
              <a:t>Kuratif</a:t>
            </a:r>
          </a:p>
          <a:p>
            <a:pPr lvl="1">
              <a:spcBef>
                <a:spcPts val="0"/>
              </a:spcBef>
            </a:pPr>
            <a:r>
              <a:rPr lang="en-US" sz="2000" noProof="1">
                <a:solidFill>
                  <a:srgbClr val="000000"/>
                </a:solidFill>
                <a:latin typeface="Cambria" panose="02040503050406030204"/>
                <a:cs typeface="Cambria" panose="02040503050406030204"/>
              </a:rPr>
              <a:t>pengobatan</a:t>
            </a:r>
          </a:p>
          <a:p>
            <a:pPr lvl="1">
              <a:spcBef>
                <a:spcPts val="0"/>
              </a:spcBef>
            </a:pPr>
            <a:r>
              <a:rPr lang="en-US" sz="2000" noProof="1">
                <a:solidFill>
                  <a:srgbClr val="000000"/>
                </a:solidFill>
                <a:latin typeface="Cambria" panose="02040503050406030204"/>
                <a:cs typeface="Cambria" panose="02040503050406030204"/>
              </a:rPr>
              <a:t>pemeliharaan</a:t>
            </a:r>
          </a:p>
          <a:p>
            <a:pPr lvl="1">
              <a:spcBef>
                <a:spcPts val="0"/>
              </a:spcBef>
            </a:pPr>
            <a:r>
              <a:rPr lang="en-US" sz="2000" noProof="1">
                <a:solidFill>
                  <a:srgbClr val="000000"/>
                </a:solidFill>
                <a:latin typeface="Cambria" panose="02040503050406030204"/>
                <a:cs typeface="Cambria" panose="02040503050406030204"/>
              </a:rPr>
              <a:t>perawat</a:t>
            </a:r>
            <a:r>
              <a:rPr lang="en-US" noProof="1">
                <a:solidFill>
                  <a:srgbClr val="000000"/>
                </a:solidFill>
                <a:latin typeface="Cambria" panose="02040503050406030204"/>
                <a:cs typeface="Cambria" panose="02040503050406030204"/>
              </a:rPr>
              <a:t>an</a:t>
            </a:r>
          </a:p>
          <a:p>
            <a:pPr>
              <a:lnSpc>
                <a:spcPct val="110000"/>
              </a:lnSpc>
              <a:spcBef>
                <a:spcPts val="1200"/>
              </a:spcBef>
            </a:pPr>
            <a:r>
              <a:rPr lang="en-US" sz="2200" b="1" noProof="1">
                <a:solidFill>
                  <a:srgbClr val="000000"/>
                </a:solidFill>
                <a:latin typeface="Cambria" panose="02040503050406030204"/>
              </a:rPr>
              <a:t>Rehabilitatif  </a:t>
            </a:r>
            <a:endParaRPr lang="id-ID" sz="2200" b="1" noProof="1">
              <a:solidFill>
                <a:srgbClr val="000000"/>
              </a:solidFill>
              <a:latin typeface="Cambria" panose="02040503050406030204"/>
            </a:endParaRPr>
          </a:p>
          <a:p>
            <a:pPr lvl="1">
              <a:spcBef>
                <a:spcPts val="0"/>
              </a:spcBef>
            </a:pPr>
            <a:r>
              <a:rPr lang="en-US" sz="2000" noProof="1">
                <a:solidFill>
                  <a:srgbClr val="000000"/>
                </a:solidFill>
                <a:latin typeface="Cambria" panose="02040503050406030204"/>
                <a:cs typeface="Cambria" panose="02040503050406030204"/>
              </a:rPr>
              <a:t>pe</a:t>
            </a:r>
            <a:r>
              <a:rPr lang="id-ID" sz="2000" noProof="1">
                <a:solidFill>
                  <a:srgbClr val="000000"/>
                </a:solidFill>
                <a:latin typeface="Cambria" panose="02040503050406030204"/>
                <a:cs typeface="Cambria" panose="02040503050406030204"/>
              </a:rPr>
              <a:t>mulihan</a:t>
            </a:r>
            <a:endParaRPr lang="en-US" sz="2000" noProof="1">
              <a:solidFill>
                <a:srgbClr val="000000"/>
              </a:solidFill>
              <a:latin typeface="Cambria" panose="02040503050406030204"/>
              <a:cs typeface="Cambria" panose="02040503050406030204"/>
            </a:endParaRPr>
          </a:p>
          <a:p>
            <a:pPr>
              <a:spcBef>
                <a:spcPts val="1200"/>
              </a:spcBef>
            </a:pPr>
            <a:endParaRPr lang="id-ID" sz="2000" noProof="1">
              <a:solidFill>
                <a:srgbClr val="000000"/>
              </a:solidFill>
              <a:latin typeface="Cambria" panose="02040503050406030204"/>
              <a:cs typeface="Cambria" panose="02040503050406030204"/>
            </a:endParaRPr>
          </a:p>
          <a:p>
            <a:pPr>
              <a:spcBef>
                <a:spcPts val="1200"/>
              </a:spcBef>
            </a:pPr>
            <a:endParaRPr lang="en-US" sz="2000" noProof="1">
              <a:solidFill>
                <a:srgbClr val="000000"/>
              </a:solidFill>
              <a:latin typeface="Cambria" panose="02040503050406030204"/>
              <a:cs typeface="Cambria" panose="02040503050406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40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Arrow: Pentagon 1"/>
          <p:cNvSpPr/>
          <p:nvPr/>
        </p:nvSpPr>
        <p:spPr>
          <a:xfrm>
            <a:off x="4209534" y="1485534"/>
            <a:ext cx="3666105" cy="1144929"/>
          </a:xfrm>
          <a:prstGeom prst="homePlate">
            <a:avLst/>
          </a:prstGeom>
          <a:solidFill>
            <a:schemeClr val="accent4">
              <a:lumMod val="60000"/>
              <a:lumOff val="40000"/>
            </a:schemeClr>
          </a:solidFill>
        </p:spPr>
        <p:txBody>
          <a:bodyPr wrap="square">
            <a:spAutoFit/>
          </a:bodyPr>
          <a:lstStyle/>
          <a:p>
            <a:pPr>
              <a:lnSpc>
                <a:spcPct val="95000"/>
              </a:lnSpc>
              <a:spcBef>
                <a:spcPct val="0"/>
              </a:spcBef>
            </a:pPr>
            <a:r>
              <a:rPr lang="de-DE" sz="2400" noProof="1">
                <a:solidFill>
                  <a:srgbClr val="000000"/>
                </a:solidFill>
                <a:latin typeface="Cambria" panose="02040503050406030204" pitchFamily="18" charset="0"/>
                <a:cs typeface="Tahoma" panose="020B0604030504040204" pitchFamily="34" charset="0"/>
              </a:rPr>
              <a:t>prioritas promotif dan preventif dibandingkan kuratif dan rehabilitatif  </a:t>
            </a:r>
          </a:p>
        </p:txBody>
      </p:sp>
      <p:sp>
        <p:nvSpPr>
          <p:cNvPr id="3" name="Arrow: Pentagon 2"/>
          <p:cNvSpPr/>
          <p:nvPr/>
        </p:nvSpPr>
        <p:spPr>
          <a:xfrm>
            <a:off x="1520071" y="1485534"/>
            <a:ext cx="2437268" cy="954107"/>
          </a:xfrm>
          <a:prstGeom prst="homePlate">
            <a:avLst/>
          </a:prstGeom>
          <a:solidFill>
            <a:schemeClr val="accent4">
              <a:lumMod val="75000"/>
            </a:schemeClr>
          </a:solidFill>
        </p:spPr>
        <p:txBody>
          <a:bodyPr wrap="square">
            <a:spAutoFit/>
          </a:bodyPr>
          <a:lstStyle/>
          <a:p>
            <a:r>
              <a:rPr lang="de-DE" sz="2800" noProof="1">
                <a:solidFill>
                  <a:srgbClr val="000000"/>
                </a:solidFill>
                <a:latin typeface="Cambria" panose="02040503050406030204" pitchFamily="18" charset="0"/>
                <a:cs typeface="Tahoma" panose="020B0604030504040204" pitchFamily="34" charset="0"/>
              </a:rPr>
              <a:t>Paradigma Sehat</a:t>
            </a:r>
            <a:endParaRPr lang="id-ID" sz="2800" dirty="0"/>
          </a:p>
        </p:txBody>
      </p:sp>
      <p:sp>
        <p:nvSpPr>
          <p:cNvPr id="4" name="Rectangle: Rounded Corners 3"/>
          <p:cNvSpPr/>
          <p:nvPr/>
        </p:nvSpPr>
        <p:spPr>
          <a:xfrm>
            <a:off x="8225273" y="1189675"/>
            <a:ext cx="3128527" cy="1736646"/>
          </a:xfrm>
          <a:prstGeom prst="roundRect">
            <a:avLst/>
          </a:prstGeom>
          <a:solidFill>
            <a:schemeClr val="accent4">
              <a:lumMod val="60000"/>
              <a:lumOff val="40000"/>
            </a:schemeClr>
          </a:solidFill>
        </p:spPr>
        <p:txBody>
          <a:bodyPr wrap="square">
            <a:spAutoFit/>
          </a:bodyPr>
          <a:lstStyle/>
          <a:p>
            <a:r>
              <a:rPr lang="de-DE" sz="2400" noProof="1">
                <a:solidFill>
                  <a:srgbClr val="000000"/>
                </a:solidFill>
                <a:latin typeface="Cambria" panose="02040503050406030204" pitchFamily="18" charset="0"/>
                <a:cs typeface="Tahoma" panose="020B0604030504040204" pitchFamily="34" charset="0"/>
              </a:rPr>
              <a:t>menumbuhkan perilaku dan keinginan hidup sehat pada individu</a:t>
            </a:r>
            <a:endParaRPr lang="id-ID" sz="2400" dirty="0"/>
          </a:p>
        </p:txBody>
      </p:sp>
      <p:sp>
        <p:nvSpPr>
          <p:cNvPr id="8" name="TextBox 7"/>
          <p:cNvSpPr txBox="1"/>
          <p:nvPr/>
        </p:nvSpPr>
        <p:spPr>
          <a:xfrm>
            <a:off x="1520071" y="301414"/>
            <a:ext cx="6871761" cy="584775"/>
          </a:xfrm>
          <a:prstGeom prst="rect">
            <a:avLst/>
          </a:prstGeom>
          <a:solidFill>
            <a:schemeClr val="accent4">
              <a:lumMod val="60000"/>
              <a:lumOff val="40000"/>
            </a:schemeClr>
          </a:solidFill>
          <a:ln>
            <a:solidFill>
              <a:schemeClr val="accent4">
                <a:lumMod val="50000"/>
              </a:schemeClr>
            </a:solidFill>
          </a:ln>
        </p:spPr>
        <p:txBody>
          <a:bodyPr wrap="square" rtlCol="0">
            <a:spAutoFit/>
          </a:bodyPr>
          <a:lstStyle/>
          <a:p>
            <a:r>
              <a:rPr lang="id-ID" sz="3200" b="1" dirty="0"/>
              <a:t>Pembangunan Bidang Kesehatan</a:t>
            </a:r>
            <a:endParaRPr lang="en-US" sz="3200" b="1" dirty="0"/>
          </a:p>
        </p:txBody>
      </p:sp>
      <p:sp>
        <p:nvSpPr>
          <p:cNvPr id="5" name="Rectangle 4"/>
          <p:cNvSpPr/>
          <p:nvPr/>
        </p:nvSpPr>
        <p:spPr>
          <a:xfrm>
            <a:off x="1676400" y="3469075"/>
            <a:ext cx="9677400" cy="2169825"/>
          </a:xfrm>
          <a:prstGeom prst="rect">
            <a:avLst/>
          </a:prstGeom>
        </p:spPr>
        <p:txBody>
          <a:bodyPr wrap="square">
            <a:spAutoFit/>
          </a:bodyPr>
          <a:lstStyle/>
          <a:p>
            <a:pPr marL="263525" indent="-263525" defTabSz="914400">
              <a:spcBef>
                <a:spcPts val="600"/>
              </a:spcBef>
              <a:spcAft>
                <a:spcPts val="1200"/>
              </a:spcAft>
              <a:buFont typeface="Arial" panose="020B0604020202020204"/>
              <a:buChar char="•"/>
              <a:defRPr/>
            </a:pPr>
            <a:r>
              <a:rPr lang="de-DE" sz="2400" noProof="1">
                <a:solidFill>
                  <a:srgbClr val="000000"/>
                </a:solidFill>
                <a:latin typeface="Cambria" panose="02040503050406030204" pitchFamily="18" charset="0"/>
                <a:cs typeface="Tahoma" panose="020B0604030504040204" pitchFamily="34" charset="0"/>
              </a:rPr>
              <a:t>Imunisasi adalah paradigma sehat dalam upaya pencegahan yang paling</a:t>
            </a:r>
            <a:r>
              <a:rPr lang="id-ID" sz="2400" noProof="1">
                <a:solidFill>
                  <a:srgbClr val="000000"/>
                </a:solidFill>
                <a:latin typeface="Cambria" panose="02040503050406030204" pitchFamily="18" charset="0"/>
                <a:cs typeface="Tahoma" panose="020B0604030504040204" pitchFamily="34" charset="0"/>
              </a:rPr>
              <a:t> </a:t>
            </a:r>
            <a:r>
              <a:rPr lang="de-DE" sz="2400" noProof="1">
                <a:solidFill>
                  <a:srgbClr val="000000"/>
                </a:solidFill>
                <a:latin typeface="Cambria" panose="02040503050406030204" pitchFamily="18" charset="0"/>
                <a:cs typeface="Tahoma" panose="020B0604030504040204" pitchFamily="34" charset="0"/>
              </a:rPr>
              <a:t>efektif (Mardianti &amp; Farida, 2020). </a:t>
            </a:r>
            <a:endParaRPr lang="id-ID" sz="2400" noProof="1">
              <a:solidFill>
                <a:srgbClr val="000000"/>
              </a:solidFill>
              <a:latin typeface="Cambria" panose="02040503050406030204" pitchFamily="18" charset="0"/>
              <a:cs typeface="Tahoma" panose="020B0604030504040204" pitchFamily="34" charset="0"/>
            </a:endParaRPr>
          </a:p>
          <a:p>
            <a:pPr marL="263525" indent="-263525" defTabSz="914400">
              <a:spcBef>
                <a:spcPts val="600"/>
              </a:spcBef>
              <a:spcAft>
                <a:spcPts val="1200"/>
              </a:spcAft>
              <a:buFont typeface="Arial" panose="020B0604020202020204"/>
              <a:buChar char="•"/>
              <a:defRPr/>
            </a:pPr>
            <a:r>
              <a:rPr lang="de-DE" sz="2400" noProof="1">
                <a:solidFill>
                  <a:srgbClr val="000000"/>
                </a:solidFill>
                <a:latin typeface="Cambria" panose="02040503050406030204" pitchFamily="18" charset="0"/>
                <a:cs typeface="Tahoma" panose="020B0604030504040204" pitchFamily="34" charset="0"/>
              </a:rPr>
              <a:t>Imunisasi merupakan investasi kesehatan</a:t>
            </a:r>
            <a:r>
              <a:rPr lang="id-ID" sz="2400" noProof="1">
                <a:solidFill>
                  <a:srgbClr val="000000"/>
                </a:solidFill>
                <a:latin typeface="Cambria" panose="02040503050406030204" pitchFamily="18" charset="0"/>
                <a:cs typeface="Tahoma" panose="020B0604030504040204" pitchFamily="34" charset="0"/>
              </a:rPr>
              <a:t> </a:t>
            </a:r>
            <a:r>
              <a:rPr lang="de-DE" sz="2400" noProof="1">
                <a:solidFill>
                  <a:srgbClr val="000000"/>
                </a:solidFill>
                <a:latin typeface="Cambria" panose="02040503050406030204" pitchFamily="18" charset="0"/>
                <a:cs typeface="Tahoma" panose="020B0604030504040204" pitchFamily="34" charset="0"/>
              </a:rPr>
              <a:t>untuk masa depan karena dapat memberikan perlindungan terhadap penyakit</a:t>
            </a:r>
            <a:r>
              <a:rPr lang="id-ID" sz="2400" noProof="1">
                <a:solidFill>
                  <a:srgbClr val="000000"/>
                </a:solidFill>
                <a:latin typeface="Cambria" panose="02040503050406030204" pitchFamily="18" charset="0"/>
                <a:cs typeface="Tahoma" panose="020B0604030504040204" pitchFamily="34" charset="0"/>
              </a:rPr>
              <a:t> </a:t>
            </a:r>
            <a:r>
              <a:rPr lang="de-DE" sz="2400" noProof="1">
                <a:solidFill>
                  <a:srgbClr val="000000"/>
                </a:solidFill>
                <a:latin typeface="Cambria" panose="02040503050406030204" pitchFamily="18" charset="0"/>
                <a:cs typeface="Tahoma" panose="020B0604030504040204" pitchFamily="34" charset="0"/>
              </a:rPr>
              <a:t>infeksi, mencegah seseorang jatuh sakit </a:t>
            </a:r>
            <a:r>
              <a:rPr lang="id-ID" sz="2400" noProof="1">
                <a:solidFill>
                  <a:srgbClr val="000000"/>
                </a:solidFill>
                <a:latin typeface="Cambria" panose="02040503050406030204" pitchFamily="18" charset="0"/>
                <a:cs typeface="Tahoma" panose="020B0604030504040204" pitchFamily="34" charset="0"/>
              </a:rPr>
              <a:t>yang</a:t>
            </a:r>
            <a:r>
              <a:rPr lang="de-DE" sz="2400" noProof="1">
                <a:solidFill>
                  <a:srgbClr val="000000"/>
                </a:solidFill>
                <a:latin typeface="Cambria" panose="02040503050406030204" pitchFamily="18" charset="0"/>
                <a:cs typeface="Tahoma" panose="020B0604030504040204" pitchFamily="34" charset="0"/>
              </a:rPr>
              <a:t> membutuhkan biaya yang lebih mahal.</a:t>
            </a:r>
            <a:endParaRPr lang="id-ID" sz="2400" noProof="1">
              <a:solidFill>
                <a:srgbClr val="000000"/>
              </a:solidFill>
              <a:latin typeface="Cambria" panose="02040503050406030204" pitchFamily="18" charset="0"/>
              <a:cs typeface="Tahoma" panose="020B060403050404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000141" y="6259990"/>
            <a:ext cx="2743200" cy="365125"/>
          </a:xfrm>
        </p:spPr>
        <p:txBody>
          <a:bodyPr/>
          <a:lstStyle/>
          <a:p>
            <a:fld id="{B82CCC60-E8CD-4174-8B1A-7DF615B22EEF}" type="slidenum">
              <a:rPr lang="en-US" smtClean="0"/>
              <a:t>41</a:t>
            </a:fld>
            <a:endParaRPr lang="en-US" dirty="0"/>
          </a:p>
        </p:txBody>
      </p:sp>
      <p:pic>
        <p:nvPicPr>
          <p:cNvPr id="10" name="Picture 9"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1" y="6187800"/>
            <a:ext cx="12192001" cy="689610"/>
          </a:xfrm>
          <a:prstGeom prst="rect">
            <a:avLst/>
          </a:prstGeom>
          <a:ln>
            <a:noFill/>
          </a:ln>
          <a:effectLst>
            <a:outerShdw blurRad="190500" algn="tl" rotWithShape="0">
              <a:srgbClr val="000000">
                <a:alpha val="70000"/>
              </a:srgbClr>
            </a:outerShdw>
          </a:effectLst>
        </p:spPr>
      </p:pic>
      <p:sp>
        <p:nvSpPr>
          <p:cNvPr id="9" name="TextBox 8"/>
          <p:cNvSpPr txBox="1"/>
          <p:nvPr/>
        </p:nvSpPr>
        <p:spPr>
          <a:xfrm>
            <a:off x="1520071" y="301414"/>
            <a:ext cx="6871761" cy="584775"/>
          </a:xfrm>
          <a:prstGeom prst="rect">
            <a:avLst/>
          </a:prstGeom>
          <a:solidFill>
            <a:schemeClr val="accent4">
              <a:lumMod val="60000"/>
              <a:lumOff val="40000"/>
            </a:schemeClr>
          </a:solidFill>
          <a:ln>
            <a:solidFill>
              <a:schemeClr val="accent4">
                <a:lumMod val="50000"/>
              </a:schemeClr>
            </a:solidFill>
          </a:ln>
        </p:spPr>
        <p:txBody>
          <a:bodyPr wrap="square" rtlCol="0">
            <a:spAutoFit/>
          </a:bodyPr>
          <a:lstStyle/>
          <a:p>
            <a:pPr algn="ctr"/>
            <a:r>
              <a:rPr lang="id-ID" sz="3200" b="1" dirty="0"/>
              <a:t>Imunisasi</a:t>
            </a:r>
            <a:endParaRPr lang="en-US" sz="3200" b="1" dirty="0"/>
          </a:p>
        </p:txBody>
      </p:sp>
      <p:sp>
        <p:nvSpPr>
          <p:cNvPr id="6" name="Rectangle 5"/>
          <p:cNvSpPr txBox="1">
            <a:spLocks noChangeArrowheads="1"/>
          </p:cNvSpPr>
          <p:nvPr/>
        </p:nvSpPr>
        <p:spPr>
          <a:xfrm>
            <a:off x="1018930" y="1138425"/>
            <a:ext cx="10573301" cy="47970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63525" indent="-263525" defTabSz="914400">
              <a:spcBef>
                <a:spcPts val="600"/>
              </a:spcBef>
              <a:spcAft>
                <a:spcPts val="1200"/>
              </a:spcAft>
              <a:buFont typeface="Arial" panose="020B0604020202020204"/>
              <a:buChar char="•"/>
              <a:defRPr/>
            </a:pPr>
            <a:r>
              <a:rPr lang="id-ID" sz="2600" dirty="0">
                <a:solidFill>
                  <a:srgbClr val="000000"/>
                </a:solidFill>
                <a:latin typeface="Cambria" panose="02040503050406030204" pitchFamily="18" charset="0"/>
                <a:cs typeface="Tahoma" panose="020B0604030504040204" pitchFamily="34" charset="0"/>
              </a:rPr>
              <a:t>Imunisasi berasal dari kata imun, kebal atau </a:t>
            </a:r>
            <a:r>
              <a:rPr lang="id-ID" sz="2600" dirty="0" err="1">
                <a:solidFill>
                  <a:srgbClr val="000000"/>
                </a:solidFill>
                <a:latin typeface="Cambria" panose="02040503050406030204" pitchFamily="18" charset="0"/>
                <a:cs typeface="Tahoma" panose="020B0604030504040204" pitchFamily="34" charset="0"/>
              </a:rPr>
              <a:t>resisten</a:t>
            </a:r>
            <a:endParaRPr lang="id-ID" sz="2600" dirty="0">
              <a:solidFill>
                <a:srgbClr val="000000"/>
              </a:solidFill>
              <a:latin typeface="Cambria" panose="02040503050406030204" pitchFamily="18" charset="0"/>
              <a:cs typeface="Tahoma" panose="020B0604030504040204" pitchFamily="34" charset="0"/>
            </a:endParaRPr>
          </a:p>
          <a:p>
            <a:pPr marL="263525" indent="-263525" defTabSz="914400">
              <a:spcBef>
                <a:spcPts val="600"/>
              </a:spcBef>
              <a:spcAft>
                <a:spcPts val="1200"/>
              </a:spcAft>
              <a:buFont typeface="Arial" panose="020B0604020202020204"/>
              <a:buChar char="•"/>
              <a:defRPr/>
            </a:pPr>
            <a:r>
              <a:rPr lang="id-ID" sz="2600" dirty="0">
                <a:solidFill>
                  <a:srgbClr val="000000"/>
                </a:solidFill>
                <a:latin typeface="Cambria" panose="02040503050406030204" pitchFamily="18" charset="0"/>
                <a:cs typeface="Tahoma" panose="020B0604030504040204" pitchFamily="34" charset="0"/>
              </a:rPr>
              <a:t>Imunisasi adalah proses membuat seseorang imun atau kebal terhadap suatu penyakit melalui pemberian vaksin yang merangsang sistem kekebalan tubuh membentuk antibodi supaya kebal terhadap penyakit tertentu.</a:t>
            </a:r>
            <a:r>
              <a:rPr lang="de-DE" sz="2600" noProof="1">
                <a:solidFill>
                  <a:srgbClr val="000000"/>
                </a:solidFill>
                <a:latin typeface="Cambria" panose="02040503050406030204" pitchFamily="18" charset="0"/>
                <a:cs typeface="Tahoma" panose="020B0604030504040204" pitchFamily="34" charset="0"/>
              </a:rPr>
              <a:t> </a:t>
            </a:r>
            <a:endParaRPr lang="id-ID" sz="2600" noProof="1">
              <a:solidFill>
                <a:srgbClr val="000000"/>
              </a:solidFill>
              <a:latin typeface="Cambria" panose="02040503050406030204" pitchFamily="18" charset="0"/>
              <a:cs typeface="Tahoma" panose="020B0604030504040204" pitchFamily="34" charset="0"/>
            </a:endParaRPr>
          </a:p>
          <a:p>
            <a:pPr marL="263525" indent="-263525" defTabSz="914400">
              <a:spcBef>
                <a:spcPts val="600"/>
              </a:spcBef>
              <a:spcAft>
                <a:spcPts val="1200"/>
              </a:spcAft>
              <a:buFont typeface="Arial" panose="020B0604020202020204"/>
              <a:buChar char="•"/>
              <a:defRPr/>
            </a:pPr>
            <a:r>
              <a:rPr lang="de-DE" sz="2600" noProof="1">
                <a:solidFill>
                  <a:srgbClr val="000000"/>
                </a:solidFill>
                <a:latin typeface="Cambria" panose="02040503050406030204" pitchFamily="18" charset="0"/>
                <a:cs typeface="Tahoma" panose="020B0604030504040204" pitchFamily="34" charset="0"/>
              </a:rPr>
              <a:t>Vaksin adalah suatu produk biologis yang terbuat dari kuman, komponen kuman (bakteri, virus atau riketsia), atau racun kuman (toxoid) yang telah dilemahkan atau dimatikan dan akan menimbulkan kekebalan spesifik secara aktif terhadap penyakit tertentu.</a:t>
            </a:r>
            <a:r>
              <a:rPr lang="id-ID" sz="2600" noProof="1">
                <a:solidFill>
                  <a:srgbClr val="000000"/>
                </a:solidFill>
                <a:latin typeface="Cambria" panose="02040503050406030204" pitchFamily="18" charset="0"/>
                <a:cs typeface="Tahoma" panose="020B0604030504040204" pitchFamily="34" charset="0"/>
              </a:rPr>
              <a:t> </a:t>
            </a:r>
            <a:endParaRPr lang="id-ID" sz="2600" dirty="0"/>
          </a:p>
          <a:p>
            <a:pPr marL="443230" indent="0" defTabSz="914400">
              <a:spcBef>
                <a:spcPts val="0"/>
              </a:spcBef>
              <a:buNone/>
              <a:tabLst>
                <a:tab pos="725170" algn="l"/>
              </a:tabLst>
              <a:defRPr/>
            </a:pPr>
            <a:endParaRPr lang="de-DE" sz="2000" noProof="1">
              <a:solidFill>
                <a:srgbClr val="000000"/>
              </a:solidFill>
              <a:latin typeface="Cambria" panose="02040503050406030204" pitchFamily="18" charset="0"/>
              <a:cs typeface="Tahoma" panose="020B060403050404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000141" y="6259990"/>
            <a:ext cx="2743200" cy="365125"/>
          </a:xfrm>
        </p:spPr>
        <p:txBody>
          <a:bodyPr/>
          <a:lstStyle/>
          <a:p>
            <a:fld id="{B82CCC60-E8CD-4174-8B1A-7DF615B22EEF}" type="slidenum">
              <a:rPr lang="en-US" smtClean="0"/>
              <a:t>42</a:t>
            </a:fld>
            <a:endParaRPr lang="en-US" dirty="0"/>
          </a:p>
        </p:txBody>
      </p:sp>
      <p:pic>
        <p:nvPicPr>
          <p:cNvPr id="10" name="Picture 9"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1" y="6187800"/>
            <a:ext cx="12192001" cy="689610"/>
          </a:xfrm>
          <a:prstGeom prst="rect">
            <a:avLst/>
          </a:prstGeom>
          <a:ln>
            <a:noFill/>
          </a:ln>
          <a:effectLst>
            <a:outerShdw blurRad="190500" algn="tl" rotWithShape="0">
              <a:srgbClr val="000000">
                <a:alpha val="70000"/>
              </a:srgbClr>
            </a:outerShdw>
          </a:effectLst>
        </p:spPr>
      </p:pic>
      <p:sp>
        <p:nvSpPr>
          <p:cNvPr id="9" name="TextBox 8"/>
          <p:cNvSpPr txBox="1"/>
          <p:nvPr/>
        </p:nvSpPr>
        <p:spPr>
          <a:xfrm>
            <a:off x="1520071" y="301414"/>
            <a:ext cx="6871761" cy="584775"/>
          </a:xfrm>
          <a:prstGeom prst="rect">
            <a:avLst/>
          </a:prstGeom>
          <a:solidFill>
            <a:schemeClr val="accent4">
              <a:lumMod val="60000"/>
              <a:lumOff val="40000"/>
            </a:schemeClr>
          </a:solidFill>
          <a:ln>
            <a:solidFill>
              <a:schemeClr val="accent4">
                <a:lumMod val="50000"/>
              </a:schemeClr>
            </a:solidFill>
          </a:ln>
        </p:spPr>
        <p:txBody>
          <a:bodyPr wrap="square" rtlCol="0">
            <a:spAutoFit/>
          </a:bodyPr>
          <a:lstStyle/>
          <a:p>
            <a:pPr algn="ctr"/>
            <a:r>
              <a:rPr lang="id-ID" sz="3200" b="1" dirty="0"/>
              <a:t>Jenis-jenis vaksin</a:t>
            </a:r>
            <a:endParaRPr lang="en-US" sz="3200" b="1" dirty="0"/>
          </a:p>
        </p:txBody>
      </p:sp>
      <p:sp>
        <p:nvSpPr>
          <p:cNvPr id="7" name="Rectangle 5"/>
          <p:cNvSpPr txBox="1">
            <a:spLocks noChangeArrowheads="1"/>
          </p:cNvSpPr>
          <p:nvPr/>
        </p:nvSpPr>
        <p:spPr>
          <a:xfrm>
            <a:off x="1520070" y="1246419"/>
            <a:ext cx="9305245" cy="4581150"/>
          </a:xfrm>
          <a:prstGeom prst="rect">
            <a:avLst/>
          </a:prstGeom>
        </p:spPr>
        <p:txBody>
          <a:bodyPr vert="horz" lIns="0" tIns="45720" rIns="0" bIns="45720" rtlCol="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43230" indent="-443230" defTabSz="914400">
              <a:spcBef>
                <a:spcPts val="600"/>
              </a:spcBef>
              <a:spcAft>
                <a:spcPts val="600"/>
              </a:spcAft>
              <a:buNone/>
              <a:tabLst>
                <a:tab pos="445770" algn="l"/>
              </a:tabLst>
              <a:defRPr/>
            </a:pPr>
            <a:r>
              <a:rPr lang="de-DE" sz="2000" noProof="1">
                <a:solidFill>
                  <a:srgbClr val="000000"/>
                </a:solidFill>
                <a:latin typeface="Cambria" panose="02040503050406030204" pitchFamily="18" charset="0"/>
                <a:cs typeface="Tahoma" panose="020B0604030504040204" pitchFamily="34" charset="0"/>
              </a:rPr>
              <a:t>1) </a:t>
            </a:r>
            <a:r>
              <a:rPr lang="de-DE" sz="2600" noProof="1">
                <a:solidFill>
                  <a:srgbClr val="000000"/>
                </a:solidFill>
                <a:latin typeface="Cambria" panose="02040503050406030204" pitchFamily="18" charset="0"/>
                <a:cs typeface="Tahoma" panose="020B0604030504040204" pitchFamily="34" charset="0"/>
              </a:rPr>
              <a:t>	</a:t>
            </a:r>
            <a:r>
              <a:rPr lang="de-DE" sz="2600" b="1" noProof="1">
                <a:solidFill>
                  <a:srgbClr val="000000"/>
                </a:solidFill>
                <a:latin typeface="Cambria" panose="02040503050406030204" pitchFamily="18" charset="0"/>
                <a:cs typeface="Tahoma" panose="020B0604030504040204" pitchFamily="34" charset="0"/>
              </a:rPr>
              <a:t>Vaksin BCG </a:t>
            </a:r>
            <a:r>
              <a:rPr lang="de-DE" sz="2600" noProof="1">
                <a:solidFill>
                  <a:srgbClr val="000000"/>
                </a:solidFill>
                <a:latin typeface="Cambria" panose="02040503050406030204" pitchFamily="18" charset="0"/>
                <a:cs typeface="Tahoma" panose="020B0604030504040204" pitchFamily="34" charset="0"/>
              </a:rPr>
              <a:t>(Bacillus Calmette Guerine), untuk kekebalan aktif terhadap tuberkulosa.</a:t>
            </a:r>
          </a:p>
          <a:p>
            <a:pPr marL="446405" indent="-446405" defTabSz="914400">
              <a:spcBef>
                <a:spcPts val="600"/>
              </a:spcBef>
              <a:spcAft>
                <a:spcPts val="600"/>
              </a:spcAft>
              <a:buNone/>
              <a:tabLst>
                <a:tab pos="445770" algn="l"/>
              </a:tabLst>
              <a:defRPr/>
            </a:pPr>
            <a:r>
              <a:rPr lang="de-DE" sz="2600" noProof="1">
                <a:solidFill>
                  <a:srgbClr val="000000"/>
                </a:solidFill>
                <a:latin typeface="Cambria" panose="02040503050406030204" pitchFamily="18" charset="0"/>
                <a:cs typeface="Tahoma" panose="020B0604030504040204" pitchFamily="34" charset="0"/>
              </a:rPr>
              <a:t>2) 	</a:t>
            </a:r>
            <a:r>
              <a:rPr lang="de-DE" sz="2600" b="1" noProof="1">
                <a:solidFill>
                  <a:srgbClr val="000000"/>
                </a:solidFill>
                <a:latin typeface="Cambria" panose="02040503050406030204" pitchFamily="18" charset="0"/>
                <a:cs typeface="Tahoma" panose="020B0604030504040204" pitchFamily="34" charset="0"/>
              </a:rPr>
              <a:t>Vaksin DPT </a:t>
            </a:r>
            <a:r>
              <a:rPr lang="de-DE" sz="2600" noProof="1">
                <a:solidFill>
                  <a:srgbClr val="000000"/>
                </a:solidFill>
                <a:latin typeface="Cambria" panose="02040503050406030204" pitchFamily="18" charset="0"/>
                <a:cs typeface="Tahoma" panose="020B0604030504040204" pitchFamily="34" charset="0"/>
              </a:rPr>
              <a:t>(Difteri Pertusis Tetanus), untuk kekebalan secara simultan terhadap difteri, pertusis dan tetanus.</a:t>
            </a:r>
          </a:p>
          <a:p>
            <a:pPr marL="446405" indent="-446405" defTabSz="914400">
              <a:spcBef>
                <a:spcPts val="600"/>
              </a:spcBef>
              <a:spcAft>
                <a:spcPts val="600"/>
              </a:spcAft>
              <a:buNone/>
              <a:tabLst>
                <a:tab pos="445770" algn="l"/>
              </a:tabLst>
              <a:defRPr/>
            </a:pPr>
            <a:r>
              <a:rPr lang="de-DE" sz="2600" noProof="1">
                <a:solidFill>
                  <a:srgbClr val="000000"/>
                </a:solidFill>
                <a:latin typeface="Cambria" panose="02040503050406030204" pitchFamily="18" charset="0"/>
                <a:cs typeface="Tahoma" panose="020B0604030504040204" pitchFamily="34" charset="0"/>
              </a:rPr>
              <a:t>3) 	</a:t>
            </a:r>
            <a:r>
              <a:rPr lang="de-DE" sz="2600" b="1" noProof="1">
                <a:solidFill>
                  <a:srgbClr val="000000"/>
                </a:solidFill>
                <a:latin typeface="Cambria" panose="02040503050406030204" pitchFamily="18" charset="0"/>
                <a:cs typeface="Tahoma" panose="020B0604030504040204" pitchFamily="34" charset="0"/>
              </a:rPr>
              <a:t>Vaksin TT </a:t>
            </a:r>
            <a:r>
              <a:rPr lang="de-DE" sz="2600" noProof="1">
                <a:solidFill>
                  <a:srgbClr val="000000"/>
                </a:solidFill>
                <a:latin typeface="Cambria" panose="02040503050406030204" pitchFamily="18" charset="0"/>
                <a:cs typeface="Tahoma" panose="020B0604030504040204" pitchFamily="34" charset="0"/>
              </a:rPr>
              <a:t>(Tetanus Toksoid), untuk kekebalan aktif terhadap tetanus.</a:t>
            </a:r>
          </a:p>
          <a:p>
            <a:pPr marL="457200" indent="-457200" defTabSz="914400">
              <a:spcBef>
                <a:spcPts val="600"/>
              </a:spcBef>
              <a:spcAft>
                <a:spcPts val="600"/>
              </a:spcAft>
              <a:buAutoNum type="arabicParenR" startAt="4"/>
              <a:tabLst>
                <a:tab pos="445770" algn="l"/>
              </a:tabLst>
              <a:defRPr/>
            </a:pPr>
            <a:r>
              <a:rPr lang="de-DE" sz="2600" b="1" noProof="1">
                <a:solidFill>
                  <a:srgbClr val="000000"/>
                </a:solidFill>
                <a:latin typeface="Cambria" panose="02040503050406030204" pitchFamily="18" charset="0"/>
                <a:cs typeface="Tahoma" panose="020B0604030504040204" pitchFamily="34" charset="0"/>
              </a:rPr>
              <a:t>Vaksin DT </a:t>
            </a:r>
            <a:r>
              <a:rPr lang="de-DE" sz="2600" noProof="1">
                <a:solidFill>
                  <a:srgbClr val="000000"/>
                </a:solidFill>
                <a:latin typeface="Cambria" panose="02040503050406030204" pitchFamily="18" charset="0"/>
                <a:cs typeface="Tahoma" panose="020B0604030504040204" pitchFamily="34" charset="0"/>
              </a:rPr>
              <a:t>(Difteri dan Tetanus), untuk kekebalan simultan terhadap difteri dan tetanus.</a:t>
            </a:r>
          </a:p>
          <a:p>
            <a:pPr marL="446405" indent="-446405" defTabSz="914400">
              <a:spcBef>
                <a:spcPts val="600"/>
              </a:spcBef>
              <a:spcAft>
                <a:spcPts val="600"/>
              </a:spcAft>
              <a:buNone/>
              <a:tabLst>
                <a:tab pos="445770" algn="l"/>
              </a:tabLst>
              <a:defRPr/>
            </a:pPr>
            <a:r>
              <a:rPr lang="de-DE" sz="2600" noProof="1">
                <a:solidFill>
                  <a:srgbClr val="000000"/>
                </a:solidFill>
                <a:latin typeface="Cambria" panose="02040503050406030204" pitchFamily="18" charset="0"/>
                <a:cs typeface="Tahoma" panose="020B0604030504040204" pitchFamily="34" charset="0"/>
              </a:rPr>
              <a:t>5)	</a:t>
            </a:r>
            <a:r>
              <a:rPr lang="de-DE" sz="2600" b="1" noProof="1">
                <a:solidFill>
                  <a:srgbClr val="000000"/>
                </a:solidFill>
                <a:latin typeface="Cambria" panose="02040503050406030204" pitchFamily="18" charset="0"/>
                <a:cs typeface="Tahoma" panose="020B0604030504040204" pitchFamily="34" charset="0"/>
              </a:rPr>
              <a:t>Vaksin Polio </a:t>
            </a:r>
            <a:r>
              <a:rPr lang="de-DE" sz="2600" noProof="1">
                <a:solidFill>
                  <a:srgbClr val="000000"/>
                </a:solidFill>
                <a:latin typeface="Cambria" panose="02040503050406030204" pitchFamily="18" charset="0"/>
                <a:cs typeface="Tahoma" panose="020B0604030504040204" pitchFamily="34" charset="0"/>
              </a:rPr>
              <a:t>(Oral Polio Vaccine), untuk kekebalan aktif terhadap poliomyelitis.</a:t>
            </a:r>
          </a:p>
          <a:p>
            <a:pPr marL="457200" indent="-457200" defTabSz="914400">
              <a:spcBef>
                <a:spcPts val="600"/>
              </a:spcBef>
              <a:spcAft>
                <a:spcPts val="600"/>
              </a:spcAft>
              <a:buAutoNum type="arabicParenR" startAt="6"/>
              <a:tabLst>
                <a:tab pos="445770" algn="l"/>
              </a:tabLst>
              <a:defRPr/>
            </a:pPr>
            <a:r>
              <a:rPr lang="de-DE" sz="2600" b="1" noProof="1">
                <a:solidFill>
                  <a:srgbClr val="000000"/>
                </a:solidFill>
                <a:latin typeface="Cambria" panose="02040503050406030204" pitchFamily="18" charset="0"/>
                <a:cs typeface="Tahoma" panose="020B0604030504040204" pitchFamily="34" charset="0"/>
              </a:rPr>
              <a:t>Vaksin Campak</a:t>
            </a:r>
            <a:r>
              <a:rPr lang="de-DE" sz="2600" noProof="1">
                <a:solidFill>
                  <a:srgbClr val="000000"/>
                </a:solidFill>
                <a:latin typeface="Cambria" panose="02040503050406030204" pitchFamily="18" charset="0"/>
                <a:cs typeface="Tahoma" panose="020B0604030504040204" pitchFamily="34" charset="0"/>
              </a:rPr>
              <a:t>, untuk kekebalan aktif terhadap penyakit campak.</a:t>
            </a:r>
          </a:p>
          <a:p>
            <a:pPr marL="457200" indent="-457200" defTabSz="914400">
              <a:spcBef>
                <a:spcPts val="600"/>
              </a:spcBef>
              <a:spcAft>
                <a:spcPts val="600"/>
              </a:spcAft>
              <a:buAutoNum type="arabicParenR" startAt="6"/>
              <a:tabLst>
                <a:tab pos="445770" algn="l"/>
              </a:tabLst>
              <a:defRPr/>
            </a:pPr>
            <a:r>
              <a:rPr lang="de-DE" sz="2600" b="1" noProof="1">
                <a:solidFill>
                  <a:srgbClr val="000000"/>
                </a:solidFill>
                <a:latin typeface="Cambria" panose="02040503050406030204" pitchFamily="18" charset="0"/>
                <a:cs typeface="Tahoma" panose="020B0604030504040204" pitchFamily="34" charset="0"/>
              </a:rPr>
              <a:t>Vaksin Hepatitis B</a:t>
            </a:r>
            <a:r>
              <a:rPr lang="de-DE" sz="2600" noProof="1">
                <a:solidFill>
                  <a:srgbClr val="000000"/>
                </a:solidFill>
                <a:latin typeface="Cambria" panose="02040503050406030204" pitchFamily="18" charset="0"/>
                <a:cs typeface="Tahoma" panose="020B0604030504040204" pitchFamily="34" charset="0"/>
              </a:rPr>
              <a:t>, untuk kekebalan aktif terhadap infeksi yang disebabkan oleh virus hepatitis B.</a:t>
            </a:r>
          </a:p>
          <a:p>
            <a:pPr marL="446405" indent="-446405" defTabSz="914400">
              <a:spcBef>
                <a:spcPts val="600"/>
              </a:spcBef>
              <a:spcAft>
                <a:spcPts val="600"/>
              </a:spcAft>
              <a:buNone/>
              <a:tabLst>
                <a:tab pos="445770" algn="l"/>
              </a:tabLst>
              <a:defRPr/>
            </a:pPr>
            <a:r>
              <a:rPr lang="de-DE" sz="2600" noProof="1">
                <a:solidFill>
                  <a:srgbClr val="000000"/>
                </a:solidFill>
                <a:latin typeface="Cambria" panose="02040503050406030204" pitchFamily="18" charset="0"/>
                <a:cs typeface="Tahoma" panose="020B0604030504040204" pitchFamily="34" charset="0"/>
              </a:rPr>
              <a:t>8) 	</a:t>
            </a:r>
            <a:r>
              <a:rPr lang="de-DE" sz="2600" b="1" noProof="1">
                <a:solidFill>
                  <a:srgbClr val="000000"/>
                </a:solidFill>
                <a:latin typeface="Cambria" panose="02040503050406030204" pitchFamily="18" charset="0"/>
                <a:cs typeface="Tahoma" panose="020B0604030504040204" pitchFamily="34" charset="0"/>
              </a:rPr>
              <a:t>Vaksin DPT/HB</a:t>
            </a:r>
            <a:r>
              <a:rPr lang="de-DE" sz="2600" noProof="1">
                <a:solidFill>
                  <a:srgbClr val="000000"/>
                </a:solidFill>
                <a:latin typeface="Cambria" panose="02040503050406030204" pitchFamily="18" charset="0"/>
                <a:cs typeface="Tahoma" panose="020B0604030504040204" pitchFamily="34" charset="0"/>
              </a:rPr>
              <a:t>, untuk kekebalan aktif terhadap penyakit difteri, tetanus, pertusis dan hepatitis B.</a:t>
            </a:r>
          </a:p>
          <a:p>
            <a:pPr marL="457200" indent="-457200" defTabSz="914400">
              <a:spcBef>
                <a:spcPts val="600"/>
              </a:spcBef>
              <a:buAutoNum type="arabicParenR" startAt="6"/>
              <a:tabLst>
                <a:tab pos="445770" algn="l"/>
              </a:tabLst>
              <a:defRPr/>
            </a:pPr>
            <a:endParaRPr lang="de-DE" sz="2000" noProof="1">
              <a:solidFill>
                <a:srgbClr val="000000"/>
              </a:solidFill>
              <a:latin typeface="Cambria" panose="02040503050406030204" pitchFamily="18" charset="0"/>
              <a:cs typeface="Tahoma" panose="020B0604030504040204" pitchFamily="34" charset="0"/>
            </a:endParaRPr>
          </a:p>
          <a:p>
            <a:pPr marL="0" indent="0" defTabSz="914400">
              <a:spcBef>
                <a:spcPts val="600"/>
              </a:spcBef>
              <a:spcAft>
                <a:spcPts val="1200"/>
              </a:spcAft>
              <a:buNone/>
              <a:tabLst>
                <a:tab pos="445770" algn="l"/>
              </a:tabLst>
              <a:defRPr/>
            </a:pPr>
            <a:endParaRPr lang="de-DE" sz="2000" noProof="1">
              <a:solidFill>
                <a:srgbClr val="000000"/>
              </a:solidFill>
              <a:latin typeface="Cambria" panose="02040503050406030204" pitchFamily="18" charset="0"/>
              <a:cs typeface="Tahom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sign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59750"/>
          <a:stretch>
            <a:fillRect/>
          </a:stretch>
        </p:blipFill>
        <p:spPr>
          <a:xfrm>
            <a:off x="20" y="10"/>
            <a:ext cx="4580077" cy="6400784"/>
          </a:xfrm>
          <a:prstGeom prst="rect">
            <a:avLst/>
          </a:prstGeom>
        </p:spPr>
      </p:pic>
      <p:pic>
        <p:nvPicPr>
          <p:cNvPr id="38" name="Picture 37"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
        <p:nvSpPr>
          <p:cNvPr id="54" name="Slide Number Placeholder 5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A98EE3D-8CD1-4C3F-BD1C-C98C9596463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43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Rectangle 2"/>
          <p:cNvSpPr/>
          <p:nvPr/>
        </p:nvSpPr>
        <p:spPr>
          <a:xfrm>
            <a:off x="5385621" y="661157"/>
            <a:ext cx="4953000" cy="923330"/>
          </a:xfrm>
          <a:prstGeom prst="rect">
            <a:avLst/>
          </a:prstGeom>
        </p:spPr>
        <p:txBody>
          <a:bodyPr wrap="square">
            <a:spAutoFit/>
          </a:bodyPr>
          <a:lstStyle/>
          <a:p>
            <a:r>
              <a:rPr lang="id-ID" sz="5400" b="1" dirty="0"/>
              <a:t>Indikator Gizi</a:t>
            </a:r>
          </a:p>
        </p:txBody>
      </p:sp>
      <p:pic>
        <p:nvPicPr>
          <p:cNvPr id="3074" name="Picture 2" descr="Menu Makanan Seha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8544" y="1735552"/>
            <a:ext cx="4580077" cy="44000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236" y="304808"/>
            <a:ext cx="10668000" cy="707563"/>
          </a:xfrm>
        </p:spPr>
        <p:txBody>
          <a:bodyPr>
            <a:noAutofit/>
          </a:bodyPr>
          <a:lstStyle/>
          <a:p>
            <a:r>
              <a:rPr lang="fi-FI" sz="3400" b="1" dirty="0">
                <a:solidFill>
                  <a:srgbClr val="000000"/>
                </a:solidFill>
                <a:latin typeface="Georgia" panose="02040502050405020303"/>
                <a:cs typeface="Georgia" panose="02040502050405020303"/>
              </a:rPr>
              <a:t>Pendahuluan</a:t>
            </a:r>
            <a:endParaRPr lang="en-US" sz="3400" dirty="0"/>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44</a:t>
            </a:fld>
            <a:endParaRPr lang="en-US" altLang="id-ID"/>
          </a:p>
        </p:txBody>
      </p:sp>
      <p:sp>
        <p:nvSpPr>
          <p:cNvPr id="6" name="TextBox 5"/>
          <p:cNvSpPr txBox="1"/>
          <p:nvPr/>
        </p:nvSpPr>
        <p:spPr>
          <a:xfrm>
            <a:off x="457200" y="1185465"/>
            <a:ext cx="11059887" cy="4770537"/>
          </a:xfrm>
          <a:prstGeom prst="rect">
            <a:avLst/>
          </a:prstGeom>
          <a:solidFill>
            <a:schemeClr val="bg1"/>
          </a:solidFill>
        </p:spPr>
        <p:txBody>
          <a:bodyPr wrap="square">
            <a:spAutoFit/>
          </a:bodyPr>
          <a:lstStyle/>
          <a:p>
            <a:pPr marL="396875" indent="-396875" defTabSz="914400">
              <a:spcBef>
                <a:spcPts val="600"/>
              </a:spcBef>
              <a:spcAft>
                <a:spcPts val="600"/>
              </a:spcAft>
              <a:buFontTx/>
              <a:buBlip>
                <a:blip r:embed="rId2"/>
              </a:buBlip>
              <a:defRPr/>
            </a:pPr>
            <a:r>
              <a:rPr lang="de-DE" sz="2200" b="1" dirty="0">
                <a:solidFill>
                  <a:srgbClr val="000099"/>
                </a:solidFill>
                <a:latin typeface="Cambria" panose="02040503050406030204" pitchFamily="18" charset="0"/>
                <a:cs typeface="Tahoma" panose="020B0604030504040204" pitchFamily="34" charset="0"/>
              </a:rPr>
              <a:t>Keberhasilan pembangunan nasional suatu bangsa ditentukan oleh ketersediaan SDM berkualitas, yaitu SDM yang memiliki </a:t>
            </a:r>
            <a:r>
              <a:rPr lang="de-DE" sz="2200" b="1" dirty="0">
                <a:solidFill>
                  <a:srgbClr val="00B050"/>
                </a:solidFill>
                <a:latin typeface="Cambria" panose="02040503050406030204" pitchFamily="18" charset="0"/>
                <a:cs typeface="Tahoma" panose="020B0604030504040204" pitchFamily="34" charset="0"/>
              </a:rPr>
              <a:t>fisik</a:t>
            </a:r>
            <a:r>
              <a:rPr lang="de-DE" sz="2200" b="1" dirty="0">
                <a:solidFill>
                  <a:srgbClr val="000099"/>
                </a:solidFill>
                <a:latin typeface="Cambria" panose="02040503050406030204" pitchFamily="18" charset="0"/>
                <a:cs typeface="Tahoma" panose="020B0604030504040204" pitchFamily="34" charset="0"/>
              </a:rPr>
              <a:t> yang tangguh, </a:t>
            </a:r>
            <a:r>
              <a:rPr lang="de-DE" sz="2200" b="1" dirty="0">
                <a:solidFill>
                  <a:srgbClr val="00B050"/>
                </a:solidFill>
                <a:latin typeface="Cambria" panose="02040503050406030204" pitchFamily="18" charset="0"/>
                <a:cs typeface="Tahoma" panose="020B0604030504040204" pitchFamily="34" charset="0"/>
              </a:rPr>
              <a:t>mental</a:t>
            </a:r>
            <a:r>
              <a:rPr lang="de-DE" sz="2200" b="1" dirty="0">
                <a:solidFill>
                  <a:srgbClr val="000099"/>
                </a:solidFill>
                <a:latin typeface="Cambria" panose="02040503050406030204" pitchFamily="18" charset="0"/>
                <a:cs typeface="Tahoma" panose="020B0604030504040204" pitchFamily="34" charset="0"/>
              </a:rPr>
              <a:t> yang kuat dan </a:t>
            </a:r>
            <a:r>
              <a:rPr lang="de-DE" sz="2200" b="1" dirty="0">
                <a:solidFill>
                  <a:srgbClr val="00B050"/>
                </a:solidFill>
                <a:latin typeface="Cambria" panose="02040503050406030204" pitchFamily="18" charset="0"/>
                <a:cs typeface="Tahoma" panose="020B0604030504040204" pitchFamily="34" charset="0"/>
              </a:rPr>
              <a:t>kesehatan</a:t>
            </a:r>
            <a:r>
              <a:rPr lang="de-DE" sz="2200" b="1" dirty="0">
                <a:solidFill>
                  <a:srgbClr val="000099"/>
                </a:solidFill>
                <a:latin typeface="Cambria" panose="02040503050406030204" pitchFamily="18" charset="0"/>
                <a:cs typeface="Tahoma" panose="020B0604030504040204" pitchFamily="34" charset="0"/>
              </a:rPr>
              <a:t> yang prima di samping penguasaan terhadap ilmu pengetahuan dan teknologi. </a:t>
            </a:r>
          </a:p>
          <a:p>
            <a:pPr marL="396875" indent="-396875" defTabSz="914400">
              <a:spcBef>
                <a:spcPts val="600"/>
              </a:spcBef>
              <a:spcAft>
                <a:spcPts val="600"/>
              </a:spcAft>
              <a:buFontTx/>
              <a:buBlip>
                <a:blip r:embed="rId2"/>
              </a:buBlip>
              <a:defRPr/>
            </a:pPr>
            <a:r>
              <a:rPr lang="de-DE" sz="2200" b="1" dirty="0">
                <a:solidFill>
                  <a:srgbClr val="000099"/>
                </a:solidFill>
                <a:latin typeface="Cambria" panose="02040503050406030204" pitchFamily="18" charset="0"/>
                <a:cs typeface="Tahoma" panose="020B0604030504040204" pitchFamily="34" charset="0"/>
              </a:rPr>
              <a:t>Kekurangan gizi dapat merusak kualitas SDM.</a:t>
            </a:r>
          </a:p>
          <a:p>
            <a:pPr marL="396875" indent="-396875" defTabSz="914400">
              <a:spcBef>
                <a:spcPts val="600"/>
              </a:spcBef>
              <a:spcAft>
                <a:spcPts val="600"/>
              </a:spcAft>
              <a:buFontTx/>
              <a:buBlip>
                <a:blip r:embed="rId2"/>
              </a:buBlip>
              <a:defRPr/>
            </a:pPr>
            <a:r>
              <a:rPr lang="de-DE" sz="2200" b="1" dirty="0">
                <a:solidFill>
                  <a:srgbClr val="00B050"/>
                </a:solidFill>
                <a:latin typeface="Cambria" panose="02040503050406030204" pitchFamily="18" charset="0"/>
                <a:cs typeface="Tahoma" panose="020B0604030504040204" pitchFamily="34" charset="0"/>
              </a:rPr>
              <a:t>Masa kehamilan </a:t>
            </a:r>
            <a:r>
              <a:rPr lang="de-DE" sz="2200" b="1" dirty="0">
                <a:solidFill>
                  <a:srgbClr val="000099"/>
                </a:solidFill>
                <a:latin typeface="Cambria" panose="02040503050406030204" pitchFamily="18" charset="0"/>
                <a:cs typeface="Tahoma" panose="020B0604030504040204" pitchFamily="34" charset="0"/>
              </a:rPr>
              <a:t>merupakan periode yang sangat menentukan kualitas SDM di masa depan, karena tumbuh kembang anak sangat ditentukan oleh kondisinya saat masa janin dalam kandungan. </a:t>
            </a:r>
          </a:p>
          <a:p>
            <a:pPr marL="396875" indent="-396875" defTabSz="914400">
              <a:spcBef>
                <a:spcPts val="600"/>
              </a:spcBef>
              <a:spcAft>
                <a:spcPts val="600"/>
              </a:spcAft>
              <a:buFontTx/>
              <a:buBlip>
                <a:blip r:embed="rId2"/>
              </a:buBlip>
              <a:defRPr/>
            </a:pPr>
            <a:r>
              <a:rPr lang="de-DE" sz="2200" b="1" dirty="0">
                <a:solidFill>
                  <a:srgbClr val="000099"/>
                </a:solidFill>
                <a:latin typeface="Cambria" panose="02040503050406030204" pitchFamily="18" charset="0"/>
                <a:cs typeface="Tahoma" panose="020B0604030504040204" pitchFamily="34" charset="0"/>
              </a:rPr>
              <a:t>Akan tetapi perlu diingat bahwa keadaan kesehatan dan status gizi ibu hamil ditentukan juga jauh sebelumnya, yaitu pada </a:t>
            </a:r>
            <a:r>
              <a:rPr lang="de-DE" sz="2200" b="1" dirty="0">
                <a:solidFill>
                  <a:srgbClr val="00B050"/>
                </a:solidFill>
                <a:latin typeface="Cambria" panose="02040503050406030204" pitchFamily="18" charset="0"/>
                <a:cs typeface="Tahoma" panose="020B0604030504040204" pitchFamily="34" charset="0"/>
              </a:rPr>
              <a:t>saat remaja</a:t>
            </a:r>
            <a:r>
              <a:rPr lang="de-DE" sz="2200" b="1" dirty="0">
                <a:solidFill>
                  <a:srgbClr val="000099"/>
                </a:solidFill>
                <a:latin typeface="Cambria" panose="02040503050406030204" pitchFamily="18" charset="0"/>
                <a:cs typeface="Tahoma" panose="020B0604030504040204" pitchFamily="34" charset="0"/>
              </a:rPr>
              <a:t> atau </a:t>
            </a:r>
            <a:r>
              <a:rPr lang="de-DE" sz="2200" b="1" dirty="0">
                <a:solidFill>
                  <a:srgbClr val="00B050"/>
                </a:solidFill>
                <a:latin typeface="Cambria" panose="02040503050406030204" pitchFamily="18" charset="0"/>
                <a:cs typeface="Tahoma" panose="020B0604030504040204" pitchFamily="34" charset="0"/>
              </a:rPr>
              <a:t>usia sekolah</a:t>
            </a:r>
            <a:r>
              <a:rPr lang="de-DE" sz="2200" b="1" dirty="0">
                <a:solidFill>
                  <a:srgbClr val="000099"/>
                </a:solidFill>
                <a:latin typeface="Cambria" panose="02040503050406030204" pitchFamily="18" charset="0"/>
                <a:cs typeface="Tahoma" panose="020B0604030504040204" pitchFamily="34" charset="0"/>
              </a:rPr>
              <a:t>. </a:t>
            </a:r>
          </a:p>
          <a:p>
            <a:pPr marL="396875" indent="-396875" defTabSz="914400">
              <a:spcBef>
                <a:spcPts val="600"/>
              </a:spcBef>
              <a:spcAft>
                <a:spcPts val="600"/>
              </a:spcAft>
              <a:buFontTx/>
              <a:buBlip>
                <a:blip r:embed="rId2"/>
              </a:buBlip>
              <a:defRPr/>
            </a:pPr>
            <a:r>
              <a:rPr lang="de-DE" sz="2200" b="1" dirty="0">
                <a:solidFill>
                  <a:srgbClr val="000099"/>
                </a:solidFill>
                <a:latin typeface="Cambria" panose="02040503050406030204" pitchFamily="18" charset="0"/>
                <a:cs typeface="Tahoma" panose="020B0604030504040204" pitchFamily="34" charset="0"/>
              </a:rPr>
              <a:t>Demikian seterusnya status gizi remaja atau usia sekolah ditentukan juga pada kondisi kesehatan dan gizi pada </a:t>
            </a:r>
            <a:r>
              <a:rPr lang="de-DE" sz="2200" b="1" dirty="0">
                <a:solidFill>
                  <a:srgbClr val="00B050"/>
                </a:solidFill>
                <a:latin typeface="Cambria" panose="02040503050406030204" pitchFamily="18" charset="0"/>
                <a:cs typeface="Tahoma" panose="020B0604030504040204" pitchFamily="34" charset="0"/>
              </a:rPr>
              <a:t>saat lahir </a:t>
            </a:r>
            <a:r>
              <a:rPr lang="de-DE" sz="2200" b="1" dirty="0">
                <a:solidFill>
                  <a:srgbClr val="000099"/>
                </a:solidFill>
                <a:latin typeface="Cambria" panose="02040503050406030204" pitchFamily="18" charset="0"/>
                <a:cs typeface="Tahoma" panose="020B0604030504040204" pitchFamily="34" charset="0"/>
              </a:rPr>
              <a:t>dan </a:t>
            </a:r>
            <a:r>
              <a:rPr lang="de-DE" sz="2200" b="1" dirty="0">
                <a:solidFill>
                  <a:srgbClr val="00B050"/>
                </a:solidFill>
                <a:latin typeface="Cambria" panose="02040503050406030204" pitchFamily="18" charset="0"/>
                <a:cs typeface="Tahoma" panose="020B0604030504040204" pitchFamily="34" charset="0"/>
              </a:rPr>
              <a:t>balita</a:t>
            </a:r>
            <a:r>
              <a:rPr lang="de-DE" sz="2200" b="1" dirty="0">
                <a:solidFill>
                  <a:srgbClr val="000099"/>
                </a:solidFill>
                <a:latin typeface="Cambria" panose="02040503050406030204" pitchFamily="18" charset="0"/>
                <a:cs typeface="Tahoma" panose="020B0604030504040204" pitchFamily="34" charset="0"/>
              </a:rPr>
              <a:t>.</a:t>
            </a:r>
          </a:p>
        </p:txBody>
      </p:sp>
      <p:pic>
        <p:nvPicPr>
          <p:cNvPr id="5" name="Picture 4"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236" y="304809"/>
            <a:ext cx="10668000" cy="781664"/>
          </a:xfrm>
        </p:spPr>
        <p:txBody>
          <a:bodyPr>
            <a:noAutofit/>
          </a:bodyPr>
          <a:lstStyle/>
          <a:p>
            <a:r>
              <a:rPr lang="fi-FI" sz="3400" b="1" dirty="0">
                <a:solidFill>
                  <a:srgbClr val="000000"/>
                </a:solidFill>
                <a:latin typeface="Georgia" panose="02040502050405020303"/>
                <a:cs typeface="Georgia" panose="02040502050405020303"/>
              </a:rPr>
              <a:t>Nutrisi Sepanjang Siklus Hidup</a:t>
            </a:r>
            <a:endParaRPr lang="en-US" sz="3400" dirty="0"/>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45</a:t>
            </a:fld>
            <a:endParaRPr lang="en-US" altLang="id-ID"/>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7636" y="1217007"/>
            <a:ext cx="8277103" cy="4939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46</a:t>
            </a:fld>
            <a:endParaRPr lang="en-US" altLang="id-ID"/>
          </a:p>
        </p:txBody>
      </p:sp>
      <p:pic>
        <p:nvPicPr>
          <p:cNvPr id="7" name="Global Nutrition Report 2017_ Nourishing the SDG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78774" y="332509"/>
            <a:ext cx="10414659" cy="5640779"/>
          </a:xfrm>
          <a:prstGeom prst="rect">
            <a:avLst/>
          </a:prstGeom>
        </p:spPr>
      </p:pic>
      <p:pic>
        <p:nvPicPr>
          <p:cNvPr id="5" name="Picture 4" descr="A picture containing drawing, device  Description automatically generated"/>
          <p:cNvPicPr>
            <a:picLocks noChangeAspect="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006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47</a:t>
            </a:fld>
            <a:endParaRPr lang="en-US" altLang="id-ID"/>
          </a:p>
        </p:txBody>
      </p:sp>
      <p:pic>
        <p:nvPicPr>
          <p:cNvPr id="2" name="[Motion Grafis] Stunting Dicegah, Kecerdasan Anak Meningka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66898" y="487631"/>
            <a:ext cx="10533413" cy="5611090"/>
          </a:xfrm>
          <a:prstGeom prst="rect">
            <a:avLst/>
          </a:prstGeom>
        </p:spPr>
      </p:pic>
      <p:pic>
        <p:nvPicPr>
          <p:cNvPr id="5" name="Picture 4" descr="A picture containing drawing, device  Description automatically generated"/>
          <p:cNvPicPr>
            <a:picLocks noChangeAspect="1"/>
          </p:cNvPicPr>
          <p:nvPr/>
        </p:nvPicPr>
        <p:blipFill rotWithShape="1">
          <a:blip r:embed="rId5">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9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199" y="274638"/>
            <a:ext cx="10695585" cy="1143000"/>
          </a:xfrm>
        </p:spPr>
        <p:txBody>
          <a:bodyPr>
            <a:normAutofit/>
          </a:bodyPr>
          <a:lstStyle/>
          <a:p>
            <a:r>
              <a:rPr lang="en-US" sz="3200" b="1" dirty="0" err="1">
                <a:solidFill>
                  <a:schemeClr val="tx1"/>
                </a:solidFill>
                <a:latin typeface="Cambria" panose="02040503050406030204" pitchFamily="18" charset="0"/>
              </a:rPr>
              <a:t>Penilaian</a:t>
            </a:r>
            <a:r>
              <a:rPr lang="en-US" sz="3200" b="1" dirty="0">
                <a:solidFill>
                  <a:schemeClr val="tx1"/>
                </a:solidFill>
                <a:latin typeface="Cambria" panose="02040503050406030204" pitchFamily="18" charset="0"/>
              </a:rPr>
              <a:t> Status </a:t>
            </a:r>
            <a:r>
              <a:rPr lang="en-US" sz="3200" b="1" dirty="0" err="1">
                <a:solidFill>
                  <a:schemeClr val="tx1"/>
                </a:solidFill>
                <a:latin typeface="Cambria" panose="02040503050406030204" pitchFamily="18" charset="0"/>
              </a:rPr>
              <a:t>Gizi</a:t>
            </a:r>
            <a:r>
              <a:rPr lang="en-US" sz="3200" b="1" baseline="-25000" dirty="0">
                <a:solidFill>
                  <a:schemeClr val="tx1"/>
                </a:solidFill>
                <a:latin typeface="Cambria" panose="02040503050406030204" pitchFamily="18" charset="0"/>
              </a:rPr>
              <a:t>(1)</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48</a:t>
            </a:fld>
            <a:endParaRPr lang="en-US" altLang="id-ID"/>
          </a:p>
        </p:txBody>
      </p:sp>
      <p:sp>
        <p:nvSpPr>
          <p:cNvPr id="5" name="Rectangle 5"/>
          <p:cNvSpPr txBox="1">
            <a:spLocks noChangeArrowheads="1"/>
          </p:cNvSpPr>
          <p:nvPr/>
        </p:nvSpPr>
        <p:spPr>
          <a:xfrm>
            <a:off x="990599" y="1484783"/>
            <a:ext cx="10162185" cy="4801907"/>
          </a:xfrm>
          <a:prstGeom prst="rect">
            <a:avLst/>
          </a:prstGeom>
          <a:solidFill>
            <a:schemeClr val="bg1"/>
          </a:solid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6875" indent="-396875" algn="just" defTabSz="914400">
              <a:spcBef>
                <a:spcPts val="600"/>
              </a:spcBef>
              <a:spcAft>
                <a:spcPts val="1200"/>
              </a:spcAft>
              <a:buFontTx/>
              <a:buBlip>
                <a:blip r:embed="rId3"/>
              </a:buBlip>
              <a:defRPr/>
            </a:pPr>
            <a:r>
              <a:rPr lang="de-DE" sz="2100" b="1" dirty="0">
                <a:solidFill>
                  <a:srgbClr val="000099"/>
                </a:solidFill>
                <a:latin typeface="Cambria" panose="02040503050406030204" pitchFamily="18" charset="0"/>
                <a:cs typeface="Tahoma" panose="020B0604030504040204" pitchFamily="34" charset="0"/>
              </a:rPr>
              <a:t>Salah satu cara melakukan penilaian status gizi pada kelompok masyarakat adalah dengan </a:t>
            </a:r>
            <a:r>
              <a:rPr lang="de-DE" sz="2100" b="1" dirty="0">
                <a:solidFill>
                  <a:srgbClr val="00B050"/>
                </a:solidFill>
                <a:latin typeface="Cambria" panose="02040503050406030204" pitchFamily="18" charset="0"/>
                <a:cs typeface="Tahoma" panose="020B0604030504040204" pitchFamily="34" charset="0"/>
              </a:rPr>
              <a:t>pengukuran tubuh manusia </a:t>
            </a:r>
            <a:r>
              <a:rPr lang="de-DE" sz="2100" b="1" dirty="0">
                <a:solidFill>
                  <a:srgbClr val="000099"/>
                </a:solidFill>
                <a:latin typeface="Cambria" panose="02040503050406030204" pitchFamily="18" charset="0"/>
                <a:cs typeface="Tahoma" panose="020B0604030504040204" pitchFamily="34" charset="0"/>
              </a:rPr>
              <a:t>yang dikenal dengan </a:t>
            </a:r>
            <a:r>
              <a:rPr lang="de-DE" sz="2100" b="1" dirty="0">
                <a:solidFill>
                  <a:srgbClr val="00B050"/>
                </a:solidFill>
                <a:latin typeface="Cambria" panose="02040503050406030204" pitchFamily="18" charset="0"/>
                <a:cs typeface="Tahoma" panose="020B0604030504040204" pitchFamily="34" charset="0"/>
              </a:rPr>
              <a:t>Antropometri</a:t>
            </a:r>
            <a:r>
              <a:rPr lang="de-DE" sz="2100" b="1" dirty="0">
                <a:solidFill>
                  <a:srgbClr val="000099"/>
                </a:solidFill>
                <a:latin typeface="Cambria" panose="02040503050406030204" pitchFamily="18" charset="0"/>
                <a:cs typeface="Tahoma" panose="020B0604030504040204" pitchFamily="34" charset="0"/>
              </a:rPr>
              <a:t>. </a:t>
            </a:r>
          </a:p>
          <a:p>
            <a:pPr marL="396875" indent="-396875" algn="just" defTabSz="914400">
              <a:spcBef>
                <a:spcPts val="600"/>
              </a:spcBef>
              <a:spcAft>
                <a:spcPts val="1200"/>
              </a:spcAft>
              <a:buFontTx/>
              <a:buBlip>
                <a:blip r:embed="rId3"/>
              </a:buBlip>
              <a:defRPr/>
            </a:pPr>
            <a:r>
              <a:rPr lang="de-DE" sz="2100" b="1" dirty="0">
                <a:solidFill>
                  <a:srgbClr val="000099"/>
                </a:solidFill>
                <a:latin typeface="Cambria" panose="02040503050406030204" pitchFamily="18" charset="0"/>
                <a:cs typeface="Tahoma" panose="020B0604030504040204" pitchFamily="34" charset="0"/>
              </a:rPr>
              <a:t>Dalam pemakaian untuk penilaian status gizi, antropometri disajikan dalam bentuk </a:t>
            </a:r>
            <a:r>
              <a:rPr lang="de-DE" sz="2100" b="1" dirty="0">
                <a:solidFill>
                  <a:srgbClr val="00B050"/>
                </a:solidFill>
                <a:latin typeface="Cambria" panose="02040503050406030204" pitchFamily="18" charset="0"/>
                <a:cs typeface="Tahoma" panose="020B0604030504040204" pitchFamily="34" charset="0"/>
              </a:rPr>
              <a:t>indeks</a:t>
            </a:r>
            <a:r>
              <a:rPr lang="de-DE" sz="2100" b="1" dirty="0">
                <a:solidFill>
                  <a:srgbClr val="000099"/>
                </a:solidFill>
                <a:latin typeface="Cambria" panose="02040503050406030204" pitchFamily="18" charset="0"/>
                <a:cs typeface="Tahoma" panose="020B0604030504040204" pitchFamily="34" charset="0"/>
              </a:rPr>
              <a:t> yang dikaitkan dengan variabel lain. </a:t>
            </a:r>
          </a:p>
          <a:p>
            <a:pPr marL="396875" indent="-396875" algn="just" defTabSz="914400">
              <a:spcBef>
                <a:spcPts val="600"/>
              </a:spcBef>
              <a:buFontTx/>
              <a:buBlip>
                <a:blip r:embed="rId3"/>
              </a:buBlip>
              <a:defRPr/>
            </a:pPr>
            <a:r>
              <a:rPr lang="de-DE" sz="2100" b="1" dirty="0">
                <a:solidFill>
                  <a:srgbClr val="000099"/>
                </a:solidFill>
                <a:latin typeface="Cambria" panose="02040503050406030204" pitchFamily="18" charset="0"/>
                <a:cs typeface="Tahoma" panose="020B0604030504040204" pitchFamily="34" charset="0"/>
              </a:rPr>
              <a:t>Variabel tsb adalah sebagai berikut:</a:t>
            </a:r>
          </a:p>
          <a:p>
            <a:pPr marL="796925" lvl="1" indent="-396875" algn="just" defTabSz="914400">
              <a:spcBef>
                <a:spcPts val="600"/>
              </a:spcBef>
              <a:spcAft>
                <a:spcPts val="600"/>
              </a:spcAft>
              <a:buFontTx/>
              <a:buBlip>
                <a:blip r:embed="rId3"/>
              </a:buBlip>
              <a:defRPr/>
            </a:pPr>
            <a:r>
              <a:rPr lang="de-DE" sz="2100" b="1" dirty="0">
                <a:solidFill>
                  <a:srgbClr val="00B050"/>
                </a:solidFill>
                <a:latin typeface="Cambria" panose="02040503050406030204" pitchFamily="18" charset="0"/>
                <a:cs typeface="Tahoma" panose="020B0604030504040204" pitchFamily="34" charset="0"/>
              </a:rPr>
              <a:t>Umur</a:t>
            </a:r>
            <a:r>
              <a:rPr lang="de-DE" sz="2100" b="1" dirty="0">
                <a:solidFill>
                  <a:srgbClr val="000099"/>
                </a:solidFill>
                <a:latin typeface="Cambria" panose="02040503050406030204" pitchFamily="18" charset="0"/>
                <a:cs typeface="Tahoma" panose="020B0604030504040204" pitchFamily="34" charset="0"/>
              </a:rPr>
              <a:t> </a:t>
            </a:r>
            <a:r>
              <a:rPr lang="de-DE" sz="2100" b="1" dirty="0">
                <a:solidFill>
                  <a:srgbClr val="000099"/>
                </a:solidFill>
                <a:latin typeface="Cambria" panose="02040503050406030204" pitchFamily="18" charset="0"/>
                <a:cs typeface="Tahoma" panose="020B0604030504040204" pitchFamily="34" charset="0"/>
                <a:sym typeface="Wingdings" panose="05000000000000000000" pitchFamily="2" charset="2"/>
              </a:rPr>
              <a:t> </a:t>
            </a:r>
            <a:r>
              <a:rPr lang="de-DE" sz="2100" b="1" dirty="0">
                <a:solidFill>
                  <a:srgbClr val="000099"/>
                </a:solidFill>
                <a:latin typeface="Cambria" panose="02040503050406030204" pitchFamily="18" charset="0"/>
                <a:cs typeface="Tahoma" panose="020B0604030504040204" pitchFamily="34" charset="0"/>
              </a:rPr>
              <a:t>umur dalam bulan penuh, sisa umur dalam hari tidak diperhitungkan</a:t>
            </a:r>
          </a:p>
          <a:p>
            <a:pPr marL="796925" lvl="1" indent="-396875" algn="just" defTabSz="914400">
              <a:spcBef>
                <a:spcPts val="600"/>
              </a:spcBef>
              <a:spcAft>
                <a:spcPts val="600"/>
              </a:spcAft>
              <a:buFontTx/>
              <a:buBlip>
                <a:blip r:embed="rId3"/>
              </a:buBlip>
              <a:defRPr/>
            </a:pPr>
            <a:r>
              <a:rPr lang="de-DE" sz="2100" b="1" dirty="0">
                <a:solidFill>
                  <a:srgbClr val="00B050"/>
                </a:solidFill>
                <a:latin typeface="Cambria" panose="02040503050406030204" pitchFamily="18" charset="0"/>
                <a:cs typeface="Tahoma" panose="020B0604030504040204" pitchFamily="34" charset="0"/>
              </a:rPr>
              <a:t>Berat badan </a:t>
            </a:r>
            <a:r>
              <a:rPr lang="de-DE" sz="2100" b="1" dirty="0">
                <a:solidFill>
                  <a:srgbClr val="000099"/>
                </a:solidFill>
                <a:latin typeface="Cambria" panose="02040503050406030204" pitchFamily="18" charset="0"/>
                <a:cs typeface="Tahoma" panose="020B0604030504040204" pitchFamily="34" charset="0"/>
                <a:sym typeface="Wingdings" panose="05000000000000000000" pitchFamily="2" charset="2"/>
              </a:rPr>
              <a:t> </a:t>
            </a:r>
            <a:r>
              <a:rPr lang="de-DE" sz="2100" b="1" dirty="0">
                <a:solidFill>
                  <a:srgbClr val="000099"/>
                </a:solidFill>
                <a:latin typeface="Cambria" panose="02040503050406030204" pitchFamily="18" charset="0"/>
                <a:cs typeface="Tahoma" panose="020B0604030504040204" pitchFamily="34" charset="0"/>
              </a:rPr>
              <a:t>peka terhadap perubahan yang mendadak karena penyakit infeksi atau konsumsi makanan yang menurun</a:t>
            </a:r>
          </a:p>
          <a:p>
            <a:pPr marL="796925" lvl="1" indent="-396875" algn="just" defTabSz="914400">
              <a:spcBef>
                <a:spcPts val="600"/>
              </a:spcBef>
              <a:spcAft>
                <a:spcPts val="600"/>
              </a:spcAft>
              <a:buFontTx/>
              <a:buBlip>
                <a:blip r:embed="rId3"/>
              </a:buBlip>
              <a:defRPr/>
            </a:pPr>
            <a:r>
              <a:rPr lang="de-DE" sz="2100" b="1" dirty="0">
                <a:solidFill>
                  <a:srgbClr val="00B050"/>
                </a:solidFill>
                <a:latin typeface="Cambria" panose="02040503050406030204" pitchFamily="18" charset="0"/>
                <a:cs typeface="Tahoma" panose="020B0604030504040204" pitchFamily="34" charset="0"/>
              </a:rPr>
              <a:t>Tinggi badan </a:t>
            </a:r>
            <a:r>
              <a:rPr lang="de-DE" sz="2100" b="1" dirty="0">
                <a:solidFill>
                  <a:srgbClr val="000099"/>
                </a:solidFill>
                <a:latin typeface="Cambria" panose="02040503050406030204" pitchFamily="18" charset="0"/>
                <a:cs typeface="Tahoma" panose="020B0604030504040204" pitchFamily="34" charset="0"/>
                <a:sym typeface="Wingdings" panose="05000000000000000000" pitchFamily="2" charset="2"/>
              </a:rPr>
              <a:t> </a:t>
            </a:r>
            <a:r>
              <a:rPr lang="de-DE" sz="2100" b="1" dirty="0">
                <a:solidFill>
                  <a:srgbClr val="000099"/>
                </a:solidFill>
                <a:latin typeface="Cambria" panose="02040503050406030204" pitchFamily="18" charset="0"/>
                <a:cs typeface="Tahoma" panose="020B0604030504040204" pitchFamily="34" charset="0"/>
              </a:rPr>
              <a:t>sangat baik untuk melihat keadaan gizi masa lalu terutama yang berkaitan dengan BBLR dan kurang gizi pada masa balita</a:t>
            </a:r>
          </a:p>
        </p:txBody>
      </p:sp>
      <p:pic>
        <p:nvPicPr>
          <p:cNvPr id="6" name="Picture 5"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199" y="274637"/>
            <a:ext cx="11256695" cy="1179247"/>
          </a:xfrm>
        </p:spPr>
        <p:txBody>
          <a:bodyPr>
            <a:normAutofit/>
          </a:bodyPr>
          <a:lstStyle/>
          <a:p>
            <a:r>
              <a:rPr lang="en-US" sz="3200" b="1" dirty="0" err="1">
                <a:latin typeface="Cambria" panose="02040503050406030204" pitchFamily="18" charset="0"/>
              </a:rPr>
              <a:t>Penilaian</a:t>
            </a:r>
            <a:r>
              <a:rPr lang="en-US" sz="3200" b="1" dirty="0">
                <a:latin typeface="Cambria" panose="02040503050406030204" pitchFamily="18" charset="0"/>
              </a:rPr>
              <a:t> Status </a:t>
            </a:r>
            <a:r>
              <a:rPr lang="en-US" sz="3200" b="1" dirty="0" err="1">
                <a:latin typeface="Cambria" panose="02040503050406030204" pitchFamily="18" charset="0"/>
              </a:rPr>
              <a:t>Gizi</a:t>
            </a:r>
            <a:r>
              <a:rPr lang="en-US" sz="3200" b="1" baseline="-25000" dirty="0">
                <a:latin typeface="Cambria" panose="02040503050406030204" pitchFamily="18" charset="0"/>
              </a:rPr>
              <a:t>(2)</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49</a:t>
            </a:fld>
            <a:endParaRPr lang="en-US" altLang="id-ID"/>
          </a:p>
        </p:txBody>
      </p:sp>
      <p:sp>
        <p:nvSpPr>
          <p:cNvPr id="6" name="Rectangle 5"/>
          <p:cNvSpPr txBox="1">
            <a:spLocks noChangeArrowheads="1"/>
          </p:cNvSpPr>
          <p:nvPr/>
        </p:nvSpPr>
        <p:spPr>
          <a:xfrm>
            <a:off x="979517" y="2023607"/>
            <a:ext cx="10005951" cy="45597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6875" indent="-396875" algn="just" defTabSz="914400">
              <a:spcBef>
                <a:spcPts val="600"/>
              </a:spcBef>
              <a:spcAft>
                <a:spcPts val="12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Berat badan ini  dinyatakan dalam bentuk indeks </a:t>
            </a:r>
            <a:r>
              <a:rPr lang="de-DE" sz="2400" b="1" dirty="0">
                <a:solidFill>
                  <a:srgbClr val="00B050"/>
                </a:solidFill>
                <a:latin typeface="Cambria" panose="02040503050406030204" pitchFamily="18" charset="0"/>
                <a:cs typeface="Tahoma" panose="020B0604030504040204" pitchFamily="34" charset="0"/>
              </a:rPr>
              <a:t>BB/U </a:t>
            </a:r>
            <a:r>
              <a:rPr lang="de-DE" sz="2400" b="1" dirty="0">
                <a:solidFill>
                  <a:srgbClr val="000099"/>
                </a:solidFill>
                <a:latin typeface="Cambria" panose="02040503050406030204" pitchFamily="18" charset="0"/>
                <a:cs typeface="Tahoma" panose="020B0604030504040204" pitchFamily="34" charset="0"/>
              </a:rPr>
              <a:t>(berat badan menurut umur) atau melakukan penilaian dengan melihat perubahan  berat badan pada saat pengukuran dilakukan, yang dalam penggunaannya memberikan gambaran </a:t>
            </a:r>
            <a:r>
              <a:rPr lang="de-DE" sz="2400" b="1" dirty="0">
                <a:solidFill>
                  <a:srgbClr val="00B050"/>
                </a:solidFill>
                <a:latin typeface="Cambria" panose="02040503050406030204" pitchFamily="18" charset="0"/>
                <a:cs typeface="Tahoma" panose="020B0604030504040204" pitchFamily="34" charset="0"/>
              </a:rPr>
              <a:t>keadaan kini</a:t>
            </a:r>
            <a:r>
              <a:rPr lang="de-DE" sz="2400" b="1" dirty="0">
                <a:solidFill>
                  <a:srgbClr val="000099"/>
                </a:solidFill>
                <a:latin typeface="Cambria" panose="02040503050406030204" pitchFamily="18" charset="0"/>
                <a:cs typeface="Tahoma" panose="020B0604030504040204" pitchFamily="34" charset="0"/>
              </a:rPr>
              <a:t>. </a:t>
            </a:r>
          </a:p>
          <a:p>
            <a:pPr marL="396875" indent="-396875" algn="just" defTabSz="914400">
              <a:spcBef>
                <a:spcPts val="600"/>
              </a:spcBef>
              <a:spcAft>
                <a:spcPts val="12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Berat badan paling banyak digunakan karena hanya memerlukan satu pengukuran, hanya saja tergantung pada ketetapan umur, tetapi kurang dapat menggambarkan kecenderungan perubahan situasi gizi dari waktu ke waktu (Djumadias Abunain, 1990).</a:t>
            </a:r>
          </a:p>
        </p:txBody>
      </p:sp>
      <p:pic>
        <p:nvPicPr>
          <p:cNvPr id="7" name="Picture 6"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199" y="274638"/>
            <a:ext cx="11376933" cy="1143000"/>
          </a:xfrm>
        </p:spPr>
        <p:txBody>
          <a:bodyPr>
            <a:normAutofit/>
          </a:bodyPr>
          <a:lstStyle/>
          <a:p>
            <a:r>
              <a:rPr lang="en-US" sz="3200" b="1" dirty="0" err="1">
                <a:latin typeface="Cambria" panose="02040503050406030204" pitchFamily="18" charset="0"/>
              </a:rPr>
              <a:t>Penilaian</a:t>
            </a:r>
            <a:r>
              <a:rPr lang="en-US" sz="3200" b="1" dirty="0">
                <a:latin typeface="Cambria" panose="02040503050406030204" pitchFamily="18" charset="0"/>
              </a:rPr>
              <a:t> Status </a:t>
            </a:r>
            <a:r>
              <a:rPr lang="en-US" sz="3200" b="1" dirty="0" err="1">
                <a:latin typeface="Cambria" panose="02040503050406030204" pitchFamily="18" charset="0"/>
              </a:rPr>
              <a:t>Gizi</a:t>
            </a:r>
            <a:r>
              <a:rPr lang="en-US" sz="3200" b="1" baseline="-25000" dirty="0">
                <a:latin typeface="Cambria" panose="02040503050406030204" pitchFamily="18" charset="0"/>
              </a:rPr>
              <a:t>(3)</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50</a:t>
            </a:fld>
            <a:endParaRPr lang="en-US" altLang="id-ID"/>
          </a:p>
        </p:txBody>
      </p:sp>
      <p:sp>
        <p:nvSpPr>
          <p:cNvPr id="5" name="Rectangle 5"/>
          <p:cNvSpPr txBox="1">
            <a:spLocks noChangeArrowheads="1"/>
          </p:cNvSpPr>
          <p:nvPr/>
        </p:nvSpPr>
        <p:spPr>
          <a:xfrm>
            <a:off x="1099654" y="1953638"/>
            <a:ext cx="10112829" cy="441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6875" indent="-396875" defTabSz="914400">
              <a:spcBef>
                <a:spcPts val="600"/>
              </a:spcBef>
              <a:spcAft>
                <a:spcPts val="12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Tinggi badan dinyatakan dalam bentuk Indeks </a:t>
            </a:r>
            <a:r>
              <a:rPr lang="de-DE" sz="2400" b="1" dirty="0">
                <a:solidFill>
                  <a:srgbClr val="00B050"/>
                </a:solidFill>
                <a:latin typeface="Cambria" panose="02040503050406030204" pitchFamily="18" charset="0"/>
                <a:cs typeface="Tahoma" panose="020B0604030504040204" pitchFamily="34" charset="0"/>
              </a:rPr>
              <a:t>TB/U</a:t>
            </a:r>
            <a:r>
              <a:rPr lang="de-DE" sz="2400" b="1" dirty="0">
                <a:solidFill>
                  <a:srgbClr val="000099"/>
                </a:solidFill>
                <a:latin typeface="Cambria" panose="02040503050406030204" pitchFamily="18" charset="0"/>
                <a:cs typeface="Tahoma" panose="020B0604030504040204" pitchFamily="34" charset="0"/>
              </a:rPr>
              <a:t> (tinggi badan menurut umur), atau juga  indeks BB/TB (berat badan menurut tinggi  badan)  jarang dilakukan karena perubahan tinggi  badan yang lambat dan biasanya  hanya dilakukan setahun sekali. </a:t>
            </a:r>
          </a:p>
          <a:p>
            <a:pPr marL="396875" indent="-396875" defTabSz="914400">
              <a:spcBef>
                <a:spcPts val="600"/>
              </a:spcBef>
              <a:spcAft>
                <a:spcPts val="12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Keadaan indeks ini pada umumnya memberikan gambaran keadaan lingkungan yang tidak baik, </a:t>
            </a:r>
            <a:r>
              <a:rPr lang="de-DE" sz="2400" b="1" dirty="0">
                <a:solidFill>
                  <a:srgbClr val="00B050"/>
                </a:solidFill>
                <a:latin typeface="Cambria" panose="02040503050406030204" pitchFamily="18" charset="0"/>
                <a:cs typeface="Tahoma" panose="020B0604030504040204" pitchFamily="34" charset="0"/>
              </a:rPr>
              <a:t>kemiskinan</a:t>
            </a:r>
            <a:r>
              <a:rPr lang="de-DE" sz="2400" b="1" dirty="0">
                <a:solidFill>
                  <a:srgbClr val="000099"/>
                </a:solidFill>
                <a:latin typeface="Cambria" panose="02040503050406030204" pitchFamily="18" charset="0"/>
                <a:cs typeface="Tahoma" panose="020B0604030504040204" pitchFamily="34" charset="0"/>
              </a:rPr>
              <a:t> dan akibat </a:t>
            </a:r>
            <a:r>
              <a:rPr lang="de-DE" sz="2400" b="1" dirty="0">
                <a:solidFill>
                  <a:srgbClr val="00B050"/>
                </a:solidFill>
                <a:latin typeface="Cambria" panose="02040503050406030204" pitchFamily="18" charset="0"/>
                <a:cs typeface="Tahoma" panose="020B0604030504040204" pitchFamily="34" charset="0"/>
              </a:rPr>
              <a:t>tidak sehat yang menahun </a:t>
            </a:r>
            <a:r>
              <a:rPr lang="de-DE" sz="2400" b="1" dirty="0">
                <a:solidFill>
                  <a:srgbClr val="000099"/>
                </a:solidFill>
                <a:latin typeface="Cambria" panose="02040503050406030204" pitchFamily="18" charset="0"/>
                <a:cs typeface="Tahoma" panose="020B0604030504040204" pitchFamily="34" charset="0"/>
              </a:rPr>
              <a:t>(Depkes RI, 2004).</a:t>
            </a:r>
          </a:p>
        </p:txBody>
      </p:sp>
      <p:pic>
        <p:nvPicPr>
          <p:cNvPr id="6" name="Picture 5"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199" y="274638"/>
            <a:ext cx="11550609" cy="1143000"/>
          </a:xfrm>
        </p:spPr>
        <p:txBody>
          <a:bodyPr>
            <a:normAutofit/>
          </a:bodyPr>
          <a:lstStyle/>
          <a:p>
            <a:r>
              <a:rPr lang="en-US" sz="3200" b="1" dirty="0" err="1">
                <a:solidFill>
                  <a:schemeClr val="tx1"/>
                </a:solidFill>
                <a:latin typeface="Cambria" panose="02040503050406030204" pitchFamily="18" charset="0"/>
              </a:rPr>
              <a:t>Penilaian</a:t>
            </a:r>
            <a:r>
              <a:rPr lang="en-US" sz="3200" b="1" dirty="0">
                <a:solidFill>
                  <a:schemeClr val="tx1"/>
                </a:solidFill>
                <a:latin typeface="Cambria" panose="02040503050406030204" pitchFamily="18" charset="0"/>
              </a:rPr>
              <a:t> Status </a:t>
            </a:r>
            <a:r>
              <a:rPr lang="en-US" sz="3200" b="1" dirty="0" err="1">
                <a:solidFill>
                  <a:schemeClr val="tx1"/>
                </a:solidFill>
                <a:latin typeface="Cambria" panose="02040503050406030204" pitchFamily="18" charset="0"/>
              </a:rPr>
              <a:t>Gizi</a:t>
            </a:r>
            <a:r>
              <a:rPr lang="en-US" sz="3200" b="1" baseline="-25000" dirty="0">
                <a:solidFill>
                  <a:schemeClr val="tx1"/>
                </a:solidFill>
                <a:latin typeface="Cambria" panose="02040503050406030204" pitchFamily="18" charset="0"/>
              </a:rPr>
              <a:t>(4)</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51</a:t>
            </a:fld>
            <a:endParaRPr lang="en-US" altLang="id-ID"/>
          </a:p>
        </p:txBody>
      </p:sp>
      <p:sp>
        <p:nvSpPr>
          <p:cNvPr id="7" name="Rectangle 5"/>
          <p:cNvSpPr txBox="1">
            <a:spLocks noChangeArrowheads="1"/>
          </p:cNvSpPr>
          <p:nvPr/>
        </p:nvSpPr>
        <p:spPr>
          <a:xfrm>
            <a:off x="962396" y="1780544"/>
            <a:ext cx="10267208" cy="441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6875" indent="-396875" algn="just" defTabSz="914400">
              <a:spcBef>
                <a:spcPts val="600"/>
              </a:spcBef>
              <a:spcAft>
                <a:spcPts val="6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Penggunaan indeks BB/U, TB/U, dan BB/TB merupakan indikator status gizi untuk melihat adanya </a:t>
            </a:r>
            <a:r>
              <a:rPr lang="de-DE" sz="2400" b="1" dirty="0">
                <a:solidFill>
                  <a:srgbClr val="00B050"/>
                </a:solidFill>
                <a:latin typeface="Cambria" panose="02040503050406030204" pitchFamily="18" charset="0"/>
                <a:cs typeface="Tahoma" panose="020B0604030504040204" pitchFamily="34" charset="0"/>
              </a:rPr>
              <a:t>gangguan fungsi pertumbuhan dan komposisi tubuh </a:t>
            </a:r>
            <a:r>
              <a:rPr lang="de-DE" sz="2400" b="1" dirty="0">
                <a:solidFill>
                  <a:srgbClr val="000099"/>
                </a:solidFill>
                <a:latin typeface="Cambria" panose="02040503050406030204" pitchFamily="18" charset="0"/>
                <a:cs typeface="Tahoma" panose="020B0604030504040204" pitchFamily="34" charset="0"/>
              </a:rPr>
              <a:t>(M. Khumaidi, 1994).</a:t>
            </a:r>
          </a:p>
          <a:p>
            <a:pPr marL="396875" indent="-396875" algn="just" defTabSz="914400">
              <a:spcBef>
                <a:spcPts val="600"/>
              </a:spcBef>
              <a:spcAft>
                <a:spcPts val="6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Penggunaan berat badan dan tinggi badan akan </a:t>
            </a:r>
            <a:r>
              <a:rPr lang="de-DE" sz="2400" b="1" dirty="0">
                <a:solidFill>
                  <a:srgbClr val="00B050"/>
                </a:solidFill>
                <a:latin typeface="Cambria" panose="02040503050406030204" pitchFamily="18" charset="0"/>
                <a:cs typeface="Tahoma" panose="020B0604030504040204" pitchFamily="34" charset="0"/>
              </a:rPr>
              <a:t>lebih jelas dan peka</a:t>
            </a:r>
            <a:r>
              <a:rPr lang="de-DE" sz="2400" b="1" dirty="0">
                <a:solidFill>
                  <a:srgbClr val="000099"/>
                </a:solidFill>
                <a:latin typeface="Cambria" panose="02040503050406030204" pitchFamily="18" charset="0"/>
                <a:cs typeface="Tahoma" panose="020B0604030504040204" pitchFamily="34" charset="0"/>
              </a:rPr>
              <a:t> dalam menunjukkan  keadaan </a:t>
            </a:r>
            <a:r>
              <a:rPr lang="de-DE" sz="2400" b="1" dirty="0">
                <a:solidFill>
                  <a:srgbClr val="00B050"/>
                </a:solidFill>
                <a:latin typeface="Cambria" panose="02040503050406030204" pitchFamily="18" charset="0"/>
                <a:cs typeface="Tahoma" panose="020B0604030504040204" pitchFamily="34" charset="0"/>
              </a:rPr>
              <a:t>gizi kurang</a:t>
            </a:r>
            <a:r>
              <a:rPr lang="de-DE" sz="2400" b="1" dirty="0">
                <a:solidFill>
                  <a:srgbClr val="000099"/>
                </a:solidFill>
                <a:latin typeface="Cambria" panose="02040503050406030204" pitchFamily="18" charset="0"/>
                <a:cs typeface="Tahoma" panose="020B0604030504040204" pitchFamily="34" charset="0"/>
              </a:rPr>
              <a:t> bila  dibandingkan dengan penggunaan BB/U. </a:t>
            </a:r>
          </a:p>
          <a:p>
            <a:pPr marL="396875" indent="-396875" algn="just" defTabSz="914400">
              <a:spcBef>
                <a:spcPts val="600"/>
              </a:spcBef>
              <a:spcAft>
                <a:spcPts val="600"/>
              </a:spcAft>
              <a:buFontTx/>
              <a:buBlip>
                <a:blip r:embed="rId2"/>
              </a:buBlip>
              <a:defRPr/>
            </a:pPr>
            <a:r>
              <a:rPr lang="de-DE" sz="2400" b="1" dirty="0">
                <a:solidFill>
                  <a:srgbClr val="000099"/>
                </a:solidFill>
                <a:latin typeface="Cambria" panose="02040503050406030204" pitchFamily="18" charset="0"/>
                <a:cs typeface="Tahoma" panose="020B0604030504040204" pitchFamily="34" charset="0"/>
              </a:rPr>
              <a:t>Dinyatakan dalam BB/TB, menurut standar WHO bila prevalensi  </a:t>
            </a:r>
            <a:r>
              <a:rPr lang="de-DE" sz="2400" b="1" dirty="0">
                <a:solidFill>
                  <a:srgbClr val="00B050"/>
                </a:solidFill>
                <a:latin typeface="Cambria" panose="02040503050406030204" pitchFamily="18" charset="0"/>
                <a:cs typeface="Tahoma" panose="020B0604030504040204" pitchFamily="34" charset="0"/>
              </a:rPr>
              <a:t>kurus/wasting &lt; -2SD diatas 10% </a:t>
            </a:r>
            <a:r>
              <a:rPr lang="de-DE" sz="2400" b="1" dirty="0">
                <a:solidFill>
                  <a:srgbClr val="000099"/>
                </a:solidFill>
                <a:latin typeface="Cambria" panose="02040503050406030204" pitchFamily="18" charset="0"/>
                <a:cs typeface="Tahoma" panose="020B0604030504040204" pitchFamily="34" charset="0"/>
              </a:rPr>
              <a:t>menunjukkan suatu daerah tsb mempunyai </a:t>
            </a:r>
            <a:r>
              <a:rPr lang="de-DE" sz="2400" b="1" dirty="0">
                <a:solidFill>
                  <a:srgbClr val="00B050"/>
                </a:solidFill>
                <a:latin typeface="Cambria" panose="02040503050406030204" pitchFamily="18" charset="0"/>
                <a:cs typeface="Tahoma" panose="020B0604030504040204" pitchFamily="34" charset="0"/>
              </a:rPr>
              <a:t>masalah gizi yang sangat serius</a:t>
            </a:r>
            <a:r>
              <a:rPr lang="de-DE" sz="2400" b="1" dirty="0">
                <a:solidFill>
                  <a:srgbClr val="000099"/>
                </a:solidFill>
                <a:latin typeface="Cambria" panose="02040503050406030204" pitchFamily="18" charset="0"/>
                <a:cs typeface="Tahoma" panose="020B0604030504040204" pitchFamily="34" charset="0"/>
              </a:rPr>
              <a:t>  dan berhubungan langsung dengan  </a:t>
            </a:r>
            <a:r>
              <a:rPr lang="de-DE" sz="2400" b="1" dirty="0">
                <a:solidFill>
                  <a:srgbClr val="00B050"/>
                </a:solidFill>
                <a:latin typeface="Cambria" panose="02040503050406030204" pitchFamily="18" charset="0"/>
                <a:cs typeface="Tahoma" panose="020B0604030504040204" pitchFamily="34" charset="0"/>
              </a:rPr>
              <a:t>angka kesakitan</a:t>
            </a:r>
            <a:r>
              <a:rPr lang="de-DE" sz="2400" b="1" dirty="0">
                <a:solidFill>
                  <a:srgbClr val="000099"/>
                </a:solidFill>
                <a:latin typeface="Cambria" panose="02040503050406030204" pitchFamily="18" charset="0"/>
                <a:cs typeface="Tahoma" panose="020B0604030504040204" pitchFamily="34" charset="0"/>
              </a:rPr>
              <a:t>.</a:t>
            </a:r>
          </a:p>
        </p:txBody>
      </p:sp>
      <p:pic>
        <p:nvPicPr>
          <p:cNvPr id="5" name="Picture 4"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11577328" cy="1143000"/>
          </a:xfrm>
        </p:spPr>
        <p:txBody>
          <a:bodyPr>
            <a:normAutofit/>
          </a:bodyPr>
          <a:lstStyle/>
          <a:p>
            <a:r>
              <a:rPr lang="en-US" sz="3200" b="1" dirty="0" err="1">
                <a:solidFill>
                  <a:schemeClr val="tx1"/>
                </a:solidFill>
                <a:latin typeface="Cambria" panose="02040503050406030204" pitchFamily="18" charset="0"/>
              </a:rPr>
              <a:t>Konsep</a:t>
            </a:r>
            <a:r>
              <a:rPr lang="en-US" sz="3200" b="1" dirty="0">
                <a:solidFill>
                  <a:schemeClr val="tx1"/>
                </a:solidFill>
                <a:latin typeface="Cambria" panose="02040503050406030204" pitchFamily="18" charset="0"/>
              </a:rPr>
              <a:t> dan </a:t>
            </a:r>
            <a:r>
              <a:rPr lang="en-US" sz="3200" b="1" dirty="0" err="1">
                <a:solidFill>
                  <a:schemeClr val="tx1"/>
                </a:solidFill>
                <a:latin typeface="Cambria" panose="02040503050406030204" pitchFamily="18" charset="0"/>
              </a:rPr>
              <a:t>Definisi</a:t>
            </a:r>
            <a:r>
              <a:rPr lang="en-US" sz="3200" b="1" baseline="-25000" dirty="0">
                <a:solidFill>
                  <a:schemeClr val="tx1"/>
                </a:solidFill>
                <a:latin typeface="Cambria" panose="02040503050406030204" pitchFamily="18" charset="0"/>
              </a:rPr>
              <a:t>(1)</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52</a:t>
            </a:fld>
            <a:endParaRPr lang="en-US" altLang="id-ID"/>
          </a:p>
        </p:txBody>
      </p:sp>
      <p:sp>
        <p:nvSpPr>
          <p:cNvPr id="5" name="Rectangle 5"/>
          <p:cNvSpPr txBox="1">
            <a:spLocks noChangeArrowheads="1"/>
          </p:cNvSpPr>
          <p:nvPr/>
        </p:nvSpPr>
        <p:spPr>
          <a:xfrm>
            <a:off x="990600" y="1484784"/>
            <a:ext cx="10290958" cy="4419600"/>
          </a:xfrm>
          <a:prstGeom prst="rect">
            <a:avLst/>
          </a:prstGeom>
          <a:solidFill>
            <a:schemeClr val="bg1"/>
          </a:solid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6875" indent="-396875" algn="just" defTabSz="914400">
              <a:spcBef>
                <a:spcPts val="600"/>
              </a:spcBef>
              <a:spcAft>
                <a:spcPts val="600"/>
              </a:spcAft>
              <a:buFontTx/>
              <a:buBlip>
                <a:blip r:embed="rId2"/>
              </a:buBlip>
              <a:defRPr/>
            </a:pPr>
            <a:r>
              <a:rPr lang="de-DE" sz="2400" b="1" dirty="0">
                <a:solidFill>
                  <a:srgbClr val="00B050"/>
                </a:solidFill>
                <a:latin typeface="Cambria" panose="02040503050406030204" pitchFamily="18" charset="0"/>
                <a:cs typeface="Tahoma" panose="020B0604030504040204" pitchFamily="34" charset="0"/>
              </a:rPr>
              <a:t>Gizi kurang </a:t>
            </a:r>
            <a:r>
              <a:rPr lang="de-DE" sz="2400" b="1" dirty="0">
                <a:solidFill>
                  <a:srgbClr val="000099"/>
                </a:solidFill>
                <a:latin typeface="Cambria" panose="02040503050406030204" pitchFamily="18" charset="0"/>
                <a:cs typeface="Tahoma" panose="020B0604030504040204" pitchFamily="34" charset="0"/>
              </a:rPr>
              <a:t>dan </a:t>
            </a:r>
            <a:r>
              <a:rPr lang="de-DE" sz="2400" b="1" dirty="0">
                <a:solidFill>
                  <a:srgbClr val="00B050"/>
                </a:solidFill>
                <a:latin typeface="Cambria" panose="02040503050406030204" pitchFamily="18" charset="0"/>
                <a:cs typeface="Tahoma" panose="020B0604030504040204" pitchFamily="34" charset="0"/>
              </a:rPr>
              <a:t>Gizi Buruk </a:t>
            </a:r>
            <a:r>
              <a:rPr lang="de-DE" sz="2400" b="1" dirty="0">
                <a:solidFill>
                  <a:srgbClr val="000099"/>
                </a:solidFill>
                <a:latin typeface="Cambria" panose="02040503050406030204" pitchFamily="18" charset="0"/>
                <a:cs typeface="Tahoma" panose="020B0604030504040204" pitchFamily="34" charset="0"/>
              </a:rPr>
              <a:t>adalah status gizi yang didasarkan pada indeks Berat Badan menurut Umur (BB/U) yang merupakan padanan istilah </a:t>
            </a:r>
            <a:r>
              <a:rPr lang="de-DE" sz="2400" b="1" dirty="0">
                <a:solidFill>
                  <a:srgbClr val="00B050"/>
                </a:solidFill>
                <a:latin typeface="Cambria" panose="02040503050406030204" pitchFamily="18" charset="0"/>
                <a:cs typeface="Tahoma" panose="020B0604030504040204" pitchFamily="34" charset="0"/>
              </a:rPr>
              <a:t>underweight </a:t>
            </a:r>
            <a:r>
              <a:rPr lang="de-DE" sz="2400" b="1" dirty="0">
                <a:solidFill>
                  <a:srgbClr val="000099"/>
                </a:solidFill>
                <a:latin typeface="Cambria" panose="02040503050406030204" pitchFamily="18" charset="0"/>
                <a:cs typeface="Tahoma" panose="020B0604030504040204" pitchFamily="34" charset="0"/>
              </a:rPr>
              <a:t>(gizi kurang) dan </a:t>
            </a:r>
            <a:r>
              <a:rPr lang="de-DE" sz="2400" b="1" dirty="0">
                <a:solidFill>
                  <a:srgbClr val="00B050"/>
                </a:solidFill>
                <a:latin typeface="Cambria" panose="02040503050406030204" pitchFamily="18" charset="0"/>
                <a:cs typeface="Tahoma" panose="020B0604030504040204" pitchFamily="34" charset="0"/>
              </a:rPr>
              <a:t>severely underweight </a:t>
            </a:r>
            <a:r>
              <a:rPr lang="de-DE" sz="2400" b="1" dirty="0">
                <a:solidFill>
                  <a:srgbClr val="000099"/>
                </a:solidFill>
                <a:latin typeface="Cambria" panose="02040503050406030204" pitchFamily="18" charset="0"/>
                <a:cs typeface="Tahoma" panose="020B0604030504040204" pitchFamily="34" charset="0"/>
              </a:rPr>
              <a:t>(gizi buruk).</a:t>
            </a:r>
          </a:p>
          <a:p>
            <a:pPr marL="396875" indent="-396875" algn="just" defTabSz="914400">
              <a:spcBef>
                <a:spcPts val="600"/>
              </a:spcBef>
              <a:spcAft>
                <a:spcPts val="600"/>
              </a:spcAft>
              <a:buFontTx/>
              <a:buBlip>
                <a:blip r:embed="rId2"/>
              </a:buBlip>
              <a:defRPr/>
            </a:pPr>
            <a:r>
              <a:rPr lang="de-DE" sz="2400" b="1" dirty="0">
                <a:solidFill>
                  <a:srgbClr val="00B050"/>
                </a:solidFill>
                <a:latin typeface="Cambria" panose="02040503050406030204" pitchFamily="18" charset="0"/>
                <a:cs typeface="Tahoma" panose="020B0604030504040204" pitchFamily="34" charset="0"/>
              </a:rPr>
              <a:t>Pendek</a:t>
            </a:r>
            <a:r>
              <a:rPr lang="de-DE" sz="2400" b="1" dirty="0">
                <a:solidFill>
                  <a:srgbClr val="000099"/>
                </a:solidFill>
                <a:latin typeface="Cambria" panose="02040503050406030204" pitchFamily="18" charset="0"/>
                <a:cs typeface="Tahoma" panose="020B0604030504040204" pitchFamily="34" charset="0"/>
              </a:rPr>
              <a:t> dan </a:t>
            </a:r>
            <a:r>
              <a:rPr lang="de-DE" sz="2400" b="1" dirty="0">
                <a:solidFill>
                  <a:srgbClr val="00B050"/>
                </a:solidFill>
                <a:latin typeface="Cambria" panose="02040503050406030204" pitchFamily="18" charset="0"/>
                <a:cs typeface="Tahoma" panose="020B0604030504040204" pitchFamily="34" charset="0"/>
              </a:rPr>
              <a:t>Sangat Pendek </a:t>
            </a:r>
            <a:r>
              <a:rPr lang="de-DE" sz="2400" b="1" dirty="0">
                <a:solidFill>
                  <a:srgbClr val="000099"/>
                </a:solidFill>
                <a:latin typeface="Cambria" panose="02040503050406030204" pitchFamily="18" charset="0"/>
                <a:cs typeface="Tahoma" panose="020B0604030504040204" pitchFamily="34" charset="0"/>
              </a:rPr>
              <a:t>adalah status gizi yang didasarkan pada indeks Panjang Badan menurut Umur (PB/U) atau Tinggi Badan menurut Umur (TB/U) yang merupakan padanan istilah </a:t>
            </a:r>
            <a:r>
              <a:rPr lang="de-DE" sz="2400" b="1" dirty="0">
                <a:solidFill>
                  <a:srgbClr val="00B050"/>
                </a:solidFill>
                <a:latin typeface="Cambria" panose="02040503050406030204" pitchFamily="18" charset="0"/>
                <a:cs typeface="Tahoma" panose="020B0604030504040204" pitchFamily="34" charset="0"/>
              </a:rPr>
              <a:t>stunted</a:t>
            </a:r>
            <a:r>
              <a:rPr lang="de-DE" sz="2400" b="1" dirty="0">
                <a:solidFill>
                  <a:srgbClr val="000099"/>
                </a:solidFill>
                <a:latin typeface="Cambria" panose="02040503050406030204" pitchFamily="18" charset="0"/>
                <a:cs typeface="Tahoma" panose="020B0604030504040204" pitchFamily="34" charset="0"/>
              </a:rPr>
              <a:t> (pendek) dan </a:t>
            </a:r>
            <a:r>
              <a:rPr lang="de-DE" sz="2400" b="1" dirty="0">
                <a:solidFill>
                  <a:srgbClr val="00B050"/>
                </a:solidFill>
                <a:latin typeface="Cambria" panose="02040503050406030204" pitchFamily="18" charset="0"/>
                <a:cs typeface="Tahoma" panose="020B0604030504040204" pitchFamily="34" charset="0"/>
              </a:rPr>
              <a:t>severely stunted </a:t>
            </a:r>
            <a:r>
              <a:rPr lang="de-DE" sz="2400" b="1" dirty="0">
                <a:solidFill>
                  <a:srgbClr val="000099"/>
                </a:solidFill>
                <a:latin typeface="Cambria" panose="02040503050406030204" pitchFamily="18" charset="0"/>
                <a:cs typeface="Tahoma" panose="020B0604030504040204" pitchFamily="34" charset="0"/>
              </a:rPr>
              <a:t>(sangat pendek).</a:t>
            </a:r>
          </a:p>
          <a:p>
            <a:pPr marL="396875" indent="-396875" algn="just" defTabSz="914400">
              <a:spcBef>
                <a:spcPts val="600"/>
              </a:spcBef>
              <a:spcAft>
                <a:spcPts val="600"/>
              </a:spcAft>
              <a:buFontTx/>
              <a:buBlip>
                <a:blip r:embed="rId2"/>
              </a:buBlip>
              <a:defRPr/>
            </a:pPr>
            <a:r>
              <a:rPr lang="de-DE" sz="2400" b="1" dirty="0">
                <a:solidFill>
                  <a:srgbClr val="00B050"/>
                </a:solidFill>
                <a:latin typeface="Cambria" panose="02040503050406030204" pitchFamily="18" charset="0"/>
                <a:cs typeface="Tahoma" panose="020B0604030504040204" pitchFamily="34" charset="0"/>
              </a:rPr>
              <a:t>Kurus</a:t>
            </a:r>
            <a:r>
              <a:rPr lang="de-DE" sz="2400" b="1" dirty="0">
                <a:solidFill>
                  <a:srgbClr val="000099"/>
                </a:solidFill>
                <a:latin typeface="Cambria" panose="02040503050406030204" pitchFamily="18" charset="0"/>
                <a:cs typeface="Tahoma" panose="020B0604030504040204" pitchFamily="34" charset="0"/>
              </a:rPr>
              <a:t> dan </a:t>
            </a:r>
            <a:r>
              <a:rPr lang="de-DE" sz="2400" b="1" dirty="0">
                <a:solidFill>
                  <a:srgbClr val="00B050"/>
                </a:solidFill>
                <a:latin typeface="Cambria" panose="02040503050406030204" pitchFamily="18" charset="0"/>
                <a:cs typeface="Tahoma" panose="020B0604030504040204" pitchFamily="34" charset="0"/>
              </a:rPr>
              <a:t>Sangat Kurus </a:t>
            </a:r>
            <a:r>
              <a:rPr lang="de-DE" sz="2400" b="1" dirty="0">
                <a:solidFill>
                  <a:srgbClr val="000099"/>
                </a:solidFill>
                <a:latin typeface="Cambria" panose="02040503050406030204" pitchFamily="18" charset="0"/>
                <a:cs typeface="Tahoma" panose="020B0604030504040204" pitchFamily="34" charset="0"/>
              </a:rPr>
              <a:t>adalah status gizi yang didasarkan pada indeks Berat Badan menurut Panjang Badan (BB/PB) atau Berat Badan menurut Tinggi Badan (BB/TB) yang merupakan padanan istilah </a:t>
            </a:r>
            <a:r>
              <a:rPr lang="de-DE" sz="2400" b="1" dirty="0">
                <a:solidFill>
                  <a:srgbClr val="00B050"/>
                </a:solidFill>
                <a:latin typeface="Cambria" panose="02040503050406030204" pitchFamily="18" charset="0"/>
                <a:cs typeface="Tahoma" panose="020B0604030504040204" pitchFamily="34" charset="0"/>
              </a:rPr>
              <a:t>wasted</a:t>
            </a:r>
            <a:r>
              <a:rPr lang="de-DE" sz="2400" b="1" dirty="0">
                <a:solidFill>
                  <a:srgbClr val="000099"/>
                </a:solidFill>
                <a:latin typeface="Cambria" panose="02040503050406030204" pitchFamily="18" charset="0"/>
                <a:cs typeface="Tahoma" panose="020B0604030504040204" pitchFamily="34" charset="0"/>
              </a:rPr>
              <a:t> (kurus) dan </a:t>
            </a:r>
            <a:r>
              <a:rPr lang="de-DE" sz="2400" b="1" dirty="0">
                <a:solidFill>
                  <a:srgbClr val="00B050"/>
                </a:solidFill>
                <a:latin typeface="Cambria" panose="02040503050406030204" pitchFamily="18" charset="0"/>
                <a:cs typeface="Tahoma" panose="020B0604030504040204" pitchFamily="34" charset="0"/>
              </a:rPr>
              <a:t>severely wasted </a:t>
            </a:r>
            <a:r>
              <a:rPr lang="de-DE" sz="2400" b="1" dirty="0">
                <a:solidFill>
                  <a:srgbClr val="000099"/>
                </a:solidFill>
                <a:latin typeface="Cambria" panose="02040503050406030204" pitchFamily="18" charset="0"/>
                <a:cs typeface="Tahoma" panose="020B0604030504040204" pitchFamily="34" charset="0"/>
              </a:rPr>
              <a:t>(sangat kurus).</a:t>
            </a:r>
          </a:p>
        </p:txBody>
      </p:sp>
      <p:pic>
        <p:nvPicPr>
          <p:cNvPr id="6" name="Picture 5"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199" y="274638"/>
            <a:ext cx="11523889" cy="1143000"/>
          </a:xfrm>
        </p:spPr>
        <p:txBody>
          <a:bodyPr>
            <a:normAutofit/>
          </a:bodyPr>
          <a:lstStyle/>
          <a:p>
            <a:r>
              <a:rPr lang="en-US" sz="3200" b="1" dirty="0" err="1">
                <a:latin typeface="Cambria" panose="02040503050406030204" pitchFamily="18" charset="0"/>
              </a:rPr>
              <a:t>Konsep</a:t>
            </a:r>
            <a:r>
              <a:rPr lang="en-US" sz="3200" b="1" dirty="0">
                <a:latin typeface="Cambria" panose="02040503050406030204" pitchFamily="18" charset="0"/>
              </a:rPr>
              <a:t> dan </a:t>
            </a:r>
            <a:r>
              <a:rPr lang="en-US" sz="3200" b="1" dirty="0" err="1">
                <a:latin typeface="Cambria" panose="02040503050406030204" pitchFamily="18" charset="0"/>
              </a:rPr>
              <a:t>Definisi</a:t>
            </a:r>
            <a:r>
              <a:rPr lang="en-US" sz="3200" b="1" baseline="-25000" dirty="0">
                <a:latin typeface="Cambria" panose="02040503050406030204" pitchFamily="18" charset="0"/>
              </a:rPr>
              <a:t>(2)</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53</a:t>
            </a:fld>
            <a:endParaRPr lang="en-US" altLang="id-ID"/>
          </a:p>
        </p:txBody>
      </p:sp>
      <p:sp>
        <p:nvSpPr>
          <p:cNvPr id="5" name="Rectangle 5"/>
          <p:cNvSpPr txBox="1">
            <a:spLocks noChangeArrowheads="1"/>
          </p:cNvSpPr>
          <p:nvPr/>
        </p:nvSpPr>
        <p:spPr>
          <a:xfrm>
            <a:off x="812039" y="1715700"/>
            <a:ext cx="10400444" cy="4419600"/>
          </a:xfrm>
          <a:prstGeom prst="rect">
            <a:avLst/>
          </a:prstGeom>
          <a:solidFill>
            <a:schemeClr val="bg1"/>
          </a:solid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96875" indent="-396875" algn="just" defTabSz="914400">
              <a:spcBef>
                <a:spcPts val="600"/>
              </a:spcBef>
              <a:spcAft>
                <a:spcPts val="600"/>
              </a:spcAft>
              <a:buFontTx/>
              <a:buBlip>
                <a:blip r:embed="rId2"/>
              </a:buBlip>
              <a:defRPr/>
            </a:pPr>
            <a:r>
              <a:rPr lang="de-DE" sz="2400" b="1" dirty="0">
                <a:solidFill>
                  <a:srgbClr val="00B050"/>
                </a:solidFill>
                <a:latin typeface="Cambria" panose="02040503050406030204" pitchFamily="18" charset="0"/>
                <a:cs typeface="Tahoma" panose="020B0604030504040204" pitchFamily="34" charset="0"/>
              </a:rPr>
              <a:t>Status Gizi Anak </a:t>
            </a:r>
            <a:r>
              <a:rPr lang="de-DE" sz="2400" b="1" dirty="0">
                <a:solidFill>
                  <a:schemeClr val="tx1">
                    <a:lumMod val="85000"/>
                    <a:lumOff val="15000"/>
                  </a:schemeClr>
                </a:solidFill>
                <a:latin typeface="Cambria" panose="02040503050406030204" pitchFamily="18" charset="0"/>
                <a:cs typeface="Tahoma" panose="020B0604030504040204" pitchFamily="34" charset="0"/>
              </a:rPr>
              <a:t>adalah  keadaan kesehatan anak yang ditentukan oleh derajat kebutuhan fisik energi dan zat-zat gizi lain yang diperoleh dari pangan dan makanan yang dampak fisiknya diukur secara antropometri ( Suharjo, 1996), dan dikategorikan berdasarkan standar baku WHO-NCHS dengan indeks BB/U, TB/U dan BB/TB.</a:t>
            </a:r>
          </a:p>
          <a:p>
            <a:pPr marL="396875" indent="-396875" algn="just" defTabSz="914400">
              <a:spcBef>
                <a:spcPts val="600"/>
              </a:spcBef>
              <a:spcAft>
                <a:spcPts val="600"/>
              </a:spcAft>
              <a:buFontTx/>
              <a:buBlip>
                <a:blip r:embed="rId2"/>
              </a:buBlip>
              <a:defRPr/>
            </a:pPr>
            <a:r>
              <a:rPr lang="de-DE" sz="2400" b="1" dirty="0">
                <a:solidFill>
                  <a:schemeClr val="tx1">
                    <a:lumMod val="85000"/>
                    <a:lumOff val="15000"/>
                  </a:schemeClr>
                </a:solidFill>
                <a:latin typeface="Cambria" panose="02040503050406030204" pitchFamily="18" charset="0"/>
                <a:cs typeface="Tahoma" panose="020B0604030504040204" pitchFamily="34" charset="0"/>
              </a:rPr>
              <a:t>Pengukuran Skor Simpangan Baku (Z-score) diperoleh dari:</a:t>
            </a:r>
          </a:p>
          <a:p>
            <a:pPr marL="0" indent="0" algn="just" defTabSz="914400">
              <a:spcBef>
                <a:spcPts val="600"/>
              </a:spcBef>
              <a:spcAft>
                <a:spcPts val="600"/>
              </a:spcAft>
              <a:buNone/>
              <a:defRPr/>
            </a:pPr>
            <a:endParaRPr lang="de-DE" sz="2400" b="1" dirty="0">
              <a:solidFill>
                <a:srgbClr val="000099"/>
              </a:solidFill>
              <a:latin typeface="Cambria" panose="02040503050406030204" pitchFamily="18" charset="0"/>
              <a:cs typeface="Tahoma" panose="020B0604030504040204" pitchFamily="34" charset="0"/>
            </a:endParaRPr>
          </a:p>
        </p:txBody>
      </p:sp>
      <mc:AlternateContent xmlns:mc="http://schemas.openxmlformats.org/markup-compatibility/2006" xmlns:a14="http://schemas.microsoft.com/office/drawing/2010/main">
        <mc:Choice Requires="a14">
          <p:sp>
            <p:nvSpPr>
              <p:cNvPr id="6" name="Rectangle 5"/>
              <p:cNvSpPr/>
              <p:nvPr/>
            </p:nvSpPr>
            <p:spPr>
              <a:xfrm>
                <a:off x="979517" y="4739329"/>
                <a:ext cx="10232966" cy="1089273"/>
              </a:xfrm>
              <a:prstGeom prst="rect">
                <a:avLst/>
              </a:prstGeom>
              <a:solidFill>
                <a:schemeClr val="bg1"/>
              </a:solidFill>
              <a:ln>
                <a:solidFill>
                  <a:schemeClr val="accent6">
                    <a:lumMod val="50000"/>
                  </a:schemeClr>
                </a:solidFill>
              </a:ln>
            </p:spPr>
            <p:txBody>
              <a:bodyPr wrap="square">
                <a:spAutoFit/>
              </a:bodyPr>
              <a:lstStyle/>
              <a:p>
                <a:pPr lvl="0" algn="ctr" defTabSz="914400">
                  <a:lnSpc>
                    <a:spcPct val="110000"/>
                  </a:lnSpc>
                  <a:spcBef>
                    <a:spcPts val="600"/>
                  </a:spcBef>
                  <a:spcAft>
                    <a:spcPts val="1200"/>
                  </a:spcAft>
                  <a:defRPr/>
                </a:pPr>
                <a14:m>
                  <m:oMathPara xmlns:m="http://schemas.openxmlformats.org/officeDocument/2006/math">
                    <m:oMathParaPr>
                      <m:jc m:val="centerGroup"/>
                    </m:oMathParaPr>
                    <m:oMath xmlns:m="http://schemas.openxmlformats.org/officeDocument/2006/math">
                      <m:r>
                        <a:rPr lang="id-ID" sz="2400" b="1" smtClean="0">
                          <a:solidFill>
                            <a:schemeClr val="accent6">
                              <a:lumMod val="50000"/>
                            </a:schemeClr>
                          </a:solidFill>
                          <a:latin typeface="Cambria Math" panose="02040503050406030204"/>
                          <a:cs typeface="Tahoma" panose="020B0604030504040204" pitchFamily="34" charset="0"/>
                        </a:rPr>
                        <m:t>𝐙</m:t>
                      </m:r>
                      <m:r>
                        <a:rPr lang="id-ID" sz="2400" b="1" smtClean="0">
                          <a:solidFill>
                            <a:schemeClr val="accent6">
                              <a:lumMod val="50000"/>
                            </a:schemeClr>
                          </a:solidFill>
                          <a:latin typeface="Cambria Math" panose="02040503050406030204"/>
                          <a:cs typeface="Tahoma" panose="020B0604030504040204" pitchFamily="34" charset="0"/>
                        </a:rPr>
                        <m:t>−</m:t>
                      </m:r>
                      <m:r>
                        <a:rPr lang="id-ID" sz="2400" b="1" smtClean="0">
                          <a:solidFill>
                            <a:schemeClr val="accent6">
                              <a:lumMod val="50000"/>
                            </a:schemeClr>
                          </a:solidFill>
                          <a:latin typeface="Cambria Math" panose="02040503050406030204"/>
                          <a:cs typeface="Tahoma" panose="020B0604030504040204" pitchFamily="34" charset="0"/>
                        </a:rPr>
                        <m:t>𝐬𝐜𝐨𝐫𝐞</m:t>
                      </m:r>
                      <m:r>
                        <a:rPr lang="id-ID" sz="2400" b="1" smtClean="0">
                          <a:solidFill>
                            <a:schemeClr val="accent6">
                              <a:lumMod val="50000"/>
                            </a:schemeClr>
                          </a:solidFill>
                          <a:latin typeface="Cambria Math" panose="02040503050406030204"/>
                          <a:cs typeface="Tahoma" panose="020B0604030504040204" pitchFamily="34" charset="0"/>
                        </a:rPr>
                        <m:t>= </m:t>
                      </m:r>
                      <m:f>
                        <m:fPr>
                          <m:ctrlPr>
                            <a:rPr lang="id-ID" sz="2400" b="1" i="1">
                              <a:solidFill>
                                <a:schemeClr val="accent6">
                                  <a:lumMod val="50000"/>
                                </a:schemeClr>
                              </a:solidFill>
                              <a:latin typeface="Cambria Math" panose="02040503050406030204" pitchFamily="18" charset="0"/>
                              <a:cs typeface="Tahoma" panose="020B0604030504040204" pitchFamily="34" charset="0"/>
                            </a:rPr>
                          </m:ctrlPr>
                        </m:fPr>
                        <m:num>
                          <m:r>
                            <a:rPr lang="id-ID" sz="2400" b="1">
                              <a:solidFill>
                                <a:schemeClr val="accent6">
                                  <a:lumMod val="50000"/>
                                </a:schemeClr>
                              </a:solidFill>
                              <a:latin typeface="Cambria Math" panose="02040503050406030204"/>
                              <a:cs typeface="Tahoma" panose="020B0604030504040204" pitchFamily="34" charset="0"/>
                            </a:rPr>
                            <m:t>𝐍𝐢𝐥𝐚𝐢</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𝐈𝐧𝐝𝐢𝐯𝐢𝐝𝐮𝐚𝐥</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𝐒𝐮𝐛𝐲𝐞𝐤</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𝐍𝐢𝐥𝐚𝐢</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𝐌𝐞𝐝𝐢𝐚𝐧</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𝐁𝐚𝐤𝐮</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𝐑𝐮𝐣𝐮𝐤𝐚𝐧</m:t>
                          </m:r>
                        </m:num>
                        <m:den>
                          <m:r>
                            <a:rPr lang="id-ID" sz="2400" b="1">
                              <a:solidFill>
                                <a:schemeClr val="accent6">
                                  <a:lumMod val="50000"/>
                                </a:schemeClr>
                              </a:solidFill>
                              <a:latin typeface="Cambria Math" panose="02040503050406030204"/>
                              <a:cs typeface="Tahoma" panose="020B0604030504040204" pitchFamily="34" charset="0"/>
                            </a:rPr>
                            <m:t>𝐍𝐢𝐥𝐚𝐢</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𝐒𝐢𝐦𝐩𝐚𝐧𝐠</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𝐁𝐚𝐤𝐮</m:t>
                          </m:r>
                          <m:r>
                            <a:rPr lang="id-ID" sz="2400" b="1">
                              <a:solidFill>
                                <a:schemeClr val="accent6">
                                  <a:lumMod val="50000"/>
                                </a:schemeClr>
                              </a:solidFill>
                              <a:latin typeface="Cambria Math" panose="02040503050406030204"/>
                              <a:cs typeface="Tahoma" panose="020B0604030504040204" pitchFamily="34" charset="0"/>
                            </a:rPr>
                            <m:t> </m:t>
                          </m:r>
                          <m:r>
                            <a:rPr lang="id-ID" sz="2400" b="1">
                              <a:solidFill>
                                <a:schemeClr val="accent6">
                                  <a:lumMod val="50000"/>
                                </a:schemeClr>
                              </a:solidFill>
                              <a:latin typeface="Cambria Math" panose="02040503050406030204"/>
                              <a:cs typeface="Tahoma" panose="020B0604030504040204" pitchFamily="34" charset="0"/>
                            </a:rPr>
                            <m:t>𝐑𝐮𝐣𝐮𝐤𝐚𝐧</m:t>
                          </m:r>
                        </m:den>
                      </m:f>
                    </m:oMath>
                  </m:oMathPara>
                </a14:m>
                <a:endParaRPr lang="id-ID" sz="2400" b="1" dirty="0">
                  <a:solidFill>
                    <a:schemeClr val="tx1"/>
                  </a:solidFill>
                  <a:latin typeface="Arial Rounded MT Bold" panose="020F0704030504030204" pitchFamily="34" charset="0"/>
                  <a:cs typeface="Tahoma" panose="020B0604030504040204" pitchFamily="34"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979517" y="4739329"/>
                <a:ext cx="10232966" cy="1089273"/>
              </a:xfrm>
              <a:prstGeom prst="rect">
                <a:avLst/>
              </a:prstGeom>
              <a:blipFill rotWithShape="1">
                <a:blip r:embed="rId3"/>
                <a:stretch>
                  <a:fillRect l="-47" t="-438" r="-41" b="-414"/>
                </a:stretch>
              </a:blipFill>
              <a:ln>
                <a:solidFill>
                  <a:schemeClr val="accent6">
                    <a:lumMod val="50000"/>
                  </a:schemeClr>
                </a:solidFill>
              </a:ln>
            </p:spPr>
            <p:txBody>
              <a:bodyPr/>
              <a:lstStyle/>
              <a:p>
                <a:r>
                  <a:rPr lang="en-US" altLang="en-US">
                    <a:noFill/>
                  </a:rPr>
                  <a:t> </a:t>
                </a:r>
              </a:p>
            </p:txBody>
          </p:sp>
        </mc:Fallback>
      </mc:AlternateContent>
      <p:pic>
        <p:nvPicPr>
          <p:cNvPr id="7" name="Picture 6"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77925" y="274955"/>
            <a:ext cx="10404475" cy="651510"/>
          </a:xfrm>
        </p:spPr>
        <p:txBody>
          <a:bodyPr>
            <a:normAutofit/>
          </a:bodyPr>
          <a:lstStyle/>
          <a:p>
            <a:r>
              <a:rPr lang="en-US" sz="2600" b="1" dirty="0" err="1">
                <a:latin typeface="Cambria" panose="02040503050406030204" pitchFamily="18" charset="0"/>
              </a:rPr>
              <a:t>Kategori</a:t>
            </a:r>
            <a:r>
              <a:rPr lang="en-US" sz="2600" b="1" dirty="0">
                <a:latin typeface="Cambria" panose="02040503050406030204" pitchFamily="18" charset="0"/>
              </a:rPr>
              <a:t> dan </a:t>
            </a:r>
            <a:r>
              <a:rPr lang="en-US" sz="2600" b="1" dirty="0" err="1">
                <a:latin typeface="Cambria" panose="02040503050406030204" pitchFamily="18" charset="0"/>
              </a:rPr>
              <a:t>Ambang</a:t>
            </a:r>
            <a:r>
              <a:rPr lang="en-US" sz="2600" b="1" dirty="0">
                <a:latin typeface="Cambria" panose="02040503050406030204" pitchFamily="18" charset="0"/>
              </a:rPr>
              <a:t> Batas Status </a:t>
            </a:r>
            <a:r>
              <a:rPr lang="en-US" sz="2600" b="1" dirty="0" err="1">
                <a:latin typeface="Cambria" panose="02040503050406030204" pitchFamily="18" charset="0"/>
              </a:rPr>
              <a:t>Gizi</a:t>
            </a:r>
            <a:r>
              <a:rPr lang="en-US" sz="2600" b="1" dirty="0">
                <a:latin typeface="Cambria" panose="02040503050406030204" pitchFamily="18" charset="0"/>
              </a:rPr>
              <a:t> Anak </a:t>
            </a:r>
            <a:r>
              <a:rPr lang="en-US" sz="2600" b="1" dirty="0" err="1">
                <a:latin typeface="Cambria" panose="02040503050406030204" pitchFamily="18" charset="0"/>
              </a:rPr>
              <a:t>Berdasarkan</a:t>
            </a:r>
            <a:r>
              <a:rPr lang="en-US" sz="2600" b="1" dirty="0">
                <a:latin typeface="Cambria" panose="02040503050406030204" pitchFamily="18" charset="0"/>
              </a:rPr>
              <a:t> </a:t>
            </a:r>
            <a:r>
              <a:rPr lang="en-US" sz="2600" b="1" dirty="0" err="1">
                <a:latin typeface="Cambria" panose="02040503050406030204" pitchFamily="18" charset="0"/>
              </a:rPr>
              <a:t>Indeks</a:t>
            </a:r>
            <a:r>
              <a:rPr lang="en-US" sz="2600" b="1" baseline="-25000" dirty="0">
                <a:latin typeface="Cambria" panose="02040503050406030204" pitchFamily="18" charset="0"/>
              </a:rPr>
              <a:t>(1)</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54</a:t>
            </a:fld>
            <a:endParaRPr lang="en-US" altLang="id-ID"/>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7925" y="956310"/>
            <a:ext cx="10034270" cy="5299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207135" y="186055"/>
            <a:ext cx="10549890" cy="651510"/>
          </a:xfrm>
        </p:spPr>
        <p:txBody>
          <a:bodyPr>
            <a:normAutofit/>
          </a:bodyPr>
          <a:lstStyle/>
          <a:p>
            <a:r>
              <a:rPr lang="en-US" sz="2600" b="1" dirty="0" err="1">
                <a:latin typeface="Cambria" panose="02040503050406030204" pitchFamily="18" charset="0"/>
              </a:rPr>
              <a:t>Kategori</a:t>
            </a:r>
            <a:r>
              <a:rPr lang="en-US" sz="2600" b="1" dirty="0">
                <a:latin typeface="Cambria" panose="02040503050406030204" pitchFamily="18" charset="0"/>
              </a:rPr>
              <a:t> dan </a:t>
            </a:r>
            <a:r>
              <a:rPr lang="en-US" sz="2600" b="1" dirty="0" err="1">
                <a:latin typeface="Cambria" panose="02040503050406030204" pitchFamily="18" charset="0"/>
              </a:rPr>
              <a:t>Ambang</a:t>
            </a:r>
            <a:r>
              <a:rPr lang="en-US" sz="2600" b="1" dirty="0">
                <a:latin typeface="Cambria" panose="02040503050406030204" pitchFamily="18" charset="0"/>
              </a:rPr>
              <a:t> Batas Status </a:t>
            </a:r>
            <a:r>
              <a:rPr lang="en-US" sz="2600" b="1" dirty="0" err="1">
                <a:latin typeface="Cambria" panose="02040503050406030204" pitchFamily="18" charset="0"/>
              </a:rPr>
              <a:t>Gizi</a:t>
            </a:r>
            <a:r>
              <a:rPr lang="en-US" sz="2600" b="1" dirty="0">
                <a:latin typeface="Cambria" panose="02040503050406030204" pitchFamily="18" charset="0"/>
              </a:rPr>
              <a:t> Anak </a:t>
            </a:r>
            <a:r>
              <a:rPr lang="en-US" sz="2600" b="1" dirty="0" err="1">
                <a:latin typeface="Cambria" panose="02040503050406030204" pitchFamily="18" charset="0"/>
              </a:rPr>
              <a:t>Berdasarkan</a:t>
            </a:r>
            <a:r>
              <a:rPr lang="en-US" sz="2600" b="1" dirty="0">
                <a:latin typeface="Cambria" panose="02040503050406030204" pitchFamily="18" charset="0"/>
              </a:rPr>
              <a:t> </a:t>
            </a:r>
            <a:r>
              <a:rPr lang="en-US" sz="2600" b="1" dirty="0" err="1">
                <a:latin typeface="Cambria" panose="02040503050406030204" pitchFamily="18" charset="0"/>
              </a:rPr>
              <a:t>Indeks</a:t>
            </a:r>
            <a:r>
              <a:rPr lang="en-US" sz="2600" b="1" baseline="-25000" dirty="0">
                <a:latin typeface="Cambria" panose="02040503050406030204" pitchFamily="18" charset="0"/>
              </a:rPr>
              <a:t>(2)</a:t>
            </a: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55</a:t>
            </a:fld>
            <a:endParaRPr lang="en-US" altLang="id-ID"/>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842" y="837569"/>
            <a:ext cx="10005006"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56</a:t>
            </a:fld>
            <a:endParaRPr lang="en-US" altLang="id-ID"/>
          </a:p>
        </p:txBody>
      </p:sp>
      <p:pic>
        <p:nvPicPr>
          <p:cNvPr id="5" name="Picture 4"/>
          <p:cNvPicPr>
            <a:picLocks noChangeAspect="1"/>
          </p:cNvPicPr>
          <p:nvPr/>
        </p:nvPicPr>
        <p:blipFill>
          <a:blip r:embed="rId2"/>
          <a:stretch>
            <a:fillRect/>
          </a:stretch>
        </p:blipFill>
        <p:spPr>
          <a:xfrm>
            <a:off x="688851" y="950027"/>
            <a:ext cx="10814297" cy="4133602"/>
          </a:xfrm>
          <a:prstGeom prst="rect">
            <a:avLst/>
          </a:prstGeom>
        </p:spPr>
      </p:pic>
      <p:pic>
        <p:nvPicPr>
          <p:cNvPr id="6" name="Picture 5"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57</a:t>
            </a:fld>
            <a:endParaRPr lang="en-US" altLang="id-ID"/>
          </a:p>
        </p:txBody>
      </p:sp>
      <p:pic>
        <p:nvPicPr>
          <p:cNvPr id="3" name="Picture 2"/>
          <p:cNvPicPr>
            <a:picLocks noChangeAspect="1"/>
          </p:cNvPicPr>
          <p:nvPr/>
        </p:nvPicPr>
        <p:blipFill>
          <a:blip r:embed="rId2"/>
          <a:stretch>
            <a:fillRect/>
          </a:stretch>
        </p:blipFill>
        <p:spPr>
          <a:xfrm>
            <a:off x="1302385" y="-74295"/>
            <a:ext cx="9803130" cy="6367145"/>
          </a:xfrm>
          <a:prstGeom prst="rect">
            <a:avLst/>
          </a:prstGeom>
        </p:spPr>
      </p:pic>
      <p:pic>
        <p:nvPicPr>
          <p:cNvPr id="5" name="Picture 4"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92850"/>
            <a:ext cx="12192000" cy="68326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4618" y="643263"/>
            <a:ext cx="10017865" cy="1216025"/>
          </a:xfrm>
          <a:solidFill>
            <a:schemeClr val="accent4">
              <a:lumMod val="20000"/>
              <a:lumOff val="80000"/>
            </a:schemeClr>
          </a:solidFill>
        </p:spPr>
        <p:txBody>
          <a:bodyPr>
            <a:normAutofit/>
          </a:bodyPr>
          <a:lstStyle/>
          <a:p>
            <a:r>
              <a:rPr lang="fi-FI" sz="3200" b="1" dirty="0">
                <a:solidFill>
                  <a:schemeClr val="tx1"/>
                </a:solidFill>
              </a:rPr>
              <a:t>Prevalensi Stunting (Pendek dan Sangat Pendek) pada Anak </a:t>
            </a:r>
            <a:r>
              <a:rPr lang="id-ID" sz="3200" b="1" dirty="0">
                <a:solidFill>
                  <a:schemeClr val="tx1"/>
                </a:solidFill>
              </a:rPr>
              <a:t>d</a:t>
            </a:r>
            <a:r>
              <a:rPr lang="fi-FI" sz="3200" b="1" dirty="0">
                <a:solidFill>
                  <a:schemeClr val="tx1"/>
                </a:solidFill>
              </a:rPr>
              <a:t>i Bawah 5 Tahun/Balita</a:t>
            </a:r>
            <a:endParaRPr lang="en-US" sz="3200" dirty="0">
              <a:solidFill>
                <a:schemeClr val="tx1"/>
              </a:solidFill>
            </a:endParaRP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58</a:t>
            </a:fld>
            <a:endParaRPr lang="en-US" altLang="id-ID"/>
          </a:p>
        </p:txBody>
      </p:sp>
      <mc:AlternateContent xmlns:mc="http://schemas.openxmlformats.org/markup-compatibility/2006" xmlns:a14="http://schemas.microsoft.com/office/drawing/2010/main">
        <mc:Choice Requires="a14">
          <p:sp>
            <p:nvSpPr>
              <p:cNvPr id="5" name="Subtitle 1"/>
              <p:cNvSpPr txBox="1"/>
              <p:nvPr/>
            </p:nvSpPr>
            <p:spPr>
              <a:xfrm>
                <a:off x="500195" y="2212733"/>
                <a:ext cx="10835594" cy="1216025"/>
              </a:xfrm>
              <a:prstGeom prst="rect">
                <a:avLst/>
              </a:prstGeom>
              <a:ln w="25400" cap="flat" cmpd="sng" algn="ctr">
                <a:noFill/>
                <a:prstDash val="solid"/>
              </a:ln>
            </p:spPr>
            <p:style>
              <a:lnRef idx="2">
                <a:schemeClr val="accent3"/>
              </a:lnRef>
              <a:fillRef idx="1">
                <a:schemeClr val="lt1"/>
              </a:fillRef>
              <a:effectRef idx="0">
                <a:schemeClr val="accent3"/>
              </a:effectRef>
              <a:fontRef idx="minor">
                <a:schemeClr val="dk1"/>
              </a:fontRef>
            </p:style>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dk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dk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dk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dk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dk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dk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dk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dk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dk1"/>
                    </a:solidFill>
                    <a:latin typeface="+mn-lt"/>
                    <a:ea typeface="+mn-ea"/>
                    <a:cs typeface="+mn-cs"/>
                  </a:defRPr>
                </a:lvl9pPr>
              </a:lstStyle>
              <a:p>
                <a:pPr marL="342900" indent="-342900">
                  <a:buClr>
                    <a:srgbClr val="FF0000"/>
                  </a:buClr>
                  <a:buSzPct val="100000"/>
                  <a:buFont typeface="Wingdings" panose="05000000000000000000" pitchFamily="2" charset="2"/>
                  <a:buChar char=""/>
                </a:pPr>
                <a:endParaRPr lang="id-ID" sz="600" dirty="0">
                  <a:solidFill>
                    <a:srgbClr val="000000"/>
                  </a:solidFill>
                  <a:latin typeface="Arial Narrow" panose="020B0606020202030204"/>
                  <a:cs typeface="Arial Narrow" panose="020B0606020202030204"/>
                </a:endParaRPr>
              </a:p>
              <a:p>
                <a:pPr marL="0" indent="0" algn="just">
                  <a:buClr>
                    <a:srgbClr val="FF0000"/>
                  </a:buClr>
                  <a:buSzPct val="100000"/>
                  <a:buNone/>
                </a:pPr>
                <a14:m>
                  <m:oMathPara xmlns:m="http://schemas.openxmlformats.org/officeDocument/2006/math">
                    <m:oMathParaPr>
                      <m:jc m:val="centerGroup"/>
                    </m:oMathParaPr>
                    <m:oMath xmlns:m="http://schemas.openxmlformats.org/officeDocument/2006/math">
                      <m:r>
                        <a:rPr lang="en-US" sz="3000" b="0" i="1" smtClean="0">
                          <a:effectLst/>
                          <a:latin typeface="Cambria Math" panose="02040503050406030204" pitchFamily="18" charset="0"/>
                          <a:ea typeface="Calibri" panose="020F0502020204030204" pitchFamily="34" charset="0"/>
                          <a:cs typeface="Times New Roman" panose="02020603050405020304" charset="0"/>
                        </a:rPr>
                        <m:t>𝑃𝐴𝐵</m:t>
                      </m:r>
                      <m:d>
                        <m:dPr>
                          <m:ctrlPr>
                            <a:rPr lang="en-US" sz="3000" b="0" i="1" smtClean="0">
                              <a:effectLst/>
                              <a:latin typeface="Cambria Math" panose="02040503050406030204" pitchFamily="18" charset="0"/>
                              <a:ea typeface="Calibri" panose="020F0502020204030204" pitchFamily="34" charset="0"/>
                              <a:cs typeface="Times New Roman" panose="02020603050405020304" charset="0"/>
                            </a:rPr>
                          </m:ctrlPr>
                        </m:dPr>
                        <m:e>
                          <m:r>
                            <a:rPr lang="en-US" sz="3000" b="0" i="1" smtClean="0">
                              <a:effectLst/>
                              <a:latin typeface="Cambria Math" panose="02040503050406030204" pitchFamily="18" charset="0"/>
                              <a:ea typeface="Calibri" panose="020F0502020204030204" pitchFamily="34" charset="0"/>
                              <a:cs typeface="Times New Roman" panose="02020603050405020304" charset="0"/>
                            </a:rPr>
                            <m:t>5</m:t>
                          </m:r>
                        </m:e>
                      </m:d>
                      <m:r>
                        <a:rPr lang="en-US" sz="3000" b="0" i="1" smtClean="0">
                          <a:effectLst/>
                          <a:latin typeface="Cambria Math" panose="02040503050406030204" pitchFamily="18" charset="0"/>
                          <a:ea typeface="Calibri" panose="020F0502020204030204" pitchFamily="34" charset="0"/>
                          <a:cs typeface="Times New Roman" panose="02020603050405020304" charset="0"/>
                        </a:rPr>
                        <m:t>𝑆𝑃𝑠𝑡𝑢𝑛𝑡𝑖𝑛𝑔</m:t>
                      </m:r>
                      <m:r>
                        <a:rPr lang="en-US" sz="3000" i="1">
                          <a:effectLst/>
                          <a:latin typeface="Cambria Math" panose="02040503050406030204" pitchFamily="18" charset="0"/>
                          <a:ea typeface="Calibri" panose="020F0502020204030204" pitchFamily="34" charset="0"/>
                          <a:cs typeface="Times New Roman" panose="02020603050405020304" charset="0"/>
                        </a:rPr>
                        <m:t>=</m:t>
                      </m:r>
                      <m:f>
                        <m:fPr>
                          <m:ctrlPr>
                            <a:rPr lang="en-US" sz="3000" i="1">
                              <a:effectLst/>
                              <a:latin typeface="Cambria Math" panose="02040503050406030204" pitchFamily="18" charset="0"/>
                            </a:rPr>
                          </m:ctrlPr>
                        </m:fPr>
                        <m:num>
                          <m:r>
                            <a:rPr lang="en-US" sz="3000" b="0" i="1" smtClean="0">
                              <a:effectLst/>
                              <a:latin typeface="Cambria Math" panose="02040503050406030204" pitchFamily="18" charset="0"/>
                            </a:rPr>
                            <m:t>𝐽𝐴𝐵</m:t>
                          </m:r>
                          <m:d>
                            <m:dPr>
                              <m:ctrlPr>
                                <a:rPr lang="en-US" sz="3000" b="0" i="1" smtClean="0">
                                  <a:effectLst/>
                                  <a:latin typeface="Cambria Math" panose="02040503050406030204" pitchFamily="18" charset="0"/>
                                </a:rPr>
                              </m:ctrlPr>
                            </m:dPr>
                            <m:e>
                              <m:r>
                                <a:rPr lang="en-US" sz="3000" b="0" i="1" smtClean="0">
                                  <a:effectLst/>
                                  <a:latin typeface="Cambria Math" panose="02040503050406030204" pitchFamily="18" charset="0"/>
                                </a:rPr>
                                <m:t>5</m:t>
                              </m:r>
                            </m:e>
                          </m:d>
                          <m:r>
                            <a:rPr lang="en-US" sz="3000" b="0" i="1" smtClean="0">
                              <a:effectLst/>
                              <a:latin typeface="Cambria Math" panose="02040503050406030204" pitchFamily="18" charset="0"/>
                            </a:rPr>
                            <m:t>𝑆𝑃𝑠𝑡𝑢𝑛𝑡𝑖𝑛𝑔</m:t>
                          </m:r>
                        </m:num>
                        <m:den>
                          <m:r>
                            <a:rPr lang="en-US" sz="3000" b="0" i="1" smtClean="0">
                              <a:effectLst/>
                              <a:latin typeface="Cambria Math" panose="02040503050406030204" pitchFamily="18" charset="0"/>
                              <a:ea typeface="Calibri" panose="020F0502020204030204" pitchFamily="34" charset="0"/>
                              <a:cs typeface="Times New Roman" panose="02020603050405020304" charset="0"/>
                            </a:rPr>
                            <m:t>𝐽𝐴𝐵</m:t>
                          </m:r>
                          <m:r>
                            <a:rPr lang="en-US" sz="3000" b="0" i="1" smtClean="0">
                              <a:effectLst/>
                              <a:latin typeface="Cambria Math" panose="02040503050406030204" pitchFamily="18" charset="0"/>
                              <a:ea typeface="Calibri" panose="020F0502020204030204" pitchFamily="34" charset="0"/>
                              <a:cs typeface="Times New Roman" panose="02020603050405020304" charset="0"/>
                            </a:rPr>
                            <m:t>(5)</m:t>
                          </m:r>
                        </m:den>
                      </m:f>
                      <m:r>
                        <a:rPr lang="en-US" sz="3000" i="1">
                          <a:latin typeface="Cambria Math" panose="02040503050406030204" pitchFamily="18" charset="0"/>
                          <a:ea typeface="Calibri" panose="020F0502020204030204" pitchFamily="34" charset="0"/>
                          <a:cs typeface="Times New Roman" panose="02020603050405020304" charset="0"/>
                        </a:rPr>
                        <m:t>𝑥</m:t>
                      </m:r>
                      <m:r>
                        <a:rPr lang="en-US" sz="3000" b="0" i="1" smtClean="0">
                          <a:latin typeface="Cambria Math" panose="02040503050406030204" pitchFamily="18" charset="0"/>
                          <a:ea typeface="Calibri" panose="020F0502020204030204" pitchFamily="34" charset="0"/>
                          <a:cs typeface="Times New Roman" panose="02020603050405020304" charset="0"/>
                        </a:rPr>
                        <m:t> </m:t>
                      </m:r>
                      <m:r>
                        <a:rPr lang="en-US" sz="3000" i="1">
                          <a:latin typeface="Cambria Math" panose="02040503050406030204" pitchFamily="18" charset="0"/>
                          <a:ea typeface="Calibri" panose="020F0502020204030204" pitchFamily="34" charset="0"/>
                          <a:cs typeface="Times New Roman" panose="02020603050405020304" charset="0"/>
                        </a:rPr>
                        <m:t>100%</m:t>
                      </m:r>
                    </m:oMath>
                  </m:oMathPara>
                </a14:m>
                <a:endParaRPr lang="id-ID" sz="3000" dirty="0">
                  <a:solidFill>
                    <a:srgbClr val="000000"/>
                  </a:solidFill>
                  <a:latin typeface="Arial Narrow" panose="020B0606020202030204"/>
                  <a:cs typeface="Arial Narrow" panose="020B0606020202030204"/>
                </a:endParaRPr>
              </a:p>
              <a:p>
                <a:pPr marL="0" indent="0" algn="just">
                  <a:buClr>
                    <a:srgbClr val="FF0000"/>
                  </a:buClr>
                  <a:buSzPct val="100000"/>
                  <a:buNone/>
                </a:pPr>
                <a:endParaRPr lang="id-ID" sz="2400" dirty="0">
                  <a:solidFill>
                    <a:srgbClr val="000000"/>
                  </a:solidFill>
                  <a:latin typeface="Arial Narrow" panose="020B0606020202030204"/>
                  <a:cs typeface="Arial Narrow" panose="020B0606020202030204"/>
                </a:endParaRPr>
              </a:p>
            </p:txBody>
          </p:sp>
        </mc:Choice>
        <mc:Fallback xmlns="">
          <p:sp>
            <p:nvSpPr>
              <p:cNvPr id="5" name="Subtitle 1"/>
              <p:cNvSpPr txBox="1">
                <a:spLocks noRot="1" noChangeAspect="1" noMove="1" noResize="1" noEditPoints="1" noAdjustHandles="1" noChangeArrowheads="1" noChangeShapeType="1" noTextEdit="1"/>
              </p:cNvSpPr>
              <p:nvPr/>
            </p:nvSpPr>
            <p:spPr>
              <a:xfrm>
                <a:off x="500195" y="2212733"/>
                <a:ext cx="10835594" cy="1216025"/>
              </a:xfrm>
              <a:prstGeom prst="rect">
                <a:avLst/>
              </a:prstGeom>
              <a:blipFill rotWithShape="1">
                <a:blip r:embed="rId3"/>
                <a:stretch>
                  <a:fillRect l="-4" t="-32" r="4" b="-26913"/>
                </a:stretch>
              </a:blipFill>
              <a:ln w="25400" cap="flat" cmpd="sng" algn="ctr">
                <a:noFill/>
                <a:prstDash val="solid"/>
              </a:ln>
            </p:spPr>
            <p:style>
              <a:lnRef idx="2">
                <a:schemeClr val="accent3"/>
              </a:lnRef>
              <a:fillRef idx="1">
                <a:schemeClr val="lt1"/>
              </a:fillRef>
              <a:effectRef idx="0">
                <a:schemeClr val="accent3"/>
              </a:effectRef>
              <a:fontRef idx="minor">
                <a:schemeClr val="dk1"/>
              </a:fontRef>
            </p:style>
            <p:txBody>
              <a:bodyPr/>
              <a:lstStyle/>
              <a:p>
                <a:r>
                  <a:rPr lang="en-US" altLang="en-US">
                    <a:noFill/>
                  </a:rPr>
                  <a:t> </a:t>
                </a:r>
              </a:p>
            </p:txBody>
          </p:sp>
        </mc:Fallback>
      </mc:AlternateContent>
      <p:sp>
        <p:nvSpPr>
          <p:cNvPr id="7" name="TextBox 6"/>
          <p:cNvSpPr txBox="1"/>
          <p:nvPr/>
        </p:nvSpPr>
        <p:spPr>
          <a:xfrm>
            <a:off x="1194618" y="3782893"/>
            <a:ext cx="10110692" cy="1631216"/>
          </a:xfrm>
          <a:prstGeom prst="rect">
            <a:avLst/>
          </a:prstGeom>
          <a:noFill/>
        </p:spPr>
        <p:txBody>
          <a:bodyPr wrap="square">
            <a:spAutoFit/>
          </a:bodyPr>
          <a:lstStyle/>
          <a:p>
            <a:pPr algn="l" fontAlgn="base"/>
            <a:r>
              <a:rPr lang="en-US" sz="2000" b="0" i="0" dirty="0" err="1">
                <a:solidFill>
                  <a:srgbClr val="000000"/>
                </a:solidFill>
                <a:effectLst/>
                <a:latin typeface="Arial" panose="020B0604020202020204" pitchFamily="34" charset="0"/>
              </a:rPr>
              <a:t>dimana</a:t>
            </a:r>
            <a:r>
              <a:rPr lang="en-US" sz="2000" b="0" i="0" dirty="0">
                <a:solidFill>
                  <a:srgbClr val="000000"/>
                </a:solidFill>
                <a:effectLst/>
                <a:latin typeface="Arial" panose="020B0604020202020204" pitchFamily="34" charset="0"/>
              </a:rPr>
              <a:t>:</a:t>
            </a:r>
          </a:p>
          <a:p>
            <a:pPr marL="2876550" indent="-2876550" algn="l" fontAlgn="base">
              <a:tabLst>
                <a:tab pos="2684145" algn="l"/>
              </a:tabLst>
            </a:pPr>
            <a:r>
              <a:rPr lang="en-US" sz="2000" b="0" i="0" dirty="0">
                <a:solidFill>
                  <a:srgbClr val="000000"/>
                </a:solidFill>
                <a:effectLst/>
                <a:latin typeface="Arial" panose="020B0604020202020204" pitchFamily="34" charset="0"/>
              </a:rPr>
              <a:t>PAB(5)</a:t>
            </a:r>
            <a:r>
              <a:rPr lang="en-US" sz="2000" b="0" i="0" dirty="0" err="1">
                <a:solidFill>
                  <a:srgbClr val="000000"/>
                </a:solidFill>
                <a:effectLst/>
                <a:latin typeface="Arial" panose="020B0604020202020204" pitchFamily="34" charset="0"/>
              </a:rPr>
              <a:t>SPstunting</a:t>
            </a:r>
            <a:r>
              <a:rPr lang="en-US" sz="2000" b="0" i="0" dirty="0">
                <a:solidFill>
                  <a:srgbClr val="000000"/>
                </a:solidFill>
                <a:effectLst/>
                <a:latin typeface="Arial" panose="020B0604020202020204" pitchFamily="34" charset="0"/>
              </a:rPr>
              <a:t> 	: </a:t>
            </a:r>
            <a:r>
              <a:rPr lang="en-US" sz="2000" b="0" i="0" dirty="0" err="1">
                <a:solidFill>
                  <a:srgbClr val="000000"/>
                </a:solidFill>
                <a:effectLst/>
                <a:latin typeface="Arial" panose="020B0604020202020204" pitchFamily="34" charset="0"/>
              </a:rPr>
              <a:t>Prevalensi</a:t>
            </a:r>
            <a:r>
              <a:rPr lang="en-US" sz="2000" b="0" i="0" dirty="0">
                <a:solidFill>
                  <a:srgbClr val="000000"/>
                </a:solidFill>
                <a:effectLst/>
                <a:latin typeface="Arial" panose="020B0604020202020204" pitchFamily="34" charset="0"/>
              </a:rPr>
              <a:t> </a:t>
            </a:r>
            <a:r>
              <a:rPr lang="en-US" sz="2000" b="0" i="0" dirty="0" err="1">
                <a:solidFill>
                  <a:srgbClr val="000000"/>
                </a:solidFill>
                <a:effectLst/>
                <a:latin typeface="Arial" panose="020B0604020202020204" pitchFamily="34" charset="0"/>
              </a:rPr>
              <a:t>anak</a:t>
            </a:r>
            <a:r>
              <a:rPr lang="en-US" sz="2000" b="0" i="0" dirty="0">
                <a:solidFill>
                  <a:srgbClr val="000000"/>
                </a:solidFill>
                <a:effectLst/>
                <a:latin typeface="Arial" panose="020B0604020202020204" pitchFamily="34" charset="0"/>
              </a:rPr>
              <a:t> </a:t>
            </a:r>
            <a:r>
              <a:rPr lang="en-US" sz="2000" b="0" i="0" dirty="0" err="1">
                <a:solidFill>
                  <a:srgbClr val="000000"/>
                </a:solidFill>
                <a:effectLst/>
                <a:latin typeface="Arial" panose="020B0604020202020204" pitchFamily="34" charset="0"/>
              </a:rPr>
              <a:t>balita</a:t>
            </a:r>
            <a:r>
              <a:rPr lang="en-US" sz="2000" b="0" i="0" dirty="0">
                <a:solidFill>
                  <a:srgbClr val="000000"/>
                </a:solidFill>
                <a:effectLst/>
                <a:latin typeface="Arial" panose="020B0604020202020204" pitchFamily="34" charset="0"/>
              </a:rPr>
              <a:t> yang </a:t>
            </a:r>
            <a:r>
              <a:rPr lang="en-US" sz="2000" b="0" i="0" dirty="0" err="1">
                <a:solidFill>
                  <a:srgbClr val="000000"/>
                </a:solidFill>
                <a:effectLst/>
                <a:latin typeface="Arial" panose="020B0604020202020204" pitchFamily="34" charset="0"/>
              </a:rPr>
              <a:t>menderita</a:t>
            </a:r>
            <a:r>
              <a:rPr lang="en-US" sz="2000" b="0" i="0" dirty="0">
                <a:solidFill>
                  <a:srgbClr val="000000"/>
                </a:solidFill>
                <a:effectLst/>
                <a:latin typeface="Arial" panose="020B0604020202020204" pitchFamily="34" charset="0"/>
              </a:rPr>
              <a:t> sangat </a:t>
            </a:r>
            <a:r>
              <a:rPr lang="en-US" sz="2000" b="0" i="0" dirty="0" err="1">
                <a:solidFill>
                  <a:srgbClr val="000000"/>
                </a:solidFill>
                <a:effectLst/>
                <a:latin typeface="Arial" panose="020B0604020202020204" pitchFamily="34" charset="0"/>
              </a:rPr>
              <a:t>pendek</a:t>
            </a:r>
            <a:r>
              <a:rPr lang="en-US" sz="2000" b="0" i="0" dirty="0">
                <a:solidFill>
                  <a:srgbClr val="000000"/>
                </a:solidFill>
                <a:effectLst/>
                <a:latin typeface="Arial" panose="020B0604020202020204" pitchFamily="34" charset="0"/>
              </a:rPr>
              <a:t> (stunting)</a:t>
            </a:r>
          </a:p>
          <a:p>
            <a:pPr algn="l" fontAlgn="base"/>
            <a:r>
              <a:rPr lang="en-US" sz="2000" b="0" i="0" dirty="0">
                <a:solidFill>
                  <a:srgbClr val="000000"/>
                </a:solidFill>
                <a:effectLst/>
                <a:latin typeface="Arial" panose="020B0604020202020204" pitchFamily="34" charset="0"/>
              </a:rPr>
              <a:t>JAB(5)</a:t>
            </a:r>
            <a:r>
              <a:rPr lang="en-US" sz="2000" b="0" i="0" dirty="0" err="1">
                <a:solidFill>
                  <a:srgbClr val="000000"/>
                </a:solidFill>
                <a:effectLst/>
                <a:latin typeface="Arial" panose="020B0604020202020204" pitchFamily="34" charset="0"/>
              </a:rPr>
              <a:t>SPstunting</a:t>
            </a:r>
            <a:r>
              <a:rPr lang="en-US" sz="2000" b="0" i="0" dirty="0">
                <a:solidFill>
                  <a:srgbClr val="000000"/>
                </a:solidFill>
                <a:effectLst/>
                <a:latin typeface="Arial" panose="020B0604020202020204" pitchFamily="34" charset="0"/>
              </a:rPr>
              <a:t> 	: </a:t>
            </a:r>
            <a:r>
              <a:rPr lang="en-US" sz="2000" b="0" i="0" dirty="0" err="1">
                <a:solidFill>
                  <a:srgbClr val="000000"/>
                </a:solidFill>
                <a:effectLst/>
                <a:latin typeface="Arial" panose="020B0604020202020204" pitchFamily="34" charset="0"/>
              </a:rPr>
              <a:t>Jumlah</a:t>
            </a:r>
            <a:r>
              <a:rPr lang="en-US" sz="2000" b="0" i="0" dirty="0">
                <a:solidFill>
                  <a:srgbClr val="000000"/>
                </a:solidFill>
                <a:effectLst/>
                <a:latin typeface="Arial" panose="020B0604020202020204" pitchFamily="34" charset="0"/>
              </a:rPr>
              <a:t> </a:t>
            </a:r>
            <a:r>
              <a:rPr lang="en-US" sz="2000" b="0" i="0" dirty="0" err="1">
                <a:solidFill>
                  <a:srgbClr val="000000"/>
                </a:solidFill>
                <a:effectLst/>
                <a:latin typeface="Arial" panose="020B0604020202020204" pitchFamily="34" charset="0"/>
              </a:rPr>
              <a:t>anak</a:t>
            </a:r>
            <a:r>
              <a:rPr lang="en-US" sz="2000" b="0" i="0" dirty="0">
                <a:solidFill>
                  <a:srgbClr val="000000"/>
                </a:solidFill>
                <a:effectLst/>
                <a:latin typeface="Arial" panose="020B0604020202020204" pitchFamily="34" charset="0"/>
              </a:rPr>
              <a:t> </a:t>
            </a:r>
            <a:r>
              <a:rPr lang="en-US" sz="2000" b="0" i="0" dirty="0" err="1">
                <a:solidFill>
                  <a:srgbClr val="000000"/>
                </a:solidFill>
                <a:effectLst/>
                <a:latin typeface="Arial" panose="020B0604020202020204" pitchFamily="34" charset="0"/>
              </a:rPr>
              <a:t>balita</a:t>
            </a:r>
            <a:r>
              <a:rPr lang="en-US" sz="2000" b="0" i="0" dirty="0">
                <a:solidFill>
                  <a:srgbClr val="000000"/>
                </a:solidFill>
                <a:effectLst/>
                <a:latin typeface="Arial" panose="020B0604020202020204" pitchFamily="34" charset="0"/>
              </a:rPr>
              <a:t> sangat </a:t>
            </a:r>
            <a:r>
              <a:rPr lang="en-US" sz="2000" b="0" i="0" dirty="0" err="1">
                <a:solidFill>
                  <a:srgbClr val="000000"/>
                </a:solidFill>
                <a:effectLst/>
                <a:latin typeface="Arial" panose="020B0604020202020204" pitchFamily="34" charset="0"/>
              </a:rPr>
              <a:t>pendek</a:t>
            </a:r>
            <a:r>
              <a:rPr lang="en-US" sz="2000" b="0" i="0" dirty="0">
                <a:solidFill>
                  <a:srgbClr val="000000"/>
                </a:solidFill>
                <a:effectLst/>
                <a:latin typeface="Arial" panose="020B0604020202020204" pitchFamily="34" charset="0"/>
              </a:rPr>
              <a:t> (stunting)</a:t>
            </a:r>
          </a:p>
          <a:p>
            <a:pPr algn="l" fontAlgn="base"/>
            <a:r>
              <a:rPr lang="en-US" sz="2000" b="0" i="0" dirty="0">
                <a:solidFill>
                  <a:srgbClr val="000000"/>
                </a:solidFill>
                <a:effectLst/>
                <a:latin typeface="Arial" panose="020B0604020202020204" pitchFamily="34" charset="0"/>
              </a:rPr>
              <a:t>JAB(5) 			: </a:t>
            </a:r>
            <a:r>
              <a:rPr lang="en-US" sz="2000" b="0" i="0" dirty="0" err="1">
                <a:solidFill>
                  <a:srgbClr val="000000"/>
                </a:solidFill>
                <a:effectLst/>
                <a:latin typeface="Arial" panose="020B0604020202020204" pitchFamily="34" charset="0"/>
              </a:rPr>
              <a:t>Jumlah</a:t>
            </a:r>
            <a:r>
              <a:rPr lang="en-US" sz="2000" b="0" i="0" dirty="0">
                <a:solidFill>
                  <a:srgbClr val="000000"/>
                </a:solidFill>
                <a:effectLst/>
                <a:latin typeface="Arial" panose="020B0604020202020204" pitchFamily="34" charset="0"/>
              </a:rPr>
              <a:t> </a:t>
            </a:r>
            <a:r>
              <a:rPr lang="en-US" sz="2000" b="0" i="0" dirty="0" err="1">
                <a:solidFill>
                  <a:srgbClr val="000000"/>
                </a:solidFill>
                <a:effectLst/>
                <a:latin typeface="Arial" panose="020B0604020202020204" pitchFamily="34" charset="0"/>
              </a:rPr>
              <a:t>anak</a:t>
            </a:r>
            <a:r>
              <a:rPr lang="en-US" sz="2000" b="0" i="0" dirty="0">
                <a:solidFill>
                  <a:srgbClr val="000000"/>
                </a:solidFill>
                <a:effectLst/>
                <a:latin typeface="Arial" panose="020B0604020202020204" pitchFamily="34" charset="0"/>
              </a:rPr>
              <a:t> </a:t>
            </a:r>
            <a:r>
              <a:rPr lang="en-US" sz="2000" b="0" i="0" dirty="0" err="1">
                <a:solidFill>
                  <a:srgbClr val="000000"/>
                </a:solidFill>
                <a:effectLst/>
                <a:latin typeface="Arial" panose="020B0604020202020204" pitchFamily="34" charset="0"/>
              </a:rPr>
              <a:t>balita</a:t>
            </a:r>
            <a:endParaRPr lang="en-US" sz="2000" b="0" i="0" dirty="0">
              <a:solidFill>
                <a:srgbClr val="000000"/>
              </a:solidFill>
              <a:effectLst/>
              <a:latin typeface="Arial" panose="020B0604020202020204" pitchFamily="34" charset="0"/>
            </a:endParaRPr>
          </a:p>
        </p:txBody>
      </p:sp>
      <p:pic>
        <p:nvPicPr>
          <p:cNvPr id="6" name="Picture 5" descr="A picture containing drawing, device  Description automatically generated"/>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9350" y="744229"/>
            <a:ext cx="10062636" cy="1064634"/>
          </a:xfrm>
          <a:solidFill>
            <a:schemeClr val="accent4">
              <a:lumMod val="20000"/>
              <a:lumOff val="80000"/>
            </a:schemeClr>
          </a:solidFill>
        </p:spPr>
        <p:txBody>
          <a:bodyPr>
            <a:normAutofit/>
          </a:bodyPr>
          <a:lstStyle/>
          <a:p>
            <a:r>
              <a:rPr lang="fi-FI" sz="3200" b="1" dirty="0">
                <a:solidFill>
                  <a:schemeClr val="tx1"/>
                </a:solidFill>
              </a:rPr>
              <a:t>Prevalensi Stunting (Pendek dan Sangat Pendek) pada Anak </a:t>
            </a:r>
            <a:r>
              <a:rPr lang="id-ID" sz="3200" b="1" dirty="0">
                <a:solidFill>
                  <a:schemeClr val="tx1"/>
                </a:solidFill>
              </a:rPr>
              <a:t>d</a:t>
            </a:r>
            <a:r>
              <a:rPr lang="fi-FI" sz="3200" b="1" dirty="0">
                <a:solidFill>
                  <a:schemeClr val="tx1"/>
                </a:solidFill>
              </a:rPr>
              <a:t>i Bawah 5 Tahun</a:t>
            </a:r>
            <a:r>
              <a:rPr lang="id-ID" sz="3200" b="1" dirty="0">
                <a:solidFill>
                  <a:schemeClr val="tx1"/>
                </a:solidFill>
              </a:rPr>
              <a:t> (</a:t>
            </a:r>
            <a:r>
              <a:rPr lang="fi-FI" sz="3200" b="1" dirty="0">
                <a:solidFill>
                  <a:schemeClr val="tx1"/>
                </a:solidFill>
              </a:rPr>
              <a:t>Balita</a:t>
            </a:r>
            <a:r>
              <a:rPr lang="id-ID" sz="3200" b="1" dirty="0">
                <a:solidFill>
                  <a:schemeClr val="tx1"/>
                </a:solidFill>
              </a:rPr>
              <a:t>)</a:t>
            </a:r>
            <a:endParaRPr lang="en-US" sz="3200" dirty="0">
              <a:solidFill>
                <a:schemeClr val="tx1"/>
              </a:solidFill>
            </a:endParaRP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59</a:t>
            </a:fld>
            <a:endParaRPr lang="en-US" altLang="id-ID"/>
          </a:p>
        </p:txBody>
      </p:sp>
      <p:graphicFrame>
        <p:nvGraphicFramePr>
          <p:cNvPr id="3" name="Table 2"/>
          <p:cNvGraphicFramePr>
            <a:graphicFrameLocks noGrp="1"/>
          </p:cNvGraphicFramePr>
          <p:nvPr/>
        </p:nvGraphicFramePr>
        <p:xfrm>
          <a:off x="1149985" y="2112010"/>
          <a:ext cx="9850120" cy="3429000"/>
        </p:xfrm>
        <a:graphic>
          <a:graphicData uri="http://schemas.openxmlformats.org/drawingml/2006/table">
            <a:tbl>
              <a:tblPr firstRow="1" firstCol="1" bandRow="1"/>
              <a:tblGrid>
                <a:gridCol w="1179195">
                  <a:extLst>
                    <a:ext uri="{9D8B030D-6E8A-4147-A177-3AD203B41FA5}">
                      <a16:colId xmlns:a16="http://schemas.microsoft.com/office/drawing/2014/main" val="20000"/>
                    </a:ext>
                  </a:extLst>
                </a:gridCol>
                <a:gridCol w="166370">
                  <a:extLst>
                    <a:ext uri="{9D8B030D-6E8A-4147-A177-3AD203B41FA5}">
                      <a16:colId xmlns:a16="http://schemas.microsoft.com/office/drawing/2014/main" val="20001"/>
                    </a:ext>
                  </a:extLst>
                </a:gridCol>
                <a:gridCol w="8504555">
                  <a:extLst>
                    <a:ext uri="{9D8B030D-6E8A-4147-A177-3AD203B41FA5}">
                      <a16:colId xmlns:a16="http://schemas.microsoft.com/office/drawing/2014/main" val="20002"/>
                    </a:ext>
                  </a:extLst>
                </a:gridCol>
              </a:tblGrid>
              <a:tr h="3429000">
                <a:tc>
                  <a:txBody>
                    <a:bodyPr/>
                    <a:lstStyle/>
                    <a:p>
                      <a:pPr marL="0" marR="0">
                        <a:lnSpc>
                          <a:spcPct val="107000"/>
                        </a:lnSpc>
                        <a:spcBef>
                          <a:spcPts val="0"/>
                        </a:spcBef>
                        <a:spcAft>
                          <a:spcPts val="0"/>
                        </a:spcAft>
                      </a:pPr>
                      <a:r>
                        <a:rPr lang="en-US" sz="2000" u="none" dirty="0" err="1">
                          <a:effectLst/>
                          <a:latin typeface="Calibri" panose="020F0502020204030204" pitchFamily="34" charset="0"/>
                          <a:ea typeface="Times New Roman" panose="02020603050405020304" charset="0"/>
                          <a:cs typeface="Times New Roman" panose="02020603050405020304" charset="0"/>
                        </a:rPr>
                        <a:t>Kondef</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07000"/>
                        </a:lnSpc>
                        <a:spcBef>
                          <a:spcPts val="0"/>
                        </a:spcBef>
                        <a:spcAft>
                          <a:spcPts val="0"/>
                        </a:spcAft>
                      </a:pPr>
                      <a:r>
                        <a:rPr lang="en-US" sz="2000" dirty="0">
                          <a:effectLst/>
                          <a:latin typeface="Calibri" panose="020F0502020204030204" pitchFamily="34" charset="0"/>
                          <a:ea typeface="Times New Roman" panose="02020603050405020304" charset="0"/>
                          <a:cs typeface="Times New Roman" panose="02020603050405020304" charset="0"/>
                        </a:rPr>
                        <a:t>:</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0"/>
                        </a:spcBef>
                        <a:spcAft>
                          <a:spcPts val="0"/>
                        </a:spcAft>
                      </a:pPr>
                      <a:r>
                        <a:rPr lang="en-US" sz="2000" dirty="0">
                          <a:effectLst/>
                          <a:latin typeface="Calibri" panose="020F0502020204030204" pitchFamily="34" charset="0"/>
                          <a:ea typeface="Times New Roman" panose="02020603050405020304" charset="0"/>
                          <a:cs typeface="Times New Roman" panose="02020603050405020304" charset="0"/>
                        </a:rPr>
                        <a:t>Stunting (</a:t>
                      </a:r>
                      <a:r>
                        <a:rPr lang="en-US" sz="2000" dirty="0" err="1">
                          <a:effectLst/>
                          <a:latin typeface="Calibri" panose="020F0502020204030204" pitchFamily="34" charset="0"/>
                          <a:ea typeface="Times New Roman" panose="02020603050405020304" charset="0"/>
                          <a:cs typeface="Times New Roman" panose="02020603050405020304" charset="0"/>
                        </a:rPr>
                        <a:t>pendek</a:t>
                      </a:r>
                      <a:r>
                        <a:rPr lang="en-US" sz="2000" dirty="0">
                          <a:effectLst/>
                          <a:latin typeface="Calibri" panose="020F0502020204030204" pitchFamily="34" charset="0"/>
                          <a:ea typeface="Times New Roman" panose="02020603050405020304" charset="0"/>
                          <a:cs typeface="Times New Roman" panose="02020603050405020304" charset="0"/>
                        </a:rPr>
                        <a:t>/sangat </a:t>
                      </a:r>
                      <a:r>
                        <a:rPr lang="en-US" sz="2000" dirty="0" err="1">
                          <a:effectLst/>
                          <a:latin typeface="Calibri" panose="020F0502020204030204" pitchFamily="34" charset="0"/>
                          <a:ea typeface="Times New Roman" panose="02020603050405020304" charset="0"/>
                          <a:cs typeface="Times New Roman" panose="02020603050405020304" charset="0"/>
                        </a:rPr>
                        <a:t>pendek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adalah</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kondisi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kurang</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gizi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kronis</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diukur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berdasarkan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indeks</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tinggi</a:t>
                      </a:r>
                      <a:r>
                        <a:rPr lang="en-US" sz="2000" dirty="0">
                          <a:effectLst/>
                          <a:latin typeface="Calibri" panose="020F0502020204030204" pitchFamily="34" charset="0"/>
                          <a:ea typeface="Times New Roman" panose="02020603050405020304" charset="0"/>
                          <a:cs typeface="Times New Roman" panose="02020603050405020304" charset="0"/>
                        </a:rPr>
                        <a:t> badan </a:t>
                      </a:r>
                      <a:r>
                        <a:rPr lang="en-US" sz="2000" dirty="0" err="1">
                          <a:effectLst/>
                          <a:latin typeface="Calibri" panose="020F0502020204030204" pitchFamily="34" charset="0"/>
                          <a:ea typeface="Times New Roman" panose="02020603050405020304" charset="0"/>
                          <a:cs typeface="Times New Roman" panose="02020603050405020304" charset="0"/>
                        </a:rPr>
                        <a:t>menurut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umur</a:t>
                      </a:r>
                      <a:r>
                        <a:rPr lang="en-US" sz="2000" dirty="0">
                          <a:effectLst/>
                          <a:latin typeface="Calibri" panose="020F0502020204030204" pitchFamily="34" charset="0"/>
                          <a:ea typeface="Times New Roman" panose="02020603050405020304" charset="0"/>
                          <a:cs typeface="Times New Roman" panose="02020603050405020304" charset="0"/>
                        </a:rPr>
                        <a:t> (TB/U) </a:t>
                      </a:r>
                      <a:r>
                        <a:rPr lang="en-US" sz="2000" dirty="0" err="1">
                          <a:effectLst/>
                          <a:latin typeface="Calibri" panose="020F0502020204030204" pitchFamily="34" charset="0"/>
                          <a:ea typeface="Times New Roman" panose="02020603050405020304" charset="0"/>
                          <a:cs typeface="Times New Roman" panose="02020603050405020304" charset="0"/>
                        </a:rPr>
                        <a:t>dibandingkan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dengan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menggunakan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standar</a:t>
                      </a:r>
                      <a:r>
                        <a:rPr lang="en-US" sz="2000" dirty="0">
                          <a:effectLst/>
                          <a:latin typeface="Calibri" panose="020F0502020204030204" pitchFamily="34" charset="0"/>
                          <a:ea typeface="Times New Roman" panose="02020603050405020304" charset="0"/>
                          <a:cs typeface="Times New Roman" panose="02020603050405020304" charset="0"/>
                        </a:rPr>
                        <a:t> WHO </a:t>
                      </a:r>
                      <a:r>
                        <a:rPr lang="en-US" sz="2000" dirty="0" err="1">
                          <a:effectLst/>
                          <a:latin typeface="Calibri" panose="020F0502020204030204" pitchFamily="34" charset="0"/>
                          <a:ea typeface="Times New Roman" panose="02020603050405020304" charset="0"/>
                          <a:cs typeface="Times New Roman" panose="02020603050405020304" charset="0"/>
                        </a:rPr>
                        <a:t>tahun</a:t>
                      </a:r>
                      <a:r>
                        <a:rPr lang="en-US" sz="2000" dirty="0">
                          <a:effectLst/>
                          <a:latin typeface="Calibri" panose="020F0502020204030204" pitchFamily="34" charset="0"/>
                          <a:ea typeface="Times New Roman" panose="02020603050405020304" charset="0"/>
                          <a:cs typeface="Times New Roman" panose="02020603050405020304" charset="0"/>
                        </a:rPr>
                        <a:t> 2005. </a:t>
                      </a:r>
                    </a:p>
                    <a:p>
                      <a:pPr marL="0" marR="0" algn="just">
                        <a:lnSpc>
                          <a:spcPct val="107000"/>
                        </a:lnSpc>
                        <a:spcBef>
                          <a:spcPts val="0"/>
                        </a:spcBef>
                        <a:spcAft>
                          <a:spcPts val="0"/>
                        </a:spcAft>
                      </a:pPr>
                      <a:r>
                        <a:rPr lang="en-US" sz="2000" dirty="0">
                          <a:effectLst/>
                          <a:latin typeface="Calibri" panose="020F0502020204030204" pitchFamily="34" charset="0"/>
                          <a:ea typeface="Times New Roman" panose="02020603050405020304" charset="0"/>
                          <a:cs typeface="Times New Roman" panose="02020603050405020304" charset="0"/>
                        </a:rPr>
                        <a:t>Data </a:t>
                      </a:r>
                      <a:r>
                        <a:rPr lang="en-US" sz="2000" dirty="0" err="1">
                          <a:effectLst/>
                          <a:latin typeface="Calibri" panose="020F0502020204030204" pitchFamily="34" charset="0"/>
                          <a:ea typeface="Times New Roman" panose="02020603050405020304" charset="0"/>
                          <a:cs typeface="Times New Roman" panose="02020603050405020304" charset="0"/>
                        </a:rPr>
                        <a:t>tinggi</a:t>
                      </a:r>
                      <a:r>
                        <a:rPr lang="en-US" sz="2000" dirty="0">
                          <a:effectLst/>
                          <a:latin typeface="Calibri" panose="020F0502020204030204" pitchFamily="34" charset="0"/>
                          <a:ea typeface="Times New Roman" panose="02020603050405020304" charset="0"/>
                          <a:cs typeface="Times New Roman" panose="02020603050405020304" charset="0"/>
                        </a:rPr>
                        <a:t> badan pada </a:t>
                      </a:r>
                      <a:r>
                        <a:rPr lang="en-US" sz="2000" dirty="0" err="1">
                          <a:effectLst/>
                          <a:latin typeface="Calibri" panose="020F0502020204030204" pitchFamily="34" charset="0"/>
                          <a:ea typeface="Times New Roman" panose="02020603050405020304" charset="0"/>
                          <a:cs typeface="Times New Roman" panose="02020603050405020304" charset="0"/>
                        </a:rPr>
                        <a:t>Riset</a:t>
                      </a:r>
                      <a:r>
                        <a:rPr lang="en-US" sz="2000" dirty="0">
                          <a:effectLst/>
                          <a:latin typeface="Calibri" panose="020F0502020204030204" pitchFamily="34" charset="0"/>
                          <a:ea typeface="Times New Roman" panose="02020603050405020304" charset="0"/>
                          <a:cs typeface="Times New Roman" panose="02020603050405020304" charset="0"/>
                        </a:rPr>
                        <a:t> Kesehatan Dasar (</a:t>
                      </a:r>
                      <a:r>
                        <a:rPr lang="en-US" sz="2000" dirty="0" err="1">
                          <a:effectLst/>
                          <a:latin typeface="Calibri" panose="020F0502020204030204" pitchFamily="34" charset="0"/>
                          <a:ea typeface="Times New Roman" panose="02020603050405020304" charset="0"/>
                          <a:cs typeface="Times New Roman" panose="02020603050405020304" charset="0"/>
                        </a:rPr>
                        <a:t>Riskesdas</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menjadi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analisis</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untuk</a:t>
                      </a:r>
                      <a:r>
                        <a:rPr lang="en-US" sz="2000" dirty="0">
                          <a:effectLst/>
                          <a:latin typeface="Calibri" panose="020F0502020204030204" pitchFamily="34" charset="0"/>
                          <a:ea typeface="Times New Roman" panose="02020603050405020304" charset="0"/>
                          <a:cs typeface="Times New Roman" panose="02020603050405020304" charset="0"/>
                        </a:rPr>
                        <a:t> status </a:t>
                      </a:r>
                      <a:r>
                        <a:rPr lang="en-US" sz="2000" dirty="0" err="1">
                          <a:effectLst/>
                          <a:latin typeface="Calibri" panose="020F0502020204030204" pitchFamily="34" charset="0"/>
                          <a:ea typeface="Times New Roman" panose="02020603050405020304" charset="0"/>
                          <a:cs typeface="Times New Roman" panose="02020603050405020304" charset="0"/>
                        </a:rPr>
                        <a:t>gizi</a:t>
                      </a:r>
                      <a:r>
                        <a:rPr lang="en-US" sz="2000" dirty="0">
                          <a:effectLst/>
                          <a:latin typeface="Calibri" panose="020F0502020204030204" pitchFamily="34" charset="0"/>
                          <a:ea typeface="Times New Roman" panose="02020603050405020304" charset="0"/>
                          <a:cs typeface="Times New Roman" panose="02020603050405020304" charset="0"/>
                        </a:rPr>
                        <a:t> dan </a:t>
                      </a:r>
                      <a:r>
                        <a:rPr lang="en-US" sz="2000" dirty="0" err="1">
                          <a:effectLst/>
                          <a:latin typeface="Calibri" panose="020F0502020204030204" pitchFamily="34" charset="0"/>
                          <a:ea typeface="Times New Roman" panose="02020603050405020304" charset="0"/>
                          <a:cs typeface="Times New Roman" panose="02020603050405020304" charset="0"/>
                        </a:rPr>
                        <a:t>tinggi</a:t>
                      </a:r>
                      <a:r>
                        <a:rPr lang="en-US" sz="2000" dirty="0">
                          <a:effectLst/>
                          <a:latin typeface="Calibri" panose="020F0502020204030204" pitchFamily="34" charset="0"/>
                          <a:ea typeface="Times New Roman" panose="02020603050405020304" charset="0"/>
                          <a:cs typeface="Times New Roman" panose="02020603050405020304" charset="0"/>
                        </a:rPr>
                        <a:t> badan </a:t>
                      </a:r>
                      <a:r>
                        <a:rPr lang="en-US" sz="2000" dirty="0" err="1">
                          <a:effectLst/>
                          <a:latin typeface="Calibri" panose="020F0502020204030204" pitchFamily="34" charset="0"/>
                          <a:ea typeface="Times New Roman" panose="02020603050405020304" charset="0"/>
                          <a:cs typeface="Times New Roman" panose="02020603050405020304" charset="0"/>
                        </a:rPr>
                        <a:t>setiap</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balita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dikonversikan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ke</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dalam</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nilai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terstandar</a:t>
                      </a:r>
                      <a:r>
                        <a:rPr lang="en-US" sz="2000" dirty="0">
                          <a:effectLst/>
                          <a:latin typeface="Calibri" panose="020F0502020204030204" pitchFamily="34" charset="0"/>
                          <a:ea typeface="Times New Roman" panose="02020603050405020304" charset="0"/>
                          <a:cs typeface="Times New Roman" panose="02020603050405020304" charset="0"/>
                        </a:rPr>
                        <a:t> (Z-score) </a:t>
                      </a:r>
                      <a:r>
                        <a:rPr lang="en-US" sz="2000" dirty="0" err="1">
                          <a:effectLst/>
                          <a:latin typeface="Calibri" panose="020F0502020204030204" pitchFamily="34" charset="0"/>
                          <a:ea typeface="Times New Roman" panose="02020603050405020304" charset="0"/>
                          <a:cs typeface="Times New Roman" panose="02020603050405020304" charset="0"/>
                        </a:rPr>
                        <a:t>menggunakan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baku</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antropometri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balita</a:t>
                      </a:r>
                      <a:r>
                        <a:rPr lang="en-US" sz="2000" dirty="0">
                          <a:effectLst/>
                          <a:latin typeface="Calibri" panose="020F0502020204030204" pitchFamily="34" charset="0"/>
                          <a:ea typeface="Times New Roman" panose="02020603050405020304" charset="0"/>
                          <a:cs typeface="Times New Roman" panose="02020603050405020304" charset="0"/>
                        </a:rPr>
                        <a:t> WHO 2005. </a:t>
                      </a:r>
                      <a:r>
                        <a:rPr lang="en-US" sz="2000" dirty="0" err="1">
                          <a:effectLst/>
                          <a:latin typeface="Calibri" panose="020F0502020204030204" pitchFamily="34" charset="0"/>
                          <a:ea typeface="Times New Roman" panose="02020603050405020304" charset="0"/>
                          <a:cs typeface="Times New Roman" panose="02020603050405020304" charset="0"/>
                        </a:rPr>
                        <a:t>Klasifikasi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berdasarkan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indikator</a:t>
                      </a:r>
                      <a:r>
                        <a:rPr lang="en-US" sz="2000" dirty="0">
                          <a:effectLst/>
                          <a:latin typeface="Calibri" panose="020F0502020204030204" pitchFamily="34" charset="0"/>
                          <a:ea typeface="Times New Roman" panose="02020603050405020304" charset="0"/>
                          <a:cs typeface="Times New Roman" panose="02020603050405020304" charset="0"/>
                        </a:rPr>
                        <a:t> TB/U </a:t>
                      </a:r>
                      <a:r>
                        <a:rPr lang="en-US" sz="2000" dirty="0" err="1">
                          <a:effectLst/>
                          <a:latin typeface="Calibri" panose="020F0502020204030204" pitchFamily="34" charset="0"/>
                          <a:ea typeface="Times New Roman" panose="02020603050405020304" charset="0"/>
                          <a:cs typeface="Times New Roman" panose="02020603050405020304" charset="0"/>
                        </a:rPr>
                        <a:t>adalah</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sebagai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berikut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standar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dari</a:t>
                      </a:r>
                      <a:r>
                        <a:rPr lang="en-US" sz="2000" dirty="0">
                          <a:effectLst/>
                          <a:latin typeface="Calibri" panose="020F0502020204030204" pitchFamily="34" charset="0"/>
                          <a:ea typeface="Times New Roman" panose="02020603050405020304" charset="0"/>
                          <a:cs typeface="Times New Roman" panose="02020603050405020304" charset="0"/>
                        </a:rPr>
                        <a:t> WHO dan Keputusan Menteri Kesehatan RI </a:t>
                      </a:r>
                      <a:r>
                        <a:rPr lang="en-US" sz="2000" dirty="0" err="1">
                          <a:effectLst/>
                          <a:latin typeface="Calibri" panose="020F0502020204030204" pitchFamily="34" charset="0"/>
                          <a:ea typeface="Times New Roman" panose="02020603050405020304" charset="0"/>
                          <a:cs typeface="Times New Roman" panose="02020603050405020304" charset="0"/>
                        </a:rPr>
                        <a:t>Nomor</a:t>
                      </a:r>
                      <a:r>
                        <a:rPr lang="en-US" sz="2000" dirty="0">
                          <a:effectLst/>
                          <a:latin typeface="Calibri" panose="020F0502020204030204" pitchFamily="34" charset="0"/>
                          <a:ea typeface="Times New Roman" panose="02020603050405020304" charset="0"/>
                          <a:cs typeface="Times New Roman" panose="02020603050405020304" charset="0"/>
                        </a:rPr>
                        <a:t>: 1995/MENKES/SK/XII/2010: 1. Sangat </a:t>
                      </a:r>
                      <a:r>
                        <a:rPr lang="en-US" sz="2000" dirty="0" err="1">
                          <a:effectLst/>
                          <a:latin typeface="Calibri" panose="020F0502020204030204" pitchFamily="34" charset="0"/>
                          <a:ea typeface="Times New Roman" panose="02020603050405020304" charset="0"/>
                          <a:cs typeface="Times New Roman" panose="02020603050405020304" charset="0"/>
                        </a:rPr>
                        <a:t>pendek</a:t>
                      </a:r>
                      <a:r>
                        <a:rPr lang="en-US" sz="2000" dirty="0">
                          <a:effectLst/>
                          <a:latin typeface="Calibri" panose="020F0502020204030204" pitchFamily="34" charset="0"/>
                          <a:ea typeface="Times New Roman" panose="02020603050405020304" charset="0"/>
                          <a:cs typeface="Times New Roman" panose="02020603050405020304" charset="0"/>
                        </a:rPr>
                        <a:t> : </a:t>
                      </a:r>
                      <a:r>
                        <a:rPr lang="en-US" sz="2000" dirty="0" err="1">
                          <a:effectLst/>
                          <a:latin typeface="Calibri" panose="020F0502020204030204" pitchFamily="34" charset="0"/>
                          <a:ea typeface="Times New Roman" panose="02020603050405020304" charset="0"/>
                          <a:cs typeface="Times New Roman" panose="02020603050405020304" charset="0"/>
                        </a:rPr>
                        <a:t>Zscore</a:t>
                      </a:r>
                      <a:r>
                        <a:rPr lang="en-US" sz="2000" dirty="0">
                          <a:effectLst/>
                          <a:latin typeface="Calibri" panose="020F0502020204030204" pitchFamily="34" charset="0"/>
                          <a:ea typeface="Times New Roman" panose="02020603050405020304" charset="0"/>
                          <a:cs typeface="Times New Roman" panose="02020603050405020304" charset="0"/>
                        </a:rPr>
                        <a:t> &lt;-3,0 2. </a:t>
                      </a:r>
                      <a:r>
                        <a:rPr lang="en-US" sz="2000" dirty="0" err="1">
                          <a:effectLst/>
                          <a:latin typeface="Calibri" panose="020F0502020204030204" pitchFamily="34" charset="0"/>
                          <a:ea typeface="Times New Roman" panose="02020603050405020304" charset="0"/>
                          <a:cs typeface="Times New Roman" panose="02020603050405020304" charset="0"/>
                        </a:rPr>
                        <a:t>Pendek</a:t>
                      </a:r>
                      <a:r>
                        <a:rPr lang="en-US" sz="2000" dirty="0">
                          <a:effectLst/>
                          <a:latin typeface="Calibri" panose="020F0502020204030204" pitchFamily="34" charset="0"/>
                          <a:ea typeface="Times New Roman" panose="02020603050405020304" charset="0"/>
                          <a:cs typeface="Times New Roman" panose="02020603050405020304" charset="0"/>
                        </a:rPr>
                        <a:t> : </a:t>
                      </a:r>
                      <a:r>
                        <a:rPr lang="en-US" sz="2000" dirty="0" err="1">
                          <a:effectLst/>
                          <a:latin typeface="Calibri" panose="020F0502020204030204" pitchFamily="34" charset="0"/>
                          <a:ea typeface="Times New Roman" panose="02020603050405020304" charset="0"/>
                          <a:cs typeface="Times New Roman" panose="02020603050405020304" charset="0"/>
                        </a:rPr>
                        <a:t>Zscore</a:t>
                      </a:r>
                      <a:r>
                        <a:rPr lang="en-US" sz="2000" dirty="0">
                          <a:effectLst/>
                          <a:latin typeface="Calibri" panose="020F0502020204030204" pitchFamily="34" charset="0"/>
                          <a:ea typeface="Times New Roman" panose="02020603050405020304" charset="0"/>
                          <a:cs typeface="Times New Roman" panose="02020603050405020304" charset="0"/>
                        </a:rPr>
                        <a:t> ≥- 3,0 s/d </a:t>
                      </a:r>
                      <a:r>
                        <a:rPr lang="en-US" sz="2000" dirty="0" err="1">
                          <a:effectLst/>
                          <a:latin typeface="Calibri" panose="020F0502020204030204" pitchFamily="34" charset="0"/>
                          <a:ea typeface="Times New Roman" panose="02020603050405020304" charset="0"/>
                          <a:cs typeface="Times New Roman" panose="02020603050405020304" charset="0"/>
                        </a:rPr>
                        <a:t>Zscore</a:t>
                      </a:r>
                      <a:r>
                        <a:rPr lang="en-US" sz="2000" dirty="0">
                          <a:effectLst/>
                          <a:latin typeface="Calibri" panose="020F0502020204030204" pitchFamily="34" charset="0"/>
                          <a:ea typeface="Times New Roman" panose="02020603050405020304" charset="0"/>
                          <a:cs typeface="Times New Roman" panose="02020603050405020304" charset="0"/>
                        </a:rPr>
                        <a:t> &lt; -2,0</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pic>
        <p:nvPicPr>
          <p:cNvPr id="5" name="Picture 4"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309360"/>
            <a:ext cx="12192000" cy="6775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9350" y="713749"/>
            <a:ext cx="10062636" cy="1064634"/>
          </a:xfrm>
          <a:solidFill>
            <a:schemeClr val="accent4">
              <a:lumMod val="20000"/>
              <a:lumOff val="80000"/>
            </a:schemeClr>
          </a:solidFill>
        </p:spPr>
        <p:txBody>
          <a:bodyPr>
            <a:normAutofit/>
          </a:bodyPr>
          <a:lstStyle/>
          <a:p>
            <a:r>
              <a:rPr lang="fi-FI" sz="3200" b="1" dirty="0">
                <a:solidFill>
                  <a:schemeClr val="tx1"/>
                </a:solidFill>
              </a:rPr>
              <a:t>Prevalensi Stunting (Pendek dan Sangat Pendek) pada Anak </a:t>
            </a:r>
            <a:r>
              <a:rPr lang="id-ID" sz="3200" b="1" dirty="0">
                <a:solidFill>
                  <a:schemeClr val="tx1"/>
                </a:solidFill>
              </a:rPr>
              <a:t>d</a:t>
            </a:r>
            <a:r>
              <a:rPr lang="fi-FI" sz="3200" b="1" dirty="0">
                <a:solidFill>
                  <a:schemeClr val="tx1"/>
                </a:solidFill>
              </a:rPr>
              <a:t>i Bawah 5 Tahun</a:t>
            </a:r>
            <a:r>
              <a:rPr lang="id-ID" sz="3200" b="1" dirty="0">
                <a:solidFill>
                  <a:schemeClr val="tx1"/>
                </a:solidFill>
              </a:rPr>
              <a:t> (</a:t>
            </a:r>
            <a:r>
              <a:rPr lang="fi-FI" sz="3200" b="1" dirty="0">
                <a:solidFill>
                  <a:schemeClr val="tx1"/>
                </a:solidFill>
              </a:rPr>
              <a:t>Balita</a:t>
            </a:r>
            <a:r>
              <a:rPr lang="id-ID" sz="3200" b="1" dirty="0">
                <a:solidFill>
                  <a:schemeClr val="tx1"/>
                </a:solidFill>
              </a:rPr>
              <a:t>)</a:t>
            </a:r>
            <a:endParaRPr lang="en-US" sz="3200" dirty="0">
              <a:solidFill>
                <a:schemeClr val="tx1"/>
              </a:solidFill>
            </a:endParaRPr>
          </a:p>
        </p:txBody>
      </p:sp>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60</a:t>
            </a:fld>
            <a:endParaRPr lang="en-US" altLang="id-ID"/>
          </a:p>
        </p:txBody>
      </p:sp>
      <p:graphicFrame>
        <p:nvGraphicFramePr>
          <p:cNvPr id="3" name="Table 2"/>
          <p:cNvGraphicFramePr>
            <a:graphicFrameLocks noGrp="1"/>
          </p:cNvGraphicFramePr>
          <p:nvPr>
            <p:extLst>
              <p:ext uri="{D42A27DB-BD31-4B8C-83A1-F6EECF244321}">
                <p14:modId xmlns:p14="http://schemas.microsoft.com/office/powerpoint/2010/main" val="3644199490"/>
              </p:ext>
            </p:extLst>
          </p:nvPr>
        </p:nvGraphicFramePr>
        <p:xfrm>
          <a:off x="1073150" y="1926565"/>
          <a:ext cx="10585450" cy="4210812"/>
        </p:xfrm>
        <a:graphic>
          <a:graphicData uri="http://schemas.openxmlformats.org/drawingml/2006/table">
            <a:tbl>
              <a:tblPr firstRow="1" firstCol="1" bandRow="1"/>
              <a:tblGrid>
                <a:gridCol w="1267080">
                  <a:extLst>
                    <a:ext uri="{9D8B030D-6E8A-4147-A177-3AD203B41FA5}">
                      <a16:colId xmlns:a16="http://schemas.microsoft.com/office/drawing/2014/main" val="20000"/>
                    </a:ext>
                  </a:extLst>
                </a:gridCol>
                <a:gridCol w="178224">
                  <a:extLst>
                    <a:ext uri="{9D8B030D-6E8A-4147-A177-3AD203B41FA5}">
                      <a16:colId xmlns:a16="http://schemas.microsoft.com/office/drawing/2014/main" val="20001"/>
                    </a:ext>
                  </a:extLst>
                </a:gridCol>
                <a:gridCol w="9140146">
                  <a:extLst>
                    <a:ext uri="{9D8B030D-6E8A-4147-A177-3AD203B41FA5}">
                      <a16:colId xmlns:a16="http://schemas.microsoft.com/office/drawing/2014/main" val="20002"/>
                    </a:ext>
                  </a:extLst>
                </a:gridCol>
              </a:tblGrid>
              <a:tr h="2680970">
                <a:tc>
                  <a:txBody>
                    <a:bodyPr/>
                    <a:lstStyle/>
                    <a:p>
                      <a:pPr marL="0" marR="0">
                        <a:lnSpc>
                          <a:spcPct val="107000"/>
                        </a:lnSpc>
                        <a:spcBef>
                          <a:spcPts val="0"/>
                        </a:spcBef>
                        <a:spcAft>
                          <a:spcPts val="0"/>
                        </a:spcAft>
                      </a:pPr>
                      <a:r>
                        <a:rPr lang="en-US" sz="2000" dirty="0" err="1">
                          <a:effectLst/>
                          <a:latin typeface="Calibri" panose="020F0502020204030204" pitchFamily="34" charset="0"/>
                          <a:ea typeface="Times New Roman" panose="02020603050405020304" charset="0"/>
                          <a:cs typeface="Times New Roman" panose="02020603050405020304" charset="0"/>
                        </a:rPr>
                        <a:t>Kegunaan</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07000"/>
                        </a:lnSpc>
                        <a:spcBef>
                          <a:spcPts val="0"/>
                        </a:spcBef>
                        <a:spcAft>
                          <a:spcPts val="0"/>
                        </a:spcAft>
                      </a:pPr>
                      <a:r>
                        <a:rPr lang="en-US" sz="2000" dirty="0">
                          <a:effectLst/>
                          <a:latin typeface="Calibri" panose="020F0502020204030204" pitchFamily="34" charset="0"/>
                          <a:ea typeface="Times New Roman" panose="02020603050405020304" charset="0"/>
                          <a:cs typeface="Times New Roman" panose="02020603050405020304" charset="0"/>
                        </a:rPr>
                        <a:t>:</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0"/>
                        </a:spcBef>
                        <a:spcAft>
                          <a:spcPts val="0"/>
                        </a:spcAft>
                      </a:pPr>
                      <a:r>
                        <a:rPr lang="en-US" sz="2000" dirty="0" err="1">
                          <a:effectLst/>
                          <a:latin typeface="Calibri" panose="020F0502020204030204" pitchFamily="34" charset="0"/>
                          <a:ea typeface="Times New Roman" panose="02020603050405020304" charset="0"/>
                          <a:cs typeface="Times New Roman" panose="02020603050405020304" charset="0"/>
                        </a:rPr>
                        <a:t>Indikator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ini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mengukur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persentase</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balita</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tingginya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dibawah</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ketinggian</a:t>
                      </a:r>
                      <a:r>
                        <a:rPr lang="en-US" sz="2000" dirty="0">
                          <a:effectLst/>
                          <a:latin typeface="Calibri" panose="020F0502020204030204" pitchFamily="34" charset="0"/>
                          <a:ea typeface="Times New Roman" panose="02020603050405020304" charset="0"/>
                          <a:cs typeface="Times New Roman" panose="02020603050405020304" charset="0"/>
                        </a:rPr>
                        <a:t> rata-rata </a:t>
                      </a:r>
                      <a:r>
                        <a:rPr lang="en-US" sz="2000" dirty="0" err="1">
                          <a:effectLst/>
                          <a:latin typeface="Calibri" panose="020F0502020204030204" pitchFamily="34" charset="0"/>
                          <a:ea typeface="Times New Roman" panose="02020603050405020304" charset="0"/>
                          <a:cs typeface="Times New Roman" panose="02020603050405020304" charset="0"/>
                        </a:rPr>
                        <a:t>penduduk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acuan</a:t>
                      </a:r>
                      <a:r>
                        <a:rPr lang="en-US" sz="2000" dirty="0">
                          <a:effectLst/>
                          <a:latin typeface="Calibri" panose="020F0502020204030204" pitchFamily="34" charset="0"/>
                          <a:ea typeface="Times New Roman" panose="02020603050405020304" charset="0"/>
                          <a:cs typeface="Times New Roman" panose="02020603050405020304" charset="0"/>
                        </a:rPr>
                        <a:t>. Stunting pada </a:t>
                      </a:r>
                      <a:r>
                        <a:rPr lang="en-US" sz="2000" dirty="0" err="1">
                          <a:effectLst/>
                          <a:latin typeface="Calibri" panose="020F0502020204030204" pitchFamily="34" charset="0"/>
                          <a:ea typeface="Times New Roman" panose="02020603050405020304" charset="0"/>
                          <a:cs typeface="Times New Roman" panose="02020603050405020304" charset="0"/>
                        </a:rPr>
                        <a:t>anak-anak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mencerminkan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efek</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luas</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dari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kekurangan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gizi</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kronis</a:t>
                      </a:r>
                      <a:r>
                        <a:rPr lang="en-US" sz="2000" dirty="0">
                          <a:effectLst/>
                          <a:latin typeface="Calibri" panose="020F0502020204030204" pitchFamily="34" charset="0"/>
                          <a:ea typeface="Times New Roman" panose="02020603050405020304" charset="0"/>
                          <a:cs typeface="Times New Roman" panose="02020603050405020304" charset="0"/>
                        </a:rPr>
                        <a:t> dan </a:t>
                      </a:r>
                      <a:r>
                        <a:rPr lang="en-US" sz="2000" dirty="0" err="1">
                          <a:effectLst/>
                          <a:latin typeface="Calibri" panose="020F0502020204030204" pitchFamily="34" charset="0"/>
                          <a:ea typeface="Times New Roman" panose="02020603050405020304" charset="0"/>
                          <a:cs typeface="Times New Roman" panose="02020603050405020304" charset="0"/>
                        </a:rPr>
                        <a:t>menderita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penyakit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berulang</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disebabkan</a:t>
                      </a:r>
                      <a:r>
                        <a:rPr lang="en-US" sz="2000" dirty="0">
                          <a:effectLst/>
                          <a:latin typeface="Calibri" panose="020F0502020204030204" pitchFamily="34" charset="0"/>
                          <a:ea typeface="Times New Roman" panose="02020603050405020304" charset="0"/>
                          <a:cs typeface="Times New Roman" panose="02020603050405020304" charset="0"/>
                        </a:rPr>
                        <a:t> oleh </a:t>
                      </a:r>
                      <a:r>
                        <a:rPr lang="en-US" sz="2000" dirty="0" err="1">
                          <a:effectLst/>
                          <a:latin typeface="Calibri" panose="020F0502020204030204" pitchFamily="34" charset="0"/>
                          <a:ea typeface="Times New Roman" panose="02020603050405020304" charset="0"/>
                          <a:cs typeface="Times New Roman" panose="02020603050405020304" charset="0"/>
                        </a:rPr>
                        <a:t>latar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belakang</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sosial</a:t>
                      </a:r>
                      <a:r>
                        <a:rPr lang="en-US" sz="2000" dirty="0">
                          <a:effectLst/>
                          <a:latin typeface="Calibri" panose="020F0502020204030204" pitchFamily="34" charset="0"/>
                          <a:ea typeface="Times New Roman" panose="02020603050405020304" charset="0"/>
                          <a:cs typeface="Times New Roman" panose="02020603050405020304" charset="0"/>
                        </a:rPr>
                        <a:t> dan </a:t>
                      </a:r>
                      <a:r>
                        <a:rPr lang="en-US" sz="2000" dirty="0" err="1">
                          <a:effectLst/>
                          <a:latin typeface="Calibri" panose="020F0502020204030204" pitchFamily="34" charset="0"/>
                          <a:ea typeface="Times New Roman" panose="02020603050405020304" charset="0"/>
                          <a:cs typeface="Times New Roman" panose="02020603050405020304" charset="0"/>
                        </a:rPr>
                        <a:t>ekonomi</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buruk</a:t>
                      </a:r>
                      <a:r>
                        <a:rPr lang="en-US" sz="2000" dirty="0">
                          <a:effectLst/>
                          <a:latin typeface="Calibri" panose="020F0502020204030204" pitchFamily="34" charset="0"/>
                          <a:ea typeface="Times New Roman" panose="02020603050405020304" charset="0"/>
                          <a:cs typeface="Times New Roman" panose="02020603050405020304" charset="0"/>
                        </a:rPr>
                        <a:t>. Stunting pada </a:t>
                      </a:r>
                      <a:r>
                        <a:rPr lang="en-US" sz="2000" dirty="0" err="1">
                          <a:effectLst/>
                          <a:latin typeface="Calibri" panose="020F0502020204030204" pitchFamily="34" charset="0"/>
                          <a:ea typeface="Times New Roman" panose="02020603050405020304" charset="0"/>
                          <a:cs typeface="Times New Roman" panose="02020603050405020304" charset="0"/>
                        </a:rPr>
                        <a:t>anak-anak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dapat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memiliki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dampak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serius</a:t>
                      </a:r>
                      <a:r>
                        <a:rPr lang="en-US" sz="2000" dirty="0">
                          <a:effectLst/>
                          <a:latin typeface="Calibri" panose="020F0502020204030204" pitchFamily="34" charset="0"/>
                          <a:ea typeface="Times New Roman" panose="02020603050405020304" charset="0"/>
                          <a:cs typeface="Times New Roman" panose="02020603050405020304" charset="0"/>
                        </a:rPr>
                        <a:t> pada </a:t>
                      </a:r>
                      <a:r>
                        <a:rPr lang="en-US" sz="2000" dirty="0" err="1">
                          <a:effectLst/>
                          <a:latin typeface="Calibri" panose="020F0502020204030204" pitchFamily="34" charset="0"/>
                          <a:ea typeface="Times New Roman" panose="02020603050405020304" charset="0"/>
                          <a:cs typeface="Times New Roman" panose="02020603050405020304" charset="0"/>
                        </a:rPr>
                        <a:t>perkembangan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fisik</a:t>
                      </a:r>
                      <a:r>
                        <a:rPr lang="en-US" sz="2000" dirty="0">
                          <a:effectLst/>
                          <a:latin typeface="Calibri" panose="020F0502020204030204" pitchFamily="34" charset="0"/>
                          <a:ea typeface="Times New Roman" panose="02020603050405020304" charset="0"/>
                          <a:cs typeface="Times New Roman" panose="02020603050405020304" charset="0"/>
                        </a:rPr>
                        <a:t>, mental, dan </a:t>
                      </a:r>
                      <a:r>
                        <a:rPr lang="en-US" sz="2000" dirty="0" err="1">
                          <a:effectLst/>
                          <a:latin typeface="Calibri" panose="020F0502020204030204" pitchFamily="34" charset="0"/>
                          <a:ea typeface="Times New Roman" panose="02020603050405020304" charset="0"/>
                          <a:cs typeface="Times New Roman" panose="02020603050405020304" charset="0"/>
                        </a:rPr>
                        <a:t>emosional</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anak-anak</a:t>
                      </a:r>
                      <a:r>
                        <a:rPr lang="en-US" sz="2000" dirty="0">
                          <a:effectLst/>
                          <a:latin typeface="Calibri" panose="020F0502020204030204" pitchFamily="34" charset="0"/>
                          <a:ea typeface="Times New Roman" panose="02020603050405020304" charset="0"/>
                          <a:cs typeface="Times New Roman" panose="02020603050405020304" charset="0"/>
                        </a:rPr>
                        <a:t>, dan </a:t>
                      </a:r>
                      <a:r>
                        <a:rPr lang="en-US" sz="2000" dirty="0" err="1">
                          <a:effectLst/>
                          <a:latin typeface="Calibri" panose="020F0502020204030204" pitchFamily="34" charset="0"/>
                          <a:ea typeface="Times New Roman" panose="02020603050405020304" charset="0"/>
                          <a:cs typeface="Times New Roman" panose="02020603050405020304" charset="0"/>
                        </a:rPr>
                        <a:t>bukti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menunjukkan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bahwa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efek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dari</a:t>
                      </a:r>
                      <a:r>
                        <a:rPr lang="en-US" sz="2000" dirty="0">
                          <a:effectLst/>
                          <a:latin typeface="Calibri" panose="020F0502020204030204" pitchFamily="34" charset="0"/>
                          <a:ea typeface="Times New Roman" panose="02020603050405020304" charset="0"/>
                          <a:cs typeface="Times New Roman" panose="02020603050405020304" charset="0"/>
                        </a:rPr>
                        <a:t> stunting pada </a:t>
                      </a:r>
                      <a:r>
                        <a:rPr lang="en-US" sz="2000" dirty="0" err="1">
                          <a:effectLst/>
                          <a:latin typeface="Calibri" panose="020F0502020204030204" pitchFamily="34" charset="0"/>
                          <a:ea typeface="Times New Roman" panose="02020603050405020304" charset="0"/>
                          <a:cs typeface="Times New Roman" panose="02020603050405020304" charset="0"/>
                        </a:rPr>
                        <a:t>usia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muda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khususnya</a:t>
                      </a:r>
                      <a:r>
                        <a:rPr lang="en-US" sz="2000" dirty="0">
                          <a:effectLst/>
                          <a:latin typeface="Calibri" panose="020F0502020204030204" pitchFamily="34" charset="0"/>
                          <a:ea typeface="Times New Roman" panose="02020603050405020304" charset="0"/>
                          <a:cs typeface="Times New Roman" panose="02020603050405020304" charset="0"/>
                        </a:rPr>
                        <a:t> pada </a:t>
                      </a:r>
                      <a:r>
                        <a:rPr lang="en-US" sz="2000" dirty="0" err="1">
                          <a:effectLst/>
                          <a:latin typeface="Calibri" panose="020F0502020204030204" pitchFamily="34" charset="0"/>
                          <a:ea typeface="Times New Roman" panose="02020603050405020304" charset="0"/>
                          <a:cs typeface="Times New Roman" panose="02020603050405020304" charset="0"/>
                        </a:rPr>
                        <a:t>perkembangan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otak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sulit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untuk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memperbaikinya</a:t>
                      </a:r>
                      <a:r>
                        <a:rPr lang="en-US" sz="2000" dirty="0">
                          <a:effectLst/>
                          <a:latin typeface="Calibri" panose="020F0502020204030204" pitchFamily="34" charset="0"/>
                          <a:ea typeface="Times New Roman" panose="02020603050405020304" charset="0"/>
                          <a:cs typeface="Times New Roman" panose="02020603050405020304" charset="0"/>
                        </a:rPr>
                        <a:t> pada </a:t>
                      </a:r>
                      <a:r>
                        <a:rPr lang="en-US" sz="2000" dirty="0" err="1">
                          <a:effectLst/>
                          <a:latin typeface="Calibri" panose="020F0502020204030204" pitchFamily="34" charset="0"/>
                          <a:ea typeface="Times New Roman" panose="02020603050405020304" charset="0"/>
                          <a:cs typeface="Times New Roman" panose="02020603050405020304" charset="0"/>
                        </a:rPr>
                        <a:t>usia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lanjut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walaupun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jika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menerima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gizi</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tepat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Selain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itu</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mengalami</a:t>
                      </a:r>
                      <a:r>
                        <a:rPr lang="en-US" sz="2000" dirty="0">
                          <a:effectLst/>
                          <a:latin typeface="Calibri" panose="020F0502020204030204" pitchFamily="34" charset="0"/>
                          <a:ea typeface="Times New Roman" panose="02020603050405020304" charset="0"/>
                          <a:cs typeface="Times New Roman" panose="02020603050405020304" charset="0"/>
                        </a:rPr>
                        <a:t> stunting </a:t>
                      </a:r>
                      <a:r>
                        <a:rPr lang="en-US" sz="2000" dirty="0" err="1">
                          <a:effectLst/>
                          <a:latin typeface="Calibri" panose="020F0502020204030204" pitchFamily="34" charset="0"/>
                          <a:ea typeface="Times New Roman" panose="02020603050405020304" charset="0"/>
                          <a:cs typeface="Times New Roman" panose="02020603050405020304" charset="0"/>
                        </a:rPr>
                        <a:t>beresiko</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lebih</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besar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menderita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penyakit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menular</a:t>
                      </a:r>
                      <a:r>
                        <a:rPr lang="en-US" sz="2000" dirty="0">
                          <a:effectLst/>
                          <a:latin typeface="Calibri" panose="020F0502020204030204" pitchFamily="34" charset="0"/>
                          <a:ea typeface="Times New Roman" panose="02020603050405020304" charset="0"/>
                          <a:cs typeface="Times New Roman" panose="02020603050405020304" charset="0"/>
                        </a:rPr>
                        <a:t> dan </a:t>
                      </a:r>
                      <a:r>
                        <a:rPr lang="en-US" sz="2000" dirty="0" err="1">
                          <a:effectLst/>
                          <a:latin typeface="Calibri" panose="020F0502020204030204" pitchFamily="34" charset="0"/>
                          <a:ea typeface="Times New Roman" panose="02020603050405020304" charset="0"/>
                          <a:cs typeface="Times New Roman" panose="02020603050405020304" charset="0"/>
                        </a:rPr>
                        <a:t>tidak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menular</a:t>
                      </a:r>
                      <a:r>
                        <a:rPr lang="en-US" sz="2000" dirty="0">
                          <a:effectLst/>
                          <a:latin typeface="Calibri" panose="020F0502020204030204" pitchFamily="34" charset="0"/>
                          <a:ea typeface="Times New Roman" panose="02020603050405020304" charset="0"/>
                          <a:cs typeface="Times New Roman" panose="02020603050405020304" charset="0"/>
                        </a:rPr>
                        <a:t> pada </a:t>
                      </a:r>
                      <a:r>
                        <a:rPr lang="en-US" sz="2000" dirty="0" err="1">
                          <a:effectLst/>
                          <a:latin typeface="Calibri" panose="020F0502020204030204" pitchFamily="34" charset="0"/>
                          <a:ea typeface="Times New Roman" panose="02020603050405020304" charset="0"/>
                          <a:cs typeface="Times New Roman" panose="02020603050405020304" charset="0"/>
                        </a:rPr>
                        <a:t>usia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dewasa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seperti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jantung</a:t>
                      </a:r>
                      <a:r>
                        <a:rPr lang="en-US" sz="2000" dirty="0">
                          <a:effectLst/>
                          <a:latin typeface="Calibri" panose="020F0502020204030204" pitchFamily="34" charset="0"/>
                          <a:ea typeface="Times New Roman" panose="02020603050405020304" charset="0"/>
                          <a:cs typeface="Times New Roman" panose="02020603050405020304" charset="0"/>
                        </a:rPr>
                        <a:t>, diabetes, dan </a:t>
                      </a:r>
                      <a:r>
                        <a:rPr lang="en-US" sz="2000" dirty="0" err="1">
                          <a:effectLst/>
                          <a:latin typeface="Calibri" panose="020F0502020204030204" pitchFamily="34" charset="0"/>
                          <a:ea typeface="Times New Roman" panose="02020603050405020304" charset="0"/>
                          <a:cs typeface="Times New Roman" panose="02020603050405020304" charset="0"/>
                        </a:rPr>
                        <a:t>penyakit</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pembuluh</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darah</a:t>
                      </a:r>
                      <a:r>
                        <a:rPr lang="en-US" sz="2000" dirty="0">
                          <a:effectLst/>
                          <a:latin typeface="Calibri" panose="020F0502020204030204" pitchFamily="34" charset="0"/>
                          <a:ea typeface="Times New Roman" panose="02020603050405020304" charset="0"/>
                          <a:cs typeface="Times New Roman" panose="02020603050405020304" charset="0"/>
                        </a:rPr>
                        <a:t>. Oleh </a:t>
                      </a:r>
                      <a:r>
                        <a:rPr lang="en-US" sz="2000" dirty="0" err="1">
                          <a:effectLst/>
                          <a:latin typeface="Calibri" panose="020F0502020204030204" pitchFamily="34" charset="0"/>
                          <a:ea typeface="Times New Roman" panose="02020603050405020304" charset="0"/>
                          <a:cs typeface="Times New Roman" panose="02020603050405020304" charset="0"/>
                        </a:rPr>
                        <a:t>karena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itu</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indikator</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ini</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menunjukan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bahwa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betapa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pentingnya</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memberikan</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gizi</a:t>
                      </a:r>
                      <a:r>
                        <a:rPr lang="en-US" sz="2000" dirty="0">
                          <a:effectLst/>
                          <a:latin typeface="Calibri" panose="020F0502020204030204" pitchFamily="34" charset="0"/>
                          <a:ea typeface="Times New Roman" panose="02020603050405020304" charset="0"/>
                          <a:cs typeface="Times New Roman" panose="02020603050405020304" charset="0"/>
                        </a:rPr>
                        <a:t> yang </a:t>
                      </a:r>
                      <a:r>
                        <a:rPr lang="en-US" sz="2000" dirty="0" err="1">
                          <a:effectLst/>
                          <a:latin typeface="Calibri" panose="020F0502020204030204" pitchFamily="34" charset="0"/>
                          <a:ea typeface="Times New Roman" panose="02020603050405020304" charset="0"/>
                          <a:cs typeface="Times New Roman" panose="02020603050405020304" charset="0"/>
                        </a:rPr>
                        <a:t>cukup</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untuk</a:t>
                      </a:r>
                      <a:r>
                        <a:rPr lang="en-US" sz="2000" dirty="0">
                          <a:effectLst/>
                          <a:latin typeface="Calibri" panose="020F0502020204030204" pitchFamily="34" charset="0"/>
                          <a:ea typeface="Times New Roman" panose="02020603050405020304" charset="0"/>
                          <a:cs typeface="Times New Roman" panose="02020603050405020304" charset="0"/>
                        </a:rPr>
                        <a:t> </a:t>
                      </a:r>
                      <a:r>
                        <a:rPr lang="en-US" sz="2000" dirty="0" err="1">
                          <a:effectLst/>
                          <a:latin typeface="Calibri" panose="020F0502020204030204" pitchFamily="34" charset="0"/>
                          <a:ea typeface="Times New Roman" panose="02020603050405020304" charset="0"/>
                          <a:cs typeface="Times New Roman" panose="02020603050405020304" charset="0"/>
                        </a:rPr>
                        <a:t>anak-anak</a:t>
                      </a:r>
                      <a:r>
                        <a:rPr lang="en-US" sz="2000" dirty="0">
                          <a:effectLst/>
                          <a:latin typeface="Calibri" panose="020F0502020204030204" pitchFamily="34" charset="0"/>
                          <a:ea typeface="Times New Roman" panose="02020603050405020304" charset="0"/>
                          <a:cs typeface="Times New Roman" panose="02020603050405020304" charset="0"/>
                        </a:rPr>
                        <a:t>.</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45465">
                <a:tc>
                  <a:txBody>
                    <a:bodyPr/>
                    <a:lstStyle/>
                    <a:p>
                      <a:pPr marL="0" marR="0">
                        <a:lnSpc>
                          <a:spcPct val="107000"/>
                        </a:lnSpc>
                        <a:spcBef>
                          <a:spcPts val="0"/>
                        </a:spcBef>
                        <a:spcAft>
                          <a:spcPts val="0"/>
                        </a:spcAft>
                      </a:pPr>
                      <a:r>
                        <a:rPr lang="en-US" sz="2000" dirty="0" err="1">
                          <a:effectLst/>
                          <a:latin typeface="Calibri" panose="020F0502020204030204" pitchFamily="34" charset="0"/>
                          <a:ea typeface="Calibri" panose="020F0502020204030204" pitchFamily="34" charset="0"/>
                          <a:cs typeface="Times New Roman" panose="02020603050405020304" charset="0"/>
                        </a:rPr>
                        <a:t>Sumber</a:t>
                      </a:r>
                      <a:r>
                        <a:rPr lang="en-US" sz="2000" dirty="0">
                          <a:effectLst/>
                          <a:latin typeface="Calibri" panose="020F0502020204030204" pitchFamily="34" charset="0"/>
                          <a:ea typeface="Calibri" panose="020F0502020204030204" pitchFamily="34" charset="0"/>
                          <a:cs typeface="Times New Roman" panose="02020603050405020304" charset="0"/>
                        </a:rPr>
                        <a:t> data</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07000"/>
                        </a:lnSpc>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charset="0"/>
                        </a:rPr>
                        <a:t>:</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charset="0"/>
                        </a:rPr>
                        <a:t>RISKESDAS</a:t>
                      </a:r>
                    </a:p>
                  </a:txBody>
                  <a:tcPr marL="49986" marR="4998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6" name="Table Placeholder 5"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34809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7FF0FAB-73C7-4589-B3CB-230F48FA27BF}" type="slidenum">
              <a:rPr lang="en-US" smtClean="0"/>
              <a:t>61</a:t>
            </a:fld>
            <a:endParaRPr lang="en-US"/>
          </a:p>
        </p:txBody>
      </p:sp>
      <p:graphicFrame>
        <p:nvGraphicFramePr>
          <p:cNvPr id="3" name="Table 2"/>
          <p:cNvGraphicFramePr>
            <a:graphicFrameLocks noGrp="1"/>
          </p:cNvGraphicFramePr>
          <p:nvPr/>
        </p:nvGraphicFramePr>
        <p:xfrm>
          <a:off x="1899920" y="166370"/>
          <a:ext cx="8317230" cy="6522085"/>
        </p:xfrm>
        <a:graphic>
          <a:graphicData uri="http://schemas.openxmlformats.org/drawingml/2006/table">
            <a:tbl>
              <a:tblPr/>
              <a:tblGrid>
                <a:gridCol w="317754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855980">
                  <a:extLst>
                    <a:ext uri="{9D8B030D-6E8A-4147-A177-3AD203B41FA5}">
                      <a16:colId xmlns:a16="http://schemas.microsoft.com/office/drawing/2014/main" val="20002"/>
                    </a:ext>
                  </a:extLst>
                </a:gridCol>
                <a:gridCol w="856615">
                  <a:extLst>
                    <a:ext uri="{9D8B030D-6E8A-4147-A177-3AD203B41FA5}">
                      <a16:colId xmlns:a16="http://schemas.microsoft.com/office/drawing/2014/main" val="20003"/>
                    </a:ext>
                  </a:extLst>
                </a:gridCol>
                <a:gridCol w="855980">
                  <a:extLst>
                    <a:ext uri="{9D8B030D-6E8A-4147-A177-3AD203B41FA5}">
                      <a16:colId xmlns:a16="http://schemas.microsoft.com/office/drawing/2014/main" val="20004"/>
                    </a:ext>
                  </a:extLst>
                </a:gridCol>
                <a:gridCol w="857250">
                  <a:extLst>
                    <a:ext uri="{9D8B030D-6E8A-4147-A177-3AD203B41FA5}">
                      <a16:colId xmlns:a16="http://schemas.microsoft.com/office/drawing/2014/main" val="20005"/>
                    </a:ext>
                  </a:extLst>
                </a:gridCol>
                <a:gridCol w="856615">
                  <a:extLst>
                    <a:ext uri="{9D8B030D-6E8A-4147-A177-3AD203B41FA5}">
                      <a16:colId xmlns:a16="http://schemas.microsoft.com/office/drawing/2014/main" val="20006"/>
                    </a:ext>
                  </a:extLst>
                </a:gridCol>
              </a:tblGrid>
              <a:tr h="259080">
                <a:tc rowSpan="3">
                  <a:txBody>
                    <a:bodyPr/>
                    <a:lstStyle/>
                    <a:p>
                      <a:pPr algn="ctr" fontAlgn="ctr"/>
                      <a:r>
                        <a:rPr lang="en-US" sz="1000" b="0" i="0" u="none" strike="noStrike" dirty="0" err="1">
                          <a:solidFill>
                            <a:srgbClr val="000000"/>
                          </a:solidFill>
                          <a:effectLst/>
                          <a:latin typeface="Calibri" panose="020F0502020204030204" pitchFamily="34" charset="0"/>
                        </a:rPr>
                        <a:t>Provinsi</a:t>
                      </a:r>
                      <a:endParaRPr lang="en-US" sz="1000" b="0" i="0" u="none" strike="noStrike" dirty="0">
                        <a:solidFill>
                          <a:srgbClr val="000000"/>
                        </a:solidFill>
                        <a:effectLst/>
                        <a:latin typeface="Calibri" panose="020F0502020204030204" pitchFamily="34" charset="0"/>
                      </a:endParaRP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6">
                  <a:txBody>
                    <a:bodyPr/>
                    <a:lstStyle/>
                    <a:p>
                      <a:pPr algn="ctr" fontAlgn="ctr"/>
                      <a:r>
                        <a:rPr lang="it-IT" sz="1000" b="0" i="0" u="none" strike="noStrike">
                          <a:solidFill>
                            <a:srgbClr val="000000"/>
                          </a:solidFill>
                          <a:effectLst/>
                          <a:latin typeface="Calibri" panose="020F0502020204030204" pitchFamily="34" charset="0"/>
                        </a:rPr>
                        <a:t>Persentase Balita Pendek Dan Sangat Pendek (Persen)</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56210">
                <a:tc vMerge="1">
                  <a:txBody>
                    <a:bodyPr/>
                    <a:lstStyle/>
                    <a:p>
                      <a:endParaRPr lang="en-US"/>
                    </a:p>
                  </a:txBody>
                  <a:tcPr/>
                </a:tc>
                <a:tc gridSpan="3">
                  <a:txBody>
                    <a:bodyPr/>
                    <a:lstStyle/>
                    <a:p>
                      <a:pPr algn="ctr" fontAlgn="ctr"/>
                      <a:r>
                        <a:rPr lang="en-US" sz="1000" b="0" i="0" u="none" strike="noStrike">
                          <a:solidFill>
                            <a:srgbClr val="000000"/>
                          </a:solidFill>
                          <a:effectLst/>
                          <a:latin typeface="Calibri" panose="020F0502020204030204" pitchFamily="34" charset="0"/>
                        </a:rPr>
                        <a:t>Pendek</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3">
                  <a:txBody>
                    <a:bodyPr/>
                    <a:lstStyle/>
                    <a:p>
                      <a:pPr algn="ctr" fontAlgn="ctr"/>
                      <a:r>
                        <a:rPr lang="en-US" sz="1000" b="0" i="0" u="none" strike="noStrike">
                          <a:solidFill>
                            <a:srgbClr val="000000"/>
                          </a:solidFill>
                          <a:effectLst/>
                          <a:latin typeface="Calibri" panose="020F0502020204030204" pitchFamily="34" charset="0"/>
                        </a:rPr>
                        <a:t>Sangat Pendek</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74625">
                <a:tc vMerge="1">
                  <a:txBody>
                    <a:bodyPr/>
                    <a:lstStyle/>
                    <a:p>
                      <a:endParaRPr lang="en-US"/>
                    </a:p>
                  </a:txBody>
                  <a:tcPr/>
                </a:tc>
                <a:tc>
                  <a:txBody>
                    <a:bodyPr/>
                    <a:lstStyle/>
                    <a:p>
                      <a:pPr algn="ctr" fontAlgn="ctr"/>
                      <a:r>
                        <a:rPr lang="en-US" sz="1000" b="0" i="0" u="none" strike="noStrike">
                          <a:solidFill>
                            <a:srgbClr val="000000"/>
                          </a:solidFill>
                          <a:effectLst/>
                          <a:latin typeface="Calibri" panose="020F0502020204030204" pitchFamily="34" charset="0"/>
                        </a:rPr>
                        <a:t>2016</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2017</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2016</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2017</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6210">
                <a:tc>
                  <a:txBody>
                    <a:bodyPr/>
                    <a:lstStyle/>
                    <a:p>
                      <a:pPr marL="176530" indent="-176530" algn="l" fontAlgn="ctr"/>
                      <a:r>
                        <a:rPr lang="en-US" sz="1000" b="0" i="0" u="none" strike="noStrike" dirty="0">
                          <a:solidFill>
                            <a:srgbClr val="000000"/>
                          </a:solidFill>
                          <a:effectLst/>
                          <a:latin typeface="Calibri" panose="020F0502020204030204" pitchFamily="34" charset="0"/>
                        </a:rPr>
                        <a:t>ACEH</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18.84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23.50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7.56</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56210">
                <a:tc>
                  <a:txBody>
                    <a:bodyPr/>
                    <a:lstStyle/>
                    <a:p>
                      <a:pPr algn="l" fontAlgn="ctr"/>
                      <a:r>
                        <a:rPr lang="en-US" sz="1000" b="0" i="0" u="none" strike="noStrike" dirty="0">
                          <a:solidFill>
                            <a:srgbClr val="000000"/>
                          </a:solidFill>
                          <a:effectLst/>
                          <a:latin typeface="Calibri" panose="020F0502020204030204" pitchFamily="34" charset="0"/>
                        </a:rPr>
                        <a:t>SUMATERA UTARA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9.34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13.20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56210">
                <a:tc>
                  <a:txBody>
                    <a:bodyPr/>
                    <a:lstStyle/>
                    <a:p>
                      <a:pPr algn="l" fontAlgn="ctr"/>
                      <a:r>
                        <a:rPr lang="en-US" sz="1000" b="0" i="0" u="none" strike="noStrike" dirty="0">
                          <a:solidFill>
                            <a:srgbClr val="000000"/>
                          </a:solidFill>
                          <a:effectLst/>
                          <a:latin typeface="Calibri" panose="020F0502020204030204" pitchFamily="34" charset="0"/>
                        </a:rPr>
                        <a:t>SUMATERA BARAT</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18.88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6.66</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56210">
                <a:tc>
                  <a:txBody>
                    <a:bodyPr/>
                    <a:lstStyle/>
                    <a:p>
                      <a:pPr algn="l" fontAlgn="ctr"/>
                      <a:r>
                        <a:rPr lang="en-US" sz="1000" b="0" i="0" u="none" strike="noStrike" dirty="0">
                          <a:solidFill>
                            <a:srgbClr val="000000"/>
                          </a:solidFill>
                          <a:effectLst/>
                          <a:latin typeface="Calibri" panose="020F0502020204030204" pitchFamily="34" charset="0"/>
                        </a:rPr>
                        <a:t>RIAU</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17.75</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7.32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56210">
                <a:tc>
                  <a:txBody>
                    <a:bodyPr/>
                    <a:lstStyle/>
                    <a:p>
                      <a:pPr algn="l" fontAlgn="ctr"/>
                      <a:r>
                        <a:rPr lang="en-US" sz="1000" b="0" i="0" u="none" strike="noStrike" dirty="0">
                          <a:solidFill>
                            <a:srgbClr val="000000"/>
                          </a:solidFill>
                          <a:effectLst/>
                          <a:latin typeface="Calibri" panose="020F0502020204030204" pitchFamily="34" charset="0"/>
                        </a:rPr>
                        <a:t>JAMBI</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13.40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56210">
                <a:tc>
                  <a:txBody>
                    <a:bodyPr/>
                    <a:lstStyle/>
                    <a:p>
                      <a:pPr algn="l" fontAlgn="ctr"/>
                      <a:r>
                        <a:rPr lang="en-US" sz="1000" b="0" i="0" u="none" strike="noStrike" dirty="0">
                          <a:solidFill>
                            <a:srgbClr val="000000"/>
                          </a:solidFill>
                          <a:effectLst/>
                          <a:latin typeface="Calibri" panose="020F0502020204030204" pitchFamily="34" charset="0"/>
                        </a:rPr>
                        <a:t>SUMATERA SELATAN</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14.58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4.66</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56210">
                <a:tc>
                  <a:txBody>
                    <a:bodyPr/>
                    <a:lstStyle/>
                    <a:p>
                      <a:pPr algn="l" fontAlgn="ctr"/>
                      <a:r>
                        <a:rPr lang="en-US" sz="1000" b="0" i="0" u="none" strike="noStrike" dirty="0">
                          <a:solidFill>
                            <a:srgbClr val="000000"/>
                          </a:solidFill>
                          <a:effectLst/>
                          <a:latin typeface="Calibri" panose="020F0502020204030204" pitchFamily="34" charset="0"/>
                        </a:rPr>
                        <a:t>BENGKULU</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16.35</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6.61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56210">
                <a:tc>
                  <a:txBody>
                    <a:bodyPr/>
                    <a:lstStyle/>
                    <a:p>
                      <a:pPr algn="l" fontAlgn="ctr"/>
                      <a:r>
                        <a:rPr lang="en-US" sz="1000" b="0" i="0" u="none" strike="noStrike" dirty="0">
                          <a:solidFill>
                            <a:srgbClr val="000000"/>
                          </a:solidFill>
                          <a:effectLst/>
                          <a:latin typeface="Calibri" panose="020F0502020204030204" pitchFamily="34" charset="0"/>
                        </a:rPr>
                        <a:t>LAMPUNG</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18.19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6.59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56210">
                <a:tc>
                  <a:txBody>
                    <a:bodyPr/>
                    <a:lstStyle/>
                    <a:p>
                      <a:pPr algn="l" fontAlgn="ctr"/>
                      <a:r>
                        <a:rPr lang="en-US" sz="1000" b="0" i="0" u="none" strike="noStrike" dirty="0">
                          <a:solidFill>
                            <a:srgbClr val="000000"/>
                          </a:solidFill>
                          <a:effectLst/>
                          <a:latin typeface="Calibri" panose="020F0502020204030204" pitchFamily="34" charset="0"/>
                        </a:rPr>
                        <a:t>KEP. BANGKA BELITUNG</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6.22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56210">
                <a:tc>
                  <a:txBody>
                    <a:bodyPr/>
                    <a:lstStyle/>
                    <a:p>
                      <a:pPr algn="l" fontAlgn="ctr"/>
                      <a:r>
                        <a:rPr lang="en-US" sz="1000" b="0" i="0" u="none" strike="noStrike" dirty="0">
                          <a:solidFill>
                            <a:srgbClr val="000000"/>
                          </a:solidFill>
                          <a:effectLst/>
                          <a:latin typeface="Calibri" panose="020F0502020204030204" pitchFamily="34" charset="0"/>
                        </a:rPr>
                        <a:t>KEP. RIAU</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panose="020F0502020204030204" pitchFamily="34" charset="0"/>
                        </a:rPr>
                        <a:t>15.64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panose="020F0502020204030204" pitchFamily="34" charset="0"/>
                        </a:rPr>
                        <a:t>16.30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Calibri" panose="020F0502020204030204" pitchFamily="34" charset="0"/>
                        </a:rPr>
                        <a:t>15.10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7.21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56210">
                <a:tc>
                  <a:txBody>
                    <a:bodyPr/>
                    <a:lstStyle/>
                    <a:p>
                      <a:pPr algn="l" fontAlgn="ctr"/>
                      <a:r>
                        <a:rPr lang="en-US" sz="1000" b="0" i="0" u="none" strike="noStrike" dirty="0">
                          <a:solidFill>
                            <a:srgbClr val="000000"/>
                          </a:solidFill>
                          <a:effectLst/>
                          <a:latin typeface="Calibri" panose="020F0502020204030204" pitchFamily="34" charset="0"/>
                        </a:rPr>
                        <a:t>DKI JAKARTA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13.78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6.28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56210">
                <a:tc>
                  <a:txBody>
                    <a:bodyPr/>
                    <a:lstStyle/>
                    <a:p>
                      <a:pPr algn="l" fontAlgn="ctr"/>
                      <a:r>
                        <a:rPr lang="en-US" sz="1000" b="0" i="0" u="none" strike="noStrike" dirty="0">
                          <a:solidFill>
                            <a:srgbClr val="000000"/>
                          </a:solidFill>
                          <a:effectLst/>
                          <a:latin typeface="Calibri" panose="020F0502020204030204" pitchFamily="34" charset="0"/>
                        </a:rPr>
                        <a:t>JAWA BARAT</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6.13</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56210">
                <a:tc>
                  <a:txBody>
                    <a:bodyPr/>
                    <a:lstStyle/>
                    <a:p>
                      <a:pPr algn="l" fontAlgn="ctr"/>
                      <a:r>
                        <a:rPr lang="en-US" sz="1000" b="0" i="0" u="none" strike="noStrike" dirty="0">
                          <a:solidFill>
                            <a:srgbClr val="000000"/>
                          </a:solidFill>
                          <a:effectLst/>
                          <a:latin typeface="Calibri" panose="020F0502020204030204" pitchFamily="34" charset="0"/>
                        </a:rPr>
                        <a:t>JAWA TENGAH</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17.78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6.09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56210">
                <a:tc>
                  <a:txBody>
                    <a:bodyPr/>
                    <a:lstStyle/>
                    <a:p>
                      <a:pPr algn="l" fontAlgn="ctr"/>
                      <a:r>
                        <a:rPr lang="en-US" sz="1000" b="0" i="0" u="none" strike="noStrike" dirty="0">
                          <a:solidFill>
                            <a:srgbClr val="000000"/>
                          </a:solidFill>
                          <a:effectLst/>
                          <a:latin typeface="Calibri" panose="020F0502020204030204" pitchFamily="34" charset="0"/>
                        </a:rPr>
                        <a:t>DI YOGYAKARTA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4.74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56210">
                <a:tc>
                  <a:txBody>
                    <a:bodyPr/>
                    <a:lstStyle/>
                    <a:p>
                      <a:pPr algn="l" fontAlgn="ctr"/>
                      <a:r>
                        <a:rPr lang="en-US" sz="1000" b="0" i="0" u="none" strike="noStrike" dirty="0">
                          <a:solidFill>
                            <a:srgbClr val="000000"/>
                          </a:solidFill>
                          <a:effectLst/>
                          <a:latin typeface="Calibri" panose="020F0502020204030204" pitchFamily="34" charset="0"/>
                        </a:rPr>
                        <a:t>JAWA TIMUR</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18.62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7.51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56210">
                <a:tc>
                  <a:txBody>
                    <a:bodyPr/>
                    <a:lstStyle/>
                    <a:p>
                      <a:pPr algn="l" fontAlgn="ctr"/>
                      <a:r>
                        <a:rPr lang="en-US" sz="1000" b="0" i="0" u="none" strike="noStrike" dirty="0">
                          <a:solidFill>
                            <a:srgbClr val="000000"/>
                          </a:solidFill>
                          <a:effectLst/>
                          <a:latin typeface="Calibri" panose="020F0502020204030204" pitchFamily="34" charset="0"/>
                        </a:rPr>
                        <a:t>BANTEN</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8.09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56210">
                <a:tc>
                  <a:txBody>
                    <a:bodyPr/>
                    <a:lstStyle/>
                    <a:p>
                      <a:pPr algn="l" fontAlgn="ctr"/>
                      <a:r>
                        <a:rPr lang="en-US" sz="1000" b="0" i="0" u="none" strike="noStrike" dirty="0">
                          <a:solidFill>
                            <a:srgbClr val="000000"/>
                          </a:solidFill>
                          <a:effectLst/>
                          <a:latin typeface="Calibri" panose="020F0502020204030204" pitchFamily="34" charset="0"/>
                        </a:rPr>
                        <a:t>BALI</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14.48</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5.22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5.60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56210">
                <a:tc>
                  <a:txBody>
                    <a:bodyPr/>
                    <a:lstStyle/>
                    <a:p>
                      <a:pPr algn="l" fontAlgn="ctr"/>
                      <a:r>
                        <a:rPr lang="en-US" sz="1000" b="0" i="0" u="none" strike="noStrike" dirty="0">
                          <a:solidFill>
                            <a:srgbClr val="000000"/>
                          </a:solidFill>
                          <a:effectLst/>
                          <a:latin typeface="Calibri" panose="020F0502020204030204" pitchFamily="34" charset="0"/>
                        </a:rPr>
                        <a:t>NUSA TENGGARA BARAT</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21.66</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26.00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24.30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8.31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56210">
                <a:tc>
                  <a:txBody>
                    <a:bodyPr/>
                    <a:lstStyle/>
                    <a:p>
                      <a:pPr algn="l" fontAlgn="ctr"/>
                      <a:r>
                        <a:rPr lang="en-US" sz="1000" b="0" i="0" u="none" strike="noStrike" dirty="0">
                          <a:solidFill>
                            <a:srgbClr val="000000"/>
                          </a:solidFill>
                          <a:effectLst/>
                          <a:latin typeface="Calibri" panose="020F0502020204030204" pitchFamily="34" charset="0"/>
                        </a:rPr>
                        <a:t>NUSA TENGGARA TIMUR</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23.72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26.70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15.03</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56210">
                <a:tc>
                  <a:txBody>
                    <a:bodyPr/>
                    <a:lstStyle/>
                    <a:p>
                      <a:pPr algn="l" fontAlgn="ctr"/>
                      <a:r>
                        <a:rPr lang="en-US" sz="1000" b="0" i="0" u="none" strike="noStrike">
                          <a:solidFill>
                            <a:srgbClr val="000000"/>
                          </a:solidFill>
                          <a:effectLst/>
                          <a:latin typeface="Calibri" panose="020F0502020204030204" pitchFamily="34" charset="0"/>
                        </a:rPr>
                        <a:t>KALIMANTAN BARAT</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22.99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23.50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11.94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13.00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56210">
                <a:tc>
                  <a:txBody>
                    <a:bodyPr/>
                    <a:lstStyle/>
                    <a:p>
                      <a:pPr algn="l" fontAlgn="ctr"/>
                      <a:r>
                        <a:rPr lang="en-US" sz="1000" b="0" i="0" u="none" strike="noStrike" dirty="0">
                          <a:solidFill>
                            <a:srgbClr val="000000"/>
                          </a:solidFill>
                          <a:effectLst/>
                          <a:latin typeface="Calibri" panose="020F0502020204030204" pitchFamily="34" charset="0"/>
                        </a:rPr>
                        <a:t>KALIMANTAN TENGAH</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22.91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23.60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56210">
                <a:tc>
                  <a:txBody>
                    <a:bodyPr/>
                    <a:lstStyle/>
                    <a:p>
                      <a:pPr algn="l" fontAlgn="ctr"/>
                      <a:r>
                        <a:rPr lang="en-US" sz="1000" b="0" i="0" u="none" strike="noStrike">
                          <a:solidFill>
                            <a:srgbClr val="000000"/>
                          </a:solidFill>
                          <a:effectLst/>
                          <a:latin typeface="Calibri" panose="020F0502020204030204" pitchFamily="34" charset="0"/>
                        </a:rPr>
                        <a:t>KALIMANTAN SELATAN</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21.31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9.82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13.00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156210">
                <a:tc>
                  <a:txBody>
                    <a:bodyPr/>
                    <a:lstStyle/>
                    <a:p>
                      <a:pPr algn="l" fontAlgn="ctr"/>
                      <a:r>
                        <a:rPr lang="en-US" sz="1000" b="0" i="0" u="none" strike="noStrike" dirty="0">
                          <a:solidFill>
                            <a:srgbClr val="000000"/>
                          </a:solidFill>
                          <a:effectLst/>
                          <a:latin typeface="Calibri" panose="020F0502020204030204" pitchFamily="34" charset="0"/>
                        </a:rPr>
                        <a:t>KALIMANTAN TIMUR</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19.92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7.22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156210">
                <a:tc>
                  <a:txBody>
                    <a:bodyPr/>
                    <a:lstStyle/>
                    <a:p>
                      <a:pPr algn="l" fontAlgn="ctr"/>
                      <a:r>
                        <a:rPr lang="en-US" sz="1000" b="0" i="0" u="none" strike="noStrike" dirty="0">
                          <a:solidFill>
                            <a:srgbClr val="000000"/>
                          </a:solidFill>
                          <a:effectLst/>
                          <a:latin typeface="Calibri" panose="020F0502020204030204" pitchFamily="34" charset="0"/>
                        </a:rPr>
                        <a:t>KALIMANTAN UTARA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21.31</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10.29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156210">
                <a:tc>
                  <a:txBody>
                    <a:bodyPr/>
                    <a:lstStyle/>
                    <a:p>
                      <a:pPr algn="l" fontAlgn="ctr"/>
                      <a:r>
                        <a:rPr lang="en-US" sz="1000" b="0" i="0" u="none" strike="noStrike" dirty="0">
                          <a:solidFill>
                            <a:srgbClr val="000000"/>
                          </a:solidFill>
                          <a:effectLst/>
                          <a:latin typeface="Calibri" panose="020F0502020204030204" pitchFamily="34" charset="0"/>
                        </a:rPr>
                        <a:t>SULAWESI UTARA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14.42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6.79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r h="156210">
                <a:tc>
                  <a:txBody>
                    <a:bodyPr/>
                    <a:lstStyle/>
                    <a:p>
                      <a:pPr algn="l" fontAlgn="ctr"/>
                      <a:r>
                        <a:rPr lang="en-US" sz="1000" b="0" i="0" u="none" strike="noStrike" dirty="0">
                          <a:solidFill>
                            <a:srgbClr val="000000"/>
                          </a:solidFill>
                          <a:effectLst/>
                          <a:latin typeface="Calibri" panose="020F0502020204030204" pitchFamily="34" charset="0"/>
                        </a:rPr>
                        <a:t>SULAWESI TENGAH</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21.85</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22.10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10.19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8"/>
                  </a:ext>
                </a:extLst>
              </a:tr>
              <a:tr h="156210">
                <a:tc>
                  <a:txBody>
                    <a:bodyPr/>
                    <a:lstStyle/>
                    <a:p>
                      <a:pPr algn="l" fontAlgn="ctr"/>
                      <a:r>
                        <a:rPr lang="en-US" sz="1000" b="0" i="0" u="none" strike="noStrike" dirty="0">
                          <a:solidFill>
                            <a:srgbClr val="000000"/>
                          </a:solidFill>
                          <a:effectLst/>
                          <a:latin typeface="Calibri" panose="020F0502020204030204" pitchFamily="34" charset="0"/>
                        </a:rPr>
                        <a:t>SULAWESI SELATAN</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25.87</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24.60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23.20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9.73</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9"/>
                  </a:ext>
                </a:extLst>
              </a:tr>
              <a:tr h="156210">
                <a:tc>
                  <a:txBody>
                    <a:bodyPr/>
                    <a:lstStyle/>
                    <a:p>
                      <a:pPr algn="l" fontAlgn="ctr"/>
                      <a:r>
                        <a:rPr lang="en-US" sz="1000" b="0" i="0" u="none" strike="noStrike" dirty="0">
                          <a:solidFill>
                            <a:srgbClr val="000000"/>
                          </a:solidFill>
                          <a:effectLst/>
                          <a:latin typeface="Calibri" panose="020F0502020204030204" pitchFamily="34" charset="0"/>
                        </a:rPr>
                        <a:t>SULAWESI TENGGARA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20.64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18.60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8.93</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
                  </a:ext>
                </a:extLst>
              </a:tr>
              <a:tr h="156210">
                <a:tc>
                  <a:txBody>
                    <a:bodyPr/>
                    <a:lstStyle/>
                    <a:p>
                      <a:pPr algn="l" fontAlgn="ctr"/>
                      <a:r>
                        <a:rPr lang="en-US" sz="1000" b="0" i="0" u="none" strike="noStrike" dirty="0">
                          <a:solidFill>
                            <a:srgbClr val="000000"/>
                          </a:solidFill>
                          <a:effectLst/>
                          <a:latin typeface="Calibri" panose="020F0502020204030204" pitchFamily="34" charset="0"/>
                        </a:rPr>
                        <a:t>GORONTALO</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11.54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1"/>
                  </a:ext>
                </a:extLst>
              </a:tr>
              <a:tr h="156210">
                <a:tc>
                  <a:txBody>
                    <a:bodyPr/>
                    <a:lstStyle/>
                    <a:p>
                      <a:pPr algn="l" fontAlgn="ctr"/>
                      <a:r>
                        <a:rPr lang="en-US" sz="1000" b="0" i="0" u="none" strike="noStrike" dirty="0">
                          <a:solidFill>
                            <a:srgbClr val="000000"/>
                          </a:solidFill>
                          <a:effectLst/>
                          <a:latin typeface="Calibri" panose="020F0502020204030204" pitchFamily="34" charset="0"/>
                        </a:rPr>
                        <a:t>SULAWESI BARAT</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25.02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25.10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25.40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14.69</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14.90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2"/>
                  </a:ext>
                </a:extLst>
              </a:tr>
              <a:tr h="156210">
                <a:tc>
                  <a:txBody>
                    <a:bodyPr/>
                    <a:lstStyle/>
                    <a:p>
                      <a:pPr algn="l" fontAlgn="ctr"/>
                      <a:r>
                        <a:rPr lang="en-US" sz="1000" b="0" i="0" u="none" strike="noStrike" dirty="0">
                          <a:solidFill>
                            <a:srgbClr val="000000"/>
                          </a:solidFill>
                          <a:effectLst/>
                          <a:latin typeface="Calibri" panose="020F0502020204030204" pitchFamily="34" charset="0"/>
                        </a:rPr>
                        <a:t>MALUKU</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16.65</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21.50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12.33</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10.30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12.50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3"/>
                  </a:ext>
                </a:extLst>
              </a:tr>
              <a:tr h="156210">
                <a:tc>
                  <a:txBody>
                    <a:bodyPr/>
                    <a:lstStyle/>
                    <a:p>
                      <a:pPr algn="l" fontAlgn="ctr"/>
                      <a:r>
                        <a:rPr lang="en-US" sz="1000" b="0" i="0" u="none" strike="noStrike" dirty="0">
                          <a:solidFill>
                            <a:srgbClr val="000000"/>
                          </a:solidFill>
                          <a:effectLst/>
                          <a:latin typeface="Calibri" panose="020F0502020204030204" pitchFamily="34" charset="0"/>
                        </a:rPr>
                        <a:t>MALUKU UTARA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19.72</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20.40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4.87</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8.20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11.00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4"/>
                  </a:ext>
                </a:extLst>
              </a:tr>
              <a:tr h="156210">
                <a:tc>
                  <a:txBody>
                    <a:bodyPr/>
                    <a:lstStyle/>
                    <a:p>
                      <a:pPr algn="l" fontAlgn="ctr"/>
                      <a:r>
                        <a:rPr lang="en-US" sz="1000" b="0" i="0" u="none" strike="noStrike" dirty="0">
                          <a:solidFill>
                            <a:srgbClr val="000000"/>
                          </a:solidFill>
                          <a:effectLst/>
                          <a:latin typeface="Calibri" panose="020F0502020204030204" pitchFamily="34" charset="0"/>
                        </a:rPr>
                        <a:t>PAPUA BARAT</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18.83</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19.90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16.10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11.45</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13.40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11.70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5"/>
                  </a:ext>
                </a:extLst>
              </a:tr>
              <a:tr h="156210">
                <a:tc>
                  <a:txBody>
                    <a:bodyPr/>
                    <a:lstStyle/>
                    <a:p>
                      <a:pPr algn="l" fontAlgn="ctr"/>
                      <a:r>
                        <a:rPr lang="en-US" sz="1000" b="0" i="0" u="none" strike="noStrike" dirty="0">
                          <a:solidFill>
                            <a:srgbClr val="000000"/>
                          </a:solidFill>
                          <a:effectLst/>
                          <a:latin typeface="Calibri" panose="020F0502020204030204" pitchFamily="34" charset="0"/>
                        </a:rPr>
                        <a:t>PAPUA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16.35</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16.90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17.80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11.64</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15.90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15.30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6"/>
                  </a:ext>
                </a:extLst>
              </a:tr>
              <a:tr h="156210">
                <a:tc>
                  <a:txBody>
                    <a:bodyPr/>
                    <a:lstStyle/>
                    <a:p>
                      <a:pPr algn="l" fontAlgn="ctr"/>
                      <a:r>
                        <a:rPr lang="en-US" sz="1000" b="1" i="0" u="none" strike="noStrike" dirty="0">
                          <a:solidFill>
                            <a:srgbClr val="000000"/>
                          </a:solidFill>
                          <a:effectLst/>
                          <a:latin typeface="Calibri" panose="020F0502020204030204" pitchFamily="34" charset="0"/>
                        </a:rPr>
                        <a:t>INDONESIA</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Calibri" panose="020F0502020204030204" pitchFamily="34" charset="0"/>
                        </a:rPr>
                        <a:t>18.97</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Calibri" panose="020F0502020204030204" pitchFamily="34" charset="0"/>
                        </a:rPr>
                        <a:t>19.80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Calibri" panose="020F0502020204030204" pitchFamily="34" charset="0"/>
                        </a:rPr>
                        <a:t>19.30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Calibri" panose="020F0502020204030204" pitchFamily="34" charset="0"/>
                        </a:rPr>
                        <a:t>8.57</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Calibri" panose="020F0502020204030204" pitchFamily="34" charset="0"/>
                        </a:rPr>
                        <a:t>9.80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Calibri" panose="020F0502020204030204" pitchFamily="34" charset="0"/>
                        </a:rPr>
                        <a:t>11.50</a:t>
                      </a:r>
                    </a:p>
                  </a:txBody>
                  <a:tcPr marL="3570" marR="3570" marT="3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7"/>
                  </a:ext>
                </a:extLst>
              </a:tr>
              <a:tr h="156210">
                <a:tc gridSpan="7">
                  <a:txBody>
                    <a:bodyPr/>
                    <a:lstStyle/>
                    <a:p>
                      <a:pPr algn="l" fontAlgn="b"/>
                      <a:endParaRPr lang="en-US" sz="1000" b="0" i="0" u="none" strike="noStrike" dirty="0">
                        <a:solidFill>
                          <a:srgbClr val="000000"/>
                        </a:solidFill>
                        <a:effectLst/>
                        <a:latin typeface="Calibri" panose="020F0502020204030204" pitchFamily="34" charset="0"/>
                      </a:endParaRPr>
                    </a:p>
                  </a:txBody>
                  <a:tcPr marL="3570" marR="3570" marT="357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38"/>
                  </a:ext>
                </a:extLst>
              </a:tr>
              <a:tr h="308610">
                <a:tc gridSpan="7">
                  <a:txBody>
                    <a:bodyPr/>
                    <a:lstStyle/>
                    <a:p>
                      <a:pPr algn="l" fontAlgn="b"/>
                      <a:r>
                        <a:rPr lang="en-US" sz="1000" b="0" i="0" u="none" strike="noStrike" dirty="0" err="1">
                          <a:solidFill>
                            <a:srgbClr val="000000"/>
                          </a:solidFill>
                          <a:effectLst/>
                          <a:latin typeface="Calibri" panose="020F0502020204030204" pitchFamily="34" charset="0"/>
                        </a:rPr>
                        <a:t>Sumber</a:t>
                      </a:r>
                      <a:r>
                        <a:rPr lang="en-US" sz="1000" b="0" i="0" u="none" strike="noStrike" dirty="0">
                          <a:solidFill>
                            <a:srgbClr val="000000"/>
                          </a:solidFill>
                          <a:effectLst/>
                          <a:latin typeface="Calibri" panose="020F0502020204030204" pitchFamily="34" charset="0"/>
                        </a:rPr>
                        <a:t> : </a:t>
                      </a:r>
                      <a:r>
                        <a:rPr lang="en-US" sz="1000" b="0" i="0" u="none" strike="noStrike" dirty="0" err="1">
                          <a:solidFill>
                            <a:srgbClr val="000000"/>
                          </a:solidFill>
                          <a:effectLst/>
                          <a:latin typeface="Calibri" panose="020F0502020204030204" pitchFamily="34" charset="0"/>
                        </a:rPr>
                        <a:t>Pemantauan</a:t>
                      </a:r>
                      <a:r>
                        <a:rPr lang="en-US" sz="1000" b="0" i="0" u="none" strike="noStrike" dirty="0">
                          <a:solidFill>
                            <a:srgbClr val="000000"/>
                          </a:solidFill>
                          <a:effectLst/>
                          <a:latin typeface="Calibri" panose="020F0502020204030204" pitchFamily="34" charset="0"/>
                        </a:rPr>
                        <a:t> Status </a:t>
                      </a:r>
                      <a:r>
                        <a:rPr lang="en-US" sz="1000" b="0" i="0" u="none" strike="noStrike" dirty="0" err="1">
                          <a:solidFill>
                            <a:srgbClr val="000000"/>
                          </a:solidFill>
                          <a:effectLst/>
                          <a:latin typeface="Calibri" panose="020F0502020204030204" pitchFamily="34" charset="0"/>
                        </a:rPr>
                        <a:t>Gizi</a:t>
                      </a:r>
                      <a:r>
                        <a:rPr lang="en-US" sz="1000" b="0" i="0" u="none" strike="noStrike" dirty="0">
                          <a:solidFill>
                            <a:srgbClr val="000000"/>
                          </a:solidFill>
                          <a:effectLst/>
                          <a:latin typeface="Calibri" panose="020F0502020204030204" pitchFamily="34" charset="0"/>
                        </a:rPr>
                        <a:t>, </a:t>
                      </a:r>
                      <a:r>
                        <a:rPr lang="en-US" sz="1000" b="0" i="0" u="none" strike="noStrike" dirty="0" err="1">
                          <a:solidFill>
                            <a:srgbClr val="000000"/>
                          </a:solidFill>
                          <a:effectLst/>
                          <a:latin typeface="Calibri" panose="020F0502020204030204" pitchFamily="34" charset="0"/>
                        </a:rPr>
                        <a:t>Profil</a:t>
                      </a:r>
                      <a:r>
                        <a:rPr lang="en-US" sz="1000" b="0" i="0" u="none" strike="noStrike" dirty="0">
                          <a:solidFill>
                            <a:srgbClr val="000000"/>
                          </a:solidFill>
                          <a:effectLst/>
                          <a:latin typeface="Calibri" panose="020F0502020204030204" pitchFamily="34" charset="0"/>
                        </a:rPr>
                        <a:t> Kesehatan Indonesia, KEMENKES</a:t>
                      </a:r>
                      <a:br>
                        <a:rPr lang="en-US" sz="1000" b="0" i="0" u="none" strike="noStrike" dirty="0">
                          <a:solidFill>
                            <a:srgbClr val="000000"/>
                          </a:solidFill>
                          <a:effectLst/>
                          <a:latin typeface="Calibri" panose="020F0502020204030204" pitchFamily="34" charset="0"/>
                        </a:rPr>
                      </a:br>
                      <a:endParaRPr lang="en-US" sz="1000" b="0" i="0" u="none" strike="noStrike" dirty="0">
                        <a:solidFill>
                          <a:srgbClr val="000000"/>
                        </a:solidFill>
                        <a:effectLst/>
                        <a:latin typeface="Calibri" panose="020F0502020204030204" pitchFamily="34" charset="0"/>
                      </a:endParaRPr>
                    </a:p>
                  </a:txBody>
                  <a:tcPr marL="3570" marR="3570" marT="357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39"/>
                  </a:ext>
                </a:extLst>
              </a:tr>
            </a:tbl>
          </a:graphicData>
        </a:graphic>
      </p:graphicFrame>
      <p:pic>
        <p:nvPicPr>
          <p:cNvPr id="4" name="Picture 3" descr="A picture containing drawing, device  Description automatically generated"/>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6D22F896-40B5-4ADD-8801-0D06FADFA095}" type="slidenum">
              <a:rPr kumimoji="0" lang="en-US" sz="1200" b="0" i="0" u="none" strike="noStrike" kern="1200" cap="none" spc="0" normalizeH="0" baseline="0" noProof="0">
                <a:ln>
                  <a:noFill/>
                </a:ln>
                <a:solidFill>
                  <a:srgbClr val="A6B727"/>
                </a:solidFill>
                <a:effectLst/>
                <a:uLnTx/>
                <a:uFillTx/>
                <a:latin typeface="Corbel" panose="020B0503020204020204"/>
                <a:ea typeface="+mn-ea"/>
                <a:cs typeface="+mn-cs"/>
              </a:rPr>
              <a:t>62</a:t>
            </a:fld>
            <a:endParaRPr kumimoji="0" lang="en-US" sz="1200" b="0" i="0" u="none" strike="noStrike" kern="1200" cap="none" spc="0" normalizeH="0" baseline="0" noProof="0" dirty="0">
              <a:ln>
                <a:noFill/>
              </a:ln>
              <a:solidFill>
                <a:srgbClr val="A6B727"/>
              </a:solidFill>
              <a:effectLst/>
              <a:uLnTx/>
              <a:uFillTx/>
              <a:latin typeface="Corbel" panose="020B0503020204020204"/>
              <a:ea typeface="+mn-ea"/>
              <a:cs typeface="+mn-cs"/>
            </a:endParaRPr>
          </a:p>
        </p:txBody>
      </p:sp>
      <p:sp>
        <p:nvSpPr>
          <p:cNvPr id="2" name="TextBox 1"/>
          <p:cNvSpPr txBox="1"/>
          <p:nvPr/>
        </p:nvSpPr>
        <p:spPr>
          <a:xfrm>
            <a:off x="1183005" y="1531620"/>
            <a:ext cx="10029190" cy="101473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200" cap="none" spc="0" normalizeH="0" baseline="0" noProof="0" dirty="0" err="1">
                <a:ln>
                  <a:noFill/>
                </a:ln>
                <a:solidFill>
                  <a:srgbClr val="000000"/>
                </a:solidFill>
                <a:effectLst/>
                <a:uLnTx/>
                <a:uFillTx/>
                <a:latin typeface="Corbel" panose="020B0503020204020204"/>
                <a:ea typeface="+mn-ea"/>
                <a:cs typeface="+mn-cs"/>
              </a:rPr>
              <a:t>Indikator</a:t>
            </a:r>
            <a:r>
              <a:rPr kumimoji="0" lang="en-US" sz="6000" b="1" i="0" u="none" strike="noStrike" kern="1200" cap="none" spc="0" normalizeH="0" baseline="0" noProof="0" dirty="0">
                <a:ln>
                  <a:noFill/>
                </a:ln>
                <a:solidFill>
                  <a:srgbClr val="000000"/>
                </a:solidFill>
                <a:effectLst/>
                <a:uLnTx/>
                <a:uFillTx/>
                <a:latin typeface="Corbel" panose="020B0503020204020204"/>
                <a:ea typeface="+mn-ea"/>
                <a:cs typeface="+mn-cs"/>
              </a:rPr>
              <a:t> </a:t>
            </a:r>
            <a:r>
              <a:rPr kumimoji="0" lang="en-US" sz="6000" b="1" i="0" u="none" strike="noStrike" kern="1200" cap="none" spc="0" normalizeH="0" baseline="0" noProof="0" dirty="0" err="1">
                <a:ln>
                  <a:noFill/>
                </a:ln>
                <a:solidFill>
                  <a:srgbClr val="000000"/>
                </a:solidFill>
                <a:effectLst/>
                <a:uLnTx/>
                <a:uFillTx/>
                <a:latin typeface="Corbel" panose="020B0503020204020204"/>
                <a:ea typeface="+mn-ea"/>
                <a:cs typeface="+mn-cs"/>
              </a:rPr>
              <a:t>Perumahan</a:t>
            </a:r>
            <a:endParaRPr kumimoji="0" lang="en-US" sz="6000" b="1" i="0" u="none" strike="noStrike" kern="1200" cap="none" spc="0" normalizeH="0" baseline="0" noProof="0" dirty="0">
              <a:ln>
                <a:noFill/>
              </a:ln>
              <a:solidFill>
                <a:srgbClr val="000000"/>
              </a:solidFill>
              <a:effectLst/>
              <a:uLnTx/>
              <a:uFillTx/>
              <a:latin typeface="Corbel" panose="020B0503020204020204"/>
              <a:ea typeface="+mn-ea"/>
              <a:cs typeface="+mn-cs"/>
            </a:endParaRPr>
          </a:p>
        </p:txBody>
      </p:sp>
      <p:pic>
        <p:nvPicPr>
          <p:cNvPr id="6" name="Table Placeholder 5"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038215"/>
            <a:ext cx="12191365" cy="78676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63</a:t>
            </a:fld>
            <a:endParaRPr lang="en-US" altLang="id-ID"/>
          </a:p>
        </p:txBody>
      </p:sp>
      <p:sp>
        <p:nvSpPr>
          <p:cNvPr id="5" name="Title 1"/>
          <p:cNvSpPr>
            <a:spLocks noGrp="1"/>
          </p:cNvSpPr>
          <p:nvPr>
            <p:ph type="title"/>
          </p:nvPr>
        </p:nvSpPr>
        <p:spPr/>
        <p:txBody>
          <a:bodyPr>
            <a:noAutofit/>
          </a:bodyPr>
          <a:lstStyle/>
          <a:p>
            <a:pPr algn="ctr"/>
            <a:r>
              <a:rPr lang="en-US" b="1" noProof="1">
                <a:solidFill>
                  <a:srgbClr val="000000"/>
                </a:solidFill>
                <a:latin typeface="Cambria" panose="02040503050406030204" pitchFamily="18" charset="0"/>
              </a:rPr>
              <a:t>Pendahuluan </a:t>
            </a:r>
            <a:r>
              <a:rPr lang="en-US" sz="2000" noProof="1">
                <a:solidFill>
                  <a:srgbClr val="000000"/>
                </a:solidFill>
                <a:latin typeface="Cambria" panose="02040503050406030204" pitchFamily="18" charset="0"/>
              </a:rPr>
              <a:t>[1]</a:t>
            </a:r>
            <a:endParaRPr lang="en-US" b="1" baseline="-25000" noProof="1">
              <a:solidFill>
                <a:srgbClr val="000000"/>
              </a:solidFill>
              <a:latin typeface="Cambria" panose="02040503050406030204" pitchFamily="18" charset="0"/>
            </a:endParaRPr>
          </a:p>
        </p:txBody>
      </p:sp>
      <p:sp>
        <p:nvSpPr>
          <p:cNvPr id="6" name="Content Placeholder 2"/>
          <p:cNvSpPr txBox="1"/>
          <p:nvPr/>
        </p:nvSpPr>
        <p:spPr>
          <a:xfrm>
            <a:off x="686470" y="1359553"/>
            <a:ext cx="10583212" cy="4835033"/>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273050" indent="-273050" algn="just"/>
            <a:r>
              <a:rPr lang="en-AU" sz="2400" noProof="1">
                <a:latin typeface="Cambria" panose="02040503050406030204"/>
                <a:cs typeface="Cambria" panose="02040503050406030204"/>
              </a:rPr>
              <a:t> </a:t>
            </a:r>
            <a:r>
              <a:rPr lang="en-AU" sz="2400" noProof="1">
                <a:solidFill>
                  <a:srgbClr val="FF0000"/>
                </a:solidFill>
                <a:latin typeface="Cambria" panose="02040503050406030204"/>
                <a:cs typeface="Cambria" panose="02040503050406030204"/>
              </a:rPr>
              <a:t>Rumah</a:t>
            </a:r>
            <a:r>
              <a:rPr lang="en-AU" sz="2400" noProof="1">
                <a:latin typeface="Cambria" panose="02040503050406030204"/>
                <a:cs typeface="Cambria" panose="02040503050406030204"/>
              </a:rPr>
              <a:t> sebagai kebutuhan utama yang paling mendasar bagi manusia [sandang, pangan, </a:t>
            </a:r>
            <a:r>
              <a:rPr lang="en-AU" sz="2400" noProof="1">
                <a:solidFill>
                  <a:srgbClr val="FF0000"/>
                </a:solidFill>
                <a:latin typeface="Cambria" panose="02040503050406030204"/>
                <a:cs typeface="Cambria" panose="02040503050406030204"/>
              </a:rPr>
              <a:t>papan</a:t>
            </a:r>
            <a:r>
              <a:rPr lang="en-AU" sz="2400" noProof="1">
                <a:latin typeface="Cambria" panose="02040503050406030204"/>
                <a:cs typeface="Cambria" panose="02040503050406030204"/>
              </a:rPr>
              <a:t>] =&gt; tempat tinggal untuk berlindung (</a:t>
            </a:r>
            <a:r>
              <a:rPr lang="en-AU" sz="2400" i="1" noProof="1">
                <a:latin typeface="Cambria" panose="02040503050406030204"/>
                <a:cs typeface="Cambria" panose="02040503050406030204"/>
              </a:rPr>
              <a:t>shelter</a:t>
            </a:r>
            <a:r>
              <a:rPr lang="en-AU" sz="2400" noProof="1">
                <a:latin typeface="Cambria" panose="02040503050406030204"/>
                <a:cs typeface="Cambria" panose="02040503050406030204"/>
              </a:rPr>
              <a:t>)</a:t>
            </a:r>
          </a:p>
          <a:p>
            <a:pPr marL="273050" indent="-273050" algn="just">
              <a:spcBef>
                <a:spcPts val="1200"/>
              </a:spcBef>
            </a:pPr>
            <a:r>
              <a:rPr lang="en-AU" sz="2400" noProof="1">
                <a:latin typeface="Cambria" panose="02040503050406030204"/>
                <a:cs typeface="Cambria" panose="02040503050406030204"/>
              </a:rPr>
              <a:t>Istilah yang lebih tepat adalah </a:t>
            </a:r>
            <a:r>
              <a:rPr lang="en-AU" sz="2400" u="sng" noProof="1">
                <a:latin typeface="Cambria" panose="02040503050406030204"/>
                <a:cs typeface="Cambria" panose="02040503050406030204"/>
              </a:rPr>
              <a:t>tempat tinggal</a:t>
            </a:r>
            <a:r>
              <a:rPr lang="en-AU" sz="2400" noProof="1">
                <a:latin typeface="Cambria" panose="02040503050406030204"/>
                <a:cs typeface="Cambria" panose="02040503050406030204"/>
              </a:rPr>
              <a:t> sebagai pengganti dari </a:t>
            </a:r>
            <a:r>
              <a:rPr lang="en-AU" sz="2400" u="sng" noProof="1">
                <a:latin typeface="Cambria" panose="02040503050406030204"/>
                <a:cs typeface="Cambria" panose="02040503050406030204"/>
              </a:rPr>
              <a:t>rumah</a:t>
            </a:r>
          </a:p>
          <a:p>
            <a:pPr marL="673100" lvl="1" indent="-273050" algn="just"/>
            <a:r>
              <a:rPr lang="en-AU" sz="2400" noProof="1">
                <a:latin typeface="Cambria" panose="02040503050406030204"/>
                <a:cs typeface="Cambria" panose="02040503050406030204"/>
              </a:rPr>
              <a:t>Kesulitan penyediaan tanah di kota besar tempat tinggal berupa rumah susun, apartment, flat, condominium,</a:t>
            </a:r>
          </a:p>
          <a:p>
            <a:pPr marL="673100" lvl="1" indent="-273050" algn="just">
              <a:spcBef>
                <a:spcPts val="0"/>
              </a:spcBef>
            </a:pPr>
            <a:r>
              <a:rPr lang="en-AU" sz="2400" noProof="1">
                <a:latin typeface="Cambria" panose="02040503050406030204"/>
                <a:cs typeface="Cambria" panose="02040503050406030204"/>
              </a:rPr>
              <a:t>Kompleks perumahan dibangun di wilayah penyangga kota besar</a:t>
            </a:r>
          </a:p>
          <a:p>
            <a:pPr marL="673100" lvl="1" indent="-273050" algn="just">
              <a:spcBef>
                <a:spcPts val="0"/>
              </a:spcBef>
            </a:pPr>
            <a:r>
              <a:rPr lang="en-AU" sz="2400" noProof="1">
                <a:latin typeface="Cambria" panose="02040503050406030204"/>
                <a:cs typeface="Cambria" panose="02040503050406030204"/>
              </a:rPr>
              <a:t>Menjamur ‘ruko’, ‘rukan’, di perkotaan sebagai solusi? </a:t>
            </a:r>
          </a:p>
          <a:p>
            <a:pPr marL="273050" indent="-273050" algn="just">
              <a:spcBef>
                <a:spcPts val="1200"/>
              </a:spcBef>
            </a:pPr>
            <a:r>
              <a:rPr lang="en-AU" sz="2400" noProof="1">
                <a:latin typeface="Cambria" panose="02040503050406030204"/>
                <a:cs typeface="Cambria" panose="02040503050406030204"/>
              </a:rPr>
              <a:t>Informasi penting dan utama yang perlu diketahui adalah</a:t>
            </a:r>
          </a:p>
          <a:p>
            <a:pPr marL="722630" lvl="1" indent="-273050" algn="just">
              <a:spcBef>
                <a:spcPts val="0"/>
              </a:spcBef>
            </a:pPr>
            <a:r>
              <a:rPr lang="en-AU" sz="2400" noProof="1">
                <a:latin typeface="Cambria" panose="02040503050406030204"/>
                <a:cs typeface="Cambria" panose="02040503050406030204"/>
              </a:rPr>
              <a:t>Berapa % keluarga/rumahtangga yang memiliki tempat tinggal</a:t>
            </a:r>
          </a:p>
          <a:p>
            <a:pPr marL="722630" lvl="1" indent="-273050" algn="just">
              <a:spcBef>
                <a:spcPts val="0"/>
              </a:spcBef>
            </a:pPr>
            <a:r>
              <a:rPr lang="en-AU" sz="2400" noProof="1">
                <a:latin typeface="Cambria" panose="02040503050406030204"/>
                <a:cs typeface="Cambria" panose="02040503050406030204"/>
              </a:rPr>
              <a:t>Berapa banyak tempat tinggal yang mesti disediakan [</a:t>
            </a:r>
            <a:r>
              <a:rPr lang="en-AU" sz="2400" i="1" noProof="1">
                <a:solidFill>
                  <a:srgbClr val="FF0000"/>
                </a:solidFill>
                <a:latin typeface="Cambria" panose="02040503050406030204"/>
                <a:cs typeface="Cambria" panose="02040503050406030204"/>
              </a:rPr>
              <a:t>backlog</a:t>
            </a:r>
            <a:r>
              <a:rPr lang="en-AU" sz="2400" noProof="1">
                <a:latin typeface="Cambria" panose="02040503050406030204"/>
                <a:cs typeface="Cambria" panose="02040503050406030204"/>
              </a:rPr>
              <a:t>]</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369050"/>
            <a:ext cx="12192000" cy="45593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64</a:t>
            </a:fld>
            <a:endParaRPr lang="en-US" altLang="id-ID"/>
          </a:p>
        </p:txBody>
      </p:sp>
      <p:sp>
        <p:nvSpPr>
          <p:cNvPr id="5" name="Title 1"/>
          <p:cNvSpPr>
            <a:spLocks noGrp="1"/>
          </p:cNvSpPr>
          <p:nvPr>
            <p:ph type="title"/>
          </p:nvPr>
        </p:nvSpPr>
        <p:spPr>
          <a:xfrm>
            <a:off x="694690" y="712470"/>
            <a:ext cx="10380345" cy="269875"/>
          </a:xfrm>
        </p:spPr>
        <p:txBody>
          <a:bodyPr>
            <a:noAutofit/>
          </a:bodyPr>
          <a:lstStyle/>
          <a:p>
            <a:pPr algn="ctr"/>
            <a:r>
              <a:rPr lang="en-US" b="1" noProof="1">
                <a:solidFill>
                  <a:srgbClr val="000000"/>
                </a:solidFill>
                <a:latin typeface="Cambria" panose="02040503050406030204" pitchFamily="18" charset="0"/>
              </a:rPr>
              <a:t>Pendahuluan </a:t>
            </a:r>
            <a:r>
              <a:rPr lang="en-US" sz="2000" noProof="1">
                <a:solidFill>
                  <a:srgbClr val="000000"/>
                </a:solidFill>
                <a:latin typeface="Cambria" panose="02040503050406030204" pitchFamily="18" charset="0"/>
              </a:rPr>
              <a:t>[2]</a:t>
            </a:r>
            <a:endParaRPr lang="en-US" b="1" baseline="-25000" noProof="1">
              <a:solidFill>
                <a:srgbClr val="000000"/>
              </a:solidFill>
              <a:latin typeface="Cambria" panose="02040503050406030204" pitchFamily="18" charset="0"/>
            </a:endParaRPr>
          </a:p>
        </p:txBody>
      </p:sp>
      <p:sp>
        <p:nvSpPr>
          <p:cNvPr id="6" name="Content Placeholder 2"/>
          <p:cNvSpPr txBox="1"/>
          <p:nvPr/>
        </p:nvSpPr>
        <p:spPr>
          <a:xfrm>
            <a:off x="694705" y="1145803"/>
            <a:ext cx="10583212" cy="5151173"/>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273050" indent="-273050">
              <a:spcBef>
                <a:spcPts val="1200"/>
              </a:spcBef>
              <a:buFont typeface="Arial" panose="020B0604020202020204"/>
              <a:buChar char="•"/>
            </a:pPr>
            <a:r>
              <a:rPr lang="en-US" sz="2000" noProof="1">
                <a:latin typeface="Cambria" panose="02040503050406030204"/>
                <a:cs typeface="Cambria" panose="02040503050406030204"/>
              </a:rPr>
              <a:t>Rumah yang ideal “1 keluarga menghuni 1 rumah” sehingga “pembinaan keluarga” dapat diwujudkan dengan baik sebagaimana Undang-Undang Nomor 1 Tahun 2011 tentang Perumahan dan Kawasan Permukiman</a:t>
            </a:r>
          </a:p>
          <a:p>
            <a:pPr marL="273050" indent="-273050">
              <a:spcBef>
                <a:spcPts val="1200"/>
              </a:spcBef>
              <a:buFont typeface="Arial" panose="020B0604020202020204"/>
              <a:buChar char="•"/>
            </a:pPr>
            <a:r>
              <a:rPr lang="en-US" sz="2000" noProof="1">
                <a:latin typeface="Cambria" panose="02040503050406030204"/>
                <a:cs typeface="Cambria" panose="02040503050406030204"/>
              </a:rPr>
              <a:t>Konsep menghuni: setiap keluarga tidak wajib memiliki rumah, pemerintah mendorong agar setiap keluarga, terutama yang tergolong Masyarakat Berpenghasilan Rendah (MBR) bisa menghuni rumah yang layak: sewa/kontrak, beli, atau tinggal di rumah milik kerabat =&gt; terjamin kepastian bermukim (</a:t>
            </a:r>
            <a:r>
              <a:rPr lang="en-US" sz="2000" i="1" noProof="1">
                <a:latin typeface="Cambria" panose="02040503050406030204"/>
                <a:cs typeface="Cambria" panose="02040503050406030204"/>
              </a:rPr>
              <a:t>secure tenure</a:t>
            </a:r>
            <a:r>
              <a:rPr lang="en-US" sz="2000" noProof="1">
                <a:latin typeface="Cambria" panose="02040503050406030204"/>
                <a:cs typeface="Cambria" panose="02040503050406030204"/>
              </a:rPr>
              <a:t>)</a:t>
            </a:r>
          </a:p>
          <a:p>
            <a:pPr marL="273050" indent="-273050">
              <a:spcBef>
                <a:spcPts val="1200"/>
              </a:spcBef>
              <a:buFont typeface="Arial" panose="020B0604020202020204"/>
              <a:buChar char="•"/>
            </a:pPr>
            <a:r>
              <a:rPr lang="en-US" sz="2000" noProof="1">
                <a:latin typeface="Cambria" panose="02040503050406030204"/>
                <a:cs typeface="Cambria" panose="02040503050406030204"/>
              </a:rPr>
              <a:t>Penanganan Backlog</a:t>
            </a:r>
          </a:p>
          <a:p>
            <a:pPr marL="624205" lvl="1" indent="-262255">
              <a:spcBef>
                <a:spcPts val="300"/>
              </a:spcBef>
              <a:buFont typeface="Lucida Grande"/>
              <a:buChar char="-"/>
            </a:pPr>
            <a:r>
              <a:rPr lang="en-US" sz="2000" noProof="1">
                <a:latin typeface="Cambria" panose="02040503050406030204"/>
                <a:cs typeface="Cambria" panose="02040503050406030204"/>
              </a:rPr>
              <a:t>pemerintah 1980an ditangani Perumnas banyak membangun rumah</a:t>
            </a:r>
          </a:p>
          <a:p>
            <a:pPr marL="624205" lvl="1" indent="-262255">
              <a:buFont typeface="Lucida Grande"/>
              <a:buChar char="-"/>
            </a:pPr>
            <a:r>
              <a:rPr lang="en-US" sz="2000" noProof="1">
                <a:latin typeface="Cambria" panose="02040503050406030204"/>
                <a:cs typeface="Cambria" panose="02040503050406030204"/>
              </a:rPr>
              <a:t>pemerintah pada 2010-2014 membangun sejumlah rumah susun sewa (rusunawa) =&gt; penanganan backlog rumah di Indonesia.</a:t>
            </a:r>
          </a:p>
          <a:p>
            <a:pPr marL="624205" lvl="1" indent="-262255">
              <a:buFont typeface="Lucida Grande"/>
              <a:buChar char="-"/>
            </a:pPr>
            <a:r>
              <a:rPr lang="en-US" sz="2000" noProof="1">
                <a:latin typeface="Cambria" panose="02040503050406030204"/>
                <a:cs typeface="Cambria" panose="02040503050406030204"/>
              </a:rPr>
              <a:t>pengembang swasta: kompleks perumahan, rumah susun, apartemen</a:t>
            </a:r>
          </a:p>
          <a:p>
            <a:pPr marL="624205" lvl="1" indent="-262255">
              <a:buFont typeface="Lucida Grande"/>
              <a:buChar char="-"/>
            </a:pPr>
            <a:r>
              <a:rPr lang="en-US" sz="2000" noProof="1">
                <a:latin typeface="Cambria" panose="02040503050406030204"/>
                <a:cs typeface="Cambria" panose="02040503050406030204"/>
              </a:rPr>
              <a:t>masyarakat di Indonesia: membangun rumah tapak, rumah kost</a:t>
            </a:r>
          </a:p>
          <a:p>
            <a:pPr marL="273050" indent="-273050">
              <a:spcBef>
                <a:spcPts val="1200"/>
              </a:spcBef>
              <a:buFont typeface="Arial" panose="020B0604020202020204"/>
              <a:buChar char="•"/>
            </a:pPr>
            <a:r>
              <a:rPr lang="en-US" sz="2000" noProof="1">
                <a:solidFill>
                  <a:srgbClr val="FF0000"/>
                </a:solidFill>
                <a:latin typeface="Cambria" panose="02040503050406030204"/>
                <a:cs typeface="Cambria" panose="02040503050406030204"/>
              </a:rPr>
              <a:t>Memenuhi standar rumah sehat layak huni </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96025"/>
            <a:ext cx="12191365" cy="52895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65</a:t>
            </a:fld>
            <a:endParaRPr lang="en-US" altLang="id-ID"/>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1399" y="1125780"/>
            <a:ext cx="3907444" cy="4593795"/>
          </a:xfrm>
          <a:prstGeom prst="rect">
            <a:avLst/>
          </a:prstGeom>
          <a:noFill/>
          <a:ln>
            <a:noFill/>
          </a:ln>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672" y="1120548"/>
            <a:ext cx="4583168" cy="4599027"/>
          </a:xfrm>
          <a:prstGeom prst="rect">
            <a:avLst/>
          </a:prstGeom>
          <a:noFill/>
          <a:ln>
            <a:noFill/>
          </a:ln>
        </p:spPr>
      </p:pic>
      <p:sp>
        <p:nvSpPr>
          <p:cNvPr id="6" name="TextBox 5"/>
          <p:cNvSpPr txBox="1"/>
          <p:nvPr/>
        </p:nvSpPr>
        <p:spPr>
          <a:xfrm>
            <a:off x="2155659" y="222195"/>
            <a:ext cx="7482545" cy="646331"/>
          </a:xfrm>
          <a:prstGeom prst="rect">
            <a:avLst/>
          </a:prstGeom>
          <a:noFill/>
        </p:spPr>
        <p:txBody>
          <a:bodyPr wrap="square" rtlCol="0">
            <a:spAutoFit/>
          </a:bodyPr>
          <a:lstStyle/>
          <a:p>
            <a:pPr algn="ctr"/>
            <a:r>
              <a:rPr lang="en-US" sz="3600" b="1" noProof="1">
                <a:latin typeface="Cambria" panose="02040503050406030204"/>
                <a:cs typeface="Cambria" panose="02040503050406030204"/>
              </a:rPr>
              <a:t>Prinsip Rumah Sehat</a:t>
            </a:r>
          </a:p>
        </p:txBody>
      </p:sp>
      <p:pic>
        <p:nvPicPr>
          <p:cNvPr id="2" name="Table Placeholder 1" descr="A picture containing drawing, device  Description automatically generated"/>
          <p:cNvPicPr>
            <a:picLocks noGrp="1" noChangeAspect="1"/>
          </p:cNvPicPr>
          <p:nvPr>
            <p:ph type="tbl" idx="1"/>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66</a:t>
            </a:fld>
            <a:endParaRPr lang="en-US" altLang="id-ID"/>
          </a:p>
        </p:txBody>
      </p:sp>
      <p:pic>
        <p:nvPicPr>
          <p:cNvPr id="2" name="Air dan Sanitasi Untuk Semu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56343" y="359227"/>
            <a:ext cx="10555844" cy="5677147"/>
          </a:xfrm>
          <a:prstGeom prst="rect">
            <a:avLst/>
          </a:prstGeom>
        </p:spPr>
      </p:pic>
      <p:pic>
        <p:nvPicPr>
          <p:cNvPr id="3" name="Table Placeholder 2" descr="A picture containing drawing, device  Description automatically generated"/>
          <p:cNvPicPr>
            <a:picLocks noGrp="1" noChangeAspect="1"/>
          </p:cNvPicPr>
          <p:nvPr>
            <p:ph type="tbl" idx="1"/>
          </p:nvPr>
        </p:nvPicPr>
        <p:blipFill rotWithShape="1">
          <a:blip r:embed="rId5">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78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67</a:t>
            </a:fld>
            <a:endParaRPr lang="en-US" altLang="id-ID"/>
          </a:p>
        </p:txBody>
      </p:sp>
      <p:sp>
        <p:nvSpPr>
          <p:cNvPr id="3" name="Title 1"/>
          <p:cNvSpPr>
            <a:spLocks noGrp="1"/>
          </p:cNvSpPr>
          <p:nvPr>
            <p:ph type="title"/>
          </p:nvPr>
        </p:nvSpPr>
        <p:spPr>
          <a:xfrm>
            <a:off x="670954" y="274638"/>
            <a:ext cx="10737591" cy="711082"/>
          </a:xfrm>
        </p:spPr>
        <p:txBody>
          <a:bodyPr>
            <a:normAutofit/>
          </a:bodyPr>
          <a:lstStyle/>
          <a:p>
            <a:r>
              <a:rPr lang="en-US" sz="3200" b="1" noProof="1">
                <a:solidFill>
                  <a:srgbClr val="000000"/>
                </a:solidFill>
                <a:latin typeface="Cambria" panose="02040503050406030204" pitchFamily="18" charset="0"/>
              </a:rPr>
              <a:t>Prinsip Dasar Rumah Sehat</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662719" y="1209675"/>
            <a:ext cx="10737591" cy="4581150"/>
          </a:xfrm>
          <a:prstGeom prst="rect">
            <a:avLst/>
          </a:prstGeom>
          <a:solidFill>
            <a:schemeClr val="bg1"/>
          </a:solidFill>
        </p:spPr>
        <p:txBody>
          <a:bodyPr vert="horz" lIns="104927" tIns="52464" rIns="104927" bIns="52464" rtlCol="0">
            <a:normAutofit lnSpcReduction="10000"/>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0" indent="0">
              <a:buFont typeface="Arial" panose="020B0604020202020204" pitchFamily="34" charset="0"/>
              <a:buNone/>
            </a:pPr>
            <a:r>
              <a:rPr lang="en-AU" sz="2600" noProof="1">
                <a:solidFill>
                  <a:srgbClr val="000000"/>
                </a:solidFill>
                <a:latin typeface="Cambria" panose="02040503050406030204"/>
                <a:cs typeface="Cambria" panose="02040503050406030204"/>
              </a:rPr>
              <a:t>WHO (1989) menyebutkan perumahan yang layak harus dapat memberikan perlindungan terhadap paparan agen dan vektor penyakit menular, melalui:</a:t>
            </a:r>
            <a:endParaRPr lang="en-US" sz="2600" noProof="1">
              <a:solidFill>
                <a:srgbClr val="000000"/>
              </a:solidFill>
              <a:latin typeface="Cambria" panose="02040503050406030204"/>
              <a:cs typeface="Cambria" panose="02040503050406030204"/>
            </a:endParaRPr>
          </a:p>
          <a:p>
            <a:pPr marL="449580" indent="-274955"/>
            <a:r>
              <a:rPr lang="en-AU" sz="2600" noProof="1">
                <a:solidFill>
                  <a:srgbClr val="000000"/>
                </a:solidFill>
                <a:latin typeface="Cambria" panose="02040503050406030204"/>
                <a:cs typeface="Cambria" panose="02040503050406030204"/>
              </a:rPr>
              <a:t>pasokan air yang aman,</a:t>
            </a:r>
          </a:p>
          <a:p>
            <a:pPr marL="449580" indent="-274955"/>
            <a:r>
              <a:rPr lang="en-AU" sz="2600" noProof="1">
                <a:solidFill>
                  <a:srgbClr val="000000"/>
                </a:solidFill>
                <a:latin typeface="Cambria" panose="02040503050406030204"/>
                <a:cs typeface="Cambria" panose="02040503050406030204"/>
              </a:rPr>
              <a:t>sanitasi pembuangan tinja,</a:t>
            </a:r>
          </a:p>
          <a:p>
            <a:pPr marL="449580" indent="-274955"/>
            <a:r>
              <a:rPr lang="en-AU" sz="2600" noProof="1">
                <a:solidFill>
                  <a:srgbClr val="000000"/>
                </a:solidFill>
                <a:latin typeface="Cambria" panose="02040503050406030204"/>
                <a:cs typeface="Cambria" panose="02040503050406030204"/>
              </a:rPr>
              <a:t>pembuangan limbah padat rumah tangga,</a:t>
            </a:r>
          </a:p>
          <a:p>
            <a:pPr marL="449580" indent="-274955"/>
            <a:r>
              <a:rPr lang="en-AU" sz="2600" noProof="1">
                <a:solidFill>
                  <a:srgbClr val="000000"/>
                </a:solidFill>
                <a:latin typeface="Cambria" panose="02040503050406030204"/>
                <a:cs typeface="Cambria" panose="02040503050406030204"/>
              </a:rPr>
              <a:t>drainase air permukaan,</a:t>
            </a:r>
          </a:p>
          <a:p>
            <a:pPr marL="449580" indent="-274955"/>
            <a:r>
              <a:rPr lang="en-AU" sz="2600" noProof="1">
                <a:solidFill>
                  <a:srgbClr val="000000"/>
                </a:solidFill>
                <a:latin typeface="Cambria" panose="02040503050406030204"/>
                <a:cs typeface="Cambria" panose="02040503050406030204"/>
              </a:rPr>
              <a:t>kebersihan pribadi dan rumah tangga,</a:t>
            </a:r>
          </a:p>
          <a:p>
            <a:pPr marL="449580" indent="-274955"/>
            <a:r>
              <a:rPr lang="en-AU" sz="2600" noProof="1">
                <a:solidFill>
                  <a:srgbClr val="000000"/>
                </a:solidFill>
                <a:latin typeface="Cambria" panose="02040503050406030204"/>
                <a:cs typeface="Cambria" panose="02040503050406030204"/>
              </a:rPr>
              <a:t>penyiapan makanan yang aman, dan</a:t>
            </a:r>
          </a:p>
          <a:p>
            <a:pPr marL="449580" indent="-274955"/>
            <a:r>
              <a:rPr lang="en-AU" sz="2600" noProof="1">
                <a:solidFill>
                  <a:srgbClr val="000000"/>
                </a:solidFill>
                <a:latin typeface="Cambria" panose="02040503050406030204"/>
                <a:cs typeface="Cambria" panose="02040503050406030204"/>
              </a:rPr>
              <a:t>perlindungan struktural terhadap penularan penyakit.</a:t>
            </a:r>
            <a:endParaRPr lang="en-US" sz="2600" noProof="1">
              <a:solidFill>
                <a:srgbClr val="000000"/>
              </a:solidFill>
              <a:latin typeface="Cambria" panose="02040503050406030204"/>
              <a:cs typeface="Cambria" panose="02040503050406030204"/>
            </a:endParaRP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68</a:t>
            </a:fld>
            <a:endParaRPr lang="en-US" altLang="id-ID"/>
          </a:p>
        </p:txBody>
      </p:sp>
      <p:sp>
        <p:nvSpPr>
          <p:cNvPr id="3" name="Title 1"/>
          <p:cNvSpPr>
            <a:spLocks noGrp="1"/>
          </p:cNvSpPr>
          <p:nvPr>
            <p:ph type="title"/>
          </p:nvPr>
        </p:nvSpPr>
        <p:spPr>
          <a:xfrm>
            <a:off x="813455" y="274638"/>
            <a:ext cx="10476334" cy="711082"/>
          </a:xfrm>
        </p:spPr>
        <p:txBody>
          <a:bodyPr>
            <a:normAutofit/>
          </a:bodyPr>
          <a:lstStyle/>
          <a:p>
            <a:r>
              <a:rPr lang="en-US" sz="3200" b="1" noProof="1">
                <a:solidFill>
                  <a:srgbClr val="000000"/>
                </a:solidFill>
                <a:latin typeface="Cambria" panose="02040503050406030204" pitchFamily="18" charset="0"/>
              </a:rPr>
              <a:t>Pasokan Air Bersih dan Aman</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05220" y="1138425"/>
            <a:ext cx="10476334" cy="4787362"/>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algn="just">
              <a:lnSpc>
                <a:spcPct val="120000"/>
              </a:lnSpc>
            </a:pPr>
            <a:r>
              <a:rPr lang="en-AU" sz="2400" noProof="1">
                <a:solidFill>
                  <a:srgbClr val="000000"/>
                </a:solidFill>
                <a:latin typeface="Cambria" panose="02040503050406030204"/>
                <a:cs typeface="Cambria" panose="02040503050406030204"/>
              </a:rPr>
              <a:t>Pasokan air yang aman dan dapat diminum membantu dalam mencegah penyebaran penyakit pencernaan, mendukung kebersihan pribadi dan domestik, dan memberikan peningkatan standar hidup.</a:t>
            </a:r>
          </a:p>
          <a:p>
            <a:pPr algn="just">
              <a:lnSpc>
                <a:spcPct val="120000"/>
              </a:lnSpc>
              <a:spcBef>
                <a:spcPts val="1200"/>
              </a:spcBef>
            </a:pPr>
            <a:r>
              <a:rPr lang="en-AU" sz="2400" noProof="1">
                <a:solidFill>
                  <a:srgbClr val="000000"/>
                </a:solidFill>
                <a:latin typeface="Cambria" panose="02040503050406030204"/>
                <a:cs typeface="Cambria" panose="02040503050406030204"/>
              </a:rPr>
              <a:t>Sepertiga kematian anak di bawah umur 5 tahun di negara-negara berkembang disebabkan karena penyakit diare yang disebabkan oleh infeksi mikroorganisme yang terbawa air. Tingkat keparahan penyakit ini meningkat tajam saat paparan dikombinasikan dengan efek dari gizi buruk.</a:t>
            </a:r>
          </a:p>
          <a:p>
            <a:pPr algn="just">
              <a:lnSpc>
                <a:spcPct val="120000"/>
              </a:lnSpc>
              <a:spcBef>
                <a:spcPts val="1200"/>
              </a:spcBef>
            </a:pPr>
            <a:r>
              <a:rPr lang="en-AU" sz="2400" noProof="1">
                <a:solidFill>
                  <a:srgbClr val="000000"/>
                </a:solidFill>
                <a:latin typeface="Cambria" panose="02040503050406030204"/>
                <a:cs typeface="Cambria" panose="02040503050406030204"/>
              </a:rPr>
              <a:t>Karena air sangat penting bagi kehidupan, maka manusia harus dilindungi dari air yang terkontaminasi secara biologis, yang dapat membawa mikroorganisme berbahaya.</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69</a:t>
            </a:fld>
            <a:endParaRPr lang="en-US" altLang="id-ID"/>
          </a:p>
        </p:txBody>
      </p:sp>
      <p:sp>
        <p:nvSpPr>
          <p:cNvPr id="3" name="Title 1"/>
          <p:cNvSpPr>
            <a:spLocks noGrp="1"/>
          </p:cNvSpPr>
          <p:nvPr>
            <p:ph type="title"/>
          </p:nvPr>
        </p:nvSpPr>
        <p:spPr>
          <a:xfrm>
            <a:off x="900283" y="235860"/>
            <a:ext cx="10311857" cy="711082"/>
          </a:xfrm>
        </p:spPr>
        <p:txBody>
          <a:bodyPr>
            <a:normAutofit/>
          </a:bodyPr>
          <a:lstStyle/>
          <a:p>
            <a:r>
              <a:rPr lang="en-US" sz="3200" b="1" noProof="1">
                <a:solidFill>
                  <a:srgbClr val="000000"/>
                </a:solidFill>
                <a:latin typeface="Cambria" panose="02040503050406030204" pitchFamily="18" charset="0"/>
              </a:rPr>
              <a:t>Sanitasi Pembuangan Tinja</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098" y="1116347"/>
            <a:ext cx="10523837" cy="4886560"/>
          </a:xfrm>
          <a:prstGeom prst="rect">
            <a:avLst/>
          </a:prstGeom>
          <a:solidFill>
            <a:schemeClr val="bg1"/>
          </a:solidFill>
        </p:spPr>
        <p:txBody>
          <a:bodyPr vert="horz" lIns="104927" tIns="52464" rIns="104927" bIns="52464" rtlCol="0">
            <a:normAutofit fontScale="77500" lnSpcReduction="20000"/>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algn="just"/>
            <a:r>
              <a:rPr lang="en-AU" noProof="1">
                <a:solidFill>
                  <a:srgbClr val="000000"/>
                </a:solidFill>
                <a:latin typeface="Cambria" panose="02040503050406030204"/>
                <a:cs typeface="Cambria" panose="02040503050406030204"/>
              </a:rPr>
              <a:t>Sanitasi pembuangan tinja dapat mengurangi transmisi penyakit melalui feses-oral dan pengembangbiakan serangga vector pembawa penyakit.</a:t>
            </a:r>
          </a:p>
          <a:p>
            <a:pPr algn="just">
              <a:spcBef>
                <a:spcPts val="1200"/>
              </a:spcBef>
            </a:pPr>
            <a:r>
              <a:rPr lang="en-AU" noProof="1">
                <a:solidFill>
                  <a:srgbClr val="000000"/>
                </a:solidFill>
                <a:latin typeface="Cambria" panose="02040503050406030204"/>
                <a:cs typeface="Cambria" panose="02040503050406030204"/>
              </a:rPr>
              <a:t>Salah satu sumber utama pencemaran biologis terhadap air, makanan, dan tanah adalah kotoran manusia.</a:t>
            </a:r>
          </a:p>
          <a:p>
            <a:pPr algn="just">
              <a:spcBef>
                <a:spcPts val="1200"/>
              </a:spcBef>
            </a:pPr>
            <a:r>
              <a:rPr lang="en-AU" noProof="1">
                <a:solidFill>
                  <a:srgbClr val="000000"/>
                </a:solidFill>
                <a:latin typeface="Cambria" panose="02040503050406030204"/>
                <a:cs typeface="Cambria" panose="02040503050406030204"/>
              </a:rPr>
              <a:t>Kontaminasi dapat terjadi di dekat rumah, seperti ketika orang buang air besar di tanah atau di daerah-daerah di mana sumber makanan tumbuh, atau ketika jamban terletak didekat sumber air untuk minum.</a:t>
            </a:r>
          </a:p>
          <a:p>
            <a:pPr algn="just">
              <a:spcBef>
                <a:spcPts val="1200"/>
              </a:spcBef>
            </a:pPr>
            <a:r>
              <a:rPr lang="en-AU" noProof="1">
                <a:solidFill>
                  <a:srgbClr val="000000"/>
                </a:solidFill>
                <a:latin typeface="Cambria" panose="02040503050406030204"/>
                <a:cs typeface="Cambria" panose="02040503050406030204"/>
              </a:rPr>
              <a:t>Paparan dari kotoran manusia ini juga mungkin dapat masuk ke sumber-sumber air yang mengalir dan kemudian masuk ke dalam rantai makanan, transmisi organisme patogen kepada orang-orang pada jarak tertentu dari situs asli kontaminasi.</a:t>
            </a:r>
          </a:p>
          <a:p>
            <a:pPr algn="just"/>
            <a:endParaRPr lang="en-AU" noProof="1">
              <a:solidFill>
                <a:srgbClr val="000000"/>
              </a:solidFill>
              <a:latin typeface="Cambria" panose="02040503050406030204"/>
              <a:cs typeface="Cambria" panose="02040503050406030204"/>
            </a:endParaRP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70</a:t>
            </a:fld>
            <a:endParaRPr lang="en-US" altLang="id-ID"/>
          </a:p>
        </p:txBody>
      </p:sp>
      <p:sp>
        <p:nvSpPr>
          <p:cNvPr id="3" name="Title 1"/>
          <p:cNvSpPr>
            <a:spLocks noGrp="1"/>
          </p:cNvSpPr>
          <p:nvPr>
            <p:ph type="title"/>
          </p:nvPr>
        </p:nvSpPr>
        <p:spPr>
          <a:xfrm>
            <a:off x="900283" y="138705"/>
            <a:ext cx="10311857" cy="711082"/>
          </a:xfrm>
        </p:spPr>
        <p:txBody>
          <a:bodyPr>
            <a:normAutofit/>
          </a:bodyPr>
          <a:lstStyle/>
          <a:p>
            <a:r>
              <a:rPr lang="en-US" sz="3200" b="1" noProof="1">
                <a:solidFill>
                  <a:srgbClr val="000000"/>
                </a:solidFill>
                <a:latin typeface="Cambria" panose="02040503050406030204" pitchFamily="18" charset="0"/>
              </a:rPr>
              <a:t>Pembuangan Limbah Padat Rumah Tangga</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098" y="1116347"/>
            <a:ext cx="10523837" cy="4886560"/>
          </a:xfrm>
          <a:prstGeom prst="rect">
            <a:avLst/>
          </a:prstGeom>
          <a:solidFill>
            <a:schemeClr val="bg1"/>
          </a:solidFill>
        </p:spPr>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algn="just"/>
            <a:r>
              <a:rPr lang="en-AU" sz="2600" noProof="1">
                <a:solidFill>
                  <a:srgbClr val="000000"/>
                </a:solidFill>
                <a:latin typeface="Cambria" panose="02040503050406030204"/>
                <a:cs typeface="Cambria" panose="02040503050406030204"/>
              </a:rPr>
              <a:t>Pembuangan yang memadai dan aman dari limbah padat domestik dapat mengurangi risiko kesehatan dan membantu untuk menyediakan lingkungan hidup yang lebih menyenangkan.</a:t>
            </a:r>
          </a:p>
          <a:p>
            <a:pPr algn="just"/>
            <a:r>
              <a:rPr lang="en-AU" sz="2600" noProof="1">
                <a:solidFill>
                  <a:srgbClr val="000000"/>
                </a:solidFill>
                <a:latin typeface="Cambria" panose="02040503050406030204"/>
                <a:cs typeface="Cambria" panose="02040503050406030204"/>
              </a:rPr>
              <a:t>Metode penyimpanan dan pembuangan sampah yang tepat dapat mencegah serangga dan hewan pengerat vektor penyakit.</a:t>
            </a:r>
          </a:p>
          <a:p>
            <a:pPr algn="just"/>
            <a:r>
              <a:rPr lang="en-AU" sz="2600" noProof="1">
                <a:solidFill>
                  <a:srgbClr val="000000"/>
                </a:solidFill>
                <a:latin typeface="Cambria" panose="02040503050406030204"/>
                <a:cs typeface="Cambria" panose="02040503050406030204"/>
              </a:rPr>
              <a:t>Metode yang tepat juga dapat melindungi orang terhadap zat beracun dan benda-benda yang mungkin dapat menyebabkan luka karena kecelakaan.</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71</a:t>
            </a:fld>
            <a:endParaRPr lang="en-US" altLang="id-ID"/>
          </a:p>
        </p:txBody>
      </p:sp>
      <p:sp>
        <p:nvSpPr>
          <p:cNvPr id="3" name="Title 1"/>
          <p:cNvSpPr>
            <a:spLocks noGrp="1"/>
          </p:cNvSpPr>
          <p:nvPr>
            <p:ph type="title"/>
          </p:nvPr>
        </p:nvSpPr>
        <p:spPr>
          <a:xfrm>
            <a:off x="900283" y="266340"/>
            <a:ext cx="10311857" cy="711082"/>
          </a:xfrm>
        </p:spPr>
        <p:txBody>
          <a:bodyPr>
            <a:normAutofit/>
          </a:bodyPr>
          <a:lstStyle/>
          <a:p>
            <a:r>
              <a:rPr lang="en-US" sz="3200" b="1" noProof="1">
                <a:solidFill>
                  <a:srgbClr val="000000"/>
                </a:solidFill>
                <a:latin typeface="Cambria" panose="02040503050406030204" pitchFamily="18" charset="0"/>
              </a:rPr>
              <a:t>Pembuangan Limbah Padat Rumah Tangga</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098" y="1116347"/>
            <a:ext cx="10523837" cy="4886560"/>
          </a:xfrm>
          <a:prstGeom prst="rect">
            <a:avLst/>
          </a:prstGeom>
          <a:solidFill>
            <a:schemeClr val="bg1"/>
          </a:solidFill>
        </p:spPr>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algn="just">
              <a:lnSpc>
                <a:spcPct val="100000"/>
              </a:lnSpc>
              <a:spcBef>
                <a:spcPts val="20"/>
              </a:spcBef>
              <a:spcAft>
                <a:spcPts val="1200"/>
              </a:spcAft>
            </a:pPr>
            <a:r>
              <a:rPr lang="en-AU" sz="2600" noProof="1">
                <a:solidFill>
                  <a:srgbClr val="000000"/>
                </a:solidFill>
                <a:latin typeface="Cambria" panose="02040503050406030204"/>
                <a:cs typeface="Cambria" panose="02040503050406030204"/>
              </a:rPr>
              <a:t>Pembuangan yang memadai dan aman dari limbah padat domestik dapat mengurangi risiko kesehatan dan membantu untuk menyediakan lingkungan hidup yang lebih menyenangkan.</a:t>
            </a:r>
          </a:p>
          <a:p>
            <a:pPr algn="just">
              <a:lnSpc>
                <a:spcPct val="100000"/>
              </a:lnSpc>
              <a:spcBef>
                <a:spcPts val="20"/>
              </a:spcBef>
              <a:spcAft>
                <a:spcPts val="1200"/>
              </a:spcAft>
            </a:pPr>
            <a:r>
              <a:rPr lang="en-AU" sz="2600" noProof="1">
                <a:solidFill>
                  <a:srgbClr val="000000"/>
                </a:solidFill>
                <a:latin typeface="Cambria" panose="02040503050406030204"/>
                <a:cs typeface="Cambria" panose="02040503050406030204"/>
              </a:rPr>
              <a:t>Metode penyimpanan dan pembuangan sampah yang tepat dapat mencegah serangga dan hewan pengerat vektor penyakit.</a:t>
            </a:r>
          </a:p>
          <a:p>
            <a:pPr algn="just">
              <a:lnSpc>
                <a:spcPct val="100000"/>
              </a:lnSpc>
              <a:spcBef>
                <a:spcPts val="20"/>
              </a:spcBef>
              <a:spcAft>
                <a:spcPts val="1200"/>
              </a:spcAft>
            </a:pPr>
            <a:r>
              <a:rPr lang="en-AU" sz="2600" noProof="1">
                <a:solidFill>
                  <a:srgbClr val="000000"/>
                </a:solidFill>
                <a:latin typeface="Cambria" panose="02040503050406030204"/>
                <a:cs typeface="Cambria" panose="02040503050406030204"/>
              </a:rPr>
              <a:t>Metode yang tepat juga dapat melindungi orang terhadap zat beracun dan benda-benda yang mungkin dapat menyebabkan luka karena kecelakaan.</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0730"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72</a:t>
            </a:fld>
            <a:endParaRPr lang="en-US" altLang="id-ID"/>
          </a:p>
        </p:txBody>
      </p:sp>
      <p:sp>
        <p:nvSpPr>
          <p:cNvPr id="3" name="Title 1"/>
          <p:cNvSpPr>
            <a:spLocks noGrp="1"/>
          </p:cNvSpPr>
          <p:nvPr>
            <p:ph type="title"/>
          </p:nvPr>
        </p:nvSpPr>
        <p:spPr>
          <a:xfrm>
            <a:off x="817098" y="69490"/>
            <a:ext cx="10311857" cy="711082"/>
          </a:xfrm>
        </p:spPr>
        <p:txBody>
          <a:bodyPr>
            <a:normAutofit/>
          </a:bodyPr>
          <a:lstStyle/>
          <a:p>
            <a:r>
              <a:rPr lang="en-US" sz="3200" b="1" noProof="1">
                <a:solidFill>
                  <a:srgbClr val="000000"/>
                </a:solidFill>
                <a:latin typeface="Cambria" panose="02040503050406030204" pitchFamily="18" charset="0"/>
              </a:rPr>
              <a:t>Drainase Air Permukaan</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098" y="1116347"/>
            <a:ext cx="10523837" cy="4886560"/>
          </a:xfrm>
          <a:prstGeom prst="rect">
            <a:avLst/>
          </a:prstGeom>
          <a:solidFill>
            <a:schemeClr val="bg1"/>
          </a:solidFill>
        </p:spPr>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algn="just">
              <a:lnSpc>
                <a:spcPct val="100000"/>
              </a:lnSpc>
              <a:spcBef>
                <a:spcPts val="20"/>
              </a:spcBef>
              <a:spcAft>
                <a:spcPts val="1200"/>
              </a:spcAft>
            </a:pPr>
            <a:r>
              <a:rPr lang="en-AU" sz="2400" noProof="1">
                <a:solidFill>
                  <a:srgbClr val="000000"/>
                </a:solidFill>
                <a:latin typeface="Cambria" panose="02040503050406030204"/>
                <a:cs typeface="Cambria" panose="02040503050406030204"/>
              </a:rPr>
              <a:t>Drainase yang efisien dari air permukaan membantu untuk mengontrol penyakit menular, bahaya keamanan, dan kerusakan rumah dan properti.</a:t>
            </a:r>
          </a:p>
          <a:p>
            <a:pPr algn="just">
              <a:lnSpc>
                <a:spcPct val="100000"/>
              </a:lnSpc>
              <a:spcBef>
                <a:spcPts val="20"/>
              </a:spcBef>
              <a:spcAft>
                <a:spcPts val="1200"/>
              </a:spcAft>
            </a:pPr>
            <a:r>
              <a:rPr lang="en-AU" sz="2400" noProof="1">
                <a:solidFill>
                  <a:srgbClr val="000000"/>
                </a:solidFill>
                <a:latin typeface="Cambria" panose="02040503050406030204"/>
                <a:cs typeface="Cambria" panose="02040503050406030204"/>
              </a:rPr>
              <a:t>Drainase yang tidak memadai dari air permukaan - termasuk air limbah domestik - yang menggenang atau daerah berlumpur dan berawa dapat menjadi tempat berkembang biak bagi nyamuk, lalat dan serangga vektor penyakit lainnya.</a:t>
            </a:r>
          </a:p>
          <a:p>
            <a:pPr algn="just">
              <a:lnSpc>
                <a:spcPct val="100000"/>
              </a:lnSpc>
              <a:spcBef>
                <a:spcPts val="20"/>
              </a:spcBef>
              <a:spcAft>
                <a:spcPts val="1200"/>
              </a:spcAft>
            </a:pPr>
            <a:r>
              <a:rPr lang="en-AU" sz="2400" noProof="1">
                <a:solidFill>
                  <a:srgbClr val="000000"/>
                </a:solidFill>
                <a:latin typeface="Cambria" panose="02040503050406030204"/>
                <a:cs typeface="Cambria" panose="02040503050406030204"/>
              </a:rPr>
              <a:t>Air yang menggenang di dekat sumur, jamban, dan dapur menjadi perhatian khusus, karena tempat tersebut menjadi lokasi penting kontaminasi biologis.</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73</a:t>
            </a:fld>
            <a:endParaRPr lang="en-US" altLang="id-ID"/>
          </a:p>
        </p:txBody>
      </p:sp>
      <p:sp>
        <p:nvSpPr>
          <p:cNvPr id="3" name="Title 1"/>
          <p:cNvSpPr>
            <a:spLocks noGrp="1"/>
          </p:cNvSpPr>
          <p:nvPr>
            <p:ph type="title"/>
          </p:nvPr>
        </p:nvSpPr>
        <p:spPr>
          <a:xfrm>
            <a:off x="900283" y="426360"/>
            <a:ext cx="10311857" cy="711082"/>
          </a:xfrm>
        </p:spPr>
        <p:txBody>
          <a:bodyPr>
            <a:normAutofit/>
          </a:bodyPr>
          <a:lstStyle/>
          <a:p>
            <a:r>
              <a:rPr lang="en-US" sz="3200" b="1" noProof="1">
                <a:solidFill>
                  <a:srgbClr val="000000"/>
                </a:solidFill>
                <a:latin typeface="Cambria" panose="02040503050406030204" pitchFamily="18" charset="0"/>
              </a:rPr>
              <a:t>Kebersihan Pribadi dan Rumah Tangga</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245" y="1403985"/>
            <a:ext cx="10523855" cy="4598670"/>
          </a:xfrm>
          <a:prstGeom prst="rect">
            <a:avLst/>
          </a:prstGeom>
          <a:solidFill>
            <a:schemeClr val="bg1"/>
          </a:solidFill>
        </p:spPr>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algn="just">
              <a:lnSpc>
                <a:spcPct val="100000"/>
              </a:lnSpc>
              <a:spcBef>
                <a:spcPts val="150"/>
              </a:spcBef>
              <a:spcAft>
                <a:spcPts val="1000"/>
              </a:spcAft>
            </a:pPr>
            <a:r>
              <a:rPr lang="en-AU" sz="2400" noProof="1">
                <a:solidFill>
                  <a:srgbClr val="000000"/>
                </a:solidFill>
                <a:latin typeface="Cambria" panose="02040503050406030204"/>
                <a:cs typeface="Cambria" panose="02040503050406030204"/>
              </a:rPr>
              <a:t>Perumahan yang layak termasuk fasilitas untuk kebersihan pribadi dan rumah tangga, dan orang-orang yang hidup di dalam rumah harus dididik dalam praktek-praktek hidup yang higienis.</a:t>
            </a:r>
          </a:p>
          <a:p>
            <a:pPr algn="just">
              <a:lnSpc>
                <a:spcPct val="100000"/>
              </a:lnSpc>
              <a:spcBef>
                <a:spcPts val="150"/>
              </a:spcBef>
              <a:spcAft>
                <a:spcPts val="1000"/>
              </a:spcAft>
            </a:pPr>
            <a:r>
              <a:rPr lang="en-AU" sz="2400" noProof="1">
                <a:solidFill>
                  <a:srgbClr val="000000"/>
                </a:solidFill>
                <a:latin typeface="Cambria" panose="02040503050406030204"/>
                <a:cs typeface="Cambria" panose="02040503050406030204"/>
              </a:rPr>
              <a:t>Pasokan air bersih dan sanitasi pembuangan tinja akan sepenuhnya efektif mengendalikan penyakit menular, jika disertai dengan kebiasaan kebersihan yang baik.</a:t>
            </a:r>
          </a:p>
          <a:p>
            <a:pPr algn="just">
              <a:lnSpc>
                <a:spcPct val="100000"/>
              </a:lnSpc>
              <a:spcBef>
                <a:spcPts val="150"/>
              </a:spcBef>
              <a:spcAft>
                <a:spcPts val="1000"/>
              </a:spcAft>
            </a:pPr>
            <a:r>
              <a:rPr lang="en-AU" sz="2400" noProof="1">
                <a:solidFill>
                  <a:srgbClr val="000000"/>
                </a:solidFill>
                <a:latin typeface="Cambria" panose="02040503050406030204"/>
                <a:cs typeface="Cambria" panose="02040503050406030204"/>
              </a:rPr>
              <a:t>Kebersihan tubuh, terutama mencuci tangan setelah buang air besar, merupakan faktor penting dalam memutus mata rantai berbagai infeksi dan mengurangi insiden keluhan penyakit kulit (iritasi, sepsis, dermatitis, eksim), dan penyakit mata (trachoma, konjungtivitis).</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74</a:t>
            </a:fld>
            <a:endParaRPr lang="en-US" altLang="id-ID"/>
          </a:p>
        </p:txBody>
      </p:sp>
      <p:sp>
        <p:nvSpPr>
          <p:cNvPr id="3" name="Title 1"/>
          <p:cNvSpPr>
            <a:spLocks noGrp="1"/>
          </p:cNvSpPr>
          <p:nvPr>
            <p:ph type="title"/>
          </p:nvPr>
        </p:nvSpPr>
        <p:spPr>
          <a:xfrm>
            <a:off x="1029188" y="266340"/>
            <a:ext cx="10311857" cy="711082"/>
          </a:xfrm>
        </p:spPr>
        <p:txBody>
          <a:bodyPr>
            <a:normAutofit/>
          </a:bodyPr>
          <a:lstStyle/>
          <a:p>
            <a:r>
              <a:rPr lang="en-US" sz="3200" b="1" noProof="1">
                <a:solidFill>
                  <a:srgbClr val="000000"/>
                </a:solidFill>
                <a:latin typeface="Cambria" panose="02040503050406030204" pitchFamily="18" charset="0"/>
              </a:rPr>
              <a:t>Penyiapan Makanan yang Aman</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098" y="1116347"/>
            <a:ext cx="10523837" cy="4886560"/>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Tempat tinggal yang sehat menyediakan fasilitas untuk penyiapan dan penyimpanan makanan yang aman, sehingga rumah tangga yang hidup di dalamnya dapat mempraktekkan pengolahan makanan yang bersih dan sehat.</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Makanan yang terkontaminasi sejumlah bakteri, virus, protozoa, dan cacing adalah media yang dapat menularkan penyakit.</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Meskipun beberapa sumber kontaminasi terletak di luar rumah (racun alami, residu kimia, pemalsuan makanan, penyimpanan tidak sehat dan pemasaran), bahaya domestik yang signifikan dapat dikaitkan dengan penggunaan air untuk memasak, cara memasak dan memanaskan kembali makanan yang telah dimasak, penyimpanan makanan, penanganan dan penyiapan makanan, kebersihan peralatan yang digunakan untuk menyiapkan makanan.</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Untuk dapat memilih, menyiapkan, menyimpan dan menangani makanan dengan baik dan benar maka membutuhkan baik fasilitas (terutama air yang aman, peralatan memasak yang bersih, dan ruang penyimpanan yang baik) dan praktek penyiapan makan yang higienis (terutama mencuci tangan setelah buang air)</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75</a:t>
            </a:fld>
            <a:endParaRPr lang="en-US" altLang="id-ID"/>
          </a:p>
        </p:txBody>
      </p:sp>
      <p:sp>
        <p:nvSpPr>
          <p:cNvPr id="3" name="Title 1"/>
          <p:cNvSpPr>
            <a:spLocks noGrp="1"/>
          </p:cNvSpPr>
          <p:nvPr>
            <p:ph type="title"/>
          </p:nvPr>
        </p:nvSpPr>
        <p:spPr>
          <a:xfrm>
            <a:off x="817098" y="138705"/>
            <a:ext cx="10311857" cy="711082"/>
          </a:xfrm>
        </p:spPr>
        <p:txBody>
          <a:bodyPr>
            <a:normAutofit/>
          </a:bodyPr>
          <a:lstStyle/>
          <a:p>
            <a:r>
              <a:rPr lang="en-US" sz="3200" b="1" noProof="1">
                <a:solidFill>
                  <a:srgbClr val="000000"/>
                </a:solidFill>
                <a:latin typeface="Cambria" panose="02040503050406030204" pitchFamily="18" charset="0"/>
              </a:rPr>
              <a:t>Perlindungan Struktural terhadap Penularan Penyakit</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17098" y="1116347"/>
            <a:ext cx="10523837" cy="4886560"/>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Perumahan yang layak memberikan perlindungan struktural terhadap penularan penyakit, termasuk cukup ruang untuk menghindari kepadatan yang berlebihan (overcrowding).</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Desain, karakteristik struktural, pemeliharaan dan jumlah ruangan sebuah hunian mempengaruhi sejauh mana orang-orang yang tinggal di dalamnya dilindungi terhadap penyakit menular.</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Rumah yang berlantaikan tanah mungkin dapat menjadi “pelabuhan” cacing.</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Fitur struktural tertentu (kurangnya pencahayaan matahari, kurangnya ventilasi udara, dll) juga dapat mendukung perkembangbiakan dan bersarangnya vektor penyakit.</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Kepadatan hunian telah terbukti meningkatkan tingkat penularan penyakit menular seperti tuberkulosis, pneumonia, bronkitis dan infeksi gastrointestinal.</a:t>
            </a:r>
          </a:p>
          <a:p>
            <a:pPr marL="273050" marR="0" lvl="0" indent="-273050" algn="just"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en-AU" sz="2000" b="0" i="0" u="none" strike="noStrike" kern="1200" cap="none" spc="0" normalizeH="0" baseline="0" noProof="1">
                <a:ln>
                  <a:noFill/>
                </a:ln>
                <a:solidFill>
                  <a:srgbClr val="000000"/>
                </a:solidFill>
                <a:effectLst/>
                <a:uLnTx/>
                <a:uFillTx/>
                <a:latin typeface="Cambria" panose="02040503050406030204"/>
                <a:ea typeface="+mn-ea"/>
                <a:cs typeface="Cambria" panose="02040503050406030204"/>
              </a:rPr>
              <a:t>Orang yang tidur di kamar yang berventilasi buruk cenderung lebih mudah terkena penyebaran infeksi udara, termasuk meningitis meningokokus, demam rematik, flu, pilek, campak, rubella dan pertusis.</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76</a:t>
            </a:fld>
            <a:endParaRPr lang="en-US" altLang="id-ID"/>
          </a:p>
        </p:txBody>
      </p:sp>
      <p:sp>
        <p:nvSpPr>
          <p:cNvPr id="3" name="Title 1"/>
          <p:cNvSpPr>
            <a:spLocks noGrp="1"/>
          </p:cNvSpPr>
          <p:nvPr>
            <p:ph type="title"/>
          </p:nvPr>
        </p:nvSpPr>
        <p:spPr>
          <a:xfrm>
            <a:off x="769598" y="222196"/>
            <a:ext cx="10527476" cy="610820"/>
          </a:xfrm>
        </p:spPr>
        <p:txBody>
          <a:bodyPr>
            <a:normAutofit/>
          </a:bodyPr>
          <a:lstStyle/>
          <a:p>
            <a:pPr algn="ctr"/>
            <a:r>
              <a:rPr lang="en-US" sz="3200" b="1" noProof="1">
                <a:solidFill>
                  <a:srgbClr val="000000"/>
                </a:solidFill>
                <a:latin typeface="Cambria" panose="02040503050406030204" pitchFamily="18" charset="0"/>
              </a:rPr>
              <a:t>Indikator Perumahan</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1197610" y="833120"/>
            <a:ext cx="10015220" cy="5638800"/>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0" indent="0">
              <a:buFont typeface="Arial" panose="020B0604020202020204" pitchFamily="34" charset="0"/>
              <a:buNone/>
            </a:pPr>
            <a:r>
              <a:rPr lang="en-AU" sz="2100" noProof="1">
                <a:solidFill>
                  <a:srgbClr val="000000"/>
                </a:solidFill>
                <a:latin typeface="Cambria" panose="02040503050406030204"/>
                <a:cs typeface="Cambria" panose="02040503050406030204"/>
              </a:rPr>
              <a:t>Informasi perumahan dapat digolongkan dalam:</a:t>
            </a:r>
          </a:p>
          <a:p>
            <a:pPr marL="631825" indent="-457200">
              <a:spcBef>
                <a:spcPts val="1200"/>
              </a:spcBef>
              <a:buFont typeface="+mj-ea"/>
              <a:buAutoNum type="circleNumDbPlain"/>
            </a:pPr>
            <a:r>
              <a:rPr lang="en-AU" sz="2100" noProof="1">
                <a:solidFill>
                  <a:srgbClr val="000000"/>
                </a:solidFill>
                <a:latin typeface="Cambria" panose="02040503050406030204"/>
                <a:cs typeface="Cambria" panose="02040503050406030204"/>
              </a:rPr>
              <a:t>Status Kepemilikan Rumah </a:t>
            </a:r>
            <a:r>
              <a:rPr lang="en-AU" sz="2100" noProof="1">
                <a:solidFill>
                  <a:srgbClr val="000000"/>
                </a:solidFill>
                <a:latin typeface="Cambria" panose="02040503050406030204"/>
                <a:cs typeface="Cambria" panose="02040503050406030204"/>
                <a:sym typeface="Wingdings" panose="05000000000000000000"/>
              </a:rPr>
              <a:t>=&gt; </a:t>
            </a:r>
            <a:r>
              <a:rPr lang="en-AU" sz="2100" i="1" noProof="1">
                <a:solidFill>
                  <a:srgbClr val="FF0000"/>
                </a:solidFill>
                <a:latin typeface="Cambria" panose="02040503050406030204"/>
                <a:cs typeface="Cambria" panose="02040503050406030204"/>
                <a:sym typeface="Wingdings" panose="05000000000000000000"/>
              </a:rPr>
              <a:t>backlog</a:t>
            </a:r>
            <a:endParaRPr lang="en-AU" sz="2100" i="1" noProof="1">
              <a:solidFill>
                <a:srgbClr val="FF0000"/>
              </a:solidFill>
              <a:latin typeface="Cambria" panose="02040503050406030204"/>
              <a:cs typeface="Cambria" panose="02040503050406030204"/>
            </a:endParaRPr>
          </a:p>
          <a:p>
            <a:pPr marL="631825" indent="-457200">
              <a:spcBef>
                <a:spcPts val="1200"/>
              </a:spcBef>
              <a:buFont typeface="+mj-ea"/>
              <a:buAutoNum type="circleNumDbPlain"/>
            </a:pPr>
            <a:r>
              <a:rPr lang="en-AU" sz="2100" noProof="1">
                <a:solidFill>
                  <a:srgbClr val="000000"/>
                </a:solidFill>
                <a:latin typeface="Cambria" panose="02040503050406030204"/>
                <a:cs typeface="Cambria" panose="02040503050406030204"/>
              </a:rPr>
              <a:t>Kondisi Rumah =&gt; </a:t>
            </a:r>
            <a:r>
              <a:rPr lang="en-AU" sz="2100" i="1" noProof="1">
                <a:solidFill>
                  <a:srgbClr val="FF0000"/>
                </a:solidFill>
                <a:latin typeface="Cambria" panose="02040503050406030204"/>
                <a:cs typeface="Cambria" panose="02040503050406030204"/>
              </a:rPr>
              <a:t>kondisi perumahan</a:t>
            </a:r>
          </a:p>
          <a:p>
            <a:pPr marL="1073150" lvl="1" indent="-351155">
              <a:spcBef>
                <a:spcPts val="600"/>
              </a:spcBef>
              <a:buFont typeface="+mj-lt"/>
              <a:buAutoNum type="arabicPeriod"/>
            </a:pPr>
            <a:r>
              <a:rPr lang="en-AU" sz="2100" noProof="1">
                <a:solidFill>
                  <a:srgbClr val="000000"/>
                </a:solidFill>
                <a:latin typeface="Cambria" panose="02040503050406030204"/>
                <a:cs typeface="Cambria" panose="02040503050406030204"/>
              </a:rPr>
              <a:t>Kualitas Fisik Bangunan</a:t>
            </a:r>
            <a:r>
              <a:rPr lang="id-ID" sz="2100" noProof="1">
                <a:solidFill>
                  <a:srgbClr val="000000"/>
                </a:solidFill>
                <a:latin typeface="Cambria" panose="02040503050406030204"/>
                <a:cs typeface="Cambria" panose="02040503050406030204"/>
              </a:rPr>
              <a:t> (KFP)</a:t>
            </a:r>
            <a:endParaRPr lang="en-AU" sz="2100" noProof="1">
              <a:solidFill>
                <a:srgbClr val="000000"/>
              </a:solidFill>
              <a:latin typeface="Cambria" panose="02040503050406030204"/>
              <a:cs typeface="Cambria" panose="02040503050406030204"/>
            </a:endParaRPr>
          </a:p>
          <a:p>
            <a:pPr marL="1522730" lvl="2" indent="-361950">
              <a:spcBef>
                <a:spcPts val="0"/>
              </a:spcBef>
              <a:buFont typeface="+mj-lt"/>
              <a:buAutoNum type="arabicParenR"/>
            </a:pPr>
            <a:r>
              <a:rPr lang="en-AU" sz="2100" noProof="1">
                <a:solidFill>
                  <a:srgbClr val="000000"/>
                </a:solidFill>
                <a:latin typeface="Cambria" panose="02040503050406030204"/>
                <a:cs typeface="Cambria" panose="02040503050406030204"/>
              </a:rPr>
              <a:t>Luas lantai/kapita (m</a:t>
            </a:r>
            <a:r>
              <a:rPr lang="en-AU" sz="2100" baseline="30000" noProof="1">
                <a:solidFill>
                  <a:srgbClr val="000000"/>
                </a:solidFill>
                <a:latin typeface="Cambria" panose="02040503050406030204"/>
                <a:cs typeface="Cambria" panose="02040503050406030204"/>
              </a:rPr>
              <a:t>2</a:t>
            </a:r>
            <a:r>
              <a:rPr lang="en-AU" sz="2100" noProof="1">
                <a:solidFill>
                  <a:srgbClr val="000000"/>
                </a:solidFill>
                <a:latin typeface="Cambria" panose="02040503050406030204"/>
                <a:cs typeface="Cambria" panose="02040503050406030204"/>
              </a:rPr>
              <a:t>)</a:t>
            </a:r>
          </a:p>
          <a:p>
            <a:pPr marL="1522730" lvl="2" indent="-361950">
              <a:spcBef>
                <a:spcPts val="0"/>
              </a:spcBef>
              <a:buFont typeface="+mj-lt"/>
              <a:buAutoNum type="arabicParenR"/>
            </a:pPr>
            <a:r>
              <a:rPr lang="en-AU" sz="2100" noProof="1">
                <a:solidFill>
                  <a:srgbClr val="000000"/>
                </a:solidFill>
                <a:latin typeface="Cambria" panose="02040503050406030204"/>
                <a:cs typeface="Cambria" panose="02040503050406030204"/>
              </a:rPr>
              <a:t>Jenis atap</a:t>
            </a:r>
          </a:p>
          <a:p>
            <a:pPr marL="1522730" lvl="2" indent="-361950">
              <a:spcBef>
                <a:spcPts val="0"/>
              </a:spcBef>
              <a:buFont typeface="+mj-lt"/>
              <a:buAutoNum type="arabicParenR"/>
            </a:pPr>
            <a:r>
              <a:rPr lang="en-AU" sz="2100" noProof="1">
                <a:solidFill>
                  <a:srgbClr val="000000"/>
                </a:solidFill>
                <a:latin typeface="Cambria" panose="02040503050406030204"/>
                <a:cs typeface="Cambria" panose="02040503050406030204"/>
              </a:rPr>
              <a:t>Jenis lantai</a:t>
            </a:r>
          </a:p>
          <a:p>
            <a:pPr marL="1522730" lvl="2" indent="-361950">
              <a:spcBef>
                <a:spcPts val="0"/>
              </a:spcBef>
              <a:buFont typeface="+mj-lt"/>
              <a:buAutoNum type="arabicParenR"/>
            </a:pPr>
            <a:r>
              <a:rPr lang="en-AU" sz="2100" noProof="1">
                <a:solidFill>
                  <a:srgbClr val="000000"/>
                </a:solidFill>
                <a:latin typeface="Cambria" panose="02040503050406030204"/>
                <a:cs typeface="Cambria" panose="02040503050406030204"/>
              </a:rPr>
              <a:t>Jenis dinding</a:t>
            </a:r>
          </a:p>
          <a:p>
            <a:pPr marL="1073150" lvl="1" indent="-351155">
              <a:spcBef>
                <a:spcPts val="600"/>
              </a:spcBef>
              <a:buFont typeface="+mj-lt"/>
              <a:buAutoNum type="arabicPeriod"/>
            </a:pPr>
            <a:r>
              <a:rPr lang="en-AU" sz="2100" noProof="1">
                <a:solidFill>
                  <a:srgbClr val="000000"/>
                </a:solidFill>
                <a:latin typeface="Cambria" panose="02040503050406030204"/>
                <a:cs typeface="Cambria" panose="02040503050406030204"/>
              </a:rPr>
              <a:t>Kelengkapan Fasilitas Rumah</a:t>
            </a:r>
            <a:r>
              <a:rPr lang="id-ID" sz="2100" noProof="1">
                <a:solidFill>
                  <a:srgbClr val="000000"/>
                </a:solidFill>
                <a:latin typeface="Cambria" panose="02040503050406030204"/>
                <a:cs typeface="Cambria" panose="02040503050406030204"/>
              </a:rPr>
              <a:t> (KFR)</a:t>
            </a:r>
            <a:endParaRPr lang="en-AU" sz="2100" noProof="1">
              <a:solidFill>
                <a:srgbClr val="000000"/>
              </a:solidFill>
              <a:latin typeface="Cambria" panose="02040503050406030204"/>
              <a:cs typeface="Cambria" panose="02040503050406030204"/>
            </a:endParaRPr>
          </a:p>
          <a:p>
            <a:pPr marL="1522730" lvl="2" indent="-361950">
              <a:buFont typeface="+mj-lt"/>
              <a:buAutoNum type="arabicParenR"/>
            </a:pPr>
            <a:r>
              <a:rPr lang="en-AU" sz="2100" noProof="1">
                <a:solidFill>
                  <a:srgbClr val="000000"/>
                </a:solidFill>
                <a:latin typeface="Cambria" panose="02040503050406030204"/>
                <a:cs typeface="Cambria" panose="02040503050406030204"/>
              </a:rPr>
              <a:t>Ketersediaan air bersih layak</a:t>
            </a:r>
          </a:p>
          <a:p>
            <a:pPr marL="1522730" lvl="2" indent="-361950">
              <a:buFont typeface="+mj-lt"/>
              <a:buAutoNum type="arabicParenR"/>
            </a:pPr>
            <a:r>
              <a:rPr lang="en-AU" sz="2100" noProof="1">
                <a:solidFill>
                  <a:srgbClr val="000000"/>
                </a:solidFill>
                <a:latin typeface="Cambria" panose="02040503050406030204"/>
                <a:cs typeface="Cambria" panose="02040503050406030204"/>
              </a:rPr>
              <a:t>Ketersediaan sanitasi/jamban layak</a:t>
            </a:r>
          </a:p>
          <a:p>
            <a:pPr marL="1522730" lvl="2" indent="-361950">
              <a:buFont typeface="+mj-lt"/>
              <a:buAutoNum type="arabicParenR"/>
            </a:pPr>
            <a:r>
              <a:rPr lang="en-AU" sz="2100" noProof="1">
                <a:solidFill>
                  <a:srgbClr val="000000"/>
                </a:solidFill>
                <a:latin typeface="Cambria" panose="02040503050406030204"/>
                <a:cs typeface="Cambria" panose="02040503050406030204"/>
              </a:rPr>
              <a:t>Ketersediaan kamar mandi</a:t>
            </a:r>
          </a:p>
          <a:p>
            <a:pPr marL="1522730" lvl="2" indent="-361950">
              <a:buFont typeface="+mj-lt"/>
              <a:buAutoNum type="arabicParenR"/>
            </a:pPr>
            <a:r>
              <a:rPr lang="en-AU" sz="2100" noProof="1">
                <a:solidFill>
                  <a:srgbClr val="000000"/>
                </a:solidFill>
                <a:latin typeface="Cambria" panose="02040503050406030204"/>
                <a:cs typeface="Cambria" panose="02040503050406030204"/>
              </a:rPr>
              <a:t>Ketersediaan listrik</a:t>
            </a:r>
          </a:p>
          <a:p>
            <a:pPr marL="1073150" lvl="1" indent="-313055">
              <a:buFont typeface="+mj-lt"/>
              <a:buAutoNum type="arabicPeriod"/>
            </a:pPr>
            <a:r>
              <a:rPr lang="en-AU" sz="2100" noProof="1">
                <a:solidFill>
                  <a:srgbClr val="000000"/>
                </a:solidFill>
                <a:latin typeface="Cambria" panose="02040503050406030204"/>
                <a:cs typeface="Cambria" panose="02040503050406030204"/>
              </a:rPr>
              <a:t> Dapat dibuat indeks kondisi rumah			</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77</a:t>
            </a:fld>
            <a:endParaRPr lang="en-US" altLang="id-ID"/>
          </a:p>
        </p:txBody>
      </p:sp>
      <p:pic>
        <p:nvPicPr>
          <p:cNvPr id="3" name="Picture 2"/>
          <p:cNvPicPr>
            <a:picLocks noChangeAspect="1"/>
          </p:cNvPicPr>
          <p:nvPr/>
        </p:nvPicPr>
        <p:blipFill>
          <a:blip r:embed="rId2"/>
          <a:stretch>
            <a:fillRect/>
          </a:stretch>
        </p:blipFill>
        <p:spPr>
          <a:xfrm>
            <a:off x="1635760" y="0"/>
            <a:ext cx="8714105" cy="6268720"/>
          </a:xfrm>
          <a:prstGeom prst="rect">
            <a:avLst/>
          </a:prstGeom>
        </p:spPr>
      </p:pic>
      <p:pic>
        <p:nvPicPr>
          <p:cNvPr id="2" name="Table Placeholder 1"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368415"/>
            <a:ext cx="12191365" cy="48958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78</a:t>
            </a:fld>
            <a:endParaRPr lang="en-US" altLang="id-ID"/>
          </a:p>
        </p:txBody>
      </p:sp>
      <p:pic>
        <p:nvPicPr>
          <p:cNvPr id="3" name="Picture 2"/>
          <p:cNvPicPr>
            <a:picLocks noChangeAspect="1"/>
          </p:cNvPicPr>
          <p:nvPr/>
        </p:nvPicPr>
        <p:blipFill>
          <a:blip r:embed="rId2"/>
          <a:stretch>
            <a:fillRect/>
          </a:stretch>
        </p:blipFill>
        <p:spPr>
          <a:xfrm>
            <a:off x="986155" y="29210"/>
            <a:ext cx="10226040" cy="6240145"/>
          </a:xfrm>
          <a:prstGeom prst="rect">
            <a:avLst/>
          </a:prstGeom>
        </p:spPr>
      </p:pic>
      <p:pic>
        <p:nvPicPr>
          <p:cNvPr id="2" name="Table Placeholder 1"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79</a:t>
            </a:fld>
            <a:endParaRPr lang="en-US" altLang="id-ID"/>
          </a:p>
        </p:txBody>
      </p:sp>
      <p:pic>
        <p:nvPicPr>
          <p:cNvPr id="3" name="Picture 2"/>
          <p:cNvPicPr>
            <a:picLocks noChangeAspect="1"/>
          </p:cNvPicPr>
          <p:nvPr/>
        </p:nvPicPr>
        <p:blipFill>
          <a:blip r:embed="rId2"/>
          <a:stretch>
            <a:fillRect/>
          </a:stretch>
        </p:blipFill>
        <p:spPr>
          <a:xfrm>
            <a:off x="1018540" y="356235"/>
            <a:ext cx="10193655" cy="5770880"/>
          </a:xfrm>
          <a:prstGeom prst="rect">
            <a:avLst/>
          </a:prstGeom>
        </p:spPr>
      </p:pic>
      <p:pic>
        <p:nvPicPr>
          <p:cNvPr id="2" name="Table Placeholder 1"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80</a:t>
            </a:fld>
            <a:endParaRPr lang="en-US" altLang="id-ID"/>
          </a:p>
        </p:txBody>
      </p:sp>
      <p:sp>
        <p:nvSpPr>
          <p:cNvPr id="3" name="Title 1"/>
          <p:cNvSpPr>
            <a:spLocks noGrp="1"/>
          </p:cNvSpPr>
          <p:nvPr>
            <p:ph type="title"/>
          </p:nvPr>
        </p:nvSpPr>
        <p:spPr>
          <a:xfrm>
            <a:off x="828973" y="222196"/>
            <a:ext cx="10349347" cy="610820"/>
          </a:xfrm>
        </p:spPr>
        <p:txBody>
          <a:bodyPr>
            <a:normAutofit/>
          </a:bodyPr>
          <a:lstStyle/>
          <a:p>
            <a:pPr algn="ctr"/>
            <a:r>
              <a:rPr lang="en-US" sz="3200" b="1" noProof="1">
                <a:solidFill>
                  <a:srgbClr val="000000"/>
                </a:solidFill>
                <a:latin typeface="Cambria" panose="02040503050406030204" pitchFamily="18" charset="0"/>
              </a:rPr>
              <a:t>Indeks Komposit Kondisi Rumah</a:t>
            </a:r>
            <a:endParaRPr lang="en-US" sz="3200" b="1" baseline="-25000" noProof="1">
              <a:solidFill>
                <a:srgbClr val="000000"/>
              </a:solidFill>
              <a:latin typeface="Cambria" panose="02040503050406030204" pitchFamily="18" charset="0"/>
            </a:endParaRPr>
          </a:p>
        </p:txBody>
      </p:sp>
      <p:sp>
        <p:nvSpPr>
          <p:cNvPr id="5" name="Content Placeholder 2"/>
          <p:cNvSpPr txBox="1"/>
          <p:nvPr/>
        </p:nvSpPr>
        <p:spPr>
          <a:xfrm>
            <a:off x="837208" y="833015"/>
            <a:ext cx="10349347" cy="5191970"/>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174625" indent="0">
              <a:spcBef>
                <a:spcPts val="1200"/>
              </a:spcBef>
              <a:buFont typeface="Arial" panose="020B0604020202020204" pitchFamily="34" charset="0"/>
              <a:buNone/>
            </a:pPr>
            <a:r>
              <a:rPr lang="en-AU" sz="2200" noProof="1">
                <a:solidFill>
                  <a:srgbClr val="000000"/>
                </a:solidFill>
                <a:latin typeface="Cambria" panose="02040503050406030204"/>
                <a:cs typeface="Cambria" panose="02040503050406030204"/>
              </a:rPr>
              <a:t>Kondisi Rumah =&gt; memenuhi syarat?  Ya = 1, Tidak = 0</a:t>
            </a:r>
            <a:endParaRPr lang="en-AU" sz="2200" i="1" noProof="1">
              <a:solidFill>
                <a:srgbClr val="FF0000"/>
              </a:solidFill>
              <a:latin typeface="Cambria" panose="02040503050406030204"/>
              <a:cs typeface="Cambria" panose="02040503050406030204"/>
            </a:endParaRPr>
          </a:p>
          <a:p>
            <a:pPr marL="544830" lvl="1" indent="-363855">
              <a:spcBef>
                <a:spcPts val="600"/>
              </a:spcBef>
              <a:buFont typeface="+mj-lt"/>
              <a:buAutoNum type="arabicPeriod"/>
            </a:pPr>
            <a:r>
              <a:rPr lang="en-AU" sz="2200" noProof="1">
                <a:solidFill>
                  <a:srgbClr val="000000"/>
                </a:solidFill>
                <a:latin typeface="Cambria" panose="02040503050406030204"/>
                <a:cs typeface="Cambria" panose="02040503050406030204"/>
              </a:rPr>
              <a:t>Kualitas Fisik Bangunan [KFB]</a:t>
            </a:r>
          </a:p>
          <a:p>
            <a:pPr marL="989330" lvl="2" indent="-361950">
              <a:spcBef>
                <a:spcPts val="0"/>
              </a:spcBef>
              <a:buFont typeface="+mj-lt"/>
              <a:buAutoNum type="arabicParenR"/>
            </a:pPr>
            <a:r>
              <a:rPr lang="en-AU" sz="2200" noProof="1">
                <a:solidFill>
                  <a:srgbClr val="000000"/>
                </a:solidFill>
                <a:latin typeface="Cambria" panose="02040503050406030204"/>
                <a:cs typeface="Cambria" panose="02040503050406030204"/>
              </a:rPr>
              <a:t>Luas lantai/kapita (m</a:t>
            </a:r>
            <a:r>
              <a:rPr lang="en-AU" sz="2200" baseline="30000" noProof="1">
                <a:solidFill>
                  <a:srgbClr val="000000"/>
                </a:solidFill>
                <a:latin typeface="Cambria" panose="02040503050406030204"/>
                <a:cs typeface="Cambria" panose="02040503050406030204"/>
              </a:rPr>
              <a:t>2</a:t>
            </a:r>
            <a:r>
              <a:rPr lang="en-AU" sz="2200" noProof="1">
                <a:solidFill>
                  <a:srgbClr val="000000"/>
                </a:solidFill>
                <a:latin typeface="Cambria" panose="02040503050406030204"/>
                <a:cs typeface="Cambria" panose="02040503050406030204"/>
              </a:rPr>
              <a:t>), ≥ 7,2 m</a:t>
            </a:r>
            <a:r>
              <a:rPr lang="en-AU" sz="2200" baseline="30000" noProof="1">
                <a:solidFill>
                  <a:srgbClr val="000000"/>
                </a:solidFill>
                <a:latin typeface="Cambria" panose="02040503050406030204"/>
                <a:cs typeface="Cambria" panose="02040503050406030204"/>
              </a:rPr>
              <a:t>2</a:t>
            </a:r>
            <a:r>
              <a:rPr lang="en-AU" sz="2200" noProof="1">
                <a:solidFill>
                  <a:srgbClr val="000000"/>
                </a:solidFill>
                <a:latin typeface="Cambria" panose="02040503050406030204"/>
                <a:cs typeface="Cambria" panose="02040503050406030204"/>
              </a:rPr>
              <a:t>/kapita</a:t>
            </a:r>
          </a:p>
          <a:p>
            <a:pPr marL="989330" lvl="2" indent="-361950">
              <a:spcBef>
                <a:spcPts val="0"/>
              </a:spcBef>
              <a:buFont typeface="+mj-lt"/>
              <a:buAutoNum type="arabicParenR"/>
            </a:pPr>
            <a:r>
              <a:rPr lang="en-AU" sz="2200" noProof="1">
                <a:solidFill>
                  <a:srgbClr val="000000"/>
                </a:solidFill>
                <a:latin typeface="Cambria" panose="02040503050406030204"/>
                <a:cs typeface="Cambria" panose="02040503050406030204"/>
              </a:rPr>
              <a:t>Jenis atap</a:t>
            </a:r>
          </a:p>
          <a:p>
            <a:pPr marL="989330" lvl="2" indent="-361950">
              <a:spcBef>
                <a:spcPts val="0"/>
              </a:spcBef>
              <a:buFont typeface="+mj-lt"/>
              <a:buAutoNum type="arabicParenR"/>
            </a:pPr>
            <a:r>
              <a:rPr lang="en-AU" sz="2200" noProof="1">
                <a:solidFill>
                  <a:srgbClr val="000000"/>
                </a:solidFill>
                <a:latin typeface="Cambria" panose="02040503050406030204"/>
                <a:cs typeface="Cambria" panose="02040503050406030204"/>
              </a:rPr>
              <a:t>Jenis lantai</a:t>
            </a:r>
          </a:p>
          <a:p>
            <a:pPr marL="989330" lvl="2" indent="-361950">
              <a:spcBef>
                <a:spcPts val="0"/>
              </a:spcBef>
              <a:buFont typeface="+mj-lt"/>
              <a:buAutoNum type="arabicParenR"/>
            </a:pPr>
            <a:r>
              <a:rPr lang="en-AU" sz="2200" noProof="1">
                <a:solidFill>
                  <a:srgbClr val="000000"/>
                </a:solidFill>
                <a:latin typeface="Cambria" panose="02040503050406030204"/>
                <a:cs typeface="Cambria" panose="02040503050406030204"/>
              </a:rPr>
              <a:t>Jenis dinding</a:t>
            </a:r>
          </a:p>
          <a:p>
            <a:pPr marL="544830" lvl="1" indent="-363855">
              <a:spcBef>
                <a:spcPts val="600"/>
              </a:spcBef>
              <a:buFont typeface="+mj-lt"/>
              <a:buAutoNum type="arabicPeriod"/>
            </a:pPr>
            <a:r>
              <a:rPr lang="en-AU" sz="2200" noProof="1">
                <a:solidFill>
                  <a:srgbClr val="000000"/>
                </a:solidFill>
                <a:latin typeface="Cambria" panose="02040503050406030204"/>
                <a:cs typeface="Cambria" panose="02040503050406030204"/>
              </a:rPr>
              <a:t>Kelengkapan Fasilitas Rumah [KFR]</a:t>
            </a:r>
          </a:p>
          <a:p>
            <a:pPr marL="989330" lvl="2" indent="-361950">
              <a:buFont typeface="+mj-lt"/>
              <a:buAutoNum type="arabicParenR"/>
            </a:pPr>
            <a:r>
              <a:rPr lang="en-AU" sz="2200" noProof="1">
                <a:solidFill>
                  <a:srgbClr val="000000"/>
                </a:solidFill>
                <a:latin typeface="Cambria" panose="02040503050406030204"/>
                <a:cs typeface="Cambria" panose="02040503050406030204"/>
              </a:rPr>
              <a:t>Ketersediaan air bersih layak</a:t>
            </a:r>
          </a:p>
          <a:p>
            <a:pPr marL="989330" lvl="2" indent="-361950">
              <a:buFont typeface="+mj-lt"/>
              <a:buAutoNum type="arabicParenR"/>
            </a:pPr>
            <a:r>
              <a:rPr lang="en-AU" sz="2200" noProof="1">
                <a:solidFill>
                  <a:srgbClr val="000000"/>
                </a:solidFill>
                <a:latin typeface="Cambria" panose="02040503050406030204"/>
                <a:cs typeface="Cambria" panose="02040503050406030204"/>
              </a:rPr>
              <a:t>Ketersediaan sanitasi/jamban layak</a:t>
            </a:r>
          </a:p>
          <a:p>
            <a:pPr marL="989330" lvl="2" indent="-361950">
              <a:buFont typeface="+mj-lt"/>
              <a:buAutoNum type="arabicParenR"/>
            </a:pPr>
            <a:r>
              <a:rPr lang="en-AU" sz="2200" noProof="1">
                <a:solidFill>
                  <a:srgbClr val="000000"/>
                </a:solidFill>
                <a:latin typeface="Cambria" panose="02040503050406030204"/>
                <a:cs typeface="Cambria" panose="02040503050406030204"/>
              </a:rPr>
              <a:t>Ketersediaan kamar mandi</a:t>
            </a:r>
          </a:p>
          <a:p>
            <a:pPr marL="989330" lvl="2" indent="-361950">
              <a:buFont typeface="+mj-lt"/>
              <a:buAutoNum type="arabicParenR"/>
            </a:pPr>
            <a:r>
              <a:rPr lang="en-AU" sz="2200" noProof="1">
                <a:solidFill>
                  <a:srgbClr val="000000"/>
                </a:solidFill>
                <a:latin typeface="Cambria" panose="02040503050406030204"/>
                <a:cs typeface="Cambria" panose="02040503050406030204"/>
              </a:rPr>
              <a:t>Ketersediaan listrik</a:t>
            </a:r>
          </a:p>
          <a:p>
            <a:pPr marL="227330" lvl="1" indent="0">
              <a:spcBef>
                <a:spcPts val="3025"/>
              </a:spcBef>
              <a:buFont typeface="Arial" panose="020B0604020202020204" pitchFamily="34" charset="0"/>
              <a:buNone/>
            </a:pPr>
            <a:r>
              <a:rPr lang="en-AU" sz="2200" noProof="1">
                <a:solidFill>
                  <a:srgbClr val="000000"/>
                </a:solidFill>
                <a:latin typeface="Cambria" panose="02040503050406030204"/>
                <a:cs typeface="Cambria" panose="02040503050406030204"/>
              </a:rPr>
              <a:t>Indeks Kondisi Rumah = </a:t>
            </a:r>
          </a:p>
          <a:p>
            <a:pPr marL="760095" lvl="1" indent="0">
              <a:buFont typeface="Arial" panose="020B0604020202020204" pitchFamily="34" charset="0"/>
              <a:buNone/>
            </a:pPr>
            <a:r>
              <a:rPr lang="en-AU" sz="2200" noProof="1">
                <a:solidFill>
                  <a:srgbClr val="000000"/>
                </a:solidFill>
                <a:latin typeface="Cambria" panose="02040503050406030204"/>
                <a:cs typeface="Cambria" panose="02040503050406030204"/>
              </a:rPr>
              <a:t>			</a:t>
            </a:r>
          </a:p>
        </p:txBody>
      </p:sp>
      <p:sp>
        <p:nvSpPr>
          <p:cNvPr id="6" name="Right Brace 5"/>
          <p:cNvSpPr/>
          <p:nvPr/>
        </p:nvSpPr>
        <p:spPr>
          <a:xfrm>
            <a:off x="3735390" y="2054655"/>
            <a:ext cx="52840" cy="842924"/>
          </a:xfrm>
          <a:prstGeom prst="rightBrace">
            <a:avLst/>
          </a:prstGeom>
          <a:ln cap="sq">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a:p>
        </p:txBody>
      </p:sp>
      <p:sp>
        <p:nvSpPr>
          <p:cNvPr id="7" name="TextBox 6"/>
          <p:cNvSpPr txBox="1"/>
          <p:nvPr/>
        </p:nvSpPr>
        <p:spPr>
          <a:xfrm>
            <a:off x="3888094" y="2274063"/>
            <a:ext cx="3840762" cy="430887"/>
          </a:xfrm>
          <a:prstGeom prst="rect">
            <a:avLst/>
          </a:prstGeom>
          <a:noFill/>
        </p:spPr>
        <p:txBody>
          <a:bodyPr wrap="square" rtlCol="0">
            <a:spAutoFit/>
          </a:bodyPr>
          <a:lstStyle/>
          <a:p>
            <a:r>
              <a:rPr lang="en-US" sz="2200" noProof="1">
                <a:solidFill>
                  <a:srgbClr val="FF0000"/>
                </a:solidFill>
              </a:rPr>
              <a:t>Berkualitas baik (tahan lama)</a:t>
            </a:r>
          </a:p>
        </p:txBody>
      </p:sp>
      <p:sp>
        <p:nvSpPr>
          <p:cNvPr id="8" name="Right Brace 7"/>
          <p:cNvSpPr/>
          <p:nvPr/>
        </p:nvSpPr>
        <p:spPr>
          <a:xfrm>
            <a:off x="6595982" y="3537550"/>
            <a:ext cx="143741" cy="1426334"/>
          </a:xfrm>
          <a:prstGeom prst="rightBrace">
            <a:avLst/>
          </a:prstGeom>
          <a:ln cap="sq">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a:p>
        </p:txBody>
      </p:sp>
      <p:sp>
        <p:nvSpPr>
          <p:cNvPr id="9" name="TextBox 8"/>
          <p:cNvSpPr txBox="1"/>
          <p:nvPr/>
        </p:nvSpPr>
        <p:spPr>
          <a:xfrm>
            <a:off x="6914941" y="3868384"/>
            <a:ext cx="1937673" cy="769441"/>
          </a:xfrm>
          <a:prstGeom prst="rect">
            <a:avLst/>
          </a:prstGeom>
          <a:noFill/>
        </p:spPr>
        <p:txBody>
          <a:bodyPr wrap="square" rtlCol="0">
            <a:spAutoFit/>
          </a:bodyPr>
          <a:lstStyle/>
          <a:p>
            <a:r>
              <a:rPr lang="en-US" sz="2200" noProof="1">
                <a:solidFill>
                  <a:srgbClr val="FF0000"/>
                </a:solidFill>
              </a:rPr>
              <a:t>Ada = 1</a:t>
            </a:r>
          </a:p>
          <a:p>
            <a:r>
              <a:rPr lang="en-US" sz="2200" noProof="1">
                <a:solidFill>
                  <a:srgbClr val="FF0000"/>
                </a:solidFill>
              </a:rPr>
              <a:t>Tidak ada = 0</a:t>
            </a:r>
          </a:p>
        </p:txBody>
      </p:sp>
      <p:graphicFrame>
        <p:nvGraphicFramePr>
          <p:cNvPr id="10" name="Object 9"/>
          <p:cNvGraphicFramePr>
            <a:graphicFrameLocks noChangeAspect="1"/>
          </p:cNvGraphicFramePr>
          <p:nvPr/>
        </p:nvGraphicFramePr>
        <p:xfrm>
          <a:off x="4894858" y="3346450"/>
          <a:ext cx="143741" cy="165100"/>
        </p:xfrm>
        <a:graphic>
          <a:graphicData uri="http://schemas.openxmlformats.org/presentationml/2006/ole">
            <mc:AlternateContent xmlns:mc="http://schemas.openxmlformats.org/markup-compatibility/2006">
              <mc:Choice xmlns:v="urn:schemas-microsoft-com:vml" Requires="v">
                <p:oleObj spid="_x0000_s2072" name="Equation" r:id="rId3" imgW="109855" imgH="164465" progId="Equation.3">
                  <p:embed/>
                </p:oleObj>
              </mc:Choice>
              <mc:Fallback>
                <p:oleObj name="Equation" r:id="rId3" imgW="109855" imgH="164465" progId="Equation.3">
                  <p:embed/>
                  <p:pic>
                    <p:nvPicPr>
                      <p:cNvPr id="0" name="Object 5"/>
                      <p:cNvPicPr/>
                      <p:nvPr/>
                    </p:nvPicPr>
                    <p:blipFill>
                      <a:blip r:embed="rId4"/>
                      <a:stretch>
                        <a:fillRect/>
                      </a:stretch>
                    </p:blipFill>
                    <p:spPr>
                      <a:xfrm>
                        <a:off x="4894858" y="3346450"/>
                        <a:ext cx="143741" cy="1651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4200358" y="5373359"/>
          <a:ext cx="4418619" cy="518400"/>
        </p:xfrm>
        <a:graphic>
          <a:graphicData uri="http://schemas.openxmlformats.org/presentationml/2006/ole">
            <mc:AlternateContent xmlns:mc="http://schemas.openxmlformats.org/markup-compatibility/2006">
              <mc:Choice xmlns:v="urn:schemas-microsoft-com:vml" Requires="v">
                <p:oleObj spid="_x0000_s2073" name="Equation" r:id="rId5" imgW="1545590" imgH="228600" progId="Equation.3">
                  <p:embed/>
                </p:oleObj>
              </mc:Choice>
              <mc:Fallback>
                <p:oleObj name="Equation" r:id="rId5" imgW="1545590" imgH="228600" progId="Equation.3">
                  <p:embed/>
                  <p:pic>
                    <p:nvPicPr>
                      <p:cNvPr id="0" name="Object 11"/>
                      <p:cNvPicPr/>
                      <p:nvPr/>
                    </p:nvPicPr>
                    <p:blipFill>
                      <a:blip r:embed="rId6"/>
                      <a:stretch>
                        <a:fillRect/>
                      </a:stretch>
                    </p:blipFill>
                    <p:spPr>
                      <a:xfrm>
                        <a:off x="4200358" y="5373359"/>
                        <a:ext cx="4418619" cy="518400"/>
                      </a:xfrm>
                      <a:prstGeom prst="rect">
                        <a:avLst/>
                      </a:prstGeom>
                    </p:spPr>
                  </p:pic>
                </p:oleObj>
              </mc:Fallback>
            </mc:AlternateContent>
          </a:graphicData>
        </a:graphic>
      </p:graphicFrame>
      <p:pic>
        <p:nvPicPr>
          <p:cNvPr id="2" name="Table Placeholder 1" descr="A picture containing drawing, device  Description automatically generated"/>
          <p:cNvPicPr>
            <a:picLocks noGrp="1" noChangeAspect="1"/>
          </p:cNvPicPr>
          <p:nvPr>
            <p:ph type="tbl" idx="1"/>
          </p:nvPr>
        </p:nvPicPr>
        <p:blipFill rotWithShape="1">
          <a:blip r:embed="rId7">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81</a:t>
            </a:fld>
            <a:endParaRPr lang="en-US"/>
          </a:p>
        </p:txBody>
      </p:sp>
      <p:sp>
        <p:nvSpPr>
          <p:cNvPr id="507" name="Google Shape;507;p38"/>
          <p:cNvSpPr txBox="1">
            <a:spLocks noGrp="1"/>
          </p:cNvSpPr>
          <p:nvPr>
            <p:ph type="title"/>
          </p:nvPr>
        </p:nvSpPr>
        <p:spPr>
          <a:xfrm>
            <a:off x="921326" y="344419"/>
            <a:ext cx="10349347" cy="610820"/>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3200"/>
              <a:buFont typeface="Cambria" panose="02040503050406030204"/>
              <a:buNone/>
            </a:pPr>
            <a:r>
              <a:rPr lang="en-US" sz="3200" b="1" dirty="0" err="1">
                <a:solidFill>
                  <a:srgbClr val="000000"/>
                </a:solidFill>
                <a:latin typeface="Cambria" panose="02040503050406030204"/>
                <a:ea typeface="Cambria" panose="02040503050406030204"/>
                <a:cs typeface="Cambria" panose="02040503050406030204"/>
                <a:sym typeface="Cambria" panose="02040503050406030204"/>
              </a:rPr>
              <a:t>Indeks</a:t>
            </a:r>
            <a:r>
              <a:rPr lang="en-US" sz="3200" b="1" dirty="0">
                <a:solidFill>
                  <a:srgbClr val="000000"/>
                </a:solidFill>
                <a:latin typeface="Cambria" panose="02040503050406030204"/>
                <a:ea typeface="Cambria" panose="02040503050406030204"/>
                <a:cs typeface="Cambria" panose="02040503050406030204"/>
                <a:sym typeface="Cambria" panose="02040503050406030204"/>
              </a:rPr>
              <a:t> </a:t>
            </a:r>
            <a:r>
              <a:rPr lang="en-US" sz="3200" b="1" dirty="0" err="1">
                <a:solidFill>
                  <a:srgbClr val="000000"/>
                </a:solidFill>
                <a:latin typeface="Cambria" panose="02040503050406030204"/>
                <a:ea typeface="Cambria" panose="02040503050406030204"/>
                <a:cs typeface="Cambria" panose="02040503050406030204"/>
                <a:sym typeface="Cambria" panose="02040503050406030204"/>
              </a:rPr>
              <a:t>Komposit</a:t>
            </a:r>
            <a:r>
              <a:rPr lang="en-US" sz="3200" b="1" dirty="0">
                <a:solidFill>
                  <a:srgbClr val="000000"/>
                </a:solidFill>
                <a:latin typeface="Cambria" panose="02040503050406030204"/>
                <a:ea typeface="Cambria" panose="02040503050406030204"/>
                <a:cs typeface="Cambria" panose="02040503050406030204"/>
                <a:sym typeface="Cambria" panose="02040503050406030204"/>
              </a:rPr>
              <a:t> </a:t>
            </a:r>
            <a:r>
              <a:rPr lang="en-US" sz="3200" b="1" dirty="0" err="1">
                <a:solidFill>
                  <a:srgbClr val="000000"/>
                </a:solidFill>
                <a:latin typeface="Cambria" panose="02040503050406030204"/>
                <a:ea typeface="Cambria" panose="02040503050406030204"/>
                <a:cs typeface="Cambria" panose="02040503050406030204"/>
                <a:sym typeface="Cambria" panose="02040503050406030204"/>
              </a:rPr>
              <a:t>Rumah</a:t>
            </a:r>
            <a:r>
              <a:rPr lang="id-ID" sz="3200" b="1" dirty="0">
                <a:solidFill>
                  <a:srgbClr val="000000"/>
                </a:solidFill>
                <a:latin typeface="Cambria" panose="02040503050406030204"/>
                <a:ea typeface="Cambria" panose="02040503050406030204"/>
                <a:cs typeface="Cambria" panose="02040503050406030204"/>
                <a:sym typeface="Cambria" panose="02040503050406030204"/>
              </a:rPr>
              <a:t> Tidak Layak Huni</a:t>
            </a:r>
            <a:endParaRPr sz="3200" b="1" baseline="-25000" dirty="0">
              <a:solidFill>
                <a:srgbClr val="000000"/>
              </a:solidFill>
              <a:latin typeface="Cambria" panose="02040503050406030204"/>
              <a:ea typeface="Cambria" panose="02040503050406030204"/>
              <a:cs typeface="Cambria" panose="02040503050406030204"/>
              <a:sym typeface="Cambria" panose="02040503050406030204"/>
            </a:endParaRPr>
          </a:p>
        </p:txBody>
      </p:sp>
      <p:sp>
        <p:nvSpPr>
          <p:cNvPr id="508" name="Google Shape;508;p38"/>
          <p:cNvSpPr txBox="1"/>
          <p:nvPr/>
        </p:nvSpPr>
        <p:spPr>
          <a:xfrm>
            <a:off x="672353" y="1059810"/>
            <a:ext cx="11161060" cy="5191970"/>
          </a:xfrm>
          <a:prstGeom prst="rect">
            <a:avLst/>
          </a:prstGeom>
          <a:solidFill>
            <a:schemeClr val="bg1"/>
          </a:solidFill>
          <a:ln>
            <a:noFill/>
          </a:ln>
        </p:spPr>
        <p:txBody>
          <a:bodyPr spcFirstLastPara="1" wrap="square" lIns="104925" tIns="52450" rIns="104925" bIns="52450" anchor="t" anchorCtr="0">
            <a:noAutofit/>
          </a:bodyPr>
          <a:lstStyle/>
          <a:p>
            <a:pPr marL="174625" lvl="0">
              <a:buSzPts val="2200"/>
            </a:pPr>
            <a:r>
              <a:rPr lang="id-ID" sz="2400"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Rumah Tidak </a:t>
            </a:r>
            <a:r>
              <a:rPr lang="id-ID" sz="2400" dirty="0">
                <a:latin typeface="Cambria" panose="02040503050406030204" pitchFamily="18" charset="0"/>
                <a:ea typeface="Cambria" panose="02040503050406030204" pitchFamily="18" charset="0"/>
              </a:rPr>
              <a:t>layak huni: rumah yang tidak memenuhi persyaratan keselamatan, bangunan dan kecukupan minimum luas bangunan serta kesehatan penghuninya</a:t>
            </a:r>
            <a:endParaRPr lang="id-ID" sz="2400" dirty="0">
              <a:latin typeface="Cambria" panose="02040503050406030204" pitchFamily="18" charset="0"/>
              <a:ea typeface="Cambria" panose="02040503050406030204" pitchFamily="18" charset="0"/>
              <a:sym typeface="Cambria" panose="02040503050406030204"/>
            </a:endParaRPr>
          </a:p>
          <a:p>
            <a:pPr marL="174625" marR="0" lvl="0" indent="0" algn="l" rtl="0">
              <a:spcAft>
                <a:spcPts val="0"/>
              </a:spcAft>
              <a:buClr>
                <a:srgbClr val="000000"/>
              </a:buClr>
              <a:buSzPts val="2200"/>
              <a:buFont typeface="Arial" panose="020B0604020202020204"/>
              <a:buNone/>
            </a:pPr>
            <a:endParaRPr lang="id-ID" sz="2400"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endParaRPr>
          </a:p>
          <a:p>
            <a:pPr marL="174625" marR="0" lvl="0" indent="0" algn="l" rtl="0">
              <a:spcAft>
                <a:spcPts val="0"/>
              </a:spcAft>
              <a:buClr>
                <a:srgbClr val="000000"/>
              </a:buClr>
              <a:buSzPts val="2200"/>
              <a:buFont typeface="Arial" panose="020B0604020202020204"/>
              <a:buNone/>
            </a:pPr>
            <a:r>
              <a:rPr lang="id-ID" sz="2400"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Terdapat 7 Indikator penyusun rumah tidak Layak:</a:t>
            </a:r>
            <a:endParaRPr sz="2400" i="1" dirty="0">
              <a:solidFill>
                <a:srgbClr val="FF0000"/>
              </a:solidFill>
              <a:latin typeface="Cambria" panose="02040503050406030204" pitchFamily="18" charset="0"/>
              <a:ea typeface="Cambria" panose="02040503050406030204" pitchFamily="18" charset="0"/>
              <a:cs typeface="Cambria" panose="02040503050406030204"/>
              <a:sym typeface="Cambria" panose="02040503050406030204"/>
            </a:endParaRPr>
          </a:p>
          <a:p>
            <a:pPr marL="544830" marR="0" lvl="1" indent="-363855" algn="l" rtl="0">
              <a:spcAft>
                <a:spcPts val="0"/>
              </a:spcAft>
              <a:buClr>
                <a:srgbClr val="000000"/>
              </a:buClr>
              <a:buSzPts val="2200"/>
              <a:buFont typeface="Calibri" panose="020F0502020204030204"/>
              <a:buAutoNum type="arabicPeriod"/>
            </a:pPr>
            <a:r>
              <a:rPr lang="id-ID"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Tidak terpenuhi </a:t>
            </a:r>
            <a:r>
              <a:rPr lang="id-ID" sz="2400" b="0" i="0" u="none" strike="noStrike" cap="none" dirty="0" err="1">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Sufficient</a:t>
            </a:r>
            <a:r>
              <a:rPr lang="id-ID"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 </a:t>
            </a:r>
            <a:r>
              <a:rPr lang="id-ID" sz="2400" b="0" i="0" u="none" strike="noStrike" cap="none" dirty="0" err="1">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Living</a:t>
            </a:r>
            <a:r>
              <a:rPr lang="id-ID"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 Area (</a:t>
            </a:r>
            <a:r>
              <a:rPr lang="en-US"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Luas </a:t>
            </a:r>
            <a:r>
              <a:rPr lang="en-US" sz="2400" b="0" i="0" u="none" strike="noStrike" cap="none" dirty="0" err="1">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lantai</a:t>
            </a:r>
            <a:r>
              <a:rPr lang="en-US"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a:t>
            </a:r>
            <a:r>
              <a:rPr lang="en-US" sz="2400" b="0" i="0" u="none" strike="noStrike" cap="none" dirty="0" err="1">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kapita</a:t>
            </a:r>
            <a:r>
              <a:rPr lang="en-US"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 (m</a:t>
            </a:r>
            <a:r>
              <a:rPr lang="en-US" sz="2400" b="0" i="0" u="none" strike="noStrike" cap="none" baseline="30000"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2</a:t>
            </a:r>
            <a:r>
              <a:rPr lang="en-US"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 ≥ 7,2 m</a:t>
            </a:r>
            <a:r>
              <a:rPr lang="en-US" sz="2400" b="0" i="0" u="none" strike="noStrike" cap="none" baseline="30000"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2</a:t>
            </a:r>
            <a:r>
              <a:rPr lang="en-US"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a:t>
            </a:r>
            <a:r>
              <a:rPr lang="en-US" sz="2400" b="0" i="0" u="none" strike="noStrike" cap="none" dirty="0" err="1">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kapita</a:t>
            </a:r>
            <a:r>
              <a:rPr lang="id-ID" sz="2400" b="0" i="0" u="none" strike="noStrike" cap="none" dirty="0">
                <a:solidFill>
                  <a:srgbClr val="000000"/>
                </a:solidFill>
                <a:latin typeface="Cambria" panose="02040503050406030204" pitchFamily="18" charset="0"/>
                <a:ea typeface="Cambria" panose="02040503050406030204" pitchFamily="18" charset="0"/>
                <a:cs typeface="Cambria" panose="02040503050406030204"/>
                <a:sym typeface="Cambria" panose="02040503050406030204"/>
              </a:rPr>
              <a:t>)</a:t>
            </a:r>
          </a:p>
          <a:p>
            <a:pPr marL="544830" lvl="1" indent="-363855">
              <a:buSzPts val="2200"/>
              <a:buFont typeface="Calibri" panose="020F0502020204030204"/>
              <a:buAutoNum type="arabicPeriod"/>
            </a:pPr>
            <a:r>
              <a:rPr lang="id-ID" sz="2400" dirty="0">
                <a:latin typeface="Cambria" panose="02040503050406030204" pitchFamily="18" charset="0"/>
                <a:ea typeface="Cambria" panose="02040503050406030204" pitchFamily="18" charset="0"/>
              </a:rPr>
              <a:t>Jenis bahan bangunan utama atap rumah terluas adalah jerami/ijuk/daun-daunan/rumbia atau lainnya</a:t>
            </a:r>
          </a:p>
          <a:p>
            <a:pPr marL="544830" lvl="1" indent="-363855">
              <a:buSzPts val="2200"/>
              <a:buFont typeface="Calibri" panose="020F0502020204030204"/>
              <a:buAutoNum type="arabicPeriod"/>
            </a:pPr>
            <a:r>
              <a:rPr lang="id-ID" sz="2400" dirty="0">
                <a:latin typeface="Cambria" panose="02040503050406030204" pitchFamily="18" charset="0"/>
                <a:ea typeface="Cambria" panose="02040503050406030204" pitchFamily="18" charset="0"/>
              </a:rPr>
              <a:t>Jenis bahan bangunan utama dinding rumah terluas adalah bambu atau lainnya</a:t>
            </a:r>
          </a:p>
          <a:p>
            <a:pPr marL="544830" lvl="1" indent="-363855">
              <a:buSzPts val="2200"/>
              <a:buFont typeface="Calibri" panose="020F0502020204030204"/>
              <a:buAutoNum type="arabicPeriod"/>
            </a:pPr>
            <a:r>
              <a:rPr lang="id-ID" sz="2400" dirty="0">
                <a:latin typeface="Cambria" panose="02040503050406030204" pitchFamily="18" charset="0"/>
                <a:ea typeface="Cambria" panose="02040503050406030204" pitchFamily="18" charset="0"/>
              </a:rPr>
              <a:t>Jenis bahan bangunan utama lantai rumah terluas adalah tanah atau lainnya</a:t>
            </a:r>
          </a:p>
          <a:p>
            <a:pPr marL="544830" lvl="1" indent="-363855">
              <a:buSzPts val="2200"/>
              <a:buFont typeface="Calibri" panose="020F0502020204030204"/>
              <a:buAutoNum type="arabicPeriod"/>
            </a:pPr>
            <a:r>
              <a:rPr lang="id-ID" sz="2400" dirty="0">
                <a:latin typeface="Cambria" panose="02040503050406030204" pitchFamily="18" charset="0"/>
                <a:ea typeface="Cambria" panose="02040503050406030204" pitchFamily="18" charset="0"/>
              </a:rPr>
              <a:t>Tidak memiliki akses terhadap layanan sanitasi/jamban layak</a:t>
            </a:r>
          </a:p>
          <a:p>
            <a:pPr marL="544830" lvl="1" indent="-363855">
              <a:buSzPts val="2200"/>
              <a:buFont typeface="Calibri" panose="020F0502020204030204"/>
              <a:buAutoNum type="arabicPeriod"/>
            </a:pPr>
            <a:r>
              <a:rPr lang="id-ID" sz="2400" dirty="0">
                <a:latin typeface="Cambria" panose="02040503050406030204" pitchFamily="18" charset="0"/>
                <a:ea typeface="Cambria" panose="02040503050406030204" pitchFamily="18" charset="0"/>
              </a:rPr>
              <a:t>Tidak memiliki akses terhadap sumber air minum layak</a:t>
            </a:r>
          </a:p>
          <a:p>
            <a:pPr marL="544830" lvl="1" indent="-363855">
              <a:buSzPts val="2200"/>
              <a:buFont typeface="Calibri" panose="020F0502020204030204"/>
              <a:buAutoNum type="arabicPeriod"/>
            </a:pPr>
            <a:r>
              <a:rPr lang="id-ID" sz="2400" dirty="0">
                <a:latin typeface="Cambria" panose="02040503050406030204" pitchFamily="18" charset="0"/>
                <a:ea typeface="Cambria" panose="02040503050406030204" pitchFamily="18" charset="0"/>
              </a:rPr>
              <a:t> Sumber utama penerangan rumah tangga adalah non listrik.</a:t>
            </a:r>
          </a:p>
          <a:p>
            <a:pPr marL="180975" lvl="1">
              <a:buSzPts val="2200"/>
            </a:pPr>
            <a:endParaRPr lang="id-ID" sz="2200" dirty="0">
              <a:latin typeface="Cambria" panose="02040503050406030204" pitchFamily="18" charset="0"/>
              <a:ea typeface="Cambria" panose="02040503050406030204" pitchFamily="18" charset="0"/>
            </a:endParaRPr>
          </a:p>
          <a:p>
            <a:pPr marL="180975" lvl="1">
              <a:buSzPts val="2200"/>
            </a:pPr>
            <a:r>
              <a:rPr lang="en-US" sz="2200" b="0" i="0" u="none" strike="noStrike" cap="none" dirty="0">
                <a:solidFill>
                  <a:srgbClr val="000000"/>
                </a:solidFill>
                <a:latin typeface="Cambria" panose="02040503050406030204"/>
                <a:ea typeface="Cambria" panose="02040503050406030204"/>
                <a:cs typeface="Cambria" panose="02040503050406030204"/>
                <a:sym typeface="Cambria" panose="02040503050406030204"/>
              </a:rPr>
              <a:t>		</a:t>
            </a:r>
            <a:endParaRPr dirty="0"/>
          </a:p>
        </p:txBody>
      </p:sp>
      <p:pic>
        <p:nvPicPr>
          <p:cNvPr id="513" name="Google Shape;513;p38"/>
          <p:cNvPicPr preferRelativeResize="0"/>
          <p:nvPr/>
        </p:nvPicPr>
        <p:blipFill rotWithShape="1">
          <a:blip r:embed="rId3"/>
          <a:srcRect/>
          <a:stretch>
            <a:fillRect/>
          </a:stretch>
        </p:blipFill>
        <p:spPr>
          <a:xfrm>
            <a:off x="4894858" y="3346450"/>
            <a:ext cx="143741" cy="165100"/>
          </a:xfrm>
          <a:prstGeom prst="rect">
            <a:avLst/>
          </a:prstGeom>
          <a:noFill/>
          <a:ln>
            <a:noFill/>
          </a:ln>
        </p:spPr>
      </p:pic>
      <p:pic>
        <p:nvPicPr>
          <p:cNvPr id="2" name="Table Placeholder 1" descr="A picture containing drawing, device  Description automatically generated"/>
          <p:cNvPicPr>
            <a:picLocks noGrp="1" noChangeAspect="1"/>
          </p:cNvPicPr>
          <p:nvPr>
            <p:ph type="tbl" idx="1"/>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fade thruBlk="1"/>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82</a:t>
            </a:fld>
            <a:endParaRPr lang="en-US"/>
          </a:p>
        </p:txBody>
      </p:sp>
      <p:sp>
        <p:nvSpPr>
          <p:cNvPr id="507" name="Google Shape;507;p38"/>
          <p:cNvSpPr txBox="1">
            <a:spLocks noGrp="1"/>
          </p:cNvSpPr>
          <p:nvPr>
            <p:ph type="title"/>
          </p:nvPr>
        </p:nvSpPr>
        <p:spPr>
          <a:xfrm>
            <a:off x="560032" y="764190"/>
            <a:ext cx="10349347" cy="610820"/>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3200"/>
              <a:buFont typeface="Cambria" panose="02040503050406030204"/>
              <a:buNone/>
            </a:pPr>
            <a:r>
              <a:rPr lang="en-US" sz="3200" b="1" dirty="0" err="1">
                <a:solidFill>
                  <a:srgbClr val="000000"/>
                </a:solidFill>
                <a:latin typeface="Cambria" panose="02040503050406030204"/>
                <a:ea typeface="Cambria" panose="02040503050406030204"/>
                <a:cs typeface="Cambria" panose="02040503050406030204"/>
                <a:sym typeface="Cambria" panose="02040503050406030204"/>
              </a:rPr>
              <a:t>Indeks</a:t>
            </a:r>
            <a:r>
              <a:rPr lang="en-US" sz="3200" b="1" dirty="0">
                <a:solidFill>
                  <a:srgbClr val="000000"/>
                </a:solidFill>
                <a:latin typeface="Cambria" panose="02040503050406030204"/>
                <a:ea typeface="Cambria" panose="02040503050406030204"/>
                <a:cs typeface="Cambria" panose="02040503050406030204"/>
                <a:sym typeface="Cambria" panose="02040503050406030204"/>
              </a:rPr>
              <a:t> </a:t>
            </a:r>
            <a:r>
              <a:rPr lang="en-US" sz="3200" b="1" dirty="0" err="1">
                <a:solidFill>
                  <a:srgbClr val="000000"/>
                </a:solidFill>
                <a:latin typeface="Cambria" panose="02040503050406030204"/>
                <a:ea typeface="Cambria" panose="02040503050406030204"/>
                <a:cs typeface="Cambria" panose="02040503050406030204"/>
                <a:sym typeface="Cambria" panose="02040503050406030204"/>
              </a:rPr>
              <a:t>Komposit</a:t>
            </a:r>
            <a:r>
              <a:rPr lang="en-US" sz="3200" b="1" dirty="0">
                <a:solidFill>
                  <a:srgbClr val="000000"/>
                </a:solidFill>
                <a:latin typeface="Cambria" panose="02040503050406030204"/>
                <a:ea typeface="Cambria" panose="02040503050406030204"/>
                <a:cs typeface="Cambria" panose="02040503050406030204"/>
                <a:sym typeface="Cambria" panose="02040503050406030204"/>
              </a:rPr>
              <a:t> </a:t>
            </a:r>
            <a:r>
              <a:rPr lang="en-US" sz="3200" b="1" dirty="0" err="1">
                <a:solidFill>
                  <a:srgbClr val="000000"/>
                </a:solidFill>
                <a:latin typeface="Cambria" panose="02040503050406030204"/>
                <a:ea typeface="Cambria" panose="02040503050406030204"/>
                <a:cs typeface="Cambria" panose="02040503050406030204"/>
                <a:sym typeface="Cambria" panose="02040503050406030204"/>
              </a:rPr>
              <a:t>Rumah</a:t>
            </a:r>
            <a:r>
              <a:rPr lang="id-ID" sz="3200" b="1" dirty="0">
                <a:solidFill>
                  <a:srgbClr val="000000"/>
                </a:solidFill>
                <a:latin typeface="Cambria" panose="02040503050406030204"/>
                <a:ea typeface="Cambria" panose="02040503050406030204"/>
                <a:cs typeface="Cambria" panose="02040503050406030204"/>
                <a:sym typeface="Cambria" panose="02040503050406030204"/>
              </a:rPr>
              <a:t> Tidak Layak Huni</a:t>
            </a:r>
            <a:endParaRPr sz="3200" b="1" baseline="-25000" dirty="0">
              <a:solidFill>
                <a:srgbClr val="000000"/>
              </a:solidFill>
              <a:latin typeface="Cambria" panose="02040503050406030204"/>
              <a:ea typeface="Cambria" panose="02040503050406030204"/>
              <a:cs typeface="Cambria" panose="02040503050406030204"/>
              <a:sym typeface="Cambria" panose="02040503050406030204"/>
            </a:endParaRPr>
          </a:p>
        </p:txBody>
      </p:sp>
      <p:sp>
        <p:nvSpPr>
          <p:cNvPr id="508" name="Google Shape;508;p38"/>
          <p:cNvSpPr txBox="1"/>
          <p:nvPr/>
        </p:nvSpPr>
        <p:spPr>
          <a:xfrm>
            <a:off x="1127760" y="1654175"/>
            <a:ext cx="10050780" cy="3148965"/>
          </a:xfrm>
          <a:prstGeom prst="rect">
            <a:avLst/>
          </a:prstGeom>
          <a:solidFill>
            <a:schemeClr val="bg1"/>
          </a:solidFill>
          <a:ln>
            <a:noFill/>
          </a:ln>
        </p:spPr>
        <p:txBody>
          <a:bodyPr spcFirstLastPara="1" wrap="square" lIns="104925" tIns="52450" rIns="104925" bIns="52450" anchor="t" anchorCtr="0">
            <a:noAutofit/>
          </a:bodyPr>
          <a:lstStyle/>
          <a:p>
            <a:pPr marL="174625" lvl="0">
              <a:buSzPts val="2200"/>
            </a:pPr>
            <a:r>
              <a:rPr lang="id-ID" sz="2400" dirty="0">
                <a:latin typeface="Cambria" panose="02040503050406030204" pitchFamily="18" charset="0"/>
                <a:ea typeface="Cambria" panose="02040503050406030204" pitchFamily="18" charset="0"/>
                <a:sym typeface="Cambria" panose="02040503050406030204"/>
              </a:rPr>
              <a:t>Untuk menentukan derajat rumah tidak layak huni:</a:t>
            </a:r>
          </a:p>
          <a:p>
            <a:pPr marL="174625" lvl="0">
              <a:buSzPts val="2200"/>
            </a:pPr>
            <a:endParaRPr lang="id-ID" sz="2400" dirty="0">
              <a:latin typeface="Cambria" panose="02040503050406030204" pitchFamily="18" charset="0"/>
              <a:ea typeface="Cambria" panose="02040503050406030204" pitchFamily="18" charset="0"/>
              <a:sym typeface="Cambria" panose="02040503050406030204"/>
            </a:endParaRPr>
          </a:p>
          <a:p>
            <a:pPr marL="517525" lvl="0" indent="-342900">
              <a:buSzPts val="2200"/>
              <a:buFontTx/>
              <a:buChar char="-"/>
            </a:pPr>
            <a:r>
              <a:rPr lang="id-ID" sz="2400" dirty="0">
                <a:latin typeface="Cambria" panose="02040503050406030204" pitchFamily="18" charset="0"/>
                <a:ea typeface="Cambria" panose="02040503050406030204" pitchFamily="18" charset="0"/>
                <a:sym typeface="Cambria" panose="02040503050406030204"/>
              </a:rPr>
              <a:t>Jika terpenuhi sedikitnya 3 dari 7 kriteria, termasuk Kategori rumah tidak layak huni</a:t>
            </a:r>
          </a:p>
          <a:p>
            <a:pPr marL="517525" lvl="0" indent="-342900">
              <a:buSzPts val="2200"/>
              <a:buFontTx/>
              <a:buChar char="-"/>
            </a:pPr>
            <a:r>
              <a:rPr lang="id-ID" sz="2400" dirty="0">
                <a:latin typeface="Cambria" panose="02040503050406030204" pitchFamily="18" charset="0"/>
                <a:ea typeface="Cambria" panose="02040503050406030204" pitchFamily="18" charset="0"/>
                <a:sym typeface="Cambria" panose="02040503050406030204"/>
              </a:rPr>
              <a:t>Jika hanya terdapat 2 </a:t>
            </a:r>
            <a:r>
              <a:rPr lang="id-ID" sz="2400" dirty="0" err="1">
                <a:latin typeface="Cambria" panose="02040503050406030204" pitchFamily="18" charset="0"/>
                <a:ea typeface="Cambria" panose="02040503050406030204" pitchFamily="18" charset="0"/>
                <a:sym typeface="Cambria" panose="02040503050406030204"/>
              </a:rPr>
              <a:t>kriteriayang</a:t>
            </a:r>
            <a:r>
              <a:rPr lang="id-ID" sz="2400" dirty="0">
                <a:latin typeface="Cambria" panose="02040503050406030204" pitchFamily="18" charset="0"/>
                <a:ea typeface="Cambria" panose="02040503050406030204" pitchFamily="18" charset="0"/>
                <a:sym typeface="Cambria" panose="02040503050406030204"/>
              </a:rPr>
              <a:t> terpenuhi maka termasuk kategori rumah hampir tidak layak huni</a:t>
            </a:r>
          </a:p>
          <a:p>
            <a:pPr marL="517525" lvl="0" indent="-342900">
              <a:buSzPts val="2200"/>
              <a:buFontTx/>
              <a:buChar char="-"/>
            </a:pPr>
            <a:r>
              <a:rPr lang="id-ID" sz="2400" dirty="0">
                <a:latin typeface="Cambria" panose="02040503050406030204" pitchFamily="18" charset="0"/>
                <a:ea typeface="Cambria" panose="02040503050406030204" pitchFamily="18" charset="0"/>
                <a:sym typeface="Cambria" panose="02040503050406030204"/>
              </a:rPr>
              <a:t>Jika hanya satu atau tidak ada termasuk kategori Rumah Layak Huni</a:t>
            </a:r>
            <a:r>
              <a:rPr lang="en-US" sz="2400" dirty="0">
                <a:latin typeface="Cambria" panose="02040503050406030204" pitchFamily="18" charset="0"/>
                <a:ea typeface="Cambria" panose="02040503050406030204" pitchFamily="18" charset="0"/>
                <a:sym typeface="Cambria" panose="02040503050406030204"/>
              </a:rPr>
              <a:t>	</a:t>
            </a:r>
            <a:r>
              <a:rPr lang="en-US" sz="2400" dirty="0">
                <a:latin typeface="Arial Narrow" panose="020B0606020202030204" pitchFamily="34" charset="0"/>
                <a:ea typeface="Cambria" panose="02040503050406030204"/>
                <a:sym typeface="Cambria" panose="02040503050406030204"/>
              </a:rPr>
              <a:t>	</a:t>
            </a:r>
            <a:endParaRPr sz="2400" dirty="0">
              <a:latin typeface="Arial Narrow" panose="020B0606020202030204" pitchFamily="34" charset="0"/>
              <a:ea typeface="Cambria" panose="02040503050406030204"/>
            </a:endParaRPr>
          </a:p>
        </p:txBody>
      </p:sp>
      <p:pic>
        <p:nvPicPr>
          <p:cNvPr id="513" name="Google Shape;513;p38"/>
          <p:cNvPicPr preferRelativeResize="0"/>
          <p:nvPr/>
        </p:nvPicPr>
        <p:blipFill rotWithShape="1">
          <a:blip r:embed="rId3"/>
          <a:srcRect/>
          <a:stretch>
            <a:fillRect/>
          </a:stretch>
        </p:blipFill>
        <p:spPr>
          <a:xfrm>
            <a:off x="4894858" y="3346450"/>
            <a:ext cx="143741" cy="165100"/>
          </a:xfrm>
          <a:prstGeom prst="rect">
            <a:avLst/>
          </a:prstGeom>
          <a:noFill/>
          <a:ln>
            <a:noFill/>
          </a:ln>
        </p:spPr>
      </p:pic>
      <p:sp>
        <p:nvSpPr>
          <p:cNvPr id="2" name="Rectangle 1"/>
          <p:cNvSpPr/>
          <p:nvPr/>
        </p:nvSpPr>
        <p:spPr>
          <a:xfrm>
            <a:off x="2281269" y="5294356"/>
            <a:ext cx="6223178" cy="400110"/>
          </a:xfrm>
          <a:prstGeom prst="rect">
            <a:avLst/>
          </a:prstGeom>
        </p:spPr>
        <p:txBody>
          <a:bodyPr wrap="none">
            <a:spAutoFit/>
          </a:bodyPr>
          <a:lstStyle/>
          <a:p>
            <a:r>
              <a:rPr lang="id-ID" sz="2000" dirty="0"/>
              <a:t>https://sirusa.bps.go.id/sirusa/index.php/indikator/798</a:t>
            </a:r>
          </a:p>
        </p:txBody>
      </p:sp>
      <p:pic>
        <p:nvPicPr>
          <p:cNvPr id="3" name="Table Placeholder 2" descr="A picture containing drawing, device  Description automatically generated"/>
          <p:cNvPicPr>
            <a:picLocks noGrp="1" noChangeAspect="1"/>
          </p:cNvPicPr>
          <p:nvPr>
            <p:ph type="tbl" idx="1"/>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fade thruBlk="1"/>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83</a:t>
            </a:fld>
            <a:endParaRPr lang="en-US" altLang="id-ID"/>
          </a:p>
        </p:txBody>
      </p:sp>
      <p:pic>
        <p:nvPicPr>
          <p:cNvPr id="2" name="SDG 6 Clean Water Sustainable Living">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17797" y="403761"/>
            <a:ext cx="10706265" cy="5527963"/>
          </a:xfrm>
          <a:prstGeom prst="rect">
            <a:avLst/>
          </a:prstGeom>
        </p:spPr>
      </p:pic>
      <p:pic>
        <p:nvPicPr>
          <p:cNvPr id="3" name="Table Placeholder 2" descr="A picture containing drawing, device  Description automatically generated"/>
          <p:cNvPicPr>
            <a:picLocks noGrp="1" noChangeAspect="1"/>
          </p:cNvPicPr>
          <p:nvPr>
            <p:ph type="tbl" idx="1"/>
          </p:nvPr>
        </p:nvPicPr>
        <p:blipFill rotWithShape="1">
          <a:blip r:embed="rId5">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552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4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84</a:t>
            </a:fld>
            <a:endParaRPr lang="en-US"/>
          </a:p>
        </p:txBody>
      </p:sp>
      <p:sp>
        <p:nvSpPr>
          <p:cNvPr id="526" name="Google Shape;526;p40"/>
          <p:cNvSpPr txBox="1">
            <a:spLocks noGrp="1"/>
          </p:cNvSpPr>
          <p:nvPr>
            <p:ph type="title"/>
          </p:nvPr>
        </p:nvSpPr>
        <p:spPr>
          <a:xfrm>
            <a:off x="935850" y="343480"/>
            <a:ext cx="10321955" cy="641361"/>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rgbClr val="000000"/>
              </a:buClr>
              <a:buSzPts val="4500"/>
              <a:buFont typeface="Cambria" panose="02040503050406030204"/>
              <a:buNone/>
            </a:pPr>
            <a:r>
              <a:rPr lang="en-US" b="1">
                <a:solidFill>
                  <a:srgbClr val="000000"/>
                </a:solidFill>
                <a:latin typeface="Cambria" panose="02040503050406030204"/>
                <a:ea typeface="Cambria" panose="02040503050406030204"/>
                <a:cs typeface="Cambria" panose="02040503050406030204"/>
                <a:sym typeface="Cambria" panose="02040503050406030204"/>
              </a:rPr>
              <a:t>Sumber Air Minum</a:t>
            </a:r>
            <a:endParaRPr b="1" baseline="-25000">
              <a:solidFill>
                <a:srgbClr val="000000"/>
              </a:solidFill>
              <a:latin typeface="Cambria" panose="02040503050406030204"/>
              <a:ea typeface="Cambria" panose="02040503050406030204"/>
              <a:cs typeface="Cambria" panose="02040503050406030204"/>
              <a:sym typeface="Cambria" panose="02040503050406030204"/>
            </a:endParaRPr>
          </a:p>
        </p:txBody>
      </p:sp>
      <p:sp>
        <p:nvSpPr>
          <p:cNvPr id="527" name="Google Shape;527;p40"/>
          <p:cNvSpPr txBox="1"/>
          <p:nvPr/>
        </p:nvSpPr>
        <p:spPr>
          <a:xfrm>
            <a:off x="935022" y="1131125"/>
            <a:ext cx="10321955" cy="4595750"/>
          </a:xfrm>
          <a:prstGeom prst="rect">
            <a:avLst/>
          </a:prstGeom>
          <a:solidFill>
            <a:schemeClr val="bg1"/>
          </a:solidFill>
          <a:ln>
            <a:noFill/>
          </a:ln>
        </p:spPr>
        <p:txBody>
          <a:bodyPr spcFirstLastPara="1" wrap="square" lIns="104925" tIns="52450" rIns="104925" bIns="52450" anchor="t" anchorCtr="0">
            <a:normAutofit fontScale="92500" lnSpcReduction="10000"/>
          </a:bodyPr>
          <a:lstStyle/>
          <a:p>
            <a:pPr marL="273050" indent="-273050" algn="just">
              <a:lnSpc>
                <a:spcPct val="110000"/>
              </a:lnSpc>
              <a:spcBef>
                <a:spcPts val="600"/>
              </a:spcBef>
              <a:spcAft>
                <a:spcPts val="600"/>
              </a:spcAft>
              <a:buSzPts val="2600"/>
              <a:buFont typeface="Arial" panose="020B0604020202020204"/>
              <a:buChar char="•"/>
            </a:pPr>
            <a:r>
              <a:rPr lang="id-ID" sz="2600" dirty="0">
                <a:solidFill>
                  <a:srgbClr val="000000"/>
                </a:solidFill>
                <a:latin typeface="Cambria" panose="02040503050406030204"/>
                <a:ea typeface="Cambria" panose="02040503050406030204"/>
                <a:cs typeface="Cambria" panose="02040503050406030204"/>
                <a:sym typeface="Cambria" panose="02040503050406030204"/>
              </a:rPr>
              <a:t>A</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ir</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minum</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layak</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berkualitas</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adalah</a:t>
            </a:r>
            <a:r>
              <a:rPr lang="en-US" sz="2600" dirty="0">
                <a:solidFill>
                  <a:srgbClr val="000000"/>
                </a:solidFill>
                <a:latin typeface="Cambria" panose="02040503050406030204"/>
                <a:ea typeface="Cambria" panose="02040503050406030204"/>
                <a:cs typeface="Cambria" panose="02040503050406030204"/>
                <a:sym typeface="Cambria" panose="02040503050406030204"/>
              </a:rPr>
              <a:t> air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minum</a:t>
            </a:r>
            <a:r>
              <a:rPr lang="en-US" sz="2600" dirty="0">
                <a:solidFill>
                  <a:srgbClr val="000000"/>
                </a:solidFill>
                <a:latin typeface="Cambria" panose="02040503050406030204"/>
                <a:ea typeface="Cambria" panose="02040503050406030204"/>
                <a:cs typeface="Cambria" panose="02040503050406030204"/>
                <a:sym typeface="Cambria" panose="02040503050406030204"/>
              </a:rPr>
              <a:t> yang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terlindung</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meliputi</a:t>
            </a:r>
            <a:r>
              <a:rPr lang="en-US" sz="2600" dirty="0">
                <a:solidFill>
                  <a:srgbClr val="000000"/>
                </a:solidFill>
                <a:latin typeface="Cambria" panose="02040503050406030204"/>
                <a:ea typeface="Cambria" panose="02040503050406030204"/>
                <a:cs typeface="Cambria" panose="02040503050406030204"/>
                <a:sym typeface="Cambria" panose="02040503050406030204"/>
              </a:rPr>
              <a:t> air,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keran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umum</a:t>
            </a:r>
            <a:r>
              <a:rPr lang="en-US" sz="2600" dirty="0">
                <a:solidFill>
                  <a:srgbClr val="000000"/>
                </a:solidFill>
                <a:latin typeface="Cambria" panose="02040503050406030204"/>
                <a:ea typeface="Cambria" panose="02040503050406030204"/>
                <a:cs typeface="Cambria" panose="02040503050406030204"/>
                <a:sym typeface="Cambria" panose="02040503050406030204"/>
              </a:rPr>
              <a:t>, hydrant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umum</a:t>
            </a:r>
            <a:r>
              <a:rPr lang="en-US" sz="2600" dirty="0">
                <a:solidFill>
                  <a:srgbClr val="000000"/>
                </a:solidFill>
                <a:latin typeface="Cambria" panose="02040503050406030204"/>
                <a:ea typeface="Cambria" panose="02040503050406030204"/>
                <a:cs typeface="Cambria" panose="02040503050406030204"/>
                <a:sym typeface="Cambria" panose="02040503050406030204"/>
              </a:rPr>
              <a:t>, dan terminal air. </a:t>
            </a:r>
            <a:endParaRPr lang="id-ID" sz="2600" dirty="0">
              <a:solidFill>
                <a:srgbClr val="000000"/>
              </a:solidFill>
              <a:latin typeface="Cambria" panose="02040503050406030204"/>
              <a:ea typeface="Cambria" panose="02040503050406030204"/>
              <a:cs typeface="Cambria" panose="02040503050406030204"/>
              <a:sym typeface="Cambria" panose="02040503050406030204"/>
            </a:endParaRPr>
          </a:p>
          <a:p>
            <a:pPr marL="273050" indent="-273050" algn="just">
              <a:lnSpc>
                <a:spcPct val="110000"/>
              </a:lnSpc>
              <a:spcBef>
                <a:spcPts val="600"/>
              </a:spcBef>
              <a:spcAft>
                <a:spcPts val="600"/>
              </a:spcAft>
              <a:buSzPts val="2600"/>
              <a:buFont typeface="Arial" panose="020B0604020202020204"/>
              <a:buChar char="•"/>
            </a:pPr>
            <a:r>
              <a:rPr lang="en-US" sz="2600" dirty="0" err="1">
                <a:solidFill>
                  <a:srgbClr val="000000"/>
                </a:solidFill>
                <a:latin typeface="Cambria" panose="02040503050406030204"/>
                <a:ea typeface="Cambria" panose="02040503050406030204"/>
                <a:cs typeface="Cambria" panose="02040503050406030204"/>
                <a:sym typeface="Cambria" panose="02040503050406030204"/>
              </a:rPr>
              <a:t>Selain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itu</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penampungan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air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hujan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atau</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mata</a:t>
            </a:r>
            <a:r>
              <a:rPr lang="en-US" sz="2600" dirty="0">
                <a:solidFill>
                  <a:srgbClr val="000000"/>
                </a:solidFill>
                <a:latin typeface="Cambria" panose="02040503050406030204"/>
                <a:ea typeface="Cambria" panose="02040503050406030204"/>
                <a:cs typeface="Cambria" panose="02040503050406030204"/>
                <a:sym typeface="Cambria" panose="02040503050406030204"/>
              </a:rPr>
              <a:t> air dan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sumur</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terlindung</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sumur</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bor</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atau</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sumur</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pompa</a:t>
            </a:r>
            <a:r>
              <a:rPr lang="en-US" sz="2600" dirty="0">
                <a:solidFill>
                  <a:srgbClr val="000000"/>
                </a:solidFill>
                <a:latin typeface="Cambria" panose="02040503050406030204"/>
                <a:ea typeface="Cambria" panose="02040503050406030204"/>
                <a:cs typeface="Cambria" panose="02040503050406030204"/>
                <a:sym typeface="Cambria" panose="02040503050406030204"/>
              </a:rPr>
              <a:t>, yang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jaraknya</a:t>
            </a:r>
            <a:r>
              <a:rPr lang="en-US" sz="2600" dirty="0">
                <a:solidFill>
                  <a:srgbClr val="000000"/>
                </a:solidFill>
                <a:latin typeface="Cambria" panose="02040503050406030204"/>
                <a:ea typeface="Cambria" panose="02040503050406030204"/>
                <a:cs typeface="Cambria" panose="02040503050406030204"/>
                <a:sym typeface="Cambria" panose="02040503050406030204"/>
              </a:rPr>
              <a:t> minimal 10 meter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dari</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pembuangan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kotoran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penampungan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limbah</a:t>
            </a:r>
            <a:r>
              <a:rPr lang="en-US" sz="2600" dirty="0">
                <a:solidFill>
                  <a:srgbClr val="000000"/>
                </a:solidFill>
                <a:latin typeface="Cambria" panose="02040503050406030204"/>
                <a:ea typeface="Cambria" panose="02040503050406030204"/>
                <a:cs typeface="Cambria" panose="02040503050406030204"/>
                <a:sym typeface="Cambria" panose="02040503050406030204"/>
              </a:rPr>
              <a:t> dan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pembuangan</a:t>
            </a:r>
            <a:r>
              <a:rPr lang="en-US" sz="2600" dirty="0">
                <a:solidFill>
                  <a:srgbClr val="000000"/>
                </a:solidFill>
                <a:latin typeface="Cambria" panose="02040503050406030204"/>
                <a:ea typeface="Cambria" panose="02040503050406030204"/>
                <a:cs typeface="Cambria" panose="02040503050406030204"/>
                <a:sym typeface="Cambria" panose="02040503050406030204"/>
              </a:rPr>
              <a:t> </a:t>
            </a:r>
            <a:r>
              <a:rPr lang="en-US" sz="2600" dirty="0" err="1">
                <a:solidFill>
                  <a:srgbClr val="000000"/>
                </a:solidFill>
                <a:latin typeface="Cambria" panose="02040503050406030204"/>
                <a:ea typeface="Cambria" panose="02040503050406030204"/>
                <a:cs typeface="Cambria" panose="02040503050406030204"/>
                <a:sym typeface="Cambria" panose="02040503050406030204"/>
              </a:rPr>
              <a:t>sampah</a:t>
            </a:r>
            <a:r>
              <a:rPr lang="id-ID" sz="2600" dirty="0">
                <a:solidFill>
                  <a:srgbClr val="000000"/>
                </a:solidFill>
                <a:latin typeface="Cambria" panose="02040503050406030204"/>
                <a:ea typeface="Cambria" panose="02040503050406030204"/>
                <a:cs typeface="Cambria" panose="02040503050406030204"/>
                <a:sym typeface="Cambria" panose="02040503050406030204"/>
              </a:rPr>
              <a:t>.</a:t>
            </a:r>
            <a:endParaRPr lang="id-ID" sz="2600" dirty="0">
              <a:latin typeface="Cambria" panose="02040503050406030204"/>
              <a:ea typeface="Cambria" panose="02040503050406030204"/>
              <a:sym typeface="Cambria" panose="02040503050406030204"/>
            </a:endParaRPr>
          </a:p>
          <a:p>
            <a:pPr marL="273050" indent="-273050" algn="just">
              <a:lnSpc>
                <a:spcPct val="110000"/>
              </a:lnSpc>
              <a:spcBef>
                <a:spcPts val="600"/>
              </a:spcBef>
              <a:spcAft>
                <a:spcPts val="600"/>
              </a:spcAft>
              <a:buSzPts val="2600"/>
              <a:buFont typeface="Arial" panose="020B0604020202020204"/>
              <a:buChar char="•"/>
            </a:pPr>
            <a:r>
              <a:rPr lang="id-ID" sz="2600" dirty="0">
                <a:latin typeface="Cambria" panose="02040503050406030204"/>
                <a:ea typeface="Cambria" panose="02040503050406030204"/>
              </a:rPr>
              <a:t>Tidak termasuk air kemasan, air dari penjual keliling, air yang dijual melalui </a:t>
            </a:r>
            <a:r>
              <a:rPr lang="id-ID" sz="2600" dirty="0" err="1">
                <a:latin typeface="Cambria" panose="02040503050406030204"/>
                <a:ea typeface="Cambria" panose="02040503050406030204"/>
              </a:rPr>
              <a:t>tanki</a:t>
            </a:r>
            <a:r>
              <a:rPr lang="id-ID" sz="2600" dirty="0">
                <a:latin typeface="Cambria" panose="02040503050406030204"/>
                <a:ea typeface="Cambria" panose="02040503050406030204"/>
              </a:rPr>
              <a:t>, air sumur dan mata air tidak terlindung</a:t>
            </a:r>
          </a:p>
          <a:p>
            <a:pPr marL="273050" indent="-273050" algn="just">
              <a:lnSpc>
                <a:spcPct val="110000"/>
              </a:lnSpc>
              <a:spcBef>
                <a:spcPts val="600"/>
              </a:spcBef>
              <a:spcAft>
                <a:spcPts val="600"/>
              </a:spcAft>
              <a:buSzPts val="2600"/>
              <a:buFont typeface="Arial" panose="020B0604020202020204"/>
              <a:buChar char="•"/>
            </a:pPr>
            <a:r>
              <a:rPr lang="id-ID" sz="2600" dirty="0">
                <a:latin typeface="Cambria" panose="02040503050406030204"/>
                <a:ea typeface="Cambria" panose="02040503050406030204"/>
              </a:rPr>
              <a:t>Selain mempertimbangkan sumber air minum, penghitungan akses terhadap air minum layak yang digunakan oleh BPS juga mempertimbangkan sumber air yang digunakan untuk memasak/mandi /cuci/dll.</a:t>
            </a:r>
            <a:endParaRPr sz="2600" dirty="0">
              <a:latin typeface="Cambria" panose="02040503050406030204"/>
              <a:ea typeface="Cambria" panose="02040503050406030204"/>
            </a:endParaRPr>
          </a:p>
        </p:txBody>
      </p:sp>
      <p:sp>
        <p:nvSpPr>
          <p:cNvPr id="2" name="Rectangle 1"/>
          <p:cNvSpPr/>
          <p:nvPr/>
        </p:nvSpPr>
        <p:spPr>
          <a:xfrm>
            <a:off x="2010787" y="5656829"/>
            <a:ext cx="6409127" cy="400110"/>
          </a:xfrm>
          <a:prstGeom prst="rect">
            <a:avLst/>
          </a:prstGeom>
        </p:spPr>
        <p:txBody>
          <a:bodyPr wrap="none">
            <a:spAutoFit/>
          </a:bodyPr>
          <a:lstStyle/>
          <a:p>
            <a:r>
              <a:rPr lang="id-ID" sz="2000" dirty="0"/>
              <a:t>https://sirusa.bps.go.id/sirusa/index.php/indikator/index</a:t>
            </a:r>
          </a:p>
        </p:txBody>
      </p:sp>
      <p:pic>
        <p:nvPicPr>
          <p:cNvPr id="3" name="Table Placeholder 2"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fade thruBlk="1"/>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85</a:t>
            </a:fld>
            <a:endParaRPr lang="en-US" altLang="id-ID"/>
          </a:p>
        </p:txBody>
      </p:sp>
      <p:sp>
        <p:nvSpPr>
          <p:cNvPr id="3" name="Title 1"/>
          <p:cNvSpPr>
            <a:spLocks noGrp="1"/>
          </p:cNvSpPr>
          <p:nvPr>
            <p:ph type="title"/>
          </p:nvPr>
        </p:nvSpPr>
        <p:spPr>
          <a:xfrm>
            <a:off x="935850" y="372055"/>
            <a:ext cx="10321955" cy="641361"/>
          </a:xfrm>
        </p:spPr>
        <p:txBody>
          <a:bodyPr>
            <a:noAutofit/>
          </a:bodyPr>
          <a:lstStyle/>
          <a:p>
            <a:pPr algn="ctr"/>
            <a:r>
              <a:rPr lang="en-US" sz="4000" b="1" noProof="1">
                <a:solidFill>
                  <a:srgbClr val="000000"/>
                </a:solidFill>
                <a:latin typeface="Cambria" panose="02040503050406030204" pitchFamily="18" charset="0"/>
              </a:rPr>
              <a:t>Kelayakan Tempat Buang Air Besar</a:t>
            </a:r>
            <a:endParaRPr lang="en-US" sz="4000" b="1" baseline="-25000" noProof="1">
              <a:solidFill>
                <a:srgbClr val="000000"/>
              </a:solidFill>
              <a:latin typeface="Cambria" panose="02040503050406030204" pitchFamily="18" charset="0"/>
            </a:endParaRPr>
          </a:p>
        </p:txBody>
      </p:sp>
      <p:sp>
        <p:nvSpPr>
          <p:cNvPr id="5" name="Content Placeholder 2"/>
          <p:cNvSpPr txBox="1"/>
          <p:nvPr/>
        </p:nvSpPr>
        <p:spPr>
          <a:xfrm>
            <a:off x="935850" y="1013607"/>
            <a:ext cx="10321955" cy="5296395"/>
          </a:xfrm>
          <a:prstGeom prst="rect">
            <a:avLst/>
          </a:prstGeom>
          <a:solidFill>
            <a:schemeClr val="bg1"/>
          </a:solidFill>
        </p:spPr>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273050" lvl="0" indent="-273050"/>
            <a:r>
              <a:rPr lang="en-AU" sz="2000" noProof="1">
                <a:solidFill>
                  <a:srgbClr val="000000"/>
                </a:solidFill>
                <a:latin typeface="Cambria" panose="02040503050406030204"/>
                <a:cs typeface="Cambria" panose="02040503050406030204"/>
              </a:rPr>
              <a:t>Perilaku hidup sehat ditunjukkan tersedianya fasilitas sanitasi seperti tempat BAB [buang air besar]</a:t>
            </a:r>
          </a:p>
          <a:p>
            <a:pPr marL="673100" lvl="1" indent="-273050"/>
            <a:r>
              <a:rPr lang="en-AU" sz="1800" noProof="1">
                <a:solidFill>
                  <a:srgbClr val="000000"/>
                </a:solidFill>
                <a:latin typeface="Cambria" panose="02040503050406030204"/>
                <a:cs typeface="Cambria" panose="02040503050406030204"/>
              </a:rPr>
              <a:t>disalurkan ke tempat penampungan kotoran/tinja yang layak</a:t>
            </a:r>
          </a:p>
          <a:p>
            <a:pPr marL="673100" lvl="1" indent="-273050">
              <a:spcBef>
                <a:spcPts val="0"/>
              </a:spcBef>
            </a:pPr>
            <a:r>
              <a:rPr lang="en-AU" sz="1800" noProof="1">
                <a:solidFill>
                  <a:srgbClr val="000000"/>
                </a:solidFill>
                <a:latin typeface="Cambria" panose="02040503050406030204"/>
                <a:cs typeface="Cambria" panose="02040503050406030204"/>
              </a:rPr>
              <a:t>tempat penampungan memenuhi syarat kesehatan adalah tangki septik atau Saluran Pembuangan Air Limbah (SPAL).</a:t>
            </a:r>
          </a:p>
          <a:p>
            <a:pPr marL="673100" lvl="1" indent="-273050">
              <a:spcBef>
                <a:spcPts val="0"/>
              </a:spcBef>
            </a:pPr>
            <a:r>
              <a:rPr lang="en-AU" sz="1800" noProof="1">
                <a:solidFill>
                  <a:srgbClr val="000000"/>
                </a:solidFill>
                <a:latin typeface="Cambria" panose="02040503050406030204"/>
                <a:cs typeface="Cambria" panose="02040503050406030204"/>
              </a:rPr>
              <a:t>tempat penampungan yang tidak memenuhi syarat sanitasi:  lobang tanah atau tanah terbuka =&gt; menyebabkan pencemaran terutama mencemarkan sumber air di dekatnya, menimbulkan bau</a:t>
            </a:r>
          </a:p>
          <a:p>
            <a:pPr marL="273050" indent="-273050">
              <a:spcBef>
                <a:spcPts val="1200"/>
              </a:spcBef>
            </a:pPr>
            <a:r>
              <a:rPr lang="en-AU" sz="2000" noProof="1">
                <a:solidFill>
                  <a:srgbClr val="000000"/>
                </a:solidFill>
                <a:latin typeface="Cambria" panose="02040503050406030204"/>
                <a:cs typeface="Cambria" panose="02040503050406030204"/>
              </a:rPr>
              <a:t>Jenis kloset yang digunakan menunjukkan </a:t>
            </a:r>
            <a:r>
              <a:rPr lang="en-AU" sz="2000" noProof="1">
                <a:solidFill>
                  <a:schemeClr val="bg1"/>
                </a:solidFill>
                <a:latin typeface="Cambria" panose="02040503050406030204"/>
                <a:cs typeface="Cambria" panose="02040503050406030204"/>
              </a:rPr>
              <a:t>kelayakan </a:t>
            </a:r>
            <a:r>
              <a:rPr lang="en-AU" sz="2000" noProof="1">
                <a:solidFill>
                  <a:srgbClr val="000000"/>
                </a:solidFill>
                <a:latin typeface="Cambria" panose="02040503050406030204"/>
                <a:cs typeface="Cambria" panose="02040503050406030204"/>
              </a:rPr>
              <a:t>fasilitas sanitasi yang berpengaruh terhadap risiko penularan penyakit </a:t>
            </a:r>
          </a:p>
          <a:p>
            <a:pPr marL="673100" lvl="1" indent="-273050"/>
            <a:r>
              <a:rPr lang="en-AU" sz="1800" noProof="1">
                <a:latin typeface="Cambria" panose="02040503050406030204"/>
                <a:cs typeface="Cambria" panose="02040503050406030204"/>
              </a:rPr>
              <a:t>leher angsa, plengsengan, cemplung/cubluk, atau lainnya</a:t>
            </a:r>
          </a:p>
          <a:p>
            <a:pPr marL="673100" lvl="1" indent="-273050">
              <a:spcBef>
                <a:spcPts val="0"/>
              </a:spcBef>
            </a:pPr>
            <a:r>
              <a:rPr lang="en-AU" sz="1800" noProof="1">
                <a:latin typeface="Cambria" panose="02040503050406030204"/>
                <a:cs typeface="Cambria" panose="02040503050406030204"/>
              </a:rPr>
              <a:t>plengsengan dan cemplung/cubluk merupakan jenis kloset yang tidak memenuhi syarat kesehatan</a:t>
            </a:r>
          </a:p>
          <a:p>
            <a:pPr marL="273050" indent="-273050">
              <a:spcBef>
                <a:spcPts val="1200"/>
              </a:spcBef>
            </a:pPr>
            <a:r>
              <a:rPr lang="en-AU" sz="2000" noProof="1">
                <a:latin typeface="Cambria" panose="02040503050406030204"/>
                <a:cs typeface="Cambria" panose="02040503050406030204"/>
              </a:rPr>
              <a:t>Kepemilikan</a:t>
            </a:r>
          </a:p>
          <a:p>
            <a:pPr marL="673100" lvl="1" indent="-273050">
              <a:spcBef>
                <a:spcPts val="0"/>
              </a:spcBef>
            </a:pPr>
            <a:r>
              <a:rPr lang="en-AU" sz="1800" noProof="1">
                <a:latin typeface="Cambria" panose="02040503050406030204"/>
                <a:cs typeface="Cambria" panose="02040503050406030204"/>
              </a:rPr>
              <a:t>Sendiri</a:t>
            </a:r>
          </a:p>
          <a:p>
            <a:pPr marL="673100" lvl="1" indent="-273050">
              <a:spcBef>
                <a:spcPts val="0"/>
              </a:spcBef>
            </a:pPr>
            <a:r>
              <a:rPr lang="en-AU" sz="1800" noProof="1">
                <a:latin typeface="Cambria" panose="02040503050406030204"/>
                <a:cs typeface="Cambria" panose="02040503050406030204"/>
              </a:rPr>
              <a:t>Bersama</a:t>
            </a:r>
          </a:p>
          <a:p>
            <a:pPr marL="673100" lvl="1" indent="-273050">
              <a:spcBef>
                <a:spcPts val="0"/>
              </a:spcBef>
            </a:pPr>
            <a:r>
              <a:rPr lang="en-AU" sz="1800" noProof="1">
                <a:latin typeface="Cambria" panose="02040503050406030204"/>
                <a:cs typeface="Cambria" panose="02040503050406030204"/>
              </a:rPr>
              <a:t>umum</a:t>
            </a:r>
            <a:endParaRPr lang="en-AU" sz="2000" noProof="1">
              <a:latin typeface="Cambria" panose="02040503050406030204"/>
              <a:cs typeface="Cambria" panose="02040503050406030204"/>
            </a:endParaRP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86</a:t>
            </a:fld>
            <a:endParaRPr lang="en-US" altLang="id-ID"/>
          </a:p>
        </p:txBody>
      </p:sp>
      <p:pic>
        <p:nvPicPr>
          <p:cNvPr id="3" name="Picture 2"/>
          <p:cNvPicPr>
            <a:picLocks noChangeAspect="1"/>
          </p:cNvPicPr>
          <p:nvPr/>
        </p:nvPicPr>
        <p:blipFill>
          <a:blip r:embed="rId2"/>
          <a:stretch>
            <a:fillRect/>
          </a:stretch>
        </p:blipFill>
        <p:spPr>
          <a:xfrm>
            <a:off x="1140460" y="34925"/>
            <a:ext cx="10071735" cy="6234430"/>
          </a:xfrm>
          <a:prstGeom prst="rect">
            <a:avLst/>
          </a:prstGeom>
          <a:ln>
            <a:solidFill>
              <a:schemeClr val="bg1">
                <a:lumMod val="85000"/>
              </a:schemeClr>
            </a:solidFill>
          </a:ln>
        </p:spPr>
      </p:pic>
      <p:pic>
        <p:nvPicPr>
          <p:cNvPr id="2" name="Table Placeholder 1"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87</a:t>
            </a:fld>
            <a:endParaRPr lang="en-US" altLang="id-ID"/>
          </a:p>
        </p:txBody>
      </p:sp>
      <p:pic>
        <p:nvPicPr>
          <p:cNvPr id="2" name="UN Habitat Principle For Slum Upgrading And Preven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17797" y="403761"/>
            <a:ext cx="10864604" cy="5621482"/>
          </a:xfrm>
          <a:prstGeom prst="rect">
            <a:avLst/>
          </a:prstGeom>
        </p:spPr>
      </p:pic>
      <p:pic>
        <p:nvPicPr>
          <p:cNvPr id="3" name="Table Placeholder 2" descr="A picture containing drawing, device  Description automatically generated"/>
          <p:cNvPicPr>
            <a:picLocks noGrp="1" noChangeAspect="1"/>
          </p:cNvPicPr>
          <p:nvPr>
            <p:ph type="tbl" idx="1"/>
          </p:nvPr>
        </p:nvPicPr>
        <p:blipFill rotWithShape="1">
          <a:blip r:embed="rId5">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804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88</a:t>
            </a:fld>
            <a:endParaRPr lang="en-US" altLang="id-ID"/>
          </a:p>
        </p:txBody>
      </p:sp>
      <p:sp>
        <p:nvSpPr>
          <p:cNvPr id="3" name="Title 1"/>
          <p:cNvSpPr>
            <a:spLocks noGrp="1"/>
          </p:cNvSpPr>
          <p:nvPr>
            <p:ph type="title"/>
          </p:nvPr>
        </p:nvSpPr>
        <p:spPr>
          <a:xfrm>
            <a:off x="1015339" y="274638"/>
            <a:ext cx="10203858" cy="1143000"/>
          </a:xfrm>
        </p:spPr>
        <p:txBody>
          <a:bodyPr/>
          <a:lstStyle/>
          <a:p>
            <a:pPr algn="ctr"/>
            <a:r>
              <a:rPr lang="en-US" b="1" noProof="1">
                <a:solidFill>
                  <a:srgbClr val="000000"/>
                </a:solidFill>
                <a:latin typeface="Cambria" panose="02040503050406030204" pitchFamily="18" charset="0"/>
              </a:rPr>
              <a:t>Rumah Tangga Kumuh</a:t>
            </a:r>
            <a:endParaRPr lang="id-ID" dirty="0"/>
          </a:p>
        </p:txBody>
      </p:sp>
      <p:pic>
        <p:nvPicPr>
          <p:cNvPr id="5" name="Picture 4"/>
          <p:cNvPicPr>
            <a:picLocks noChangeAspect="1"/>
          </p:cNvPicPr>
          <p:nvPr/>
        </p:nvPicPr>
        <p:blipFill>
          <a:blip r:embed="rId2"/>
          <a:stretch>
            <a:fillRect/>
          </a:stretch>
        </p:blipFill>
        <p:spPr>
          <a:xfrm>
            <a:off x="854399" y="1398309"/>
            <a:ext cx="10403407" cy="5185053"/>
          </a:xfrm>
          <a:prstGeom prst="rect">
            <a:avLst/>
          </a:prstGeom>
        </p:spPr>
      </p:pic>
      <p:pic>
        <p:nvPicPr>
          <p:cNvPr id="2" name="Table Placeholder 1" descr="A picture containing drawing, device  Description automatically generated"/>
          <p:cNvPicPr>
            <a:picLocks noGrp="1" noChangeAspect="1"/>
          </p:cNvPicPr>
          <p:nvPr>
            <p:ph type="tbl" idx="1"/>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89</a:t>
            </a:fld>
            <a:endParaRPr lang="en-US" altLang="id-ID"/>
          </a:p>
        </p:txBody>
      </p:sp>
      <p:sp>
        <p:nvSpPr>
          <p:cNvPr id="3" name="Title 1"/>
          <p:cNvSpPr txBox="1"/>
          <p:nvPr/>
        </p:nvSpPr>
        <p:spPr>
          <a:xfrm>
            <a:off x="860958" y="274638"/>
            <a:ext cx="10606963" cy="598109"/>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kern="1200">
                <a:solidFill>
                  <a:schemeClr val="tx2">
                    <a:lumMod val="60000"/>
                    <a:lumOff val="40000"/>
                  </a:schemeClr>
                </a:solidFill>
                <a:latin typeface="+mj-lt"/>
                <a:ea typeface="+mj-ea"/>
                <a:cs typeface="+mj-cs"/>
              </a:defRPr>
            </a:lvl1pPr>
          </a:lstStyle>
          <a:p>
            <a:pPr algn="ctr"/>
            <a:r>
              <a:rPr lang="en-US" b="1" noProof="1">
                <a:solidFill>
                  <a:srgbClr val="000000"/>
                </a:solidFill>
                <a:latin typeface="Cambria" panose="02040503050406030204" pitchFamily="18" charset="0"/>
              </a:rPr>
              <a:t>Rumah Tangga Kumuh</a:t>
            </a:r>
            <a:endParaRPr lang="en-US" b="1" baseline="-25000" noProof="1">
              <a:solidFill>
                <a:srgbClr val="000000"/>
              </a:solidFill>
              <a:latin typeface="Cambria" panose="02040503050406030204" pitchFamily="18" charset="0"/>
            </a:endParaRPr>
          </a:p>
        </p:txBody>
      </p:sp>
      <p:sp>
        <p:nvSpPr>
          <p:cNvPr id="5" name="Content Placeholder 10"/>
          <p:cNvSpPr txBox="1"/>
          <p:nvPr/>
        </p:nvSpPr>
        <p:spPr>
          <a:xfrm>
            <a:off x="852723" y="1235099"/>
            <a:ext cx="10606963" cy="4821314"/>
          </a:xfrm>
          <a:prstGeom prst="rect">
            <a:avLst/>
          </a:prstGeom>
          <a:solidFill>
            <a:schemeClr val="bg1"/>
          </a:solidFill>
        </p:spPr>
        <p:txBody>
          <a:bodyPr vert="horz" lIns="104927" tIns="52464" rIns="104927" bIns="52464" rtlCol="0">
            <a:no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0" indent="0" algn="just">
              <a:buFont typeface="Arial" panose="020B0604020202020204" pitchFamily="34" charset="0"/>
              <a:buNone/>
            </a:pPr>
            <a:r>
              <a:rPr lang="en-AU" sz="2400" noProof="1">
                <a:solidFill>
                  <a:srgbClr val="000000"/>
                </a:solidFill>
                <a:latin typeface="Cambria" panose="02040503050406030204"/>
                <a:cs typeface="Cambria" panose="02040503050406030204"/>
              </a:rPr>
              <a:t>Rumah tangga dikategorikan sebagai rumah tangga kumuh bila:</a:t>
            </a:r>
          </a:p>
          <a:p>
            <a:pPr marL="730250" indent="-457200" algn="just">
              <a:buFont typeface="+mj-ea"/>
              <a:buAutoNum type="circleNumDbPlain"/>
            </a:pPr>
            <a:r>
              <a:rPr lang="en-AU" sz="2400" noProof="1">
                <a:solidFill>
                  <a:srgbClr val="000000"/>
                </a:solidFill>
                <a:latin typeface="Cambria" panose="02040503050406030204"/>
                <a:cs typeface="Cambria" panose="02040503050406030204"/>
              </a:rPr>
              <a:t>Tidak memiliki akses terhadap air minum layak (15%)</a:t>
            </a:r>
          </a:p>
          <a:p>
            <a:pPr marL="730250" indent="-457200" algn="just">
              <a:buFont typeface="+mj-ea"/>
              <a:buAutoNum type="circleNumDbPlain"/>
            </a:pPr>
            <a:r>
              <a:rPr lang="en-AU" sz="2400" noProof="1">
                <a:solidFill>
                  <a:srgbClr val="000000"/>
                </a:solidFill>
                <a:latin typeface="Cambria" panose="02040503050406030204"/>
                <a:cs typeface="Cambria" panose="02040503050406030204"/>
              </a:rPr>
              <a:t>Tidak memiliki akses terhadap sanitasi layak (15%)</a:t>
            </a:r>
          </a:p>
          <a:p>
            <a:pPr marL="730250" indent="-457200" algn="just">
              <a:buFont typeface="+mj-ea"/>
              <a:buAutoNum type="circleNumDbPlain"/>
            </a:pPr>
            <a:r>
              <a:rPr lang="en-AU" sz="2400" noProof="1">
                <a:solidFill>
                  <a:srgbClr val="000000"/>
                </a:solidFill>
                <a:latin typeface="Cambria" panose="02040503050406030204"/>
                <a:cs typeface="Cambria" panose="02040503050406030204"/>
              </a:rPr>
              <a:t>Luas hunian per kapita &lt;= 7,2 m</a:t>
            </a:r>
            <a:r>
              <a:rPr lang="en-AU" sz="2400" baseline="30000" noProof="1">
                <a:solidFill>
                  <a:srgbClr val="000000"/>
                </a:solidFill>
                <a:latin typeface="Cambria" panose="02040503050406030204"/>
                <a:cs typeface="Cambria" panose="02040503050406030204"/>
              </a:rPr>
              <a:t>2</a:t>
            </a:r>
            <a:r>
              <a:rPr lang="en-AU" sz="2400" noProof="1">
                <a:solidFill>
                  <a:srgbClr val="000000"/>
                </a:solidFill>
                <a:latin typeface="Cambria" panose="02040503050406030204"/>
                <a:cs typeface="Cambria" panose="02040503050406030204"/>
              </a:rPr>
              <a:t> (35%)</a:t>
            </a:r>
          </a:p>
          <a:p>
            <a:pPr marL="730250" indent="-457200" algn="just">
              <a:buFont typeface="+mj-ea"/>
              <a:buAutoNum type="circleNumDbPlain"/>
            </a:pPr>
            <a:r>
              <a:rPr lang="en-AU" sz="2400" noProof="1">
                <a:solidFill>
                  <a:srgbClr val="000000"/>
                </a:solidFill>
                <a:latin typeface="Cambria" panose="02040503050406030204"/>
                <a:cs typeface="Cambria" panose="02040503050406030204"/>
              </a:rPr>
              <a:t>Minimal 2 kriteria </a:t>
            </a:r>
            <a:r>
              <a:rPr lang="en-AU" sz="2400" i="1" noProof="1">
                <a:solidFill>
                  <a:srgbClr val="000000"/>
                </a:solidFill>
                <a:latin typeface="Cambria" panose="02040503050406030204"/>
                <a:cs typeface="Cambria" panose="02040503050406030204"/>
              </a:rPr>
              <a:t>durability of housing</a:t>
            </a:r>
            <a:r>
              <a:rPr lang="en-AU" sz="2400" noProof="1">
                <a:solidFill>
                  <a:srgbClr val="000000"/>
                </a:solidFill>
                <a:latin typeface="Cambria" panose="02040503050406030204"/>
                <a:cs typeface="Cambria" panose="02040503050406030204"/>
              </a:rPr>
              <a:t>/ketahanan bangunan rendah </a:t>
            </a:r>
            <a:r>
              <a:rPr lang="en-AU" sz="2400" noProof="1">
                <a:solidFill>
                  <a:schemeClr val="bg1"/>
                </a:solidFill>
                <a:latin typeface="Cambria" panose="02040503050406030204"/>
                <a:cs typeface="Cambria" panose="02040503050406030204"/>
              </a:rPr>
              <a:t>terpenuhi </a:t>
            </a:r>
            <a:r>
              <a:rPr lang="en-AU" sz="2400" noProof="1">
                <a:solidFill>
                  <a:srgbClr val="000000"/>
                </a:solidFill>
                <a:latin typeface="Cambria" panose="02040503050406030204"/>
                <a:cs typeface="Cambria" panose="02040503050406030204"/>
              </a:rPr>
              <a:t>(35%):</a:t>
            </a:r>
          </a:p>
          <a:p>
            <a:pPr marL="1073150" lvl="1" indent="-263525" algn="just"/>
            <a:r>
              <a:rPr lang="en-AU" sz="2400" noProof="1">
                <a:solidFill>
                  <a:srgbClr val="000000"/>
                </a:solidFill>
                <a:latin typeface="Cambria" panose="02040503050406030204"/>
                <a:cs typeface="Cambria" panose="02040503050406030204"/>
              </a:rPr>
              <a:t>jenis atap terluas ijuk/rumbia dan lainnya</a:t>
            </a:r>
          </a:p>
          <a:p>
            <a:pPr marL="1073150" lvl="1" indent="-263525" algn="just"/>
            <a:r>
              <a:rPr lang="en-AU" sz="2400" noProof="1">
                <a:solidFill>
                  <a:srgbClr val="000000"/>
                </a:solidFill>
                <a:latin typeface="Cambria" panose="02040503050406030204"/>
                <a:cs typeface="Cambria" panose="02040503050406030204"/>
              </a:rPr>
              <a:t>jenis dinding terluas bambu dan lainnya</a:t>
            </a:r>
          </a:p>
          <a:p>
            <a:pPr marL="1073150" lvl="1" indent="-263525" algn="just"/>
            <a:r>
              <a:rPr lang="en-AU" sz="2400" noProof="1">
                <a:solidFill>
                  <a:srgbClr val="000000"/>
                </a:solidFill>
                <a:latin typeface="Cambria" panose="02040503050406030204"/>
                <a:cs typeface="Cambria" panose="02040503050406030204"/>
              </a:rPr>
              <a:t>jenis lantai terluas tanah.</a:t>
            </a:r>
          </a:p>
          <a:p>
            <a:pPr marL="0" indent="0" algn="just">
              <a:buFont typeface="Arial" panose="020B0604020202020204" pitchFamily="34" charset="0"/>
              <a:buNone/>
            </a:pPr>
            <a:r>
              <a:rPr lang="en-AU" sz="2400" noProof="1">
                <a:solidFill>
                  <a:srgbClr val="000000"/>
                </a:solidFill>
                <a:latin typeface="Cambria" panose="02040503050406030204"/>
                <a:cs typeface="Cambria" panose="02040503050406030204"/>
              </a:rPr>
              <a:t>Jika seluruh kriteria 1-4 di atas digabung, nilai kategori &gt;35%, maka rumah tangga tersebut dikategorikan sebagai rumah tangga kumuh</a:t>
            </a: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90</a:t>
            </a:fld>
            <a:endParaRPr lang="en-US" altLang="id-ID"/>
          </a:p>
        </p:txBody>
      </p:sp>
      <p:sp>
        <p:nvSpPr>
          <p:cNvPr id="3" name="Rectangle 5"/>
          <p:cNvSpPr txBox="1">
            <a:spLocks noChangeArrowheads="1"/>
          </p:cNvSpPr>
          <p:nvPr/>
        </p:nvSpPr>
        <p:spPr>
          <a:xfrm>
            <a:off x="934174" y="1484784"/>
            <a:ext cx="10347380" cy="4419600"/>
          </a:xfrm>
          <a:prstGeom prst="rect">
            <a:avLst/>
          </a:prstGeom>
          <a:solidFill>
            <a:schemeClr val="bg1"/>
          </a:solidFill>
        </p:spPr>
        <p:txBody>
          <a:bodyPr vert="horz" lIns="104927" tIns="52464" rIns="104927" bIns="52464" rtlCol="0">
            <a:normAutofit/>
          </a:bodyPr>
          <a:lstStyle>
            <a:lvl1pPr marL="356870" indent="-356870" algn="l" defTabSz="951865" rtl="0" eaLnBrk="1" latinLnBrk="0" hangingPunct="1">
              <a:spcBef>
                <a:spcPct val="20000"/>
              </a:spcBef>
              <a:buFont typeface="Arial" panose="020B0604020202020204" pitchFamily="34" charset="0"/>
              <a:buChar char="•"/>
              <a:defRPr sz="3355" kern="1200">
                <a:solidFill>
                  <a:schemeClr val="tx1"/>
                </a:solidFill>
                <a:latin typeface="+mn-lt"/>
                <a:ea typeface="+mn-ea"/>
                <a:cs typeface="+mn-cs"/>
              </a:defRPr>
            </a:lvl1pPr>
            <a:lvl2pPr marL="773430" indent="-297180" algn="l" defTabSz="951865"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2pPr>
            <a:lvl3pPr marL="1189355" indent="-238125" algn="l" defTabSz="951865"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6560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4pPr>
            <a:lvl5pPr marL="214122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5pPr>
            <a:lvl6pPr marL="261683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6pPr>
            <a:lvl7pPr marL="3093085"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7pPr>
            <a:lvl8pPr marL="356870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8pPr>
            <a:lvl9pPr marL="4044950" indent="-238125" algn="l" defTabSz="951865" rtl="0" eaLnBrk="1" latinLnBrk="0" hangingPunct="1">
              <a:spcBef>
                <a:spcPct val="20000"/>
              </a:spcBef>
              <a:buFont typeface="Arial" panose="020B0604020202020204" pitchFamily="34" charset="0"/>
              <a:buChar char="•"/>
              <a:defRPr sz="2085" kern="1200">
                <a:solidFill>
                  <a:schemeClr val="tx1"/>
                </a:solidFill>
                <a:latin typeface="+mn-lt"/>
                <a:ea typeface="+mn-ea"/>
                <a:cs typeface="+mn-cs"/>
              </a:defRPr>
            </a:lvl9pPr>
          </a:lstStyle>
          <a:p>
            <a:pPr marL="273050" indent="-273050" defTabSz="914400">
              <a:lnSpc>
                <a:spcPct val="120000"/>
              </a:lnSpc>
              <a:spcBef>
                <a:spcPts val="600"/>
              </a:spcBef>
              <a:spcAft>
                <a:spcPts val="1200"/>
              </a:spcAft>
            </a:pPr>
            <a:r>
              <a:rPr lang="en-AU" sz="2600" noProof="1">
                <a:solidFill>
                  <a:srgbClr val="000000"/>
                </a:solidFill>
                <a:latin typeface="Cambria" panose="02040503050406030204" pitchFamily="18" charset="0"/>
                <a:ea typeface="Verdana" panose="020B0604030504040204" pitchFamily="34" charset="0"/>
                <a:cs typeface="Verdana" panose="020B0604030504040204" pitchFamily="34" charset="0"/>
              </a:rPr>
              <a:t>Sensus/survei yang mengumpulkan keterangan perumahan</a:t>
            </a:r>
          </a:p>
          <a:p>
            <a:pPr marL="898525" lvl="1" indent="-361950" defTabSz="914400">
              <a:lnSpc>
                <a:spcPct val="120000"/>
              </a:lnSpc>
              <a:spcBef>
                <a:spcPts val="600"/>
              </a:spcBef>
              <a:spcAft>
                <a:spcPts val="1200"/>
              </a:spcAft>
            </a:pPr>
            <a:r>
              <a:rPr lang="en-AU" sz="2600" noProof="1">
                <a:solidFill>
                  <a:srgbClr val="000000"/>
                </a:solidFill>
                <a:latin typeface="Cambria" panose="02040503050406030204" pitchFamily="18" charset="0"/>
                <a:ea typeface="Verdana" panose="020B0604030504040204" pitchFamily="34" charset="0"/>
                <a:cs typeface="Verdana" panose="020B0604030504040204" pitchFamily="34" charset="0"/>
              </a:rPr>
              <a:t>Sensus Penduduk</a:t>
            </a:r>
          </a:p>
          <a:p>
            <a:pPr marL="898525" lvl="1" indent="-361950" defTabSz="914400">
              <a:lnSpc>
                <a:spcPct val="120000"/>
              </a:lnSpc>
              <a:spcBef>
                <a:spcPts val="600"/>
              </a:spcBef>
              <a:spcAft>
                <a:spcPts val="1200"/>
              </a:spcAft>
            </a:pPr>
            <a:r>
              <a:rPr lang="en-AU" sz="2600" noProof="1">
                <a:solidFill>
                  <a:srgbClr val="000000"/>
                </a:solidFill>
                <a:latin typeface="Cambria" panose="02040503050406030204" pitchFamily="18" charset="0"/>
                <a:ea typeface="Verdana" panose="020B0604030504040204" pitchFamily="34" charset="0"/>
                <a:cs typeface="Verdana" panose="020B0604030504040204" pitchFamily="34" charset="0"/>
              </a:rPr>
              <a:t>Survei Penduduk Antar-Sensus</a:t>
            </a:r>
          </a:p>
          <a:p>
            <a:pPr marL="898525" lvl="1" indent="-361950" defTabSz="914400">
              <a:lnSpc>
                <a:spcPct val="120000"/>
              </a:lnSpc>
              <a:spcBef>
                <a:spcPts val="600"/>
              </a:spcBef>
              <a:spcAft>
                <a:spcPts val="1200"/>
              </a:spcAft>
            </a:pPr>
            <a:r>
              <a:rPr lang="en-AU" sz="2600" noProof="1">
                <a:solidFill>
                  <a:srgbClr val="000000"/>
                </a:solidFill>
                <a:latin typeface="Cambria" panose="02040503050406030204" pitchFamily="18" charset="0"/>
                <a:ea typeface="Verdana" panose="020B0604030504040204" pitchFamily="34" charset="0"/>
                <a:cs typeface="Verdana" panose="020B0604030504040204" pitchFamily="34" charset="0"/>
              </a:rPr>
              <a:t>Survei Demografi dan Kesehatan Indonesia</a:t>
            </a:r>
          </a:p>
          <a:p>
            <a:pPr marL="898525" lvl="1" indent="-361950" defTabSz="914400">
              <a:lnSpc>
                <a:spcPct val="120000"/>
              </a:lnSpc>
              <a:spcBef>
                <a:spcPts val="600"/>
              </a:spcBef>
              <a:spcAft>
                <a:spcPts val="1200"/>
              </a:spcAft>
            </a:pPr>
            <a:r>
              <a:rPr lang="en-AU" sz="2600" noProof="1">
                <a:solidFill>
                  <a:srgbClr val="000000"/>
                </a:solidFill>
                <a:latin typeface="Cambria" panose="02040503050406030204" pitchFamily="18" charset="0"/>
                <a:ea typeface="Verdana" panose="020B0604030504040204" pitchFamily="34" charset="0"/>
                <a:cs typeface="Verdana" panose="020B0604030504040204" pitchFamily="34" charset="0"/>
              </a:rPr>
              <a:t>Survei Sosial Ekonomi Nasional</a:t>
            </a:r>
          </a:p>
        </p:txBody>
      </p:sp>
      <p:sp>
        <p:nvSpPr>
          <p:cNvPr id="5" name="Title 1"/>
          <p:cNvSpPr txBox="1"/>
          <p:nvPr/>
        </p:nvSpPr>
        <p:spPr>
          <a:xfrm>
            <a:off x="789704" y="274638"/>
            <a:ext cx="10521557" cy="71108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2">
                    <a:lumMod val="60000"/>
                    <a:lumOff val="40000"/>
                  </a:schemeClr>
                </a:solidFill>
                <a:latin typeface="+mj-lt"/>
                <a:ea typeface="+mj-ea"/>
                <a:cs typeface="+mj-cs"/>
              </a:defRPr>
            </a:lvl1pPr>
          </a:lstStyle>
          <a:p>
            <a:pPr algn="ctr"/>
            <a:r>
              <a:rPr lang="en-US" sz="3200" b="1" noProof="1">
                <a:solidFill>
                  <a:srgbClr val="000000"/>
                </a:solidFill>
                <a:latin typeface="Cambria" panose="02040503050406030204" pitchFamily="18" charset="0"/>
              </a:rPr>
              <a:t>Sumber Data Indikator Perumahan</a:t>
            </a:r>
            <a:endParaRPr lang="en-US" sz="3200" b="1" baseline="-25000" noProof="1">
              <a:solidFill>
                <a:srgbClr val="000000"/>
              </a:solidFill>
              <a:latin typeface="Cambria" panose="02040503050406030204" pitchFamily="18" charset="0"/>
            </a:endParaRPr>
          </a:p>
        </p:txBody>
      </p:sp>
      <p:pic>
        <p:nvPicPr>
          <p:cNvPr id="2" name="Table Placeholder 1" descr="A picture containing drawing, device  Description automatically generated"/>
          <p:cNvPicPr>
            <a:picLocks noGrp="1" noChangeAspect="1"/>
          </p:cNvPicPr>
          <p:nvPr>
            <p:ph type="tbl" idx="1"/>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635" y="6269355"/>
            <a:ext cx="12191365" cy="588645"/>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B671D77-DC8B-41CA-BDFA-63B03DA9354E}" type="slidenum">
              <a:rPr lang="en-US" altLang="id-ID" smtClean="0"/>
              <a:t>91</a:t>
            </a:fld>
            <a:endParaRPr lang="en-US" altLang="id-ID"/>
          </a:p>
        </p:txBody>
      </p:sp>
      <p:pic>
        <p:nvPicPr>
          <p:cNvPr id="6" name="Picture 5"/>
          <p:cNvPicPr>
            <a:picLocks noChangeAspect="1"/>
          </p:cNvPicPr>
          <p:nvPr/>
        </p:nvPicPr>
        <p:blipFill>
          <a:blip r:embed="rId2"/>
          <a:stretch>
            <a:fillRect/>
          </a:stretch>
        </p:blipFill>
        <p:spPr>
          <a:xfrm>
            <a:off x="0" y="720728"/>
            <a:ext cx="12192000" cy="4920628"/>
          </a:xfrm>
          <a:prstGeom prst="rect">
            <a:avLst/>
          </a:prstGeom>
          <a:solidFill>
            <a:schemeClr val="bg1"/>
          </a:solidFill>
        </p:spPr>
      </p:pic>
      <p:pic>
        <p:nvPicPr>
          <p:cNvPr id="5" name="Picture 4" descr="A picture containing drawing, device  Description automatically generated"/>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27648" t="90352"/>
          <a:stretch>
            <a:fillRect/>
          </a:stretch>
        </p:blipFill>
        <p:spPr>
          <a:xfrm>
            <a:off x="0" y="6286691"/>
            <a:ext cx="12192001" cy="689610"/>
          </a:xfrm>
          <a:prstGeom prst="rect">
            <a:avLst/>
          </a:prstGeom>
          <a:ln>
            <a:noFill/>
          </a:ln>
          <a:effectLst>
            <a:outerShdw blurRad="190500" algn="tl" rotWithShape="0">
              <a:srgbClr val="000000">
                <a:alpha val="70000"/>
              </a:srgbClr>
            </a:outerShdw>
          </a:effectLst>
        </p:spPr>
      </p:pic>
    </p:spTree>
  </p:cSld>
  <p:clrMapOvr>
    <a:masterClrMapping/>
  </p:clrMapOvr>
  <p:transition spd="slow">
    <p:dissolve/>
  </p:transition>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3242A4-1E6A-4E02-809C-4A24066EC01D}">
  <ds:schemaRefs/>
</ds:datastoreItem>
</file>

<file path=customXml/itemProps2.xml><?xml version="1.0" encoding="utf-8"?>
<ds:datastoreItem xmlns:ds="http://schemas.openxmlformats.org/officeDocument/2006/customXml" ds:itemID="{FBD2D995-20F0-4C14-BF62-1248AB4B484D}">
  <ds:schemaRefs>
    <ds:schemaRef ds:uri="http://schemas.openxmlformats.org/package/2006/metadata/core-properties"/>
    <ds:schemaRef ds:uri="71af3243-3dd4-4a8d-8c0d-dd76da1f02a5"/>
    <ds:schemaRef ds:uri="http://purl.org/dc/dcmitype/"/>
    <ds:schemaRef ds:uri="http://purl.org/dc/terms/"/>
    <ds:schemaRef ds:uri="http://schemas.microsoft.com/office/2006/documentManagement/types"/>
    <ds:schemaRef ds:uri="16c05727-aa75-4e4a-9b5f-8a80a1165891"/>
    <ds:schemaRef ds:uri="http://www.w3.org/XML/1998/namespace"/>
    <ds:schemaRef ds:uri="http://purl.org/dc/elements/1.1/"/>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965255AC-12AC-4323-AA35-9BAC798B66BD}">
  <ds:schemaRefs/>
</ds:datastoreItem>
</file>

<file path=docProps/app.xml><?xml version="1.0" encoding="utf-8"?>
<Properties xmlns="http://schemas.openxmlformats.org/officeDocument/2006/extended-properties" xmlns:vt="http://schemas.openxmlformats.org/officeDocument/2006/docPropsVTypes">
  <Template>{E0CCF368-FE97-4907-8EA7-BB4A2D24863F}tf67061901_win32</Template>
  <TotalTime>4</TotalTime>
  <Words>6373</Words>
  <Application>Microsoft Office PowerPoint</Application>
  <PresentationFormat>Widescreen</PresentationFormat>
  <Paragraphs>1097</Paragraphs>
  <Slides>91</Slides>
  <Notes>38</Notes>
  <HiddenSlides>0</HiddenSlides>
  <MMClips>5</MMClips>
  <ScaleCrop>false</ScaleCrop>
  <HeadingPairs>
    <vt:vector size="8" baseType="variant">
      <vt:variant>
        <vt:lpstr>Fonts Used</vt:lpstr>
      </vt:variant>
      <vt:variant>
        <vt:i4>17</vt:i4>
      </vt:variant>
      <vt:variant>
        <vt:lpstr>Theme</vt:lpstr>
      </vt:variant>
      <vt:variant>
        <vt:i4>3</vt:i4>
      </vt:variant>
      <vt:variant>
        <vt:lpstr>Embedded OLE Servers</vt:lpstr>
      </vt:variant>
      <vt:variant>
        <vt:i4>1</vt:i4>
      </vt:variant>
      <vt:variant>
        <vt:lpstr>Slide Titles</vt:lpstr>
      </vt:variant>
      <vt:variant>
        <vt:i4>91</vt:i4>
      </vt:variant>
    </vt:vector>
  </HeadingPairs>
  <TitlesOfParts>
    <vt:vector size="112" baseType="lpstr">
      <vt:lpstr>MS PGothic</vt:lpstr>
      <vt:lpstr>Arial</vt:lpstr>
      <vt:lpstr>Arial Narrow</vt:lpstr>
      <vt:lpstr>Arial Rounded MT Bold</vt:lpstr>
      <vt:lpstr>Calibri</vt:lpstr>
      <vt:lpstr>Calibri Light</vt:lpstr>
      <vt:lpstr>Cambria</vt:lpstr>
      <vt:lpstr>Cambria Math</vt:lpstr>
      <vt:lpstr>Corbel</vt:lpstr>
      <vt:lpstr>Courier New</vt:lpstr>
      <vt:lpstr>Georgia</vt:lpstr>
      <vt:lpstr>Lucida Grande</vt:lpstr>
      <vt:lpstr>Roboto</vt:lpstr>
      <vt:lpstr>Tahoma</vt:lpstr>
      <vt:lpstr>Times New Roman</vt:lpstr>
      <vt:lpstr>Verdana</vt:lpstr>
      <vt:lpstr>Wingdings</vt:lpstr>
      <vt:lpstr>2_Office Theme</vt:lpstr>
      <vt:lpstr>Retrospect</vt:lpstr>
      <vt:lpstr>1_Office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Kegunaan Angka Kematian Bayi, Neonatal, Post Neo Natal, anak dan Balita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Pendahuluan</vt:lpstr>
      <vt:lpstr>Nutrisi Sepanjang Siklus Hidup</vt:lpstr>
      <vt:lpstr>PowerPoint Presentation</vt:lpstr>
      <vt:lpstr>PowerPoint Presentation</vt:lpstr>
      <vt:lpstr>Penilaian Status Gizi(1)</vt:lpstr>
      <vt:lpstr>Penilaian Status Gizi(2)</vt:lpstr>
      <vt:lpstr>Penilaian Status Gizi(3)</vt:lpstr>
      <vt:lpstr>Penilaian Status Gizi(4)</vt:lpstr>
      <vt:lpstr>Konsep dan Definisi(1)</vt:lpstr>
      <vt:lpstr>Konsep dan Definisi(2)</vt:lpstr>
      <vt:lpstr>Kategori dan Ambang Batas Status Gizi Anak Berdasarkan Indeks(1)</vt:lpstr>
      <vt:lpstr>Kategori dan Ambang Batas Status Gizi Anak Berdasarkan Indeks(2)</vt:lpstr>
      <vt:lpstr>PowerPoint Presentation</vt:lpstr>
      <vt:lpstr>PowerPoint Presentation</vt:lpstr>
      <vt:lpstr>Prevalensi Stunting (Pendek dan Sangat Pendek) pada Anak di Bawah 5 Tahun/Balita</vt:lpstr>
      <vt:lpstr>Prevalensi Stunting (Pendek dan Sangat Pendek) pada Anak di Bawah 5 Tahun (Balita)</vt:lpstr>
      <vt:lpstr>Prevalensi Stunting (Pendek dan Sangat Pendek) pada Anak di Bawah 5 Tahun (Balita)</vt:lpstr>
      <vt:lpstr>PowerPoint Presentation</vt:lpstr>
      <vt:lpstr>PowerPoint Presentation</vt:lpstr>
      <vt:lpstr>Pendahuluan [1]</vt:lpstr>
      <vt:lpstr>Pendahuluan [2]</vt:lpstr>
      <vt:lpstr>PowerPoint Presentation</vt:lpstr>
      <vt:lpstr>PowerPoint Presentation</vt:lpstr>
      <vt:lpstr>Prinsip Dasar Rumah Sehat</vt:lpstr>
      <vt:lpstr>Pasokan Air Bersih dan Aman</vt:lpstr>
      <vt:lpstr>Sanitasi Pembuangan Tinja</vt:lpstr>
      <vt:lpstr>Pembuangan Limbah Padat Rumah Tangga</vt:lpstr>
      <vt:lpstr>Pembuangan Limbah Padat Rumah Tangga</vt:lpstr>
      <vt:lpstr>Drainase Air Permukaan</vt:lpstr>
      <vt:lpstr>Kebersihan Pribadi dan Rumah Tangga</vt:lpstr>
      <vt:lpstr>Penyiapan Makanan yang Aman</vt:lpstr>
      <vt:lpstr>Perlindungan Struktural terhadap Penularan Penyakit</vt:lpstr>
      <vt:lpstr>Indikator Perumahan</vt:lpstr>
      <vt:lpstr>PowerPoint Presentation</vt:lpstr>
      <vt:lpstr>PowerPoint Presentation</vt:lpstr>
      <vt:lpstr>PowerPoint Presentation</vt:lpstr>
      <vt:lpstr>Indeks Komposit Kondisi Rumah</vt:lpstr>
      <vt:lpstr>Indeks Komposit Rumah Tidak Layak Huni</vt:lpstr>
      <vt:lpstr>Indeks Komposit Rumah Tidak Layak Huni</vt:lpstr>
      <vt:lpstr>PowerPoint Presentation</vt:lpstr>
      <vt:lpstr>Sumber Air Minum</vt:lpstr>
      <vt:lpstr>Kelayakan Tempat Buang Air Besar</vt:lpstr>
      <vt:lpstr>PowerPoint Presentation</vt:lpstr>
      <vt:lpstr>PowerPoint Presentation</vt:lpstr>
      <vt:lpstr>Rumah Tangga Kumuh</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NN</cp:lastModifiedBy>
  <cp:revision>94</cp:revision>
  <dcterms:created xsi:type="dcterms:W3CDTF">2022-02-03T05:49:00Z</dcterms:created>
  <dcterms:modified xsi:type="dcterms:W3CDTF">2026-05-30T12:16:13Z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555EF4DCDA98469F918A00705A288F92_12</vt:lpwstr>
  </property>
  <property fmtid="{D5CDD505-2E9C-101B-9397-08002B2CF9AE}" pid="4" name="KSOProductBuildVer">
    <vt:lpwstr>1033-12.2.0.13489</vt:lpwstr>
  </property>
</Properties>
</file>