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Default Extension="mp4" ContentType="video/mp4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2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4"/>
    <p:sldMasterId id="2147483683" r:id="rId5"/>
    <p:sldMasterId id="2147483695" r:id="rId6"/>
    <p:sldMasterId id="2147483707" r:id="rId7"/>
  </p:sldMasterIdLst>
  <p:notesMasterIdLst>
    <p:notesMasterId r:id="rId52"/>
  </p:notesMasterIdLst>
  <p:handoutMasterIdLst>
    <p:handoutMasterId r:id="rId53"/>
  </p:handoutMasterIdLst>
  <p:sldIdLst>
    <p:sldId id="257" r:id="rId8"/>
    <p:sldId id="2619" r:id="rId9"/>
    <p:sldId id="354" r:id="rId10"/>
    <p:sldId id="381" r:id="rId11"/>
    <p:sldId id="382" r:id="rId12"/>
    <p:sldId id="383" r:id="rId13"/>
    <p:sldId id="384" r:id="rId14"/>
    <p:sldId id="388" r:id="rId15"/>
    <p:sldId id="389" r:id="rId16"/>
    <p:sldId id="2641" r:id="rId17"/>
    <p:sldId id="385" r:id="rId18"/>
    <p:sldId id="2644" r:id="rId19"/>
    <p:sldId id="2645" r:id="rId20"/>
    <p:sldId id="2642" r:id="rId21"/>
    <p:sldId id="386" r:id="rId22"/>
    <p:sldId id="387" r:id="rId23"/>
    <p:sldId id="2646" r:id="rId24"/>
    <p:sldId id="2647" r:id="rId25"/>
    <p:sldId id="2648" r:id="rId26"/>
    <p:sldId id="390" r:id="rId27"/>
    <p:sldId id="392" r:id="rId28"/>
    <p:sldId id="393" r:id="rId29"/>
    <p:sldId id="394" r:id="rId30"/>
    <p:sldId id="395" r:id="rId31"/>
    <p:sldId id="303" r:id="rId32"/>
    <p:sldId id="2636" r:id="rId33"/>
    <p:sldId id="2637" r:id="rId34"/>
    <p:sldId id="2638" r:id="rId35"/>
    <p:sldId id="2640" r:id="rId36"/>
    <p:sldId id="2620" r:id="rId37"/>
    <p:sldId id="2621" r:id="rId38"/>
    <p:sldId id="2622" r:id="rId39"/>
    <p:sldId id="2623" r:id="rId40"/>
    <p:sldId id="2624" r:id="rId41"/>
    <p:sldId id="2625" r:id="rId42"/>
    <p:sldId id="2626" r:id="rId43"/>
    <p:sldId id="2627" r:id="rId44"/>
    <p:sldId id="2628" r:id="rId45"/>
    <p:sldId id="2629" r:id="rId46"/>
    <p:sldId id="2630" r:id="rId47"/>
    <p:sldId id="2631" r:id="rId48"/>
    <p:sldId id="2632" r:id="rId49"/>
    <p:sldId id="2633" r:id="rId50"/>
    <p:sldId id="380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272" autoAdjust="0"/>
  </p:normalViewPr>
  <p:slideViewPr>
    <p:cSldViewPr snapToGrid="0">
      <p:cViewPr varScale="1">
        <p:scale>
          <a:sx n="59" d="100"/>
          <a:sy n="59" d="100"/>
        </p:scale>
        <p:origin x="89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theme" Target="theme/theme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tableStyles" Target="tableStyle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Workbook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6"/>
            <c:spPr>
              <a:solidFill>
                <a:srgbClr val="000090"/>
              </a:solidFill>
              <a:ln>
                <a:noFill/>
              </a:ln>
            </c:spPr>
          </c:marker>
          <c:trendline>
            <c:spPr>
              <a:ln>
                <a:noFill/>
              </a:ln>
            </c:spPr>
            <c:trendlineType val="linear"/>
            <c:dispRSqr val="0"/>
            <c:dispEq val="0"/>
          </c:trendline>
          <c:trendline>
            <c:spPr>
              <a:ln>
                <a:noFill/>
              </a:ln>
            </c:spPr>
            <c:trendlineType val="linear"/>
            <c:dispRSqr val="0"/>
            <c:dispEq val="0"/>
          </c:trendline>
          <c:xVal>
            <c:numRef>
              <c:f>Sheet2!$A$2:$A$104</c:f>
              <c:numCache>
                <c:formatCode>General</c:formatCode>
                <c:ptCount val="103"/>
                <c:pt idx="0">
                  <c:v>0</c:v>
                </c:pt>
                <c:pt idx="1">
                  <c:v>25</c:v>
                </c:pt>
                <c:pt idx="2">
                  <c:v>60</c:v>
                </c:pt>
                <c:pt idx="3">
                  <c:v>100</c:v>
                </c:pt>
                <c:pt idx="4">
                  <c:v>120</c:v>
                </c:pt>
                <c:pt idx="5">
                  <c:v>140</c:v>
                </c:pt>
                <c:pt idx="6">
                  <c:v>160</c:v>
                </c:pt>
                <c:pt idx="7">
                  <c:v>180</c:v>
                </c:pt>
                <c:pt idx="8">
                  <c:v>200</c:v>
                </c:pt>
                <c:pt idx="9">
                  <c:v>220</c:v>
                </c:pt>
                <c:pt idx="10">
                  <c:v>235</c:v>
                </c:pt>
                <c:pt idx="11">
                  <c:v>250</c:v>
                </c:pt>
                <c:pt idx="14">
                  <c:v>275</c:v>
                </c:pt>
                <c:pt idx="19">
                  <c:v>300</c:v>
                </c:pt>
                <c:pt idx="24">
                  <c:v>330</c:v>
                </c:pt>
                <c:pt idx="29">
                  <c:v>360</c:v>
                </c:pt>
                <c:pt idx="34">
                  <c:v>380</c:v>
                </c:pt>
                <c:pt idx="39">
                  <c:v>400</c:v>
                </c:pt>
                <c:pt idx="44">
                  <c:v>430</c:v>
                </c:pt>
                <c:pt idx="49">
                  <c:v>450</c:v>
                </c:pt>
                <c:pt idx="54">
                  <c:v>480</c:v>
                </c:pt>
                <c:pt idx="59">
                  <c:v>520</c:v>
                </c:pt>
                <c:pt idx="64">
                  <c:v>550</c:v>
                </c:pt>
                <c:pt idx="69">
                  <c:v>600</c:v>
                </c:pt>
                <c:pt idx="74">
                  <c:v>640</c:v>
                </c:pt>
                <c:pt idx="77">
                  <c:v>670</c:v>
                </c:pt>
                <c:pt idx="79">
                  <c:v>700</c:v>
                </c:pt>
                <c:pt idx="84">
                  <c:v>740</c:v>
                </c:pt>
                <c:pt idx="86">
                  <c:v>760</c:v>
                </c:pt>
                <c:pt idx="89">
                  <c:v>800</c:v>
                </c:pt>
                <c:pt idx="90">
                  <c:v>810</c:v>
                </c:pt>
                <c:pt idx="91">
                  <c:v>825</c:v>
                </c:pt>
                <c:pt idx="92">
                  <c:v>840</c:v>
                </c:pt>
                <c:pt idx="93">
                  <c:v>860</c:v>
                </c:pt>
                <c:pt idx="96">
                  <c:v>900</c:v>
                </c:pt>
                <c:pt idx="97">
                  <c:v>920</c:v>
                </c:pt>
                <c:pt idx="98">
                  <c:v>950</c:v>
                </c:pt>
                <c:pt idx="99">
                  <c:v>1000</c:v>
                </c:pt>
                <c:pt idx="100">
                  <c:v>1040</c:v>
                </c:pt>
                <c:pt idx="101">
                  <c:v>1080</c:v>
                </c:pt>
                <c:pt idx="102">
                  <c:v>1120</c:v>
                </c:pt>
              </c:numCache>
            </c:numRef>
          </c:xVal>
          <c:yVal>
            <c:numRef>
              <c:f>Sheet2!$B$2:$B$104</c:f>
              <c:numCache>
                <c:formatCode>General</c:formatCode>
                <c:ptCount val="103"/>
                <c:pt idx="0">
                  <c:v>1</c:v>
                </c:pt>
                <c:pt idx="1">
                  <c:v>1.25</c:v>
                </c:pt>
                <c:pt idx="2">
                  <c:v>2</c:v>
                </c:pt>
                <c:pt idx="3">
                  <c:v>3.2</c:v>
                </c:pt>
                <c:pt idx="4">
                  <c:v>4</c:v>
                </c:pt>
                <c:pt idx="5">
                  <c:v>4.5</c:v>
                </c:pt>
                <c:pt idx="6">
                  <c:v>5</c:v>
                </c:pt>
                <c:pt idx="7">
                  <c:v>6</c:v>
                </c:pt>
                <c:pt idx="8">
                  <c:v>7</c:v>
                </c:pt>
                <c:pt idx="9">
                  <c:v>8</c:v>
                </c:pt>
                <c:pt idx="10">
                  <c:v>9</c:v>
                </c:pt>
                <c:pt idx="11">
                  <c:v>10</c:v>
                </c:pt>
                <c:pt idx="12">
                  <c:v>11</c:v>
                </c:pt>
                <c:pt idx="13">
                  <c:v>12</c:v>
                </c:pt>
                <c:pt idx="14">
                  <c:v>13</c:v>
                </c:pt>
                <c:pt idx="15">
                  <c:v>14</c:v>
                </c:pt>
                <c:pt idx="16">
                  <c:v>15</c:v>
                </c:pt>
                <c:pt idx="17">
                  <c:v>16</c:v>
                </c:pt>
                <c:pt idx="18">
                  <c:v>17</c:v>
                </c:pt>
                <c:pt idx="19">
                  <c:v>18</c:v>
                </c:pt>
                <c:pt idx="20">
                  <c:v>19</c:v>
                </c:pt>
                <c:pt idx="21">
                  <c:v>20</c:v>
                </c:pt>
                <c:pt idx="22">
                  <c:v>21</c:v>
                </c:pt>
                <c:pt idx="23">
                  <c:v>22</c:v>
                </c:pt>
                <c:pt idx="24">
                  <c:v>23</c:v>
                </c:pt>
                <c:pt idx="25">
                  <c:v>24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28</c:v>
                </c:pt>
                <c:pt idx="30">
                  <c:v>29</c:v>
                </c:pt>
                <c:pt idx="31">
                  <c:v>30</c:v>
                </c:pt>
                <c:pt idx="32">
                  <c:v>31</c:v>
                </c:pt>
                <c:pt idx="33">
                  <c:v>32</c:v>
                </c:pt>
                <c:pt idx="34">
                  <c:v>33</c:v>
                </c:pt>
                <c:pt idx="35">
                  <c:v>34</c:v>
                </c:pt>
                <c:pt idx="36">
                  <c:v>35</c:v>
                </c:pt>
                <c:pt idx="37">
                  <c:v>36</c:v>
                </c:pt>
                <c:pt idx="38">
                  <c:v>37</c:v>
                </c:pt>
                <c:pt idx="39">
                  <c:v>38</c:v>
                </c:pt>
                <c:pt idx="40">
                  <c:v>39</c:v>
                </c:pt>
                <c:pt idx="41">
                  <c:v>40</c:v>
                </c:pt>
                <c:pt idx="42">
                  <c:v>41</c:v>
                </c:pt>
                <c:pt idx="43">
                  <c:v>42</c:v>
                </c:pt>
                <c:pt idx="44">
                  <c:v>43</c:v>
                </c:pt>
                <c:pt idx="45">
                  <c:v>44</c:v>
                </c:pt>
                <c:pt idx="46">
                  <c:v>45</c:v>
                </c:pt>
                <c:pt idx="47">
                  <c:v>46</c:v>
                </c:pt>
                <c:pt idx="48">
                  <c:v>47</c:v>
                </c:pt>
                <c:pt idx="49">
                  <c:v>48</c:v>
                </c:pt>
                <c:pt idx="50">
                  <c:v>49</c:v>
                </c:pt>
                <c:pt idx="51">
                  <c:v>50</c:v>
                </c:pt>
                <c:pt idx="52">
                  <c:v>51</c:v>
                </c:pt>
                <c:pt idx="53">
                  <c:v>52</c:v>
                </c:pt>
                <c:pt idx="54">
                  <c:v>53</c:v>
                </c:pt>
                <c:pt idx="55">
                  <c:v>54</c:v>
                </c:pt>
                <c:pt idx="56">
                  <c:v>55</c:v>
                </c:pt>
                <c:pt idx="57">
                  <c:v>56</c:v>
                </c:pt>
                <c:pt idx="58">
                  <c:v>57</c:v>
                </c:pt>
                <c:pt idx="59">
                  <c:v>58</c:v>
                </c:pt>
                <c:pt idx="60">
                  <c:v>59</c:v>
                </c:pt>
                <c:pt idx="61">
                  <c:v>60</c:v>
                </c:pt>
                <c:pt idx="62">
                  <c:v>61</c:v>
                </c:pt>
                <c:pt idx="63">
                  <c:v>62</c:v>
                </c:pt>
                <c:pt idx="64">
                  <c:v>63</c:v>
                </c:pt>
                <c:pt idx="65">
                  <c:v>64</c:v>
                </c:pt>
                <c:pt idx="66">
                  <c:v>65</c:v>
                </c:pt>
                <c:pt idx="67">
                  <c:v>66</c:v>
                </c:pt>
                <c:pt idx="68">
                  <c:v>67</c:v>
                </c:pt>
                <c:pt idx="69">
                  <c:v>68</c:v>
                </c:pt>
                <c:pt idx="70">
                  <c:v>69</c:v>
                </c:pt>
                <c:pt idx="71">
                  <c:v>70</c:v>
                </c:pt>
                <c:pt idx="72">
                  <c:v>71</c:v>
                </c:pt>
                <c:pt idx="73">
                  <c:v>72</c:v>
                </c:pt>
                <c:pt idx="74">
                  <c:v>73</c:v>
                </c:pt>
                <c:pt idx="75">
                  <c:v>74</c:v>
                </c:pt>
                <c:pt idx="76">
                  <c:v>75</c:v>
                </c:pt>
                <c:pt idx="77">
                  <c:v>76</c:v>
                </c:pt>
                <c:pt idx="78">
                  <c:v>77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98.75</c:v>
                </c:pt>
                <c:pt idx="100">
                  <c:v>98.9</c:v>
                </c:pt>
                <c:pt idx="101">
                  <c:v>99</c:v>
                </c:pt>
                <c:pt idx="102">
                  <c:v>99.2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D9BC-47F7-8AAA-350FBD71216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571769696"/>
        <c:axId val="-571781120"/>
      </c:scatterChart>
      <c:valAx>
        <c:axId val="-571769696"/>
        <c:scaling>
          <c:orientation val="minMax"/>
          <c:max val="40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crossAx val="-571781120"/>
        <c:crosses val="autoZero"/>
        <c:crossBetween val="midCat"/>
      </c:valAx>
      <c:valAx>
        <c:axId val="-571781120"/>
        <c:scaling>
          <c:orientation val="minMax"/>
          <c:max val="40"/>
          <c:min val="0"/>
        </c:scaling>
        <c:delete val="0"/>
        <c:axPos val="l"/>
        <c:majorGridlines>
          <c:spPr>
            <a:ln w="6350">
              <a:prstDash val="sysDot"/>
            </a:ln>
          </c:spPr>
        </c:majorGridlines>
        <c:numFmt formatCode="General" sourceLinked="1"/>
        <c:majorTickMark val="out"/>
        <c:minorTickMark val="none"/>
        <c:tickLblPos val="nextTo"/>
        <c:crossAx val="-571769696"/>
        <c:crosses val="autoZero"/>
        <c:crossBetween val="midCat"/>
      </c:valAx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6020712261568004"/>
          <c:y val="8.7412736650350764E-2"/>
          <c:w val="0.78036372628928019"/>
          <c:h val="0.60139962815441328"/>
        </c:manualLayout>
      </c:layout>
      <c:scatterChart>
        <c:scatterStyle val="smoothMarker"/>
        <c:varyColors val="0"/>
        <c:ser>
          <c:idx val="0"/>
          <c:order val="0"/>
          <c:tx>
            <c:v>Line of total equality</c:v>
          </c:tx>
          <c:spPr>
            <a:ln w="12700">
              <a:solidFill>
                <a:srgbClr val="FF000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[1]Gini!$J$6:$J$7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[1]Gini!$K$6:$K$7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F03-45A5-8C01-EA324F5ACECB}"/>
            </c:ext>
          </c:extLst>
        </c:ser>
        <c:ser>
          <c:idx val="1"/>
          <c:order val="1"/>
          <c:tx>
            <c:v>Kurva lorenz</c:v>
          </c:tx>
          <c:spPr>
            <a:ln w="12700">
              <a:solidFill>
                <a:srgbClr val="008000"/>
              </a:solidFill>
              <a:prstDash val="solid"/>
            </a:ln>
          </c:spPr>
          <c:marker>
            <c:symbol val="square"/>
            <c:size val="5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xVal>
            <c:numRef>
              <c:f>[1]Gini!$G$5:$G$10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0.60000000000000009</c:v>
                </c:pt>
                <c:pt idx="4">
                  <c:v>0.8</c:v>
                </c:pt>
                <c:pt idx="5">
                  <c:v>1</c:v>
                </c:pt>
              </c:numCache>
            </c:numRef>
          </c:xVal>
          <c:yVal>
            <c:numRef>
              <c:f>[1]Gini!$F$5:$F$10</c:f>
              <c:numCache>
                <c:formatCode>General</c:formatCode>
                <c:ptCount val="6"/>
                <c:pt idx="0">
                  <c:v>0</c:v>
                </c:pt>
                <c:pt idx="1">
                  <c:v>7.1942446043165464E-2</c:v>
                </c:pt>
                <c:pt idx="2">
                  <c:v>0.1726618705035971</c:v>
                </c:pt>
                <c:pt idx="3">
                  <c:v>0.31654676258992803</c:v>
                </c:pt>
                <c:pt idx="4">
                  <c:v>0.49640287769784169</c:v>
                </c:pt>
                <c:pt idx="5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F03-45A5-8C01-EA324F5ACE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571767520"/>
        <c:axId val="-571780032"/>
      </c:scatterChart>
      <c:valAx>
        <c:axId val="-571767520"/>
        <c:scaling>
          <c:orientation val="minMax"/>
          <c:max val="1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Kumulatif % penduduk</a:t>
                </a:r>
              </a:p>
            </c:rich>
          </c:tx>
          <c:layout>
            <c:manualLayout>
              <c:xMode val="edge"/>
              <c:yMode val="edge"/>
              <c:x val="0.3875979843604821"/>
              <c:y val="0.7832182515647081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-571780032"/>
        <c:crosses val="autoZero"/>
        <c:crossBetween val="midCat"/>
      </c:valAx>
      <c:valAx>
        <c:axId val="-571780032"/>
        <c:scaling>
          <c:orientation val="minMax"/>
          <c:max val="1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Kumulatif % konsumsi</a:t>
                </a:r>
              </a:p>
            </c:rich>
          </c:tx>
          <c:layout>
            <c:manualLayout>
              <c:xMode val="edge"/>
              <c:yMode val="edge"/>
              <c:x val="4.1343669250645997E-2"/>
              <c:y val="0.16783253491914907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-571767520"/>
        <c:crosses val="autoZero"/>
        <c:crossBetween val="midCat"/>
        <c:majorUnit val="0.2"/>
      </c:valAx>
      <c:spPr>
        <a:gradFill rotWithShape="0">
          <a:gsLst>
            <a:gs pos="0">
              <a:srgbClr val="FFFF99"/>
            </a:gs>
            <a:gs pos="100000">
              <a:srgbClr val="FF9900"/>
            </a:gs>
          </a:gsLst>
          <a:lin ang="5400000" scaled="1"/>
        </a:gradFill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24586776859504136"/>
          <c:y val="0.89727463312368971"/>
          <c:w val="0.60330578512396693"/>
          <c:h val="7.8266946191474493E-2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8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04AAB5-9205-4507-8599-BA35944847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28AF0-D227-4300-B6E3-A14EE48C66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880F6-B574-42BC-BB47-F435F8AB9625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45B0B-0EC5-41B4-8B86-772A28E515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BF681-1F94-4800-B7C1-DD23214C77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8E37-38B1-4F55-B4FA-DC8275372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718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99F25-213B-4B5F-AEBB-627FCF0601C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71F94-8AAF-4E82-A393-F130E1267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65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2EE79-61B8-40D7-879D-8E51F5D30D9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820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6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94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Catatan</a:t>
            </a:r>
            <a:r>
              <a:rPr lang="en-US" dirty="0"/>
              <a:t> di </a:t>
            </a:r>
            <a:r>
              <a:rPr lang="en-US" dirty="0" err="1"/>
              <a:t>tahun</a:t>
            </a:r>
            <a:r>
              <a:rPr lang="en-US" dirty="0"/>
              <a:t> 2022:</a:t>
            </a:r>
          </a:p>
          <a:p>
            <a:r>
              <a:rPr lang="en-US" dirty="0"/>
              <a:t>$1 PPP = Rp. 4.850,74</a:t>
            </a:r>
          </a:p>
          <a:p>
            <a:r>
              <a:rPr lang="id-ID" dirty="0"/>
              <a:t>https://data.oecd.org/conversion/purchasing-power-parities-ppp.htm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9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Catatan</a:t>
            </a:r>
            <a:r>
              <a:rPr lang="en-US" dirty="0"/>
              <a:t> di </a:t>
            </a:r>
            <a:r>
              <a:rPr lang="en-US" dirty="0" err="1"/>
              <a:t>tahun</a:t>
            </a:r>
            <a:r>
              <a:rPr lang="en-US" dirty="0"/>
              <a:t> 2022:</a:t>
            </a:r>
          </a:p>
          <a:p>
            <a:r>
              <a:rPr lang="en-US" dirty="0"/>
              <a:t>$1 PPP = Rp. 4.850,74</a:t>
            </a:r>
          </a:p>
          <a:p>
            <a:r>
              <a:rPr lang="id-ID" dirty="0"/>
              <a:t>https://data.oecd.org/conversion/purchasing-power-parities-ppp.htm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82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Model </a:t>
            </a:r>
            <a:r>
              <a:rPr lang="en-US" sz="1200" i="1" dirty="0">
                <a:solidFill>
                  <a:srgbClr val="000000"/>
                </a:solidFill>
                <a:latin typeface="Arial Narrow"/>
                <a:cs typeface="Arial Narrow"/>
              </a:rPr>
              <a:t>Proxy-Means Testing</a:t>
            </a:r>
            <a:r>
              <a:rPr lang="en-US" sz="1200" dirty="0">
                <a:solidFill>
                  <a:srgbClr val="000000"/>
                </a:solidFill>
                <a:latin typeface="Arial Narrow"/>
                <a:cs typeface="Arial Narrow"/>
              </a:rPr>
              <a:t> (PMT)</a:t>
            </a:r>
            <a:r>
              <a:rPr lang="en-US" dirty="0"/>
              <a:t> </a:t>
            </a:r>
            <a:r>
              <a:rPr lang="en-US" dirty="0" err="1"/>
              <a:t>dibangun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data </a:t>
            </a:r>
            <a:r>
              <a:rPr lang="en-US" dirty="0" err="1"/>
              <a:t>makro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SUSENAS yang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statistik</a:t>
            </a:r>
            <a:r>
              <a:rPr lang="en-US" dirty="0"/>
              <a:t> </a:t>
            </a:r>
            <a:r>
              <a:rPr lang="en-US" dirty="0" err="1"/>
              <a:t>mencerminkan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rumah</a:t>
            </a:r>
            <a:r>
              <a:rPr lang="en-US" dirty="0"/>
              <a:t> </a:t>
            </a:r>
            <a:r>
              <a:rPr lang="en-US" dirty="0" err="1"/>
              <a:t>tangga</a:t>
            </a:r>
            <a:r>
              <a:rPr lang="en-US" dirty="0"/>
              <a:t> di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 di Indonesia dan  </a:t>
            </a:r>
            <a:r>
              <a:rPr lang="en-US" dirty="0" err="1"/>
              <a:t>mengakomodasi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kabupaten</a:t>
            </a:r>
            <a:r>
              <a:rPr lang="en-US" dirty="0"/>
              <a:t>/</a:t>
            </a:r>
            <a:r>
              <a:rPr lang="en-US" dirty="0" err="1"/>
              <a:t>kota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model </a:t>
            </a:r>
            <a:r>
              <a:rPr lang="en-US" dirty="0" err="1"/>
              <a:t>tersendiri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variabel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jadi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penentu</a:t>
            </a:r>
            <a:r>
              <a:rPr lang="en-US" dirty="0"/>
              <a:t> </a:t>
            </a:r>
            <a:r>
              <a:rPr lang="en-US" dirty="0" err="1"/>
              <a:t>kesejahteraan</a:t>
            </a:r>
            <a:r>
              <a:rPr lang="en-US" dirty="0"/>
              <a:t> di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daerah</a:t>
            </a:r>
            <a:r>
              <a:rPr lang="en-US" dirty="0"/>
              <a:t> </a:t>
            </a:r>
            <a:r>
              <a:rPr lang="en-US" dirty="0" err="1"/>
              <a:t>namun</a:t>
            </a:r>
            <a:r>
              <a:rPr lang="en-US" dirty="0"/>
              <a:t> </a:t>
            </a:r>
            <a:r>
              <a:rPr lang="en-US" dirty="0" err="1"/>
              <a:t>bukan</a:t>
            </a:r>
            <a:r>
              <a:rPr lang="en-US" dirty="0"/>
              <a:t> </a:t>
            </a:r>
            <a:r>
              <a:rPr lang="en-US" dirty="0" err="1"/>
              <a:t>pembeda</a:t>
            </a:r>
            <a:r>
              <a:rPr lang="en-US" dirty="0"/>
              <a:t> </a:t>
            </a:r>
            <a:r>
              <a:rPr lang="en-US" dirty="0" err="1"/>
              <a:t>kesejahteraan</a:t>
            </a:r>
            <a:r>
              <a:rPr lang="en-US" dirty="0"/>
              <a:t> di </a:t>
            </a:r>
            <a:r>
              <a:rPr lang="en-US" dirty="0" err="1"/>
              <a:t>daerah</a:t>
            </a:r>
            <a:r>
              <a:rPr lang="en-US" dirty="0"/>
              <a:t> lain.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50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8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2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44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27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04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65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44151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037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8489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39348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955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E8DF69-FFB1-4D3A-9D8C-5887E79674D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8302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320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570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3760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888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87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rgbClr val="000000"/>
                </a:solidFill>
              </a:rPr>
              <a:t>Kelompok</a:t>
            </a:r>
            <a:r>
              <a:rPr lang="en-US" sz="1200" dirty="0">
                <a:solidFill>
                  <a:srgbClr val="000000"/>
                </a:solidFill>
              </a:rPr>
              <a:t> ‘</a:t>
            </a:r>
            <a:r>
              <a:rPr lang="en-US" sz="1200" b="1" i="1" dirty="0">
                <a:solidFill>
                  <a:srgbClr val="000000"/>
                </a:solidFill>
              </a:rPr>
              <a:t>near poor</a:t>
            </a:r>
            <a:r>
              <a:rPr lang="en-US" sz="1200" dirty="0">
                <a:solidFill>
                  <a:srgbClr val="000000"/>
                </a:solidFill>
              </a:rPr>
              <a:t>’ </a:t>
            </a:r>
            <a:r>
              <a:rPr lang="en-US" sz="1200" dirty="0" err="1">
                <a:solidFill>
                  <a:srgbClr val="000000"/>
                </a:solidFill>
              </a:rPr>
              <a:t>beresiko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mengalami</a:t>
            </a:r>
            <a:r>
              <a:rPr lang="en-US" sz="1200" dirty="0">
                <a:solidFill>
                  <a:srgbClr val="000000"/>
                </a:solidFill>
              </a:rPr>
              <a:t> episode </a:t>
            </a:r>
            <a:r>
              <a:rPr lang="en-US" sz="1200" dirty="0" err="1">
                <a:solidFill>
                  <a:srgbClr val="000000"/>
                </a:solidFill>
              </a:rPr>
              <a:t>kemiskinan</a:t>
            </a:r>
            <a:r>
              <a:rPr lang="en-US" sz="1200" dirty="0">
                <a:solidFill>
                  <a:srgbClr val="000000"/>
                </a:solidFill>
              </a:rPr>
              <a:t>, </a:t>
            </a:r>
            <a:r>
              <a:rPr lang="en-US" sz="1200" dirty="0" err="1">
                <a:solidFill>
                  <a:srgbClr val="000000"/>
                </a:solidFill>
              </a:rPr>
              <a:t>yaitu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masuk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ke</a:t>
            </a:r>
            <a:r>
              <a:rPr lang="en-US" sz="1200" dirty="0">
                <a:solidFill>
                  <a:srgbClr val="000000"/>
                </a:solidFill>
              </a:rPr>
              <a:t>-dan-</a:t>
            </a:r>
            <a:r>
              <a:rPr lang="en-US" sz="1200" dirty="0" err="1">
                <a:solidFill>
                  <a:srgbClr val="000000"/>
                </a:solidFill>
              </a:rPr>
              <a:t>keluar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dari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jurang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kemiskinan</a:t>
            </a:r>
            <a:r>
              <a:rPr lang="en-US" sz="1200" dirty="0">
                <a:solidFill>
                  <a:srgbClr val="000000"/>
                </a:solidFill>
              </a:rPr>
              <a:t>. </a:t>
            </a:r>
            <a:r>
              <a:rPr lang="en-US" sz="1200" dirty="0" err="1">
                <a:solidFill>
                  <a:srgbClr val="000000"/>
                </a:solidFill>
              </a:rPr>
              <a:t>Mengingat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standar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hidupnya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sedikit</a:t>
            </a:r>
            <a:r>
              <a:rPr lang="en-US" sz="1200" dirty="0">
                <a:solidFill>
                  <a:srgbClr val="000000"/>
                </a:solidFill>
              </a:rPr>
              <a:t> di </a:t>
            </a:r>
            <a:r>
              <a:rPr lang="en-US" sz="1200" dirty="0" err="1">
                <a:solidFill>
                  <a:srgbClr val="000000"/>
                </a:solidFill>
              </a:rPr>
              <a:t>atas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ambang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kemiskinan</a:t>
            </a:r>
            <a:r>
              <a:rPr lang="en-US" sz="1200" dirty="0">
                <a:solidFill>
                  <a:srgbClr val="000000"/>
                </a:solidFill>
              </a:rPr>
              <a:t>, status </a:t>
            </a:r>
            <a:r>
              <a:rPr lang="en-US" sz="1200" dirty="0" err="1">
                <a:solidFill>
                  <a:srgbClr val="000000"/>
                </a:solidFill>
              </a:rPr>
              <a:t>kesejahteraan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mereka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relatif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mudah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berubah</a:t>
            </a:r>
            <a:r>
              <a:rPr lang="en-US" sz="1200" dirty="0">
                <a:solidFill>
                  <a:srgbClr val="000000"/>
                </a:solidFill>
              </a:rPr>
              <a:t>, </a:t>
            </a:r>
            <a:r>
              <a:rPr lang="en-US" sz="1200" dirty="0" err="1">
                <a:solidFill>
                  <a:srgbClr val="000000"/>
                </a:solidFill>
              </a:rPr>
              <a:t>yaitu</a:t>
            </a:r>
            <a:r>
              <a:rPr lang="en-US" sz="1200" dirty="0">
                <a:solidFill>
                  <a:srgbClr val="000000"/>
                </a:solidFill>
              </a:rPr>
              <a:t> miskin </a:t>
            </a:r>
            <a:r>
              <a:rPr lang="en-US" sz="1200" dirty="0" err="1">
                <a:solidFill>
                  <a:srgbClr val="000000"/>
                </a:solidFill>
              </a:rPr>
              <a:t>atau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tidak</a:t>
            </a:r>
            <a:r>
              <a:rPr lang="en-US" sz="1200" dirty="0">
                <a:solidFill>
                  <a:srgbClr val="000000"/>
                </a:solidFill>
              </a:rPr>
              <a:t> miskin, </a:t>
            </a:r>
            <a:r>
              <a:rPr lang="en-US" sz="1200" dirty="0" err="1">
                <a:solidFill>
                  <a:srgbClr val="000000"/>
                </a:solidFill>
              </a:rPr>
              <a:t>atau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sensitif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terhadap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fluktuasi</a:t>
            </a:r>
            <a:r>
              <a:rPr lang="en-US" sz="1200" dirty="0">
                <a:solidFill>
                  <a:srgbClr val="000000"/>
                </a:solidFill>
              </a:rPr>
              <a:t> dan </a:t>
            </a:r>
            <a:r>
              <a:rPr lang="en-US" sz="1200" dirty="0" err="1">
                <a:solidFill>
                  <a:srgbClr val="000000"/>
                </a:solidFill>
              </a:rPr>
              <a:t>gejolak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drastis</a:t>
            </a:r>
            <a:r>
              <a:rPr lang="en-US" sz="1200" dirty="0">
                <a:solidFill>
                  <a:srgbClr val="000000"/>
                </a:solidFill>
              </a:rPr>
              <a:t> yang </a:t>
            </a:r>
            <a:r>
              <a:rPr lang="en-US" sz="1200" dirty="0" err="1">
                <a:solidFill>
                  <a:srgbClr val="000000"/>
                </a:solidFill>
              </a:rPr>
              <a:t>langsung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mengganggu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kehidupan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ekonomi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keluarganya</a:t>
            </a:r>
            <a:r>
              <a:rPr lang="en-US" sz="1200" dirty="0">
                <a:solidFill>
                  <a:srgbClr val="000000"/>
                </a:solidFill>
              </a:rPr>
              <a:t>, </a:t>
            </a:r>
            <a:r>
              <a:rPr lang="en-US" sz="1200" dirty="0" err="1">
                <a:solidFill>
                  <a:srgbClr val="000000"/>
                </a:solidFill>
              </a:rPr>
              <a:t>seperti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krisis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moneter</a:t>
            </a:r>
            <a:r>
              <a:rPr lang="en-US" sz="1200" dirty="0">
                <a:solidFill>
                  <a:srgbClr val="000000"/>
                </a:solidFill>
              </a:rPr>
              <a:t>, </a:t>
            </a:r>
            <a:r>
              <a:rPr lang="en-US" sz="1200" dirty="0" err="1">
                <a:solidFill>
                  <a:srgbClr val="000000"/>
                </a:solidFill>
              </a:rPr>
              <a:t>bencana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alam</a:t>
            </a:r>
            <a:r>
              <a:rPr lang="en-US" sz="1200" dirty="0">
                <a:solidFill>
                  <a:srgbClr val="000000"/>
                </a:solidFill>
              </a:rPr>
              <a:t>, </a:t>
            </a:r>
            <a:r>
              <a:rPr lang="en-US" sz="1200" dirty="0" err="1">
                <a:solidFill>
                  <a:srgbClr val="000000"/>
                </a:solidFill>
              </a:rPr>
              <a:t>kematian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pencari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nafkah</a:t>
            </a:r>
            <a:r>
              <a:rPr lang="en-US" sz="1200" dirty="0">
                <a:solidFill>
                  <a:srgbClr val="000000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9689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err="1"/>
              <a:t>Perkembangan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dan </a:t>
            </a:r>
            <a:r>
              <a:rPr lang="en-US" altLang="en-US" dirty="0" err="1"/>
              <a:t>persentase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pada </a:t>
            </a:r>
            <a:r>
              <a:rPr lang="en-US" altLang="en-US" dirty="0" err="1"/>
              <a:t>periode</a:t>
            </a:r>
            <a:r>
              <a:rPr lang="en-US" altLang="en-US" dirty="0"/>
              <a:t> 1996-2006 </a:t>
            </a:r>
            <a:r>
              <a:rPr lang="en-US" altLang="en-US" dirty="0" err="1"/>
              <a:t>berfluktuasi</a:t>
            </a:r>
            <a:r>
              <a:rPr lang="en-US" altLang="en-US" dirty="0"/>
              <a:t> </a:t>
            </a:r>
            <a:r>
              <a:rPr lang="en-US" altLang="en-US" dirty="0" err="1"/>
              <a:t>dengan</a:t>
            </a:r>
            <a:r>
              <a:rPr lang="en-US" altLang="en-US" dirty="0"/>
              <a:t> </a:t>
            </a:r>
            <a:r>
              <a:rPr lang="en-US" altLang="en-US" dirty="0" err="1"/>
              <a:t>kecenderungan</a:t>
            </a:r>
            <a:r>
              <a:rPr lang="en-US" altLang="en-US" dirty="0"/>
              <a:t> </a:t>
            </a:r>
            <a:r>
              <a:rPr lang="en-US" altLang="en-US" dirty="0" err="1"/>
              <a:t>menurun</a:t>
            </a:r>
            <a:r>
              <a:rPr lang="en-US" altLang="en-US" dirty="0"/>
              <a:t> pada </a:t>
            </a:r>
            <a:r>
              <a:rPr lang="en-US" altLang="en-US" dirty="0" err="1"/>
              <a:t>periode</a:t>
            </a:r>
            <a:r>
              <a:rPr lang="en-US" altLang="en-US" dirty="0"/>
              <a:t> 2000-2005.</a:t>
            </a:r>
          </a:p>
          <a:p>
            <a:endParaRPr lang="en-US" altLang="en-US" dirty="0"/>
          </a:p>
          <a:p>
            <a:r>
              <a:rPr lang="en-US" altLang="en-US" dirty="0"/>
              <a:t>Pada </a:t>
            </a:r>
            <a:r>
              <a:rPr lang="en-US" altLang="en-US" dirty="0" err="1"/>
              <a:t>periode</a:t>
            </a:r>
            <a:r>
              <a:rPr lang="en-US" altLang="en-US" dirty="0"/>
              <a:t> 1996-1999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</a:t>
            </a:r>
            <a:r>
              <a:rPr lang="en-US" altLang="en-US" dirty="0" err="1"/>
              <a:t>meningkat</a:t>
            </a:r>
            <a:r>
              <a:rPr lang="en-US" altLang="en-US" dirty="0"/>
              <a:t> </a:t>
            </a:r>
            <a:r>
              <a:rPr lang="en-US" altLang="en-US" dirty="0" err="1"/>
              <a:t>sebesar</a:t>
            </a:r>
            <a:r>
              <a:rPr lang="en-US" altLang="en-US" dirty="0"/>
              <a:t> 13,96 </a:t>
            </a:r>
            <a:r>
              <a:rPr lang="en-US" altLang="en-US" dirty="0" err="1"/>
              <a:t>juta</a:t>
            </a:r>
            <a:r>
              <a:rPr lang="en-US" altLang="en-US" dirty="0"/>
              <a:t> </a:t>
            </a:r>
            <a:r>
              <a:rPr lang="en-US" altLang="en-US" dirty="0" err="1"/>
              <a:t>karena</a:t>
            </a:r>
            <a:r>
              <a:rPr lang="en-US" altLang="en-US" dirty="0"/>
              <a:t> </a:t>
            </a:r>
            <a:r>
              <a:rPr lang="en-US" altLang="en-US" dirty="0" err="1"/>
              <a:t>krisis</a:t>
            </a:r>
            <a:r>
              <a:rPr lang="en-US" altLang="en-US" dirty="0"/>
              <a:t> </a:t>
            </a:r>
            <a:r>
              <a:rPr lang="en-US" altLang="en-US" dirty="0" err="1"/>
              <a:t>ekonomi</a:t>
            </a:r>
            <a:r>
              <a:rPr lang="en-US" altLang="en-US" dirty="0"/>
              <a:t>.  Pada </a:t>
            </a:r>
            <a:r>
              <a:rPr lang="en-US" altLang="en-US" dirty="0" err="1"/>
              <a:t>periode</a:t>
            </a:r>
            <a:r>
              <a:rPr lang="en-US" altLang="en-US" dirty="0"/>
              <a:t> 1999-20005 </a:t>
            </a:r>
            <a:r>
              <a:rPr lang="en-US" altLang="en-US" dirty="0" err="1"/>
              <a:t>terjadi</a:t>
            </a:r>
            <a:r>
              <a:rPr lang="en-US" altLang="en-US" dirty="0"/>
              <a:t> </a:t>
            </a:r>
            <a:r>
              <a:rPr lang="en-US" altLang="en-US" dirty="0" err="1"/>
              <a:t>penurunan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miskin.</a:t>
            </a:r>
          </a:p>
          <a:p>
            <a:endParaRPr lang="en-US" altLang="en-US" dirty="0"/>
          </a:p>
          <a:p>
            <a:r>
              <a:rPr lang="en-US" altLang="en-US" dirty="0"/>
              <a:t>Pada </a:t>
            </a:r>
            <a:r>
              <a:rPr lang="en-US" altLang="en-US" dirty="0" err="1"/>
              <a:t>Februari</a:t>
            </a:r>
            <a:r>
              <a:rPr lang="en-US" altLang="en-US" dirty="0"/>
              <a:t> 2005-Maret 2006 </a:t>
            </a:r>
            <a:r>
              <a:rPr lang="en-US" altLang="en-US" dirty="0" err="1"/>
              <a:t>terjadi</a:t>
            </a:r>
            <a:r>
              <a:rPr lang="en-US" altLang="en-US" dirty="0"/>
              <a:t> </a:t>
            </a:r>
            <a:r>
              <a:rPr lang="en-US" altLang="en-US" dirty="0" err="1"/>
              <a:t>peningkatan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</a:t>
            </a:r>
            <a:r>
              <a:rPr lang="en-US" altLang="en-US" dirty="0" err="1"/>
              <a:t>akibat</a:t>
            </a:r>
            <a:r>
              <a:rPr lang="en-US" altLang="en-US" dirty="0"/>
              <a:t> </a:t>
            </a:r>
            <a:r>
              <a:rPr lang="en-US" altLang="en-US" dirty="0" err="1"/>
              <a:t>kenaikan</a:t>
            </a:r>
            <a:r>
              <a:rPr lang="en-US" altLang="en-US" dirty="0"/>
              <a:t> </a:t>
            </a:r>
            <a:r>
              <a:rPr lang="en-US" altLang="en-US" dirty="0" err="1"/>
              <a:t>harga</a:t>
            </a:r>
            <a:r>
              <a:rPr lang="en-US" altLang="en-US" dirty="0"/>
              <a:t> </a:t>
            </a:r>
            <a:r>
              <a:rPr lang="en-US" altLang="en-US" dirty="0" err="1"/>
              <a:t>minyak</a:t>
            </a:r>
            <a:r>
              <a:rPr lang="en-US" altLang="en-US" dirty="0"/>
              <a:t> dunia </a:t>
            </a:r>
            <a:r>
              <a:rPr lang="en-US" altLang="en-US" dirty="0" err="1"/>
              <a:t>sebanyak</a:t>
            </a:r>
            <a:r>
              <a:rPr lang="en-US" altLang="en-US" dirty="0"/>
              <a:t> 2 kali </a:t>
            </a:r>
            <a:r>
              <a:rPr lang="en-US" altLang="en-US" dirty="0" err="1"/>
              <a:t>selama</a:t>
            </a:r>
            <a:r>
              <a:rPr lang="en-US" altLang="en-US" dirty="0"/>
              <a:t> </a:t>
            </a:r>
            <a:r>
              <a:rPr lang="en-US" altLang="en-US" dirty="0" err="1"/>
              <a:t>tahun</a:t>
            </a:r>
            <a:r>
              <a:rPr lang="en-US" altLang="en-US" dirty="0"/>
              <a:t> 2005 dan </a:t>
            </a:r>
            <a:r>
              <a:rPr lang="en-US" altLang="en-US" dirty="0" err="1"/>
              <a:t>mengharuskan</a:t>
            </a:r>
            <a:r>
              <a:rPr lang="en-US" altLang="en-US" dirty="0"/>
              <a:t> </a:t>
            </a:r>
            <a:r>
              <a:rPr lang="en-US" altLang="en-US" dirty="0" err="1"/>
              <a:t>pemerintah</a:t>
            </a:r>
            <a:r>
              <a:rPr lang="en-US" altLang="en-US" dirty="0"/>
              <a:t> </a:t>
            </a:r>
            <a:r>
              <a:rPr lang="en-US" altLang="en-US" dirty="0" err="1"/>
              <a:t>mengurangi</a:t>
            </a:r>
            <a:r>
              <a:rPr lang="en-US" altLang="en-US" dirty="0"/>
              <a:t> </a:t>
            </a:r>
            <a:r>
              <a:rPr lang="en-US" altLang="en-US" dirty="0" err="1"/>
              <a:t>subsidi</a:t>
            </a:r>
            <a:r>
              <a:rPr lang="en-US" altLang="en-US" dirty="0"/>
              <a:t> BBM. Hal </a:t>
            </a:r>
            <a:r>
              <a:rPr lang="en-US" altLang="en-US" dirty="0" err="1"/>
              <a:t>ini</a:t>
            </a:r>
            <a:r>
              <a:rPr lang="en-US" altLang="en-US" dirty="0"/>
              <a:t> juga </a:t>
            </a:r>
            <a:r>
              <a:rPr lang="en-US" altLang="en-US" dirty="0" err="1"/>
              <a:t>memicu</a:t>
            </a:r>
            <a:r>
              <a:rPr lang="en-US" altLang="en-US" dirty="0"/>
              <a:t> </a:t>
            </a:r>
            <a:r>
              <a:rPr lang="en-US" altLang="en-US" dirty="0" err="1"/>
              <a:t>kenaikan</a:t>
            </a:r>
            <a:r>
              <a:rPr lang="en-US" altLang="en-US" dirty="0"/>
              <a:t> </a:t>
            </a:r>
            <a:r>
              <a:rPr lang="en-US" altLang="en-US" dirty="0" err="1"/>
              <a:t>inflasi</a:t>
            </a:r>
            <a:r>
              <a:rPr lang="en-US" altLang="en-US" dirty="0"/>
              <a:t> yang pada </a:t>
            </a:r>
            <a:r>
              <a:rPr lang="en-US" altLang="en-US" dirty="0" err="1"/>
              <a:t>periode</a:t>
            </a:r>
            <a:r>
              <a:rPr lang="en-US" altLang="en-US" dirty="0"/>
              <a:t> </a:t>
            </a:r>
            <a:r>
              <a:rPr lang="en-US" altLang="en-US" dirty="0" err="1"/>
              <a:t>Februari</a:t>
            </a:r>
            <a:r>
              <a:rPr lang="en-US" altLang="en-US" dirty="0"/>
              <a:t> 2005-Maret 2006 </a:t>
            </a:r>
            <a:r>
              <a:rPr lang="en-US" altLang="en-US" dirty="0" err="1"/>
              <a:t>tercatat</a:t>
            </a:r>
            <a:r>
              <a:rPr lang="en-US" altLang="en-US" dirty="0"/>
              <a:t> </a:t>
            </a:r>
            <a:r>
              <a:rPr lang="en-US" altLang="en-US" dirty="0" err="1"/>
              <a:t>sebesar</a:t>
            </a:r>
            <a:r>
              <a:rPr lang="en-US" altLang="en-US" dirty="0"/>
              <a:t> 17,95% dan </a:t>
            </a:r>
            <a:r>
              <a:rPr lang="en-US" altLang="en-US" dirty="0" err="1"/>
              <a:t>mengakibatkan</a:t>
            </a:r>
            <a:r>
              <a:rPr lang="en-US" altLang="en-US" dirty="0"/>
              <a:t> </a:t>
            </a:r>
            <a:r>
              <a:rPr lang="en-US" altLang="en-US" dirty="0" err="1"/>
              <a:t>membubungnya</a:t>
            </a:r>
            <a:r>
              <a:rPr lang="en-US" altLang="en-US" dirty="0"/>
              <a:t> </a:t>
            </a:r>
            <a:r>
              <a:rPr lang="en-US" altLang="en-US" dirty="0" err="1"/>
              <a:t>harga-harga</a:t>
            </a:r>
            <a:r>
              <a:rPr lang="en-US" altLang="en-US" dirty="0"/>
              <a:t> </a:t>
            </a:r>
            <a:r>
              <a:rPr lang="en-US" altLang="en-US" dirty="0" err="1"/>
              <a:t>kebutuhan</a:t>
            </a:r>
            <a:r>
              <a:rPr lang="en-US" altLang="en-US" dirty="0"/>
              <a:t> </a:t>
            </a:r>
            <a:r>
              <a:rPr lang="en-US" altLang="en-US" dirty="0" err="1"/>
              <a:t>pokok</a:t>
            </a:r>
            <a:r>
              <a:rPr lang="en-US" altLang="en-US" dirty="0"/>
              <a:t>.  </a:t>
            </a:r>
            <a:r>
              <a:rPr lang="en-US" altLang="en-US" dirty="0" err="1"/>
              <a:t>Akibatnya</a:t>
            </a:r>
            <a:r>
              <a:rPr lang="en-US" altLang="en-US" dirty="0"/>
              <a:t>, garis </a:t>
            </a:r>
            <a:r>
              <a:rPr lang="en-US" altLang="en-US" dirty="0" err="1"/>
              <a:t>kemiskinan</a:t>
            </a:r>
            <a:r>
              <a:rPr lang="en-US" altLang="en-US" dirty="0"/>
              <a:t>, yang </a:t>
            </a:r>
            <a:r>
              <a:rPr lang="en-US" altLang="en-US" dirty="0" err="1"/>
              <a:t>terdiri</a:t>
            </a:r>
            <a:r>
              <a:rPr lang="en-US" altLang="en-US" dirty="0"/>
              <a:t> </a:t>
            </a:r>
            <a:r>
              <a:rPr lang="en-US" altLang="en-US" dirty="0" err="1"/>
              <a:t>atas</a:t>
            </a:r>
            <a:r>
              <a:rPr lang="en-US" altLang="en-US" dirty="0"/>
              <a:t> </a:t>
            </a:r>
            <a:r>
              <a:rPr lang="en-US" altLang="en-US" dirty="0" err="1"/>
              <a:t>komponen</a:t>
            </a:r>
            <a:r>
              <a:rPr lang="en-US" altLang="en-US" dirty="0"/>
              <a:t> </a:t>
            </a:r>
            <a:r>
              <a:rPr lang="en-US" altLang="en-US" dirty="0" err="1"/>
              <a:t>makanan</a:t>
            </a:r>
            <a:r>
              <a:rPr lang="en-US" altLang="en-US" dirty="0"/>
              <a:t> dan </a:t>
            </a:r>
            <a:r>
              <a:rPr lang="en-US" altLang="en-US" dirty="0" err="1"/>
              <a:t>bukan</a:t>
            </a:r>
            <a:r>
              <a:rPr lang="en-US" altLang="en-US" dirty="0"/>
              <a:t> </a:t>
            </a:r>
            <a:r>
              <a:rPr lang="en-US" altLang="en-US" dirty="0" err="1"/>
              <a:t>makanan</a:t>
            </a:r>
            <a:r>
              <a:rPr lang="en-US" altLang="en-US" dirty="0"/>
              <a:t>, naik 18,39% </a:t>
            </a:r>
            <a:r>
              <a:rPr lang="en-US" altLang="en-US" dirty="0" err="1"/>
              <a:t>dari</a:t>
            </a:r>
            <a:r>
              <a:rPr lang="en-US" altLang="en-US" dirty="0"/>
              <a:t> Rp. 129.108 per </a:t>
            </a:r>
            <a:r>
              <a:rPr lang="en-US" altLang="en-US" dirty="0" err="1"/>
              <a:t>kapita</a:t>
            </a:r>
            <a:r>
              <a:rPr lang="en-US" altLang="en-US" dirty="0"/>
              <a:t> </a:t>
            </a:r>
            <a:r>
              <a:rPr lang="en-US" altLang="en-US" dirty="0" err="1"/>
              <a:t>menjadi</a:t>
            </a:r>
            <a:r>
              <a:rPr lang="en-US" altLang="en-US" dirty="0"/>
              <a:t> Rp. 152.847.  </a:t>
            </a:r>
          </a:p>
          <a:p>
            <a:endParaRPr lang="en-US" altLang="en-US" dirty="0"/>
          </a:p>
          <a:p>
            <a:r>
              <a:rPr lang="en-US" altLang="en-US" dirty="0" err="1"/>
              <a:t>Penambahan</a:t>
            </a:r>
            <a:r>
              <a:rPr lang="en-US" altLang="en-US" dirty="0"/>
              <a:t>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</a:t>
            </a:r>
            <a:r>
              <a:rPr lang="en-US" altLang="en-US" dirty="0" err="1"/>
              <a:t>selama</a:t>
            </a:r>
            <a:r>
              <a:rPr lang="en-US" altLang="en-US" dirty="0"/>
              <a:t> </a:t>
            </a:r>
            <a:r>
              <a:rPr lang="en-US" altLang="en-US" dirty="0" err="1"/>
              <a:t>periode</a:t>
            </a:r>
            <a:r>
              <a:rPr lang="en-US" altLang="en-US" dirty="0"/>
              <a:t> Feb 2005-Maret 2006 </a:t>
            </a:r>
            <a:r>
              <a:rPr lang="en-US" altLang="en-US" dirty="0" err="1"/>
              <a:t>terjadi</a:t>
            </a:r>
            <a:r>
              <a:rPr lang="en-US" altLang="en-US" dirty="0"/>
              <a:t> </a:t>
            </a:r>
            <a:r>
              <a:rPr lang="en-US" altLang="en-US" dirty="0" err="1"/>
              <a:t>karena</a:t>
            </a:r>
            <a:r>
              <a:rPr lang="en-US" altLang="en-US" dirty="0"/>
              <a:t> </a:t>
            </a:r>
            <a:r>
              <a:rPr lang="en-US" altLang="en-US" dirty="0" err="1"/>
              <a:t>adanya</a:t>
            </a:r>
            <a:r>
              <a:rPr lang="en-US" altLang="en-US" dirty="0"/>
              <a:t> </a:t>
            </a:r>
            <a:r>
              <a:rPr lang="en-US" altLang="en-US" dirty="0" err="1"/>
              <a:t>pergeseran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yang </a:t>
            </a:r>
            <a:r>
              <a:rPr lang="en-US" altLang="en-US" dirty="0" err="1"/>
              <a:t>penghasilannya</a:t>
            </a:r>
            <a:r>
              <a:rPr lang="en-US" altLang="en-US" dirty="0"/>
              <a:t> </a:t>
            </a:r>
            <a:r>
              <a:rPr lang="en-US" altLang="en-US" dirty="0" err="1"/>
              <a:t>berada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</a:t>
            </a:r>
            <a:r>
              <a:rPr lang="en-US" altLang="en-US" dirty="0" err="1"/>
              <a:t>jauh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garis </a:t>
            </a:r>
            <a:r>
              <a:rPr lang="en-US" altLang="en-US" dirty="0" err="1"/>
              <a:t>kemiskinan</a:t>
            </a:r>
            <a:r>
              <a:rPr lang="en-US" altLang="en-US" dirty="0"/>
              <a:t>, </a:t>
            </a:r>
            <a:r>
              <a:rPr lang="en-US" altLang="en-US" dirty="0" err="1"/>
              <a:t>yaitu</a:t>
            </a:r>
            <a:r>
              <a:rPr lang="en-US" altLang="en-US" dirty="0"/>
              <a:t> </a:t>
            </a:r>
            <a:r>
              <a:rPr lang="en-US" altLang="en-US" dirty="0" err="1"/>
              <a:t>kelompok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</a:t>
            </a:r>
            <a:r>
              <a:rPr lang="en-US" altLang="en-US" dirty="0" err="1"/>
              <a:t>sementara</a:t>
            </a:r>
            <a:r>
              <a:rPr lang="en-US" altLang="en-US" dirty="0"/>
              <a:t> (</a:t>
            </a:r>
            <a:r>
              <a:rPr lang="en-US" altLang="en-US" i="1" dirty="0"/>
              <a:t>transient poor</a:t>
            </a:r>
            <a:r>
              <a:rPr lang="en-US" altLang="en-US" dirty="0"/>
              <a:t>).  Pada </a:t>
            </a:r>
            <a:r>
              <a:rPr lang="en-US" altLang="en-US" dirty="0" err="1"/>
              <a:t>periode</a:t>
            </a:r>
            <a:r>
              <a:rPr lang="en-US" altLang="en-US" dirty="0"/>
              <a:t> </a:t>
            </a:r>
            <a:r>
              <a:rPr lang="en-US" altLang="en-US" dirty="0" err="1"/>
              <a:t>Februari</a:t>
            </a:r>
            <a:r>
              <a:rPr lang="en-US" altLang="en-US" dirty="0"/>
              <a:t> 2005-Maret 2006, </a:t>
            </a:r>
            <a:r>
              <a:rPr lang="en-US" altLang="en-US" dirty="0" err="1"/>
              <a:t>sekitar</a:t>
            </a:r>
            <a:r>
              <a:rPr lang="en-US" altLang="en-US" dirty="0"/>
              <a:t> 30,29%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hampir</a:t>
            </a:r>
            <a:r>
              <a:rPr lang="en-US" altLang="en-US" dirty="0"/>
              <a:t> miskin, 11,82%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hampir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miskin, dan 2,29%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miskin </a:t>
            </a:r>
            <a:r>
              <a:rPr lang="en-US" altLang="en-US" dirty="0" err="1"/>
              <a:t>jatuh</a:t>
            </a:r>
            <a:r>
              <a:rPr lang="en-US" altLang="en-US" dirty="0"/>
              <a:t> </a:t>
            </a:r>
            <a:r>
              <a:rPr lang="en-US" altLang="en-US" dirty="0" err="1"/>
              <a:t>menjadi</a:t>
            </a:r>
            <a:r>
              <a:rPr lang="en-US" altLang="en-US" dirty="0"/>
              <a:t> miskin.  </a:t>
            </a:r>
            <a:r>
              <a:rPr lang="en-US" altLang="en-US" dirty="0" err="1"/>
              <a:t>Akibatnya</a:t>
            </a:r>
            <a:r>
              <a:rPr lang="en-US" altLang="en-US" dirty="0"/>
              <a:t>, pada </a:t>
            </a:r>
            <a:r>
              <a:rPr lang="en-US" altLang="en-US" dirty="0" err="1"/>
              <a:t>bulan</a:t>
            </a:r>
            <a:r>
              <a:rPr lang="en-US" altLang="en-US" dirty="0"/>
              <a:t> </a:t>
            </a:r>
            <a:r>
              <a:rPr lang="en-US" altLang="en-US" dirty="0" err="1"/>
              <a:t>Maret</a:t>
            </a:r>
            <a:r>
              <a:rPr lang="en-US" altLang="en-US" dirty="0"/>
              <a:t> 2006, </a:t>
            </a:r>
            <a:r>
              <a:rPr lang="en-US" altLang="en-US" dirty="0" err="1"/>
              <a:t>jumlah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</a:t>
            </a:r>
            <a:r>
              <a:rPr lang="en-US" altLang="en-US" dirty="0" err="1"/>
              <a:t>tercatat</a:t>
            </a:r>
            <a:r>
              <a:rPr lang="en-US" altLang="en-US" dirty="0"/>
              <a:t> </a:t>
            </a:r>
            <a:r>
              <a:rPr lang="en-US" altLang="en-US" dirty="0" err="1"/>
              <a:t>sebesar</a:t>
            </a:r>
            <a:r>
              <a:rPr lang="en-US" altLang="en-US" dirty="0"/>
              <a:t> 39,1 </a:t>
            </a:r>
            <a:r>
              <a:rPr lang="en-US" altLang="en-US" dirty="0" err="1"/>
              <a:t>juta</a:t>
            </a:r>
            <a:r>
              <a:rPr lang="en-US" altLang="en-US" dirty="0"/>
              <a:t>, yang </a:t>
            </a:r>
            <a:r>
              <a:rPr lang="en-US" altLang="en-US" dirty="0" err="1"/>
              <a:t>berasal</a:t>
            </a:r>
            <a:r>
              <a:rPr lang="en-US" altLang="en-US" dirty="0"/>
              <a:t> </a:t>
            </a:r>
            <a:r>
              <a:rPr lang="en-US" altLang="en-US" dirty="0" err="1"/>
              <a:t>dari</a:t>
            </a:r>
            <a:r>
              <a:rPr lang="en-US" altLang="en-US" dirty="0"/>
              <a:t> 19,8 </a:t>
            </a:r>
            <a:r>
              <a:rPr lang="en-US" altLang="en-US" dirty="0" err="1"/>
              <a:t>juta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miskin lama, 9,9 </a:t>
            </a:r>
            <a:r>
              <a:rPr lang="en-US" altLang="en-US" dirty="0" err="1"/>
              <a:t>juta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hampir</a:t>
            </a:r>
            <a:r>
              <a:rPr lang="en-US" altLang="en-US" dirty="0"/>
              <a:t> miskin, 7,3 </a:t>
            </a:r>
            <a:r>
              <a:rPr lang="en-US" altLang="en-US" dirty="0" err="1"/>
              <a:t>juta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hampir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miskin dan 2,1 </a:t>
            </a:r>
            <a:r>
              <a:rPr lang="en-US" altLang="en-US" dirty="0" err="1"/>
              <a:t>juta</a:t>
            </a:r>
            <a:r>
              <a:rPr lang="en-US" altLang="en-US" dirty="0"/>
              <a:t> </a:t>
            </a:r>
            <a:r>
              <a:rPr lang="en-US" altLang="en-US" dirty="0" err="1"/>
              <a:t>penduduk</a:t>
            </a:r>
            <a:r>
              <a:rPr lang="en-US" altLang="en-US" dirty="0"/>
              <a:t> </a:t>
            </a:r>
            <a:r>
              <a:rPr lang="en-US" altLang="en-US" dirty="0" err="1"/>
              <a:t>tidak</a:t>
            </a:r>
            <a:r>
              <a:rPr lang="en-US" altLang="en-US" dirty="0"/>
              <a:t> miskin.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471F94-8AAF-4E82-A393-F130E126715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9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1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7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3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9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5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0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6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8FC8-090C-47F3-A46E-00FB6A2EC06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223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2BA1A-39F4-4C06-8200-8B847CBE6311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68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1" cy="1362075"/>
          </a:xfrm>
        </p:spPr>
        <p:txBody>
          <a:bodyPr anchor="t"/>
          <a:lstStyle>
            <a:lvl1pPr algn="l">
              <a:defRPr sz="417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1" cy="1500187"/>
          </a:xfrm>
        </p:spPr>
        <p:txBody>
          <a:bodyPr anchor="b"/>
          <a:lstStyle>
            <a:lvl1pPr marL="0" indent="0">
              <a:buNone/>
              <a:defRPr sz="2086">
                <a:solidFill>
                  <a:schemeClr val="tx1">
                    <a:tint val="75000"/>
                  </a:schemeClr>
                </a:solidFill>
              </a:defRPr>
            </a:lvl1pPr>
            <a:lvl2pPr marL="475846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2pPr>
            <a:lvl3pPr marL="951692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427537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90338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37922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855075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333092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80676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A78-B390-403F-BE79-473F2F09A108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94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540"/>
            </a:lvl2pPr>
            <a:lvl3pPr>
              <a:defRPr sz="2086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540"/>
            </a:lvl2pPr>
            <a:lvl3pPr>
              <a:defRPr sz="2086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78C-B758-4D58-A0BF-DAE20DE297DA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68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540" b="1"/>
            </a:lvl1pPr>
            <a:lvl2pPr marL="475846" indent="0">
              <a:buNone/>
              <a:defRPr sz="2086" b="1"/>
            </a:lvl2pPr>
            <a:lvl3pPr marL="951692" indent="0">
              <a:buNone/>
              <a:defRPr sz="1905" b="1"/>
            </a:lvl3pPr>
            <a:lvl4pPr marL="1427537" indent="0">
              <a:buNone/>
              <a:defRPr sz="1633" b="1"/>
            </a:lvl4pPr>
            <a:lvl5pPr marL="1903383" indent="0">
              <a:buNone/>
              <a:defRPr sz="1633" b="1"/>
            </a:lvl5pPr>
            <a:lvl6pPr marL="2379229" indent="0">
              <a:buNone/>
              <a:defRPr sz="1633" b="1"/>
            </a:lvl6pPr>
            <a:lvl7pPr marL="2855075" indent="0">
              <a:buNone/>
              <a:defRPr sz="1633" b="1"/>
            </a:lvl7pPr>
            <a:lvl8pPr marL="3330920" indent="0">
              <a:buNone/>
              <a:defRPr sz="1633" b="1"/>
            </a:lvl8pPr>
            <a:lvl9pPr marL="3806766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540"/>
            </a:lvl1pPr>
            <a:lvl2pPr>
              <a:defRPr sz="2086"/>
            </a:lvl2pPr>
            <a:lvl3pPr>
              <a:defRPr sz="1905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540" b="1"/>
            </a:lvl1pPr>
            <a:lvl2pPr marL="475846" indent="0">
              <a:buNone/>
              <a:defRPr sz="2086" b="1"/>
            </a:lvl2pPr>
            <a:lvl3pPr marL="951692" indent="0">
              <a:buNone/>
              <a:defRPr sz="1905" b="1"/>
            </a:lvl3pPr>
            <a:lvl4pPr marL="1427537" indent="0">
              <a:buNone/>
              <a:defRPr sz="1633" b="1"/>
            </a:lvl4pPr>
            <a:lvl5pPr marL="1903383" indent="0">
              <a:buNone/>
              <a:defRPr sz="1633" b="1"/>
            </a:lvl5pPr>
            <a:lvl6pPr marL="2379229" indent="0">
              <a:buNone/>
              <a:defRPr sz="1633" b="1"/>
            </a:lvl6pPr>
            <a:lvl7pPr marL="2855075" indent="0">
              <a:buNone/>
              <a:defRPr sz="1633" b="1"/>
            </a:lvl7pPr>
            <a:lvl8pPr marL="3330920" indent="0">
              <a:buNone/>
              <a:defRPr sz="1633" b="1"/>
            </a:lvl8pPr>
            <a:lvl9pPr marL="3806766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540"/>
            </a:lvl1pPr>
            <a:lvl2pPr>
              <a:defRPr sz="2086"/>
            </a:lvl2pPr>
            <a:lvl3pPr>
              <a:defRPr sz="1905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69F6-7542-471F-99AF-82D7413C4BDA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99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9961-4B64-429B-9951-1046C0BB88C2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971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3617-C7A5-4AE5-896A-42042689F8FE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8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8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3"/>
          </a:xfrm>
        </p:spPr>
        <p:txBody>
          <a:bodyPr/>
          <a:lstStyle>
            <a:lvl1pPr>
              <a:defRPr sz="3356"/>
            </a:lvl1pPr>
            <a:lvl2pPr>
              <a:defRPr sz="2902"/>
            </a:lvl2pPr>
            <a:lvl3pPr>
              <a:defRPr sz="2540"/>
            </a:lvl3pPr>
            <a:lvl4pPr>
              <a:defRPr sz="2086"/>
            </a:lvl4pPr>
            <a:lvl5pPr>
              <a:defRPr sz="2086"/>
            </a:lvl5pPr>
            <a:lvl6pPr>
              <a:defRPr sz="2086"/>
            </a:lvl6pPr>
            <a:lvl7pPr>
              <a:defRPr sz="2086"/>
            </a:lvl7pPr>
            <a:lvl8pPr>
              <a:defRPr sz="2086"/>
            </a:lvl8pPr>
            <a:lvl9pPr>
              <a:defRPr sz="20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451"/>
            </a:lvl1pPr>
            <a:lvl2pPr marL="475846" indent="0">
              <a:buNone/>
              <a:defRPr sz="1270"/>
            </a:lvl2pPr>
            <a:lvl3pPr marL="951692" indent="0">
              <a:buNone/>
              <a:defRPr sz="998"/>
            </a:lvl3pPr>
            <a:lvl4pPr marL="1427537" indent="0">
              <a:buNone/>
              <a:defRPr sz="907"/>
            </a:lvl4pPr>
            <a:lvl5pPr marL="1903383" indent="0">
              <a:buNone/>
              <a:defRPr sz="907"/>
            </a:lvl5pPr>
            <a:lvl6pPr marL="2379229" indent="0">
              <a:buNone/>
              <a:defRPr sz="907"/>
            </a:lvl6pPr>
            <a:lvl7pPr marL="2855075" indent="0">
              <a:buNone/>
              <a:defRPr sz="907"/>
            </a:lvl7pPr>
            <a:lvl8pPr marL="3330920" indent="0">
              <a:buNone/>
              <a:defRPr sz="907"/>
            </a:lvl8pPr>
            <a:lvl9pPr marL="380676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3238D-728B-4113-AC76-E9361899571C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3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8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356"/>
            </a:lvl1pPr>
            <a:lvl2pPr marL="475846" indent="0">
              <a:buNone/>
              <a:defRPr sz="2902"/>
            </a:lvl2pPr>
            <a:lvl3pPr marL="951692" indent="0">
              <a:buNone/>
              <a:defRPr sz="2540"/>
            </a:lvl3pPr>
            <a:lvl4pPr marL="1427537" indent="0">
              <a:buNone/>
              <a:defRPr sz="2086"/>
            </a:lvl4pPr>
            <a:lvl5pPr marL="1903383" indent="0">
              <a:buNone/>
              <a:defRPr sz="2086"/>
            </a:lvl5pPr>
            <a:lvl6pPr marL="2379229" indent="0">
              <a:buNone/>
              <a:defRPr sz="2086"/>
            </a:lvl6pPr>
            <a:lvl7pPr marL="2855075" indent="0">
              <a:buNone/>
              <a:defRPr sz="2086"/>
            </a:lvl7pPr>
            <a:lvl8pPr marL="3330920" indent="0">
              <a:buNone/>
              <a:defRPr sz="2086"/>
            </a:lvl8pPr>
            <a:lvl9pPr marL="3806766" indent="0">
              <a:buNone/>
              <a:defRPr sz="208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51"/>
            </a:lvl1pPr>
            <a:lvl2pPr marL="475846" indent="0">
              <a:buNone/>
              <a:defRPr sz="1270"/>
            </a:lvl2pPr>
            <a:lvl3pPr marL="951692" indent="0">
              <a:buNone/>
              <a:defRPr sz="998"/>
            </a:lvl3pPr>
            <a:lvl4pPr marL="1427537" indent="0">
              <a:buNone/>
              <a:defRPr sz="907"/>
            </a:lvl4pPr>
            <a:lvl5pPr marL="1903383" indent="0">
              <a:buNone/>
              <a:defRPr sz="907"/>
            </a:lvl5pPr>
            <a:lvl6pPr marL="2379229" indent="0">
              <a:buNone/>
              <a:defRPr sz="907"/>
            </a:lvl6pPr>
            <a:lvl7pPr marL="2855075" indent="0">
              <a:buNone/>
              <a:defRPr sz="907"/>
            </a:lvl7pPr>
            <a:lvl8pPr marL="3330920" indent="0">
              <a:buNone/>
              <a:defRPr sz="907"/>
            </a:lvl8pPr>
            <a:lvl9pPr marL="380676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AC-3192-4009-A739-3098E29F8D1E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18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482-8596-44A7-9D89-6D529B27F5D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50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6630-FA15-4458-8C90-F10EABE02F0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967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6210905"/>
          <a:ext cx="12192000" cy="64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7095"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5653" y="1752604"/>
            <a:ext cx="106680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>
                <a:latin typeface="Arial Narrow" pitchFamily="34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C58DFAE6-5288-4306-AAB4-9A18B2766674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itchFamily="34" charset="0"/>
              </a:defRPr>
            </a:lvl1pPr>
          </a:lstStyle>
          <a:p>
            <a:pPr>
              <a:defRPr/>
            </a:pPr>
            <a:fld id="{6B671D77-DC8B-41CA-BDFA-63B03DA9354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40524775"/>
      </p:ext>
    </p:extLst>
  </p:cSld>
  <p:clrMapOvr>
    <a:masterClrMapping/>
  </p:clrMapOvr>
  <p:transition spd="slow">
    <p:dissolv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9A629-B441-4030-8FF3-1447362F7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57B89-A950-4F86-8ACB-2F3419BCDA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140F-9CE9-4634-BA4B-10DF88F6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42D8B-3D66-4183-9EED-4092DC246A91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9AA03-D8EA-4174-8873-5D4864CF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613D3-D630-4200-B5FB-6F09D1E5D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113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09A9-21ED-4CB8-A9F1-467FBF35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EBF4C-4579-4D7A-9097-4EE5BE823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AA862-1A30-46AD-BB6E-0244A6B4D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157F-B30D-45C0-A8C4-87ED8B4EF4B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7A135-0932-4847-B08A-DA3E3DC1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1B48-B295-470D-8787-C0BE4AEBB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550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5832-DBF8-4E96-92E5-AB18C0AA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2F55-C869-4C68-82C3-8FD0304BD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6F512-4192-4036-8E73-64F99E5A4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D5C9C-0AF2-420C-8D86-92D9B7E34F5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75454-EBC0-4822-885F-0C973A8D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9E8C0-F33C-4B2C-BC22-3E225423F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26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BD872-A48C-4A8D-83B3-5A7230934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C5BCA-91B3-4DA7-B7A1-1EAB347E1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97604-A660-444B-9C1A-1C496986B0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18BD3-B29E-4AC5-BAE2-097B8BA4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83AE2-DF21-46C8-9A31-2BEFE0F0985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B2754-EDBE-46E5-9039-33E1C23A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86B82-F5DE-404B-AA59-C2C94AA6B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490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EBD7A-0215-4809-B80C-77355462B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2D7A7-157D-48E1-A8A8-56BE7D1E1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2BF51-E0F1-43F7-B723-0A6B04290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16B2B-2B6C-44E9-8BE1-89A0A344E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290819-0C0F-4B58-BA7B-98DD692C6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64F76-6A2E-41A7-A0C4-A03C4885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8DABC-0D26-4B2A-B507-C10D63123242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7BC07-9C91-4AA2-AB59-8AFFE332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092919-EE59-4798-B574-96FB5005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1148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2F0D-03BF-4494-BEE0-026CD62CA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47A10-AEB3-40F1-9766-A2E6952A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54F49-4A34-422C-961D-72560D6D087D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F00F35-A7EE-4433-9FFC-EADAC951A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DD8B-1973-45A6-90EC-95EC7D417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391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19556-50B8-4ADA-A534-12A8CBBB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9058-92BA-4D41-853D-892CE4830A82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D3D9F-9481-4B97-9C41-37BC3A59A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CDB55-7593-45AF-85C2-0C5BCAE50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2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3E7EB-7A3D-4E38-B42F-0EA4A4B3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EF421-6333-4718-9FA0-68225260B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8377C-2E4E-476C-8057-1AE6A62EA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EC22E-3A43-44E3-BA5C-170DF411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6020-4210-466B-97B4-8472ACBF584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6E9B9-474C-4EC4-A928-F37238115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F0BD0-8DE2-47CE-8AA1-8658BF0E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46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3FFB-3BA4-4972-B4B9-05DB7F21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98FC1-E3DC-48AF-9E42-EF29F68250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9A942-2DF1-4729-BEB3-F4C9A88C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8D780-AE71-4396-9CD5-029EDC5B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80B3-8C17-40F3-BFFB-63A972FB444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69287-81C1-4F44-A73B-8A14C8AA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E8172-734D-4162-9F43-8D85D0491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464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9377F-81FD-42E9-83F6-F828A1021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87D653-0A23-43C7-8EE3-BD5B8532C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4CAD-A145-4273-967D-041AE3432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5E78F-3B86-4810-8268-92058F1E91AD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D9F22-15AB-4082-8361-F4055928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1BC33-C9AD-43C8-AAA6-F69E6C8E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703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7D6B81-E654-4368-9054-6BB628BF8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310D92-47A4-45EF-9C27-F6802BF0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BDF84-DBD6-4382-B394-367FAFCA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144DC-250F-4FCA-9831-B004B82B4F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4FC2F-C0A3-4A0A-B082-1F8CFE8E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5A9E9-F804-4126-B15A-0D951961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285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1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5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23" indent="0" algn="ctr">
              <a:buNone/>
              <a:defRPr sz="2200"/>
            </a:lvl2pPr>
            <a:lvl3pPr marL="914446" indent="0" algn="ctr">
              <a:buNone/>
              <a:defRPr sz="2200"/>
            </a:lvl3pPr>
            <a:lvl4pPr marL="1371669" indent="0" algn="ctr">
              <a:buNone/>
              <a:defRPr sz="2000"/>
            </a:lvl4pPr>
            <a:lvl5pPr marL="1828891" indent="0" algn="ctr">
              <a:buNone/>
              <a:defRPr sz="2000"/>
            </a:lvl5pPr>
            <a:lvl6pPr marL="2286114" indent="0" algn="ctr">
              <a:buNone/>
              <a:defRPr sz="2000"/>
            </a:lvl6pPr>
            <a:lvl7pPr marL="2743337" indent="0" algn="ctr">
              <a:buNone/>
              <a:defRPr sz="2000"/>
            </a:lvl7pPr>
            <a:lvl8pPr marL="3200560" indent="0" algn="ctr">
              <a:buNone/>
              <a:defRPr sz="2000"/>
            </a:lvl8pPr>
            <a:lvl9pPr marL="3657783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8065B72-404E-4C0B-A8FF-9358D2F384D4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1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4409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473BB-C246-448D-B101-7495AA229A48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0049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1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33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8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B676D-0A2D-4BDC-9DA7-D96BFEE83AE6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1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6479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BA7FA-4A4A-418C-98B5-8B56E5897BD9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03149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23" indent="0">
              <a:buNone/>
              <a:defRPr sz="2000" b="1"/>
            </a:lvl2pPr>
            <a:lvl3pPr marL="914446" indent="0">
              <a:buNone/>
              <a:defRPr sz="1800" b="1"/>
            </a:lvl3pPr>
            <a:lvl4pPr marL="1371669" indent="0">
              <a:buNone/>
              <a:defRPr sz="1600" b="1"/>
            </a:lvl4pPr>
            <a:lvl5pPr marL="1828891" indent="0">
              <a:buNone/>
              <a:defRPr sz="1600" b="1"/>
            </a:lvl5pPr>
            <a:lvl6pPr marL="2286114" indent="0">
              <a:buNone/>
              <a:defRPr sz="1600" b="1"/>
            </a:lvl6pPr>
            <a:lvl7pPr marL="2743337" indent="0">
              <a:buNone/>
              <a:defRPr sz="1600" b="1"/>
            </a:lvl7pPr>
            <a:lvl8pPr marL="3200560" indent="0">
              <a:buNone/>
              <a:defRPr sz="1600" b="1"/>
            </a:lvl8pPr>
            <a:lvl9pPr marL="3657783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013F4-6388-4B19-B237-8154A3493D9A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08050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99E21-2EF8-408F-9D5E-009BC860BE08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84815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63796-8B9A-4787-878B-D3E406449BCE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9100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23" indent="0">
              <a:buNone/>
              <a:defRPr sz="1200"/>
            </a:lvl2pPr>
            <a:lvl3pPr marL="914446" indent="0">
              <a:buNone/>
              <a:defRPr sz="1000"/>
            </a:lvl3pPr>
            <a:lvl4pPr marL="1371669" indent="0">
              <a:buNone/>
              <a:defRPr sz="900"/>
            </a:lvl4pPr>
            <a:lvl5pPr marL="1828891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613D-5833-4CBD-853E-FC3E1163B6BD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77571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23" indent="0">
              <a:buNone/>
              <a:defRPr sz="1200"/>
            </a:lvl2pPr>
            <a:lvl3pPr marL="914446" indent="0">
              <a:buNone/>
              <a:defRPr sz="1000"/>
            </a:lvl3pPr>
            <a:lvl4pPr marL="1371669" indent="0">
              <a:buNone/>
              <a:defRPr sz="900"/>
            </a:lvl4pPr>
            <a:lvl5pPr marL="1828891" indent="0">
              <a:buNone/>
              <a:defRPr sz="900"/>
            </a:lvl5pPr>
            <a:lvl6pPr marL="2286114" indent="0">
              <a:buNone/>
              <a:defRPr sz="900"/>
            </a:lvl6pPr>
            <a:lvl7pPr marL="2743337" indent="0">
              <a:buNone/>
              <a:defRPr sz="900"/>
            </a:lvl7pPr>
            <a:lvl8pPr marL="3200560" indent="0">
              <a:buNone/>
              <a:defRPr sz="900"/>
            </a:lvl8pPr>
            <a:lvl9pPr marL="3657783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3D167-414B-4965-A995-EFFAC86B3AF5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294382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E7C31-F96B-4A65-9F3A-31CC164926D8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78292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F8D0A-2A81-4B42-AD75-1BC803D10D5A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25505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1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5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1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27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03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792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55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30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06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A8FC8-090C-47F3-A46E-00FB6A2EC06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6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2BA1A-39F4-4C06-8200-8B847CBE6311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3471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1" cy="1362075"/>
          </a:xfrm>
        </p:spPr>
        <p:txBody>
          <a:bodyPr anchor="t"/>
          <a:lstStyle>
            <a:lvl1pPr algn="l">
              <a:defRPr sz="417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1" cy="1500187"/>
          </a:xfrm>
        </p:spPr>
        <p:txBody>
          <a:bodyPr anchor="b"/>
          <a:lstStyle>
            <a:lvl1pPr marL="0" indent="0">
              <a:buNone/>
              <a:defRPr sz="2086">
                <a:solidFill>
                  <a:schemeClr val="tx1">
                    <a:tint val="75000"/>
                  </a:schemeClr>
                </a:solidFill>
              </a:defRPr>
            </a:lvl1pPr>
            <a:lvl2pPr marL="475846" indent="0">
              <a:buNone/>
              <a:defRPr sz="1905">
                <a:solidFill>
                  <a:schemeClr val="tx1">
                    <a:tint val="75000"/>
                  </a:schemeClr>
                </a:solidFill>
              </a:defRPr>
            </a:lvl2pPr>
            <a:lvl3pPr marL="951692" indent="0">
              <a:buNone/>
              <a:defRPr sz="1633">
                <a:solidFill>
                  <a:schemeClr val="tx1">
                    <a:tint val="75000"/>
                  </a:schemeClr>
                </a:solidFill>
              </a:defRPr>
            </a:lvl3pPr>
            <a:lvl4pPr marL="1427537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4pPr>
            <a:lvl5pPr marL="1903383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5pPr>
            <a:lvl6pPr marL="2379229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6pPr>
            <a:lvl7pPr marL="2855075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7pPr>
            <a:lvl8pPr marL="3330920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8pPr>
            <a:lvl9pPr marL="3806766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BCA78-B390-403F-BE79-473F2F09A108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91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540"/>
            </a:lvl2pPr>
            <a:lvl3pPr>
              <a:defRPr sz="2086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902"/>
            </a:lvl1pPr>
            <a:lvl2pPr>
              <a:defRPr sz="2540"/>
            </a:lvl2pPr>
            <a:lvl3pPr>
              <a:defRPr sz="2086"/>
            </a:lvl3pPr>
            <a:lvl4pPr>
              <a:defRPr sz="1905"/>
            </a:lvl4pPr>
            <a:lvl5pPr>
              <a:defRPr sz="1905"/>
            </a:lvl5pPr>
            <a:lvl6pPr>
              <a:defRPr sz="1905"/>
            </a:lvl6pPr>
            <a:lvl7pPr>
              <a:defRPr sz="1905"/>
            </a:lvl7pPr>
            <a:lvl8pPr>
              <a:defRPr sz="1905"/>
            </a:lvl8pPr>
            <a:lvl9pPr>
              <a:defRPr sz="19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678C-B758-4D58-A0BF-DAE20DE297DA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9121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6917" cy="639762"/>
          </a:xfrm>
        </p:spPr>
        <p:txBody>
          <a:bodyPr anchor="b"/>
          <a:lstStyle>
            <a:lvl1pPr marL="0" indent="0">
              <a:buNone/>
              <a:defRPr sz="2540" b="1"/>
            </a:lvl1pPr>
            <a:lvl2pPr marL="475846" indent="0">
              <a:buNone/>
              <a:defRPr sz="2086" b="1"/>
            </a:lvl2pPr>
            <a:lvl3pPr marL="951692" indent="0">
              <a:buNone/>
              <a:defRPr sz="1905" b="1"/>
            </a:lvl3pPr>
            <a:lvl4pPr marL="1427537" indent="0">
              <a:buNone/>
              <a:defRPr sz="1633" b="1"/>
            </a:lvl4pPr>
            <a:lvl5pPr marL="1903383" indent="0">
              <a:buNone/>
              <a:defRPr sz="1633" b="1"/>
            </a:lvl5pPr>
            <a:lvl6pPr marL="2379229" indent="0">
              <a:buNone/>
              <a:defRPr sz="1633" b="1"/>
            </a:lvl6pPr>
            <a:lvl7pPr marL="2855075" indent="0">
              <a:buNone/>
              <a:defRPr sz="1633" b="1"/>
            </a:lvl7pPr>
            <a:lvl8pPr marL="3330920" indent="0">
              <a:buNone/>
              <a:defRPr sz="1633" b="1"/>
            </a:lvl8pPr>
            <a:lvl9pPr marL="3806766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6917" cy="3951288"/>
          </a:xfrm>
        </p:spPr>
        <p:txBody>
          <a:bodyPr/>
          <a:lstStyle>
            <a:lvl1pPr>
              <a:defRPr sz="2540"/>
            </a:lvl1pPr>
            <a:lvl2pPr>
              <a:defRPr sz="2086"/>
            </a:lvl2pPr>
            <a:lvl3pPr>
              <a:defRPr sz="1905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4" cy="639762"/>
          </a:xfrm>
        </p:spPr>
        <p:txBody>
          <a:bodyPr anchor="b"/>
          <a:lstStyle>
            <a:lvl1pPr marL="0" indent="0">
              <a:buNone/>
              <a:defRPr sz="2540" b="1"/>
            </a:lvl1pPr>
            <a:lvl2pPr marL="475846" indent="0">
              <a:buNone/>
              <a:defRPr sz="2086" b="1"/>
            </a:lvl2pPr>
            <a:lvl3pPr marL="951692" indent="0">
              <a:buNone/>
              <a:defRPr sz="1905" b="1"/>
            </a:lvl3pPr>
            <a:lvl4pPr marL="1427537" indent="0">
              <a:buNone/>
              <a:defRPr sz="1633" b="1"/>
            </a:lvl4pPr>
            <a:lvl5pPr marL="1903383" indent="0">
              <a:buNone/>
              <a:defRPr sz="1633" b="1"/>
            </a:lvl5pPr>
            <a:lvl6pPr marL="2379229" indent="0">
              <a:buNone/>
              <a:defRPr sz="1633" b="1"/>
            </a:lvl6pPr>
            <a:lvl7pPr marL="2855075" indent="0">
              <a:buNone/>
              <a:defRPr sz="1633" b="1"/>
            </a:lvl7pPr>
            <a:lvl8pPr marL="3330920" indent="0">
              <a:buNone/>
              <a:defRPr sz="1633" b="1"/>
            </a:lvl8pPr>
            <a:lvl9pPr marL="3806766" indent="0">
              <a:buNone/>
              <a:defRPr sz="16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4" cy="3951288"/>
          </a:xfrm>
        </p:spPr>
        <p:txBody>
          <a:bodyPr/>
          <a:lstStyle>
            <a:lvl1pPr>
              <a:defRPr sz="2540"/>
            </a:lvl1pPr>
            <a:lvl2pPr>
              <a:defRPr sz="2086"/>
            </a:lvl2pPr>
            <a:lvl3pPr>
              <a:defRPr sz="1905"/>
            </a:lvl3pPr>
            <a:lvl4pPr>
              <a:defRPr sz="1633"/>
            </a:lvl4pPr>
            <a:lvl5pPr>
              <a:defRPr sz="1633"/>
            </a:lvl5pPr>
            <a:lvl6pPr>
              <a:defRPr sz="1633"/>
            </a:lvl6pPr>
            <a:lvl7pPr>
              <a:defRPr sz="1633"/>
            </a:lvl7pPr>
            <a:lvl8pPr>
              <a:defRPr sz="1633"/>
            </a:lvl8pPr>
            <a:lvl9pPr>
              <a:defRPr sz="16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69F6-7542-471F-99AF-82D7413C4BDA}" type="datetime1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758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9961-4B64-429B-9951-1046C0BB88C2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530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53617-C7A5-4AE5-896A-42042689F8FE}" type="datetime1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7000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8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0"/>
            <a:ext cx="6815667" cy="5853113"/>
          </a:xfrm>
        </p:spPr>
        <p:txBody>
          <a:bodyPr/>
          <a:lstStyle>
            <a:lvl1pPr>
              <a:defRPr sz="3356"/>
            </a:lvl1pPr>
            <a:lvl2pPr>
              <a:defRPr sz="2902"/>
            </a:lvl2pPr>
            <a:lvl3pPr>
              <a:defRPr sz="2540"/>
            </a:lvl3pPr>
            <a:lvl4pPr>
              <a:defRPr sz="2086"/>
            </a:lvl4pPr>
            <a:lvl5pPr>
              <a:defRPr sz="2086"/>
            </a:lvl5pPr>
            <a:lvl6pPr>
              <a:defRPr sz="2086"/>
            </a:lvl6pPr>
            <a:lvl7pPr>
              <a:defRPr sz="2086"/>
            </a:lvl7pPr>
            <a:lvl8pPr>
              <a:defRPr sz="2086"/>
            </a:lvl8pPr>
            <a:lvl9pPr>
              <a:defRPr sz="20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0"/>
            <a:ext cx="4011084" cy="4691063"/>
          </a:xfrm>
        </p:spPr>
        <p:txBody>
          <a:bodyPr/>
          <a:lstStyle>
            <a:lvl1pPr marL="0" indent="0">
              <a:buNone/>
              <a:defRPr sz="1451"/>
            </a:lvl1pPr>
            <a:lvl2pPr marL="475846" indent="0">
              <a:buNone/>
              <a:defRPr sz="1270"/>
            </a:lvl2pPr>
            <a:lvl3pPr marL="951692" indent="0">
              <a:buNone/>
              <a:defRPr sz="998"/>
            </a:lvl3pPr>
            <a:lvl4pPr marL="1427537" indent="0">
              <a:buNone/>
              <a:defRPr sz="907"/>
            </a:lvl4pPr>
            <a:lvl5pPr marL="1903383" indent="0">
              <a:buNone/>
              <a:defRPr sz="907"/>
            </a:lvl5pPr>
            <a:lvl6pPr marL="2379229" indent="0">
              <a:buNone/>
              <a:defRPr sz="907"/>
            </a:lvl6pPr>
            <a:lvl7pPr marL="2855075" indent="0">
              <a:buNone/>
              <a:defRPr sz="907"/>
            </a:lvl7pPr>
            <a:lvl8pPr marL="3330920" indent="0">
              <a:buNone/>
              <a:defRPr sz="907"/>
            </a:lvl8pPr>
            <a:lvl9pPr marL="380676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3238D-728B-4113-AC76-E9361899571C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2893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86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356"/>
            </a:lvl1pPr>
            <a:lvl2pPr marL="475846" indent="0">
              <a:buNone/>
              <a:defRPr sz="2902"/>
            </a:lvl2pPr>
            <a:lvl3pPr marL="951692" indent="0">
              <a:buNone/>
              <a:defRPr sz="2540"/>
            </a:lvl3pPr>
            <a:lvl4pPr marL="1427537" indent="0">
              <a:buNone/>
              <a:defRPr sz="2086"/>
            </a:lvl4pPr>
            <a:lvl5pPr marL="1903383" indent="0">
              <a:buNone/>
              <a:defRPr sz="2086"/>
            </a:lvl5pPr>
            <a:lvl6pPr marL="2379229" indent="0">
              <a:buNone/>
              <a:defRPr sz="2086"/>
            </a:lvl6pPr>
            <a:lvl7pPr marL="2855075" indent="0">
              <a:buNone/>
              <a:defRPr sz="2086"/>
            </a:lvl7pPr>
            <a:lvl8pPr marL="3330920" indent="0">
              <a:buNone/>
              <a:defRPr sz="2086"/>
            </a:lvl8pPr>
            <a:lvl9pPr marL="3806766" indent="0">
              <a:buNone/>
              <a:defRPr sz="208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51"/>
            </a:lvl1pPr>
            <a:lvl2pPr marL="475846" indent="0">
              <a:buNone/>
              <a:defRPr sz="1270"/>
            </a:lvl2pPr>
            <a:lvl3pPr marL="951692" indent="0">
              <a:buNone/>
              <a:defRPr sz="998"/>
            </a:lvl3pPr>
            <a:lvl4pPr marL="1427537" indent="0">
              <a:buNone/>
              <a:defRPr sz="907"/>
            </a:lvl4pPr>
            <a:lvl5pPr marL="1903383" indent="0">
              <a:buNone/>
              <a:defRPr sz="907"/>
            </a:lvl5pPr>
            <a:lvl6pPr marL="2379229" indent="0">
              <a:buNone/>
              <a:defRPr sz="907"/>
            </a:lvl6pPr>
            <a:lvl7pPr marL="2855075" indent="0">
              <a:buNone/>
              <a:defRPr sz="907"/>
            </a:lvl7pPr>
            <a:lvl8pPr marL="3330920" indent="0">
              <a:buNone/>
              <a:defRPr sz="907"/>
            </a:lvl8pPr>
            <a:lvl9pPr marL="3806766" indent="0">
              <a:buNone/>
              <a:defRPr sz="9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232AC-3192-4009-A739-3098E29F8D1E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8634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482-8596-44A7-9D89-6D529B27F5D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4888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36630-FA15-4458-8C90-F10EABE02F0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999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0" y="6210905"/>
          <a:ext cx="12192000" cy="647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7095"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endParaRPr lang="id-ID" sz="1900" dirty="0"/>
                    </a:p>
                  </a:txBody>
                  <a:tcPr marL="112543" marR="112543" marT="45627" marB="45627"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755653" y="1752604"/>
            <a:ext cx="10668000" cy="42672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>
                <a:latin typeface="Arial Narrow" pitchFamily="34" charset="0"/>
                <a:ea typeface="MS PGothic" pitchFamily="34" charset="-128"/>
                <a:cs typeface="+mn-cs"/>
              </a:defRPr>
            </a:lvl1pPr>
          </a:lstStyle>
          <a:p>
            <a:pPr>
              <a:defRPr/>
            </a:pPr>
            <a:fld id="{C58DFAE6-5288-4306-AAB4-9A18B2766674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itchFamily="34" charset="0"/>
              </a:defRPr>
            </a:lvl1pPr>
          </a:lstStyle>
          <a:p>
            <a:pPr>
              <a:defRPr/>
            </a:pPr>
            <a:fld id="{6B671D77-DC8B-41CA-BDFA-63B03DA9354E}" type="slidenum">
              <a:rPr lang="en-US" altLang="id-ID"/>
              <a:pPr>
                <a:defRPr/>
              </a:pPr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951931916"/>
      </p:ext>
    </p:extLst>
  </p:cSld>
  <p:clrMapOvr>
    <a:masterClrMapping/>
  </p:clrMapOvr>
  <p:transition spd="slow"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104927" tIns="52464" rIns="104927" bIns="5246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972800" cy="4525963"/>
          </a:xfrm>
          <a:prstGeom prst="rect">
            <a:avLst/>
          </a:prstGeom>
        </p:spPr>
        <p:txBody>
          <a:bodyPr vert="horz" lIns="104927" tIns="52464" rIns="104927" bIns="5246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l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418EE-54C4-4E62-A3D8-521C4D7EF4A3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1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ct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1"/>
            <a:ext cx="2844800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65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</p:sldLayoutIdLst>
  <p:hf hdr="0" ftr="0" dt="0"/>
  <p:txStyles>
    <p:titleStyle>
      <a:lvl1pPr algn="ctr" defTabSz="951692" rtl="0" eaLnBrk="1" latinLnBrk="0" hangingPunct="1">
        <a:spcBef>
          <a:spcPct val="0"/>
        </a:spcBef>
        <a:buNone/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885" indent="-356885" algn="l" defTabSz="951692" rtl="0" eaLnBrk="1" latinLnBrk="0" hangingPunct="1">
        <a:spcBef>
          <a:spcPct val="20000"/>
        </a:spcBef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73249" indent="-297403" algn="l" defTabSz="951692" rtl="0" eaLnBrk="1" latinLnBrk="0" hangingPunct="1">
        <a:spcBef>
          <a:spcPct val="20000"/>
        </a:spcBef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9615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65461" indent="-237923" algn="l" defTabSz="951692" rtl="0" eaLnBrk="1" latinLnBrk="0" hangingPunct="1">
        <a:spcBef>
          <a:spcPct val="20000"/>
        </a:spcBef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41306" indent="-237923" algn="l" defTabSz="951692" rtl="0" eaLnBrk="1" latinLnBrk="0" hangingPunct="1">
        <a:spcBef>
          <a:spcPct val="20000"/>
        </a:spcBef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17152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92998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68844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44689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5846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51692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27537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03383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79229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55075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30920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06766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608DF0-C87D-4F77-B43F-28850F18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5E8C5-D330-41DE-A4A9-B84F1BD52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1009-38D5-4246-A747-0CF5B81445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93255-9A1A-4442-9B7E-D9A6551961A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F4C6F-7943-4F7F-B2A9-3C431E7F9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607D8-4D94-4E1F-A6DA-66E4D0531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C4682-3267-42F0-887A-3EAF67AF6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47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1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1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9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F9820BD-4B17-40AE-92A4-EBFAF1FE4538}" type="datetime1">
              <a:rPr lang="en-US" noProof="0" smtClean="0"/>
              <a:t>5/18/2026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9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1" y="6223829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52559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11" indent="-182889" algn="l" defTabSz="914446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23" indent="-182889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57" indent="-182889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90" indent="-182889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224" indent="-182889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80" indent="-228611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95" indent="-228611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110" indent="-228611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125" indent="-228611" algn="l" defTabSz="91444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104927" tIns="52464" rIns="104927" bIns="5246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00200"/>
            <a:ext cx="10972800" cy="4525963"/>
          </a:xfrm>
          <a:prstGeom prst="rect">
            <a:avLst/>
          </a:prstGeom>
        </p:spPr>
        <p:txBody>
          <a:bodyPr vert="horz" lIns="104927" tIns="52464" rIns="104927" bIns="5246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l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418EE-54C4-4E62-A3D8-521C4D7EF4A3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1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ct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1"/>
            <a:ext cx="2844800" cy="365125"/>
          </a:xfrm>
          <a:prstGeom prst="rect">
            <a:avLst/>
          </a:prstGeom>
        </p:spPr>
        <p:txBody>
          <a:bodyPr vert="horz" lIns="104927" tIns="52464" rIns="104927" bIns="52464" rtlCol="0" anchor="ctr"/>
          <a:lstStyle>
            <a:lvl1pPr algn="r">
              <a:defRPr sz="12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F0FAB-73C7-4589-B3CB-230F48FA2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85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</p:sldLayoutIdLst>
  <p:hf hdr="0" ftr="0" dt="0"/>
  <p:txStyles>
    <p:titleStyle>
      <a:lvl1pPr algn="ctr" defTabSz="951692" rtl="0" eaLnBrk="1" latinLnBrk="0" hangingPunct="1">
        <a:spcBef>
          <a:spcPct val="0"/>
        </a:spcBef>
        <a:buNone/>
        <a:defRPr sz="45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885" indent="-356885" algn="l" defTabSz="951692" rtl="0" eaLnBrk="1" latinLnBrk="0" hangingPunct="1">
        <a:spcBef>
          <a:spcPct val="20000"/>
        </a:spcBef>
        <a:buFont typeface="Arial" pitchFamily="34" charset="0"/>
        <a:buChar char="•"/>
        <a:defRPr sz="3356" kern="1200">
          <a:solidFill>
            <a:schemeClr val="tx1"/>
          </a:solidFill>
          <a:latin typeface="+mn-lt"/>
          <a:ea typeface="+mn-ea"/>
          <a:cs typeface="+mn-cs"/>
        </a:defRPr>
      </a:lvl1pPr>
      <a:lvl2pPr marL="773249" indent="-297403" algn="l" defTabSz="951692" rtl="0" eaLnBrk="1" latinLnBrk="0" hangingPunct="1">
        <a:spcBef>
          <a:spcPct val="20000"/>
        </a:spcBef>
        <a:buFont typeface="Arial" pitchFamily="34" charset="0"/>
        <a:buChar char="–"/>
        <a:defRPr sz="2902" kern="1200">
          <a:solidFill>
            <a:schemeClr val="tx1"/>
          </a:solidFill>
          <a:latin typeface="+mn-lt"/>
          <a:ea typeface="+mn-ea"/>
          <a:cs typeface="+mn-cs"/>
        </a:defRPr>
      </a:lvl2pPr>
      <a:lvl3pPr marL="1189615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3pPr>
      <a:lvl4pPr marL="1665461" indent="-237923" algn="l" defTabSz="951692" rtl="0" eaLnBrk="1" latinLnBrk="0" hangingPunct="1">
        <a:spcBef>
          <a:spcPct val="20000"/>
        </a:spcBef>
        <a:buFont typeface="Arial" pitchFamily="34" charset="0"/>
        <a:buChar char="–"/>
        <a:defRPr sz="2086" kern="1200">
          <a:solidFill>
            <a:schemeClr val="tx1"/>
          </a:solidFill>
          <a:latin typeface="+mn-lt"/>
          <a:ea typeface="+mn-ea"/>
          <a:cs typeface="+mn-cs"/>
        </a:defRPr>
      </a:lvl4pPr>
      <a:lvl5pPr marL="2141306" indent="-237923" algn="l" defTabSz="951692" rtl="0" eaLnBrk="1" latinLnBrk="0" hangingPunct="1">
        <a:spcBef>
          <a:spcPct val="20000"/>
        </a:spcBef>
        <a:buFont typeface="Arial" pitchFamily="34" charset="0"/>
        <a:buChar char="»"/>
        <a:defRPr sz="2086" kern="1200">
          <a:solidFill>
            <a:schemeClr val="tx1"/>
          </a:solidFill>
          <a:latin typeface="+mn-lt"/>
          <a:ea typeface="+mn-ea"/>
          <a:cs typeface="+mn-cs"/>
        </a:defRPr>
      </a:lvl5pPr>
      <a:lvl6pPr marL="2617152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6pPr>
      <a:lvl7pPr marL="3092998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7pPr>
      <a:lvl8pPr marL="3568844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8pPr>
      <a:lvl9pPr marL="4044689" indent="-237923" algn="l" defTabSz="951692" rtl="0" eaLnBrk="1" latinLnBrk="0" hangingPunct="1">
        <a:spcBef>
          <a:spcPct val="20000"/>
        </a:spcBef>
        <a:buFont typeface="Arial" pitchFamily="34" charset="0"/>
        <a:buChar char="•"/>
        <a:defRPr sz="208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75846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51692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27537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03383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379229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855075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30920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06766" algn="l" defTabSz="951692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close up of a sign  Description automatically generated">
            <a:extLst>
              <a:ext uri="{FF2B5EF4-FFF2-40B4-BE49-F238E27FC236}">
                <a16:creationId xmlns:a16="http://schemas.microsoft.com/office/drawing/2014/main" id="{E0C90412-5598-44A6-9AAC-460911EA4A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750"/>
          <a:stretch/>
        </p:blipFill>
        <p:spPr>
          <a:xfrm>
            <a:off x="20" y="10"/>
            <a:ext cx="4580077" cy="6400784"/>
          </a:xfrm>
          <a:prstGeom prst="rect">
            <a:avLst/>
          </a:prstGeom>
        </p:spPr>
      </p:pic>
      <p:pic>
        <p:nvPicPr>
          <p:cNvPr id="38" name="Picture 37" descr="A picture containing drawing, device  Description automatically generated">
            <a:extLst>
              <a:ext uri="{FF2B5EF4-FFF2-40B4-BE49-F238E27FC236}">
                <a16:creationId xmlns:a16="http://schemas.microsoft.com/office/drawing/2014/main" id="{F5951A1D-2369-47C4-A85C-56745ED4EA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8" t="90352"/>
          <a:stretch/>
        </p:blipFill>
        <p:spPr>
          <a:xfrm>
            <a:off x="0" y="6286691"/>
            <a:ext cx="12192001" cy="6896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22006218-6B40-4E30-BE61-A45EC025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98EE3D-8CD1-4C3F-BD1C-C98C959646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D1FB61-2C5F-4ADC-AB16-BB26BB2A5BBA}"/>
              </a:ext>
            </a:extLst>
          </p:cNvPr>
          <p:cNvSpPr txBox="1"/>
          <p:nvPr/>
        </p:nvSpPr>
        <p:spPr>
          <a:xfrm>
            <a:off x="4969839" y="1445043"/>
            <a:ext cx="43305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Pertemuan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8: Official Statistics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Lanjutan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46D3BE4-C158-4F97-9DC1-4B14C4150352}"/>
              </a:ext>
            </a:extLst>
          </p:cNvPr>
          <p:cNvSpPr txBox="1">
            <a:spLocks/>
          </p:cNvSpPr>
          <p:nvPr/>
        </p:nvSpPr>
        <p:spPr>
          <a:xfrm>
            <a:off x="4580096" y="2004788"/>
            <a:ext cx="7611884" cy="18033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Kemiskinan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Makro,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Kemiskinan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Mikro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, dan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Ketimpangan</a:t>
            </a:r>
            <a:endParaRPr kumimoji="0" lang="id-ID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307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46DF3-856D-4B12-81E7-E84835C9134F}"/>
              </a:ext>
            </a:extLst>
          </p:cNvPr>
          <p:cNvSpPr txBox="1"/>
          <p:nvPr/>
        </p:nvSpPr>
        <p:spPr>
          <a:xfrm>
            <a:off x="1864426" y="2576936"/>
            <a:ext cx="86214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 err="1"/>
              <a:t>Kemiskinan</a:t>
            </a:r>
            <a:endParaRPr lang="en-US" sz="4600" b="1" dirty="0"/>
          </a:p>
        </p:txBody>
      </p:sp>
    </p:spTree>
    <p:extLst>
      <p:ext uri="{BB962C8B-B14F-4D97-AF65-F5344CB8AC3E}">
        <p14:creationId xmlns:p14="http://schemas.microsoft.com/office/powerpoint/2010/main" val="3927741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33069-C8A3-46B5-A55B-D07E751B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3</a:t>
            </a:fld>
            <a:endParaRPr lang="en-US"/>
          </a:p>
        </p:txBody>
      </p:sp>
      <p:pic>
        <p:nvPicPr>
          <p:cNvPr id="7" name="Y2Mate.is - SDG 1 Poverty - Sustainable Development Goals-OPnZ43Q8GbY-720p-1649084472058">
            <a:hlinkClick r:id="" action="ppaction://media"/>
            <a:extLst>
              <a:ext uri="{FF2B5EF4-FFF2-40B4-BE49-F238E27FC236}">
                <a16:creationId xmlns:a16="http://schemas.microsoft.com/office/drawing/2014/main" id="{C3E4DA9E-B8FB-45F0-8F8F-BB6705A31D61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85652" y="369332"/>
            <a:ext cx="10224654" cy="5638305"/>
          </a:xfrm>
        </p:spPr>
      </p:pic>
    </p:spTree>
    <p:extLst>
      <p:ext uri="{BB962C8B-B14F-4D97-AF65-F5344CB8AC3E}">
        <p14:creationId xmlns:p14="http://schemas.microsoft.com/office/powerpoint/2010/main" val="398785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53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Tujuan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Pengukuran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4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948343"/>
            <a:ext cx="1105988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800" b="1" dirty="0">
                <a:solidFill>
                  <a:srgbClr val="000000"/>
                </a:solidFill>
                <a:latin typeface="Arial Narrow"/>
                <a:cs typeface="Arial Narrow"/>
              </a:rPr>
              <a:t>Identify disadvantaged sub-populations: </a:t>
            </a:r>
            <a:r>
              <a:rPr lang="en-US" sz="2800" dirty="0">
                <a:solidFill>
                  <a:srgbClr val="000000"/>
                </a:solidFill>
                <a:latin typeface="Arial Narrow"/>
                <a:cs typeface="Arial Narrow"/>
              </a:rPr>
              <a:t>Social assistance to disadvantaged groups.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800" b="1" dirty="0">
                <a:solidFill>
                  <a:srgbClr val="000000"/>
                </a:solidFill>
                <a:latin typeface="Arial Narrow"/>
                <a:cs typeface="Arial Narrow"/>
              </a:rPr>
              <a:t>Monitor progress:</a:t>
            </a:r>
            <a:r>
              <a:rPr lang="en-US" sz="2800" dirty="0">
                <a:solidFill>
                  <a:srgbClr val="000000"/>
                </a:solidFill>
                <a:latin typeface="Arial Narrow"/>
                <a:cs typeface="Arial Narrow"/>
              </a:rPr>
              <a:t> requires comparability over time.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800" b="1" dirty="0">
                <a:solidFill>
                  <a:srgbClr val="000000"/>
                </a:solidFill>
                <a:latin typeface="Arial Narrow"/>
                <a:cs typeface="Arial Narrow"/>
              </a:rPr>
              <a:t>Identify disadvantaged sub-national regions: </a:t>
            </a:r>
            <a:r>
              <a:rPr lang="en-US" sz="2800" dirty="0">
                <a:solidFill>
                  <a:srgbClr val="000000"/>
                </a:solidFill>
                <a:latin typeface="Arial Narrow"/>
                <a:cs typeface="Arial Narrow"/>
              </a:rPr>
              <a:t>assistance to disadvantaged areas (comparability over space).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800" b="1" dirty="0">
                <a:solidFill>
                  <a:srgbClr val="000000"/>
                </a:solidFill>
                <a:latin typeface="Arial Narrow"/>
                <a:cs typeface="Arial Narrow"/>
              </a:rPr>
              <a:t>Identify causal factors of poverty: </a:t>
            </a:r>
            <a:r>
              <a:rPr lang="en-US" sz="2800" dirty="0">
                <a:solidFill>
                  <a:srgbClr val="000000"/>
                </a:solidFill>
                <a:latin typeface="Arial Narrow"/>
                <a:cs typeface="Arial Narrow"/>
              </a:rPr>
              <a:t>requires data on potential cofounding factors.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800" b="1" dirty="0">
                <a:solidFill>
                  <a:srgbClr val="000000"/>
                </a:solidFill>
                <a:latin typeface="Arial Narrow"/>
                <a:cs typeface="Arial Narrow"/>
              </a:rPr>
              <a:t>Identify poor individuals: </a:t>
            </a:r>
            <a:r>
              <a:rPr lang="en-US" sz="2800" dirty="0">
                <a:solidFill>
                  <a:srgbClr val="000000"/>
                </a:solidFill>
                <a:latin typeface="Arial Narrow"/>
                <a:cs typeface="Arial Narrow"/>
              </a:rPr>
              <a:t>identify recipients of program benefits.</a:t>
            </a:r>
            <a:endParaRPr lang="id-ID" sz="2800" dirty="0">
              <a:solidFill>
                <a:srgbClr val="000000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2666369831"/>
      </p:ext>
    </p:extLst>
  </p:cSld>
  <p:clrMapOvr>
    <a:masterClrMapping/>
  </p:clrMapOvr>
  <p:transition spd="slow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Konsep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D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asar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emiskinan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5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413962"/>
            <a:ext cx="1105988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Poverty : </a:t>
            </a:r>
            <a:r>
              <a:rPr lang="id-ID" sz="2400" i="1" dirty="0">
                <a:solidFill>
                  <a:srgbClr val="000000"/>
                </a:solidFill>
                <a:latin typeface="Arial Narrow"/>
                <a:cs typeface="Arial Narrow"/>
              </a:rPr>
              <a:t>poverté, pauvreté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(Prancis); </a:t>
            </a:r>
            <a:r>
              <a:rPr lang="id-ID" sz="2400" i="1" dirty="0">
                <a:solidFill>
                  <a:srgbClr val="000000"/>
                </a:solidFill>
                <a:latin typeface="Arial Narrow"/>
                <a:cs typeface="Arial Narrow"/>
              </a:rPr>
              <a:t>paupertaãs, pauper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(Latin</a:t>
            </a:r>
            <a:r>
              <a:rPr lang="id-ID" sz="2400" i="1" dirty="0">
                <a:solidFill>
                  <a:srgbClr val="000000"/>
                </a:solidFill>
                <a:latin typeface="Arial Narrow"/>
                <a:cs typeface="Arial Narrow"/>
              </a:rPr>
              <a:t>: poor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).</a:t>
            </a:r>
          </a:p>
          <a:p>
            <a:pPr lvl="1" algn="just">
              <a:buClr>
                <a:srgbClr val="FF0000"/>
              </a:buClr>
              <a:buSzPct val="100000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Kondisi seseorang yg kekurangan pendapatan/kepemilikan material utk bisa hidup layak dan ini tdk terhindarkan terjadi dimanapun, krn pembangunan ekonomi tdk cukup utk menjamin standar hidup yg layak bagi seluruh penduduk negara secara merata.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u="sng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UN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: Kemiskinan secara fundamental adalah suatu penyangkalan (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denial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) atas pilihan-pilihan &amp; kesempatan-kesempatan untuk hidup layak, yg mencerminkan pelanggaran harga diri manusia. 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Kurangnya pendapatan untuk memenuhi kebutuhan hidup dasar (pangan, sandang &amp; papan), kurangnya akses thd fasilitas pendidikan &amp; kesehatan dasar, serta kapasitas dasar utk berpartisipasi di masyarakat secara efektif.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Tidak adanya jaminan hidup (insecurity), ketidakberdayaan (powerlessness), pengucilan (exclusion), kerentanan thd kekerasan, hidup di lingkungan marjinal &amp; kumuh tanpa akses thd air bersih dan sanitasi.</a:t>
            </a:r>
          </a:p>
        </p:txBody>
      </p:sp>
    </p:spTree>
    <p:extLst>
      <p:ext uri="{BB962C8B-B14F-4D97-AF65-F5344CB8AC3E}">
        <p14:creationId xmlns:p14="http://schemas.microsoft.com/office/powerpoint/2010/main" val="3011893659"/>
      </p:ext>
    </p:extLst>
  </p:cSld>
  <p:clrMapOvr>
    <a:masterClrMapping/>
  </p:clrMapOvr>
  <p:transition spd="slow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Konsep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D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asar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emiskinan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6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413962"/>
            <a:ext cx="110598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u="sng" dirty="0">
                <a:solidFill>
                  <a:srgbClr val="000000"/>
                </a:solidFill>
                <a:latin typeface="Arial Narrow"/>
                <a:cs typeface="Arial Narrow"/>
              </a:rPr>
              <a:t>Bank Dunia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: Kemiskinan adalah suatu kondisi kekurangan kesejahteraan yang nyata dan berdimensi ganda. </a:t>
            </a:r>
          </a:p>
          <a:p>
            <a:pPr lvl="1" algn="just">
              <a:buClr>
                <a:srgbClr val="FF0000"/>
              </a:buClr>
              <a:buSzPct val="100000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Pendapatan rendah, ketidakmampuan untuk memenuhi kebutuhan dasar (makanan &amp; bukan makanan) yang diperlukan untuk bertahan hidup secara layak. Kondisi lain termasuk rendahnya tingkat kesehatan &amp; pendidikan, kurangnya akses thd air bersih dan sanitasi, jaminan fisik yg tdk memadai, kurangnya kesempatan untuk mengemukakan pendapat (lack of voice), dan kurangnya kapasitas &amp; kesempatan untuk memperbaiki hodupnya.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lvl="1"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u="sng" dirty="0">
                <a:solidFill>
                  <a:srgbClr val="000000"/>
                </a:solidFill>
                <a:latin typeface="Arial Narrow"/>
                <a:cs typeface="Arial Narrow"/>
              </a:rPr>
              <a:t>Deklarasi Kopenhagen (</a:t>
            </a:r>
            <a:r>
              <a:rPr lang="id-ID" sz="2400" i="1" u="sng" dirty="0">
                <a:solidFill>
                  <a:srgbClr val="000000"/>
                </a:solidFill>
                <a:latin typeface="Arial Narrow"/>
                <a:cs typeface="Arial Narrow"/>
              </a:rPr>
              <a:t>Copenhagen Declaration, World Summit for Social Development, 1995</a:t>
            </a:r>
            <a:r>
              <a:rPr lang="id-ID" sz="2400" b="1" u="sng" dirty="0">
                <a:solidFill>
                  <a:srgbClr val="000000"/>
                </a:solidFill>
                <a:latin typeface="Arial Narrow"/>
                <a:cs typeface="Arial Narrow"/>
              </a:rPr>
              <a:t>)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: Kemiskinan absolut adalah suatu kondisi yg dicirikan oleh kondisi parah atas pemenuhan kebutuhan hidup dasar manusia, termasuk kebutuhan makanan, air bersih, fasilitas sanitasi, kesehatan, tempat tinggal, pendidikan dan informasi. </a:t>
            </a: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991285772"/>
      </p:ext>
    </p:extLst>
  </p:cSld>
  <p:clrMapOvr>
    <a:masterClrMapping/>
  </p:clrMapOvr>
  <p:transition spd="slow">
    <p:dissolv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A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bsolut &amp; 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R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elatif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7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413962"/>
            <a:ext cx="1105988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Kemiskinan absolut : 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merujuk pada jumlah penduduk miskin yang hidup (dg tingkat pendapatan) di bawah suatu garis kemiskinan (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cs typeface="Arial Narrow"/>
              </a:rPr>
              <a:t>poverty line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, atau 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cs typeface="Arial Narrow"/>
              </a:rPr>
              <a:t>poverty threshold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) yang telah ditentukan.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sinonim utk kemiskinan ekstrim (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extreme poverty</a:t>
            </a: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), mengindikasikan tidak adanya sumber daya (uang) untuk menjamin kebutuhan pokok utk hidup. 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lvl="1"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Kemiskinan relatif :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merujuk kemiskinan sbg suatu ukuran ketimpangan pendapatan (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cs typeface="Arial Narrow"/>
              </a:rPr>
              <a:t>income inequality: Gini Coefficient, Theil Index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). 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umumnya, kemiskinan relatif diukur sbg % penduduk dg pendapatan kurang dari suatu proporsi yg tlh ditentukan thd median pendapatan.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juga sering digunakan Quintile pendapatan: Q1 (20% pddk dg pendapatan terendah), Q5 (20% tertinggi)</a:t>
            </a: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35508199"/>
      </p:ext>
    </p:extLst>
  </p:cSld>
  <p:clrMapOvr>
    <a:masterClrMapping/>
  </p:clrMapOvr>
  <p:transition spd="slow">
    <p:dissolv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800" b="1" i="1" dirty="0"/>
              <a:t>Absolute Poverty Line</a:t>
            </a:r>
            <a:r>
              <a:rPr lang="en-US" sz="4800" b="1" i="1" dirty="0"/>
              <a:t>: </a:t>
            </a:r>
            <a:r>
              <a:rPr lang="id-ID" sz="4800" b="1" i="1" dirty="0"/>
              <a:t>After Development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8</a:t>
            </a:fld>
            <a:endParaRPr lang="en-US" altLang="id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E56FA4-E88B-49D4-ADE7-4FCB9774E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169" y="1189456"/>
            <a:ext cx="9876758" cy="517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76763"/>
      </p:ext>
    </p:extLst>
  </p:cSld>
  <p:clrMapOvr>
    <a:masterClrMapping/>
  </p:clrMapOvr>
  <p:transition spd="slow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i="1" dirty="0"/>
              <a:t>Relative</a:t>
            </a:r>
            <a:r>
              <a:rPr lang="id-ID" sz="4800" b="1" i="1" dirty="0"/>
              <a:t> Poverty Line</a:t>
            </a:r>
            <a:r>
              <a:rPr lang="en-US" sz="4800" b="1" i="1" dirty="0"/>
              <a:t>: </a:t>
            </a:r>
            <a:r>
              <a:rPr lang="id-ID" sz="4800" b="1" i="1" dirty="0"/>
              <a:t>After Development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9</a:t>
            </a:fld>
            <a:endParaRPr lang="en-US" altLang="id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E5AB85-F85F-4146-A3D5-34DABB754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30" y="1401288"/>
            <a:ext cx="10243850" cy="485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77349"/>
      </p:ext>
    </p:extLst>
  </p:cSld>
  <p:clrMapOvr>
    <a:masterClrMapping/>
  </p:clrMapOvr>
  <p:transition spd="slow">
    <p:dissolv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10</a:t>
            </a:fld>
            <a:endParaRPr lang="en-US" altLang="id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1B83C4-0976-4078-B26B-284AFEE2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6234"/>
            <a:ext cx="12192000" cy="4600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6B2E7F-58EF-2C94-635A-A61866A9B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1216025"/>
          </a:xfrm>
        </p:spPr>
        <p:txBody>
          <a:bodyPr>
            <a:normAutofit fontScale="90000"/>
          </a:bodyPr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dalam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Konteks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SDGs (1)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417748"/>
      </p:ext>
    </p:extLst>
  </p:cSld>
  <p:clrMapOvr>
    <a:masterClrMapping/>
  </p:clrMapOvr>
  <p:transition spd="slow">
    <p:dissolv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729145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Catatan</a:t>
            </a:r>
            <a:r>
              <a:rPr lang="en-US" sz="24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: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11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354586"/>
            <a:ext cx="1105988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Ukuran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$ yang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digunakan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mengacu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pada $ PPP (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bukan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kurs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USD($)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secara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nominal).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Purchasing Power Parity (PPP) is an economic theory that compares different countries' currencies through a market "basket of goods" approach. According to this concept, two currencies are in equilibrium or at par when a market basket of goods (taking into account the exchange rate) is priced the same in both countries.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/>
              <a:t>PPPs are calculated based on the price of a common basket of goods and services in each participating economy and are a measure of what an economy’s local currency can buy in another economy. Market exchange rate-based conversions reflect both price and volume differences in expenditures and are thus inappropriate for volume comparisons. PPP-based conversions of expenditures eliminate the effect of price level differences between economies and reflect only differences in the volume of economies.</a:t>
            </a:r>
          </a:p>
        </p:txBody>
      </p:sp>
    </p:spTree>
    <p:extLst>
      <p:ext uri="{BB962C8B-B14F-4D97-AF65-F5344CB8AC3E}">
        <p14:creationId xmlns:p14="http://schemas.microsoft.com/office/powerpoint/2010/main" val="387627971"/>
      </p:ext>
    </p:extLst>
  </p:cSld>
  <p:clrMapOvr>
    <a:masterClrMapping/>
  </p:clrMapOvr>
  <p:transition spd="slow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729145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Catatan</a:t>
            </a:r>
            <a:r>
              <a:rPr lang="en-US" sz="24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: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12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354586"/>
            <a:ext cx="11059887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Penetapan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garis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kemiskinan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dengan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menggunakan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ukuran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$ PPP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telah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beberapa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kali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mengalami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penyesuaian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mengikuti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perkembangan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harga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 yang </a:t>
            </a:r>
            <a:r>
              <a:rPr lang="en-US" sz="2600" dirty="0" err="1">
                <a:solidFill>
                  <a:srgbClr val="000000"/>
                </a:solidFill>
                <a:latin typeface="Arial Narrow"/>
                <a:cs typeface="Arial Narrow"/>
              </a:rPr>
              <a:t>berlaku</a:t>
            </a:r>
            <a:r>
              <a:rPr lang="en-US" sz="2600" dirty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just">
              <a:buClr>
                <a:srgbClr val="FF0000"/>
              </a:buClr>
              <a:buSzPct val="100000"/>
            </a:pPr>
            <a:endParaRPr lang="en-US" sz="2600" dirty="0">
              <a:solidFill>
                <a:srgbClr val="000000"/>
              </a:solidFill>
              <a:latin typeface="Arial Narrow"/>
              <a:cs typeface="Arial Narrow"/>
            </a:endParaRP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b="0" i="0" kern="1200" dirty="0">
                <a:solidFill>
                  <a:schemeClr val="tx1"/>
                </a:solidFill>
                <a:effectLst/>
              </a:rPr>
              <a:t>The dollar-a-day line, created by </a:t>
            </a:r>
            <a:r>
              <a:rPr lang="en-US" sz="2400" b="0" i="0" kern="1200" dirty="0" err="1">
                <a:solidFill>
                  <a:schemeClr val="tx1"/>
                </a:solidFill>
                <a:effectLst/>
              </a:rPr>
              <a:t>Ravallion</a:t>
            </a:r>
            <a:r>
              <a:rPr lang="en-US" sz="2400" b="0" i="0" kern="1200" dirty="0">
                <a:solidFill>
                  <a:schemeClr val="tx1"/>
                </a:solidFill>
                <a:effectLst/>
              </a:rPr>
              <a:t> et al. (1991), used 1985 PPPs.  When a new set of PPPs was published in 1993, the line changed to $1.08 per day. PPPs were revised again in 2005, and the line was correspondingly upped to </a:t>
            </a:r>
            <a:r>
              <a:rPr lang="en-US" sz="2400" b="1" i="0" kern="1200" dirty="0">
                <a:solidFill>
                  <a:srgbClr val="0070C0"/>
                </a:solidFill>
                <a:effectLst/>
              </a:rPr>
              <a:t>$1.25</a:t>
            </a:r>
            <a:r>
              <a:rPr lang="en-US" sz="2400" b="0" i="0" kern="1200" dirty="0">
                <a:solidFill>
                  <a:schemeClr val="tx1"/>
                </a:solidFill>
                <a:effectLst/>
              </a:rPr>
              <a:t>. Every time this happened, there were real comparability challenges, and international poverty rates were revised for individual countries and for the world.</a:t>
            </a:r>
          </a:p>
          <a:p>
            <a:pPr marL="800100" lvl="1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+mj-lt"/>
              </a:rPr>
              <a:t>Saat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ini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garis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kemiskinan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telah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disesuaikan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menjadi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$2.15 </a:t>
            </a:r>
            <a:r>
              <a:rPr lang="en-US" sz="2400" dirty="0">
                <a:latin typeface="+mj-lt"/>
              </a:rPr>
              <a:t>(</a:t>
            </a:r>
            <a:r>
              <a:rPr lang="en-US" sz="2400" dirty="0" err="1">
                <a:latin typeface="+mj-lt"/>
              </a:rPr>
              <a:t>dengan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menggunakan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penghitungan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berdasarkan</a:t>
            </a:r>
            <a:r>
              <a:rPr lang="en-US" sz="2400" dirty="0">
                <a:latin typeface="+mj-lt"/>
              </a:rPr>
              <a:t> data </a:t>
            </a:r>
            <a:r>
              <a:rPr lang="en-US" sz="2400" dirty="0" err="1">
                <a:latin typeface="+mj-lt"/>
              </a:rPr>
              <a:t>harga</a:t>
            </a:r>
            <a:r>
              <a:rPr lang="en-US" sz="2400" dirty="0">
                <a:latin typeface="+mj-lt"/>
              </a:rPr>
              <a:t> yang </a:t>
            </a:r>
            <a:r>
              <a:rPr lang="en-US" sz="2400" dirty="0" err="1">
                <a:latin typeface="+mj-lt"/>
              </a:rPr>
              <a:t>dikumpulkan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tahun</a:t>
            </a:r>
            <a:r>
              <a:rPr lang="en-US" sz="2400" dirty="0">
                <a:latin typeface="+mj-lt"/>
              </a:rPr>
              <a:t> 2017)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yang </a:t>
            </a:r>
            <a:r>
              <a:rPr lang="en-US" sz="2400" dirty="0" err="1">
                <a:latin typeface="+mj-lt"/>
              </a:rPr>
              <a:t>sebelumnya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sebesar</a:t>
            </a:r>
            <a:r>
              <a:rPr lang="en-US" sz="2400" b="1" dirty="0">
                <a:solidFill>
                  <a:srgbClr val="0070C0"/>
                </a:solidFill>
                <a:latin typeface="+mj-lt"/>
              </a:rPr>
              <a:t> $1.90</a:t>
            </a:r>
            <a:r>
              <a:rPr lang="en-US" sz="2400" dirty="0">
                <a:latin typeface="+mj-lt"/>
              </a:rPr>
              <a:t> (</a:t>
            </a:r>
            <a:r>
              <a:rPr lang="en-US" sz="2400" dirty="0" err="1">
                <a:latin typeface="+mj-lt"/>
              </a:rPr>
              <a:t>dengan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menggunakan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penghitungan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berdasarkan</a:t>
            </a:r>
            <a:r>
              <a:rPr lang="en-US" sz="2400" dirty="0">
                <a:latin typeface="+mj-lt"/>
              </a:rPr>
              <a:t> data </a:t>
            </a:r>
            <a:r>
              <a:rPr lang="en-US" sz="2400" dirty="0" err="1">
                <a:latin typeface="+mj-lt"/>
              </a:rPr>
              <a:t>harga</a:t>
            </a:r>
            <a:r>
              <a:rPr lang="en-US" sz="2400" dirty="0">
                <a:latin typeface="+mj-lt"/>
              </a:rPr>
              <a:t> yang </a:t>
            </a:r>
            <a:r>
              <a:rPr lang="en-US" sz="2400" dirty="0" err="1">
                <a:latin typeface="+mj-lt"/>
              </a:rPr>
              <a:t>dikumpulkan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 err="1">
                <a:latin typeface="+mj-lt"/>
              </a:rPr>
              <a:t>tahun</a:t>
            </a:r>
            <a:r>
              <a:rPr lang="en-US" sz="2400" dirty="0">
                <a:latin typeface="+mj-lt"/>
              </a:rPr>
              <a:t> 2011).</a:t>
            </a:r>
          </a:p>
        </p:txBody>
      </p:sp>
    </p:spTree>
    <p:extLst>
      <p:ext uri="{BB962C8B-B14F-4D97-AF65-F5344CB8AC3E}">
        <p14:creationId xmlns:p14="http://schemas.microsoft.com/office/powerpoint/2010/main" val="2733398112"/>
      </p:ext>
    </p:extLst>
  </p:cSld>
  <p:clrMapOvr>
    <a:masterClrMapping/>
  </p:clrMapOvr>
  <p:transition spd="slow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13</a:t>
            </a:fld>
            <a:endParaRPr lang="en-US" alt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65DB0-AB56-4269-B83D-9A495B9C1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2045"/>
            <a:ext cx="12192000" cy="5011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5B6A8A-71D3-8AA3-15A1-7335B91A1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8"/>
            <a:ext cx="10668000" cy="1216025"/>
          </a:xfrm>
        </p:spPr>
        <p:txBody>
          <a:bodyPr>
            <a:normAutofit fontScale="90000"/>
          </a:bodyPr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dalam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Konteks</a:t>
            </a:r>
            <a:r>
              <a:rPr lang="en-US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SDGs (2)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138206"/>
      </p:ext>
    </p:extLst>
  </p:cSld>
  <p:clrMapOvr>
    <a:masterClrMapping/>
  </p:clrMapOvr>
  <p:transition spd="slow"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Garis Kemiskinan (</a:t>
            </a:r>
            <a:r>
              <a:rPr lang="id-ID" sz="4800" b="1" i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poverty line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) yang digunakan di Indonesia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14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900848"/>
            <a:ext cx="110598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Konsep kemiskinan di Indonesia (BPS) merujuk pada pendekatan 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“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cs typeface="Arial Narrow"/>
              </a:rPr>
              <a:t>the costs of basic needs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”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, dimana kemiskinan didefinisikan sbg kurangnya kemampuan atas kebutuhan konsumsi dasar, baik makanan maupun bukan makanan.</a:t>
            </a:r>
            <a:endParaRPr lang="en-US" sz="2400" dirty="0">
              <a:solidFill>
                <a:srgbClr val="000000"/>
              </a:solidFill>
              <a:latin typeface="Arial Narrow"/>
              <a:cs typeface="Arial Narrow"/>
            </a:endParaRPr>
          </a:p>
          <a:p>
            <a:pPr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cs typeface="Arial Narrow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Garis Kemiskinan :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adalah suatu standar minimum yang dibutuhkan seseorang untuk memenuhi kebutuhan dasar hidupnya, termasuk kebutuhan makanan dan bukan makanan.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menggunakan data pendapatan, tetapi krn data pendapatan cenderung “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under-estimation</a:t>
            </a: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” di banyak negara-negara LDCs, termasuk Indonesia, maka data pengeluaran rumahtangga digunakan sbg “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proxy to income</a:t>
            </a: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”. 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lvl="1"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Garis Kemiskinan (GK) Makanan &amp; GK Bukan Makanan. </a:t>
            </a: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181135229"/>
      </p:ext>
    </p:extLst>
  </p:cSld>
  <p:clrMapOvr>
    <a:masterClrMapping/>
  </p:clrMapOvr>
  <p:transition spd="slow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Garis Kemiskinan (</a:t>
            </a:r>
            <a:r>
              <a:rPr lang="id-ID" sz="4800" b="1" i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poverty line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) yang digunakan di Indonesia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15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900848"/>
            <a:ext cx="110598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GK Makanan :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standar minimum untuk konsumsi makanan yang secara cukup diperlukan oleh setiap orang untuk hidup yang layak, ditentukan mengikuti rekomendasi WNPG 1978.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Seseorang untuk hidup layak dan sehat harus mengkonsumsi minimal 2100 kalori enerji setiap hari.  ekuivalen dg total pengeluaran yg dibutuhkan utk memenuhi persyaratan jumlah kalori tsb.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Garis kecukupan makanan (food adequacy line).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mencakup sekitar lebih dari 50 jenis makanan yg dikonsumsi oleh mayoritas penddk yg hidup sedikit di atas  GK  penduduk marjinal sbg penduduk rujukan (</a:t>
            </a:r>
            <a:r>
              <a:rPr lang="id-ID" sz="2400" b="1" i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reference population</a:t>
            </a: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)</a:t>
            </a:r>
            <a:endParaRPr lang="id-ID" sz="2400" b="1" dirty="0">
              <a:solidFill>
                <a:srgbClr val="000000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243498523"/>
      </p:ext>
    </p:extLst>
  </p:cSld>
  <p:clrMapOvr>
    <a:masterClrMapping/>
  </p:clrMapOvr>
  <p:transition spd="slow">
    <p:dissolv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Garis Kemiskinan (</a:t>
            </a:r>
            <a:r>
              <a:rPr lang="id-ID" sz="4800" b="1" i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poverty line</a:t>
            </a:r>
            <a:r>
              <a:rPr lang="id-ID" sz="4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) yang digunakan di Indonesia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16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900848"/>
            <a:ext cx="1105988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GK Bukan Makanan :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total pengeluaran untuk kebutuhan dasar bukan makanan yg dikonsumsi oleh mayoritas penduduk rujukan.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Kebutuhan dasar bukan makanan mencakup sekitar 25-27 komoditas bukan makanan,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termasuk</a:t>
            </a: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pakaian, perumahan, pendidikan, kesehatan, transportasi, dan jenis-jenis bukan makanan esensial lainnya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Garis kecukupan bukan makanan (non-food adequacy line).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lvl="1"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GK = GK makanan + GK bukan makanan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algn="just">
              <a:buClr>
                <a:srgbClr val="FF0000"/>
              </a:buClr>
              <a:buSzPct val="100000"/>
            </a:pP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Penduduk dg pengeluaran bulanan per orang di bawah GK akan dikategorikan sbg MISKIN.</a:t>
            </a:r>
            <a:endParaRPr lang="id-ID" sz="2400" b="1" dirty="0">
              <a:solidFill>
                <a:srgbClr val="000000"/>
              </a:solidFill>
              <a:latin typeface="Arial Narrow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496880512"/>
      </p:ext>
    </p:extLst>
  </p:cSld>
  <p:clrMapOvr>
    <a:masterClrMapping/>
  </p:clrMapOvr>
  <p:transition spd="slow">
    <p:dissolv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Makro</a:t>
            </a:r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&amp;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Mikro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17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413962"/>
            <a:ext cx="110598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Kemiskinan 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cs typeface="Arial Narrow"/>
              </a:rPr>
              <a:t>Makro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:  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dihitung dari hasil 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estimasi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 atau 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perkiraan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 sampel data Susenas.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konteks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kemiskinan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dipandang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sebagai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ketidakmampuan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untuk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memenuhi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kebutuhan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dasar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(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makanan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dan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bukan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makanan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).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Data yang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dihasilkan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: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Proporsi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penduduk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(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rumah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tangga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) miskin</a:t>
            </a:r>
            <a:r>
              <a:rPr lang="en-US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ea typeface="Wingdings"/>
                <a:cs typeface="Arial Narrow"/>
                <a:sym typeface="Wingdings"/>
              </a:rPr>
              <a:t>Data Kemiskinan Makro digunakan untuk perencanaan dan evaluasi program kemiskinan dengan target geografis tapi tidak menunjukkan siapa dan dimana alamat penduduk.</a:t>
            </a:r>
            <a:endParaRPr lang="en-US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3790799931"/>
      </p:ext>
    </p:extLst>
  </p:cSld>
  <p:clrMapOvr>
    <a:masterClrMapping/>
  </p:clrMapOvr>
  <p:transition spd="slow">
    <p:dissolv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Makro</a:t>
            </a:r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&amp;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Mikro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18</a:t>
            </a:fld>
            <a:endParaRPr lang="en-US" altLang="id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413962"/>
            <a:ext cx="110598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Kemiskinan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cs typeface="Arial Narrow"/>
              </a:rPr>
              <a:t>Mikro</a:t>
            </a:r>
            <a:r>
              <a:rPr lang="id-ID" sz="2400" b="1" dirty="0">
                <a:solidFill>
                  <a:srgbClr val="000000"/>
                </a:solidFill>
                <a:latin typeface="Arial Narrow"/>
                <a:cs typeface="Arial Narrow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dihitung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secara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cs typeface="Arial Narrow"/>
              </a:rPr>
              <a:t>sensus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. 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Dalam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konteks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ini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kemiskinan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didasarkan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pada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indeks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atau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Arial Narrow"/>
                <a:cs typeface="Arial Narrow"/>
              </a:rPr>
              <a:t>Proxy-Means Testing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(PMT)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dari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ciri-ciri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rumah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tangga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miskin.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Dihitung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 berdasarkan 14 indikator kemiskinan, diantaranya adalah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: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 luas lantai perkapita, jenis lantai, jenis dinding, fasilitas tempat buang air besar, sumber air minum, dll.</a:t>
            </a:r>
            <a:endParaRPr lang="en-US" sz="2400" dirty="0">
              <a:solidFill>
                <a:srgbClr val="000000"/>
              </a:solidFill>
              <a:latin typeface="Arial Narrow"/>
              <a:cs typeface="Arial Narrow"/>
            </a:endParaRP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Data yang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dihasilkan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: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Rumah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Tangga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Arial Narrow"/>
                <a:cs typeface="Arial Narrow"/>
              </a:rPr>
              <a:t>Sasaran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 (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cs typeface="Arial Narrow"/>
              </a:rPr>
              <a:t>sangat miskin, miskin, </a:t>
            </a:r>
            <a:r>
              <a:rPr lang="en-US" sz="2400" b="1" dirty="0" err="1">
                <a:solidFill>
                  <a:srgbClr val="000000"/>
                </a:solidFill>
                <a:latin typeface="Arial Narrow"/>
                <a:cs typeface="Arial Narrow"/>
              </a:rPr>
              <a:t>hampir</a:t>
            </a:r>
            <a:r>
              <a:rPr lang="en-US" sz="2400" b="1" dirty="0">
                <a:solidFill>
                  <a:srgbClr val="000000"/>
                </a:solidFill>
                <a:latin typeface="Arial Narrow"/>
                <a:cs typeface="Arial Narrow"/>
              </a:rPr>
              <a:t> miskin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) - </a:t>
            </a:r>
            <a:r>
              <a:rPr lang="en-US" sz="2400" i="1" dirty="0">
                <a:solidFill>
                  <a:srgbClr val="000000"/>
                </a:solidFill>
                <a:latin typeface="Arial Narrow"/>
                <a:cs typeface="Arial Narrow"/>
              </a:rPr>
              <a:t>by name by address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Data Kemiskinan Mikro digunakan sebagai dasar menentukan rumahtangga sasaran yang berhak mendapat bantuan dari pemerintah, seperti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:</a:t>
            </a:r>
            <a:r>
              <a:rPr lang="id-ID" sz="2400" dirty="0">
                <a:solidFill>
                  <a:srgbClr val="000000"/>
                </a:solidFill>
                <a:latin typeface="Arial Narrow"/>
                <a:cs typeface="Arial Narrow"/>
              </a:rPr>
              <a:t> BLT, PKH, Raskin, dll</a:t>
            </a:r>
            <a:r>
              <a:rPr lang="en-US" sz="2400" dirty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  <a:endParaRPr lang="id-ID" sz="2400" dirty="0">
              <a:solidFill>
                <a:srgbClr val="000000"/>
              </a:solidFill>
              <a:latin typeface="Arial Narrow"/>
              <a:ea typeface="Wingdings"/>
              <a:cs typeface="Arial Narrow"/>
              <a:sym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678882332"/>
      </p:ext>
    </p:extLst>
  </p:cSld>
  <p:clrMapOvr>
    <a:masterClrMapping/>
  </p:clrMapOvr>
  <p:transition spd="slow">
    <p:dissolv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 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Makro</a:t>
            </a:r>
            <a:r>
              <a:rPr lang="id-ID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&amp;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Kemiskinan</a:t>
            </a:r>
            <a:r>
              <a:rPr lang="en-US" sz="38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8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Mikro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19</a:t>
            </a:fld>
            <a:endParaRPr lang="en-US" altLang="id-ID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A9635-2D65-F650-975E-B64071A9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275" y="1270730"/>
            <a:ext cx="10089831" cy="54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14988"/>
      </p:ext>
    </p:extLst>
  </p:cSld>
  <p:clrMapOvr>
    <a:masterClrMapping/>
  </p:clrMapOvr>
  <p:transition spd="slow">
    <p:dissolv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err="1"/>
              <a:t>Penghitungan</a:t>
            </a:r>
            <a:r>
              <a:rPr lang="en-US" sz="4800" b="1" dirty="0"/>
              <a:t> </a:t>
            </a:r>
            <a:r>
              <a:rPr lang="en-US" sz="4800" b="1" dirty="0" err="1"/>
              <a:t>Indikator</a:t>
            </a:r>
            <a:r>
              <a:rPr lang="en-US" sz="4800" b="1" dirty="0"/>
              <a:t> </a:t>
            </a:r>
            <a:r>
              <a:rPr lang="en-US" sz="4800" b="1" dirty="0" err="1"/>
              <a:t>Kemiskinan</a:t>
            </a:r>
            <a:r>
              <a:rPr lang="en-US" sz="4800" b="1" dirty="0"/>
              <a:t> (Makro)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20</a:t>
            </a:fld>
            <a:endParaRPr lang="en-US" alt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089" y="1650670"/>
                <a:ext cx="10835594" cy="2541320"/>
              </a:xfrm>
              <a:prstGeom prst="rect">
                <a:avLst/>
              </a:prstGeom>
              <a:ln w="25400" cap="flat" cmpd="sng" algn="ctr">
                <a:noFill/>
                <a:prstDash val="soli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lIns="104927" tIns="52464" rIns="104927" bIns="52464" rtlCol="0">
                <a:normAutofit/>
              </a:bodyPr>
              <a:lstStyle>
                <a:lvl1pPr marL="356885" indent="-356885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35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773249" indent="-29740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902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89615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54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65461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141306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617152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3092998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568844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4044689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Clr>
                    <a:srgbClr val="FF0000"/>
                  </a:buClr>
                  <a:buSzPct val="100000"/>
                  <a:buFont typeface="Wingdings" charset="2"/>
                  <a:buChar char=""/>
                </a:pPr>
                <a:endParaRPr lang="id-ID" sz="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342900" indent="-342900" algn="just">
                  <a:buClr>
                    <a:srgbClr val="FF0000"/>
                  </a:buClr>
                  <a:buSzPct val="100000"/>
                  <a:buFont typeface="Wingdings" charset="2"/>
                  <a:buChar char=""/>
                </a:pPr>
                <a:r>
                  <a:rPr lang="id-ID" sz="2400" dirty="0">
                    <a:solidFill>
                      <a:srgbClr val="000000"/>
                    </a:solidFill>
                    <a:latin typeface="Arial Narrow"/>
                    <a:cs typeface="Arial Narrow"/>
                  </a:rPr>
                  <a:t>The</a:t>
                </a:r>
                <a:r>
                  <a:rPr lang="id-ID" sz="2400" b="1" dirty="0">
                    <a:solidFill>
                      <a:srgbClr val="000000"/>
                    </a:solidFill>
                    <a:latin typeface="Arial Narrow"/>
                    <a:cs typeface="Arial Narrow"/>
                  </a:rPr>
                  <a:t> Foster-Greer-Thorbecke </a:t>
                </a:r>
                <a:r>
                  <a:rPr lang="id-ID" sz="2400" dirty="0">
                    <a:solidFill>
                      <a:srgbClr val="000000"/>
                    </a:solidFill>
                    <a:latin typeface="Arial Narrow"/>
                    <a:cs typeface="Arial Narrow"/>
                  </a:rPr>
                  <a:t>(FGT) index adalah suatu ukuran umum dari kemiskinan yang terjadi d</a:t>
                </a:r>
                <a:r>
                  <a:rPr lang="en-US" sz="2400" dirty="0">
                    <a:solidFill>
                      <a:srgbClr val="000000"/>
                    </a:solidFill>
                    <a:latin typeface="Arial Narrow"/>
                    <a:cs typeface="Arial Narrow"/>
                  </a:rPr>
                  <a:t>ala</a:t>
                </a:r>
                <a:r>
                  <a:rPr lang="id-ID" sz="2400" dirty="0">
                    <a:solidFill>
                      <a:srgbClr val="000000"/>
                    </a:solidFill>
                    <a:latin typeface="Arial Narrow"/>
                    <a:cs typeface="Arial Narrow"/>
                  </a:rPr>
                  <a:t>m suatu perekonomian.</a:t>
                </a: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6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d-ID" sz="2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:endParaRPr lang="id-ID" sz="24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</p:txBody>
          </p:sp>
        </mc:Choice>
        <mc:Fallback xmlns="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89" y="1650670"/>
                <a:ext cx="10835594" cy="2541320"/>
              </a:xfrm>
              <a:prstGeom prst="rect">
                <a:avLst/>
              </a:prstGeom>
              <a:blipFill>
                <a:blip r:embed="rId3"/>
                <a:stretch>
                  <a:fillRect l="-619" r="-731"/>
                </a:stretch>
              </a:blipFill>
              <a:ln w="25400" cap="flat" cmpd="sng" algn="ctr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E6A59B9-E2CF-465E-8FF0-2C1B45D72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003044"/>
              </p:ext>
            </p:extLst>
          </p:nvPr>
        </p:nvGraphicFramePr>
        <p:xfrm>
          <a:off x="851065" y="3571500"/>
          <a:ext cx="10667999" cy="2635441"/>
        </p:xfrm>
        <a:graphic>
          <a:graphicData uri="http://schemas.openxmlformats.org/drawingml/2006/table">
            <a:tbl>
              <a:tblPr firstRow="1" firstCol="1" bandRow="1"/>
              <a:tblGrid>
                <a:gridCol w="514597">
                  <a:extLst>
                    <a:ext uri="{9D8B030D-6E8A-4147-A177-3AD203B41FA5}">
                      <a16:colId xmlns:a16="http://schemas.microsoft.com/office/drawing/2014/main" val="702936594"/>
                    </a:ext>
                  </a:extLst>
                </a:gridCol>
                <a:gridCol w="403761">
                  <a:extLst>
                    <a:ext uri="{9D8B030D-6E8A-4147-A177-3AD203B41FA5}">
                      <a16:colId xmlns:a16="http://schemas.microsoft.com/office/drawing/2014/main" val="3574093066"/>
                    </a:ext>
                  </a:extLst>
                </a:gridCol>
                <a:gridCol w="9749641">
                  <a:extLst>
                    <a:ext uri="{9D8B030D-6E8A-4147-A177-3AD203B41FA5}">
                      <a16:colId xmlns:a16="http://schemas.microsoft.com/office/drawing/2014/main" val="285130580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Dimana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045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α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0, 1, 2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75654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Garis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kemiskinan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207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24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Rata-rata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perkapita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sebulan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berapa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bawah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garis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yi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&lt;z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67869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Banyaknya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berada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bawah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garis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kemiskinan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7503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penduduk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4218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586010"/>
      </p:ext>
    </p:extLst>
  </p:cSld>
  <p:clrMapOvr>
    <a:masterClrMapping/>
  </p:clrMapOvr>
  <p:transition spd="slow">
    <p:dissolv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 err="1"/>
              <a:t>Persentase</a:t>
            </a:r>
            <a:r>
              <a:rPr lang="en-US" sz="3800" b="1" dirty="0"/>
              <a:t> </a:t>
            </a:r>
            <a:r>
              <a:rPr lang="en-US" sz="3800" b="1" dirty="0" err="1"/>
              <a:t>Penduduk</a:t>
            </a:r>
            <a:r>
              <a:rPr lang="en-US" sz="3800" b="1" dirty="0"/>
              <a:t> Miskin (Headcount Index/P</a:t>
            </a:r>
            <a:r>
              <a:rPr lang="en-US" sz="3800" b="1" baseline="-25000" dirty="0"/>
              <a:t>0</a:t>
            </a:r>
            <a:r>
              <a:rPr lang="en-US" sz="3800" b="1" dirty="0"/>
              <a:t>)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21</a:t>
            </a:fld>
            <a:endParaRPr lang="en-US" alt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ln w="25400" cap="flat" cmpd="sng" algn="ctr">
                <a:noFill/>
                <a:prstDash val="soli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lIns="104927" tIns="52464" rIns="104927" bIns="52464" rtlCol="0">
                <a:normAutofit/>
              </a:bodyPr>
              <a:lstStyle>
                <a:lvl1pPr marL="356885" indent="-356885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35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773249" indent="-29740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902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89615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54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65461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141306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617152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3092998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568844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4044689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Clr>
                    <a:srgbClr val="FF0000"/>
                  </a:buClr>
                  <a:buSzPct val="100000"/>
                  <a:buFont typeface="Wingdings" charset="2"/>
                  <a:buChar char=""/>
                </a:pPr>
                <a:endParaRPr lang="id-ID" sz="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6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d-ID" sz="2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:endParaRPr lang="id-ID" sz="24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</p:txBody>
          </p:sp>
        </mc:Choice>
        <mc:Fallback xmlns="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 cap="flat" cmpd="sng" algn="ctr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1B986-34F2-474B-B908-9A76556C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439807"/>
              </p:ext>
            </p:extLst>
          </p:nvPr>
        </p:nvGraphicFramePr>
        <p:xfrm>
          <a:off x="922317" y="3048992"/>
          <a:ext cx="10660084" cy="3286475"/>
        </p:xfrm>
        <a:graphic>
          <a:graphicData uri="http://schemas.openxmlformats.org/drawingml/2006/table">
            <a:tbl>
              <a:tblPr firstRow="1" firstCol="1" bandRow="1"/>
              <a:tblGrid>
                <a:gridCol w="1737755">
                  <a:extLst>
                    <a:ext uri="{9D8B030D-6E8A-4147-A177-3AD203B41FA5}">
                      <a16:colId xmlns:a16="http://schemas.microsoft.com/office/drawing/2014/main" val="415433750"/>
                    </a:ext>
                  </a:extLst>
                </a:gridCol>
                <a:gridCol w="391885">
                  <a:extLst>
                    <a:ext uri="{9D8B030D-6E8A-4147-A177-3AD203B41FA5}">
                      <a16:colId xmlns:a16="http://schemas.microsoft.com/office/drawing/2014/main" val="2741397464"/>
                    </a:ext>
                  </a:extLst>
                </a:gridCol>
                <a:gridCol w="8530444">
                  <a:extLst>
                    <a:ext uri="{9D8B030D-6E8A-4147-A177-3AD203B41FA5}">
                      <a16:colId xmlns:a16="http://schemas.microsoft.com/office/drawing/2014/main" val="3468146737"/>
                    </a:ext>
                  </a:extLst>
                </a:gridCol>
              </a:tblGrid>
              <a:tr h="4879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Kondef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Persentase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yang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berada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bawah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garis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Headcount Index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secara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sederhana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mengukur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proporsi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dikategorikan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miskin. 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5785750"/>
                  </a:ext>
                </a:extLst>
              </a:tr>
              <a:tr h="23011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Kegunaan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Mengetahui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persentase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dikategorikan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miskin.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597487"/>
                  </a:ext>
                </a:extLst>
              </a:tr>
              <a:tr h="8226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Interpretasi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Angka yang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ditunjukkan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oleh HCI-P</a:t>
                      </a:r>
                      <a:r>
                        <a:rPr lang="en-US" sz="2200" baseline="-25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menunjukkan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proporsi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di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suatu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wilayah.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Persentase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yang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menunjukkan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bahwa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tingkat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suatu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wilayah juga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184924"/>
                  </a:ext>
                </a:extLst>
              </a:tr>
              <a:tr h="8226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SUSENAS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4820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39056"/>
      </p:ext>
    </p:extLst>
  </p:cSld>
  <p:clrMapOvr>
    <a:masterClrMapping/>
  </p:clrMapOvr>
  <p:transition spd="slow">
    <p:dissolv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b="1" dirty="0" err="1"/>
              <a:t>Indeks</a:t>
            </a:r>
            <a:r>
              <a:rPr lang="en-US" sz="3800" b="1" dirty="0"/>
              <a:t> </a:t>
            </a:r>
            <a:r>
              <a:rPr lang="en-US" sz="3800" b="1" dirty="0" err="1"/>
              <a:t>Kedalaman</a:t>
            </a:r>
            <a:r>
              <a:rPr lang="en-US" sz="3800" b="1" dirty="0"/>
              <a:t> </a:t>
            </a:r>
            <a:r>
              <a:rPr lang="en-US" sz="3800" b="1" dirty="0" err="1"/>
              <a:t>Kemiskinan</a:t>
            </a:r>
            <a:r>
              <a:rPr lang="en-US" sz="3800" b="1" dirty="0"/>
              <a:t> (Poverty Gap Index/P</a:t>
            </a:r>
            <a:r>
              <a:rPr lang="en-US" sz="3800" b="1" baseline="-25000" dirty="0"/>
              <a:t>1</a:t>
            </a:r>
            <a:r>
              <a:rPr lang="en-US" sz="3800" b="1" dirty="0"/>
              <a:t>)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22</a:t>
            </a:fld>
            <a:endParaRPr lang="en-US" alt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ln w="25400" cap="flat" cmpd="sng" algn="ctr">
                <a:noFill/>
                <a:prstDash val="soli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lIns="104927" tIns="52464" rIns="104927" bIns="52464" rtlCol="0">
                <a:normAutofit/>
              </a:bodyPr>
              <a:lstStyle>
                <a:lvl1pPr marL="356885" indent="-356885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35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773249" indent="-29740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902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89615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54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65461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141306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617152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3092998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568844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4044689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Clr>
                    <a:srgbClr val="FF0000"/>
                  </a:buClr>
                  <a:buSzPct val="100000"/>
                  <a:buFont typeface="Wingdings" charset="2"/>
                  <a:buChar char=""/>
                </a:pPr>
                <a:endParaRPr lang="id-ID" sz="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6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d-ID" sz="2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:endParaRPr lang="id-ID" sz="24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</p:txBody>
          </p:sp>
        </mc:Choice>
        <mc:Fallback xmlns="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 cap="flat" cmpd="sng" algn="ctr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1B986-34F2-474B-B908-9A76556C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633621"/>
              </p:ext>
            </p:extLst>
          </p:nvPr>
        </p:nvGraphicFramePr>
        <p:xfrm>
          <a:off x="922317" y="3048992"/>
          <a:ext cx="10660084" cy="3627615"/>
        </p:xfrm>
        <a:graphic>
          <a:graphicData uri="http://schemas.openxmlformats.org/drawingml/2006/table">
            <a:tbl>
              <a:tblPr firstRow="1" firstCol="1" bandRow="1"/>
              <a:tblGrid>
                <a:gridCol w="1476499">
                  <a:extLst>
                    <a:ext uri="{9D8B030D-6E8A-4147-A177-3AD203B41FA5}">
                      <a16:colId xmlns:a16="http://schemas.microsoft.com/office/drawing/2014/main" val="415433750"/>
                    </a:ext>
                  </a:extLst>
                </a:gridCol>
                <a:gridCol w="125372">
                  <a:extLst>
                    <a:ext uri="{9D8B030D-6E8A-4147-A177-3AD203B41FA5}">
                      <a16:colId xmlns:a16="http://schemas.microsoft.com/office/drawing/2014/main" val="2741397464"/>
                    </a:ext>
                  </a:extLst>
                </a:gridCol>
                <a:gridCol w="9058213">
                  <a:extLst>
                    <a:ext uri="{9D8B030D-6E8A-4147-A177-3AD203B41FA5}">
                      <a16:colId xmlns:a16="http://schemas.microsoft.com/office/drawing/2014/main" val="3468146737"/>
                    </a:ext>
                  </a:extLst>
                </a:gridCol>
              </a:tblGrid>
              <a:tr h="51050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Kondef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Ukuran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rata-rata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kesenjangan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masing-masing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terhadap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garis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5785750"/>
                  </a:ext>
                </a:extLst>
              </a:tr>
              <a:tr h="129362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Kegunaan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Nilai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agregat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poverty gap index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menunjukkan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mengentaskan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membuat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target transfer yang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sempurna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terhadap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hal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tidak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adanya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biaya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transaksi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faktor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penghambat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Semakin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kecil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nilai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poverty gap index,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semakin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besar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potensi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ekonomi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dana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pengentasan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berdasarkan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identifikasi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karakteristik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dan juga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target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sasaran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bantuan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 program.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597487"/>
                  </a:ext>
                </a:extLst>
              </a:tr>
              <a:tr h="77154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Interpretasi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Penurunan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nilai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indeks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Kedalaman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mengindikasikan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bahwa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rata-rata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cenderung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makin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mendekati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garis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dan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ketimpangan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juga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semakin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menyempit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184924"/>
                  </a:ext>
                </a:extLst>
              </a:tr>
              <a:tr h="73169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SUSENAS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076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593538"/>
      </p:ext>
    </p:extLst>
  </p:cSld>
  <p:clrMapOvr>
    <a:masterClrMapping/>
  </p:clrMapOvr>
  <p:transition spd="slow">
    <p:dissolv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800" b="1" dirty="0" err="1"/>
              <a:t>Indeks</a:t>
            </a:r>
            <a:r>
              <a:rPr lang="en-US" sz="3800" b="1" dirty="0"/>
              <a:t> </a:t>
            </a:r>
            <a:r>
              <a:rPr lang="en-US" sz="3800" b="1" dirty="0" err="1"/>
              <a:t>Keparahan</a:t>
            </a:r>
            <a:r>
              <a:rPr lang="en-US" sz="3800" b="1" dirty="0"/>
              <a:t> </a:t>
            </a:r>
            <a:r>
              <a:rPr lang="en-US" sz="3800" b="1" dirty="0" err="1"/>
              <a:t>Kemiskinan</a:t>
            </a:r>
            <a:r>
              <a:rPr lang="en-US" sz="3800" b="1" dirty="0"/>
              <a:t> (Poverty Severity Index/P</a:t>
            </a:r>
            <a:r>
              <a:rPr lang="en-US" sz="3800" b="1" baseline="-25000" dirty="0"/>
              <a:t>2</a:t>
            </a:r>
            <a:r>
              <a:rPr lang="en-US" sz="3800" b="1" dirty="0"/>
              <a:t>)</a:t>
            </a:r>
            <a:endParaRPr lang="en-US" sz="3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23</a:t>
            </a:fld>
            <a:endParaRPr lang="en-US" alt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ln w="25400" cap="flat" cmpd="sng" algn="ctr">
                <a:noFill/>
                <a:prstDash val="solid"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vert="horz" lIns="104927" tIns="52464" rIns="104927" bIns="52464" rtlCol="0">
                <a:normAutofit/>
              </a:bodyPr>
              <a:lstStyle>
                <a:lvl1pPr marL="356885" indent="-356885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35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773249" indent="-29740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902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89615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54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65461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141306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617152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3092998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568844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4044689" indent="-237923" algn="l" defTabSz="951692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86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buClr>
                    <a:srgbClr val="FF0000"/>
                  </a:buClr>
                  <a:buSzPct val="100000"/>
                  <a:buFont typeface="Wingdings" charset="2"/>
                  <a:buChar char=""/>
                </a:pPr>
                <a:endParaRPr lang="id-ID" sz="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6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600" b="0" i="1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6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2600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6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600" i="1">
                                              <a:effectLst/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26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d-ID" sz="26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  <a:p>
                <a:pPr marL="0" indent="0" algn="just">
                  <a:buClr>
                    <a:srgbClr val="FF0000"/>
                  </a:buClr>
                  <a:buSzPct val="100000"/>
                  <a:buNone/>
                </a:pPr>
                <a:endParaRPr lang="id-ID" sz="2400" dirty="0">
                  <a:solidFill>
                    <a:srgbClr val="000000"/>
                  </a:solidFill>
                  <a:latin typeface="Arial Narrow"/>
                  <a:cs typeface="Arial Narrow"/>
                </a:endParaRPr>
              </a:p>
            </p:txBody>
          </p:sp>
        </mc:Choice>
        <mc:Fallback xmlns="">
          <p:sp>
            <p:nvSpPr>
              <p:cNvPr id="5" name="Subtitle 1">
                <a:extLst>
                  <a:ext uri="{FF2B5EF4-FFF2-40B4-BE49-F238E27FC236}">
                    <a16:creationId xmlns:a16="http://schemas.microsoft.com/office/drawing/2014/main" id="{8A35555E-75FB-4047-842A-AE5F41640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89" y="1448795"/>
                <a:ext cx="10835594" cy="13537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25400" cap="flat" cmpd="sng" algn="ctr">
                <a:noFill/>
                <a:prstDash val="soli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C1B986-34F2-474B-B908-9A76556C3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845786"/>
              </p:ext>
            </p:extLst>
          </p:nvPr>
        </p:nvGraphicFramePr>
        <p:xfrm>
          <a:off x="922317" y="3048992"/>
          <a:ext cx="10660084" cy="3732612"/>
        </p:xfrm>
        <a:graphic>
          <a:graphicData uri="http://schemas.openxmlformats.org/drawingml/2006/table">
            <a:tbl>
              <a:tblPr firstRow="1" firstCol="1" bandRow="1"/>
              <a:tblGrid>
                <a:gridCol w="1464623">
                  <a:extLst>
                    <a:ext uri="{9D8B030D-6E8A-4147-A177-3AD203B41FA5}">
                      <a16:colId xmlns:a16="http://schemas.microsoft.com/office/drawing/2014/main" val="415433750"/>
                    </a:ext>
                  </a:extLst>
                </a:gridCol>
                <a:gridCol w="213756">
                  <a:extLst>
                    <a:ext uri="{9D8B030D-6E8A-4147-A177-3AD203B41FA5}">
                      <a16:colId xmlns:a16="http://schemas.microsoft.com/office/drawing/2014/main" val="2741397464"/>
                    </a:ext>
                  </a:extLst>
                </a:gridCol>
                <a:gridCol w="8981705">
                  <a:extLst>
                    <a:ext uri="{9D8B030D-6E8A-4147-A177-3AD203B41FA5}">
                      <a16:colId xmlns:a16="http://schemas.microsoft.com/office/drawing/2014/main" val="3468146737"/>
                    </a:ext>
                  </a:extLst>
                </a:gridCol>
              </a:tblGrid>
              <a:tr h="5731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Kondef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Indeks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memberikan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informasi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mengenai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gambaran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penyebaran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antara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miskin.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5785750"/>
                  </a:ext>
                </a:extLst>
              </a:tr>
              <a:tr h="14524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Kegunaan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Memberikan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informasi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saling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melengkapi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pada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Sebagai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contoh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mungkin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terdapat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kasus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bahwa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beberapa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kelompok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memiliki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tetapi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jurang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kemiskinannya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(poverty gap)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rendah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sementara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kelompok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lain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mempunyai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rendah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tetapi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memiliki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jurang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kemiskinan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bagi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yang miskin.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8597487"/>
                  </a:ext>
                </a:extLst>
              </a:tr>
              <a:tr h="7393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Interpretasi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Semakin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nilai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indeks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semakin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tinggi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ketimpangan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pengeluaran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di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antara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miskin.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5184924"/>
                  </a:ext>
                </a:extLst>
              </a:tr>
              <a:tr h="73930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Sumber</a:t>
                      </a: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Data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SUSENAS</a:t>
                      </a:r>
                    </a:p>
                  </a:txBody>
                  <a:tcPr marL="49986" marR="49986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12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557618"/>
      </p:ext>
    </p:extLst>
  </p:cSld>
  <p:clrMapOvr>
    <a:masterClrMapping/>
  </p:clrMapOvr>
  <p:transition spd="slow"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5" y="304809"/>
            <a:ext cx="3888891" cy="311141"/>
          </a:xfrm>
        </p:spPr>
        <p:txBody>
          <a:bodyPr>
            <a:normAutofit fontScale="90000"/>
          </a:bodyPr>
          <a:lstStyle/>
          <a:p>
            <a:r>
              <a:rPr lang="en-US" sz="2000" b="1" dirty="0"/>
              <a:t>Contoh1: </a:t>
            </a:r>
            <a:r>
              <a:rPr lang="en-US" sz="2000" b="1" dirty="0" err="1"/>
              <a:t>Penghitungan</a:t>
            </a:r>
            <a:r>
              <a:rPr lang="en-US" sz="2000" b="1" dirty="0"/>
              <a:t> P</a:t>
            </a:r>
            <a:r>
              <a:rPr lang="en-US" sz="2000" b="1" baseline="-25000" dirty="0"/>
              <a:t>0</a:t>
            </a:r>
            <a:r>
              <a:rPr lang="en-US" sz="2000" b="1" dirty="0"/>
              <a:t>, P</a:t>
            </a:r>
            <a:r>
              <a:rPr lang="en-US" sz="2000" b="1" baseline="-25000" dirty="0"/>
              <a:t>1</a:t>
            </a:r>
            <a:r>
              <a:rPr lang="en-US" sz="2000" b="1" dirty="0"/>
              <a:t>, P</a:t>
            </a:r>
            <a:r>
              <a:rPr lang="en-US" sz="2000" b="1" baseline="-25000" dirty="0"/>
              <a:t>2</a:t>
            </a:r>
            <a:endParaRPr lang="en-US" sz="2000" baseline="-25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24</a:t>
            </a:fld>
            <a:endParaRPr lang="en-US" altLang="id-ID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E77AC226-1734-4927-BEFB-46D8DF652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77" y="615950"/>
            <a:ext cx="10260280" cy="5922963"/>
          </a:xfrm>
          <a:prstGeom prst="rect">
            <a:avLst/>
          </a:prstGeom>
          <a:solidFill>
            <a:srgbClr val="FFFF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5023610"/>
      </p:ext>
    </p:extLst>
  </p:cSld>
  <p:clrMapOvr>
    <a:masterClrMapping/>
  </p:clrMapOvr>
  <p:transition spd="slow">
    <p:dissolv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DFA9D9-EF89-4D15-BFD0-568262CC4787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3" name="Chart 2"/>
          <p:cNvGraphicFramePr>
            <a:graphicFrameLocks/>
          </p:cNvGraphicFramePr>
          <p:nvPr/>
        </p:nvGraphicFramePr>
        <p:xfrm>
          <a:off x="2743200" y="1524000"/>
          <a:ext cx="6692900" cy="4356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429000" y="5819002"/>
            <a:ext cx="533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1"/>
              <a:t>pengeluaran/kapita/bulan (ribuan Rp)</a:t>
            </a:r>
          </a:p>
        </p:txBody>
      </p:sp>
      <p:sp>
        <p:nvSpPr>
          <p:cNvPr id="7" name="TextBox 6"/>
          <p:cNvSpPr txBox="1"/>
          <p:nvPr/>
        </p:nvSpPr>
        <p:spPr>
          <a:xfrm rot="16200000">
            <a:off x="609601" y="3519101"/>
            <a:ext cx="3962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1"/>
              <a:t>kumulatif % individu &lt; pengeluaran/kapita/bulan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62200" y="388203"/>
            <a:ext cx="7467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u="sng" noProof="1"/>
              <a:t>Contoh 2:</a:t>
            </a:r>
            <a:endParaRPr lang="en-US" sz="3200" noProof="1"/>
          </a:p>
          <a:p>
            <a:pPr algn="ctr"/>
            <a:r>
              <a:rPr lang="en-US" sz="3200" noProof="1"/>
              <a:t>Ilustrasi penentuan P</a:t>
            </a:r>
            <a:r>
              <a:rPr lang="en-US" sz="3200" baseline="-25000" noProof="1"/>
              <a:t>0</a:t>
            </a:r>
            <a:r>
              <a:rPr lang="en-US" sz="3200" noProof="1"/>
              <a:t>, poverty gap</a:t>
            </a:r>
          </a:p>
        </p:txBody>
      </p:sp>
      <p:cxnSp>
        <p:nvCxnSpPr>
          <p:cNvPr id="5" name="Straight Arrow Connector 4"/>
          <p:cNvCxnSpPr>
            <a:cxnSpLocks/>
          </p:cNvCxnSpPr>
          <p:nvPr/>
        </p:nvCxnSpPr>
        <p:spPr>
          <a:xfrm>
            <a:off x="8195125" y="3294375"/>
            <a:ext cx="0" cy="2268225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072000" y="3306250"/>
            <a:ext cx="5123125" cy="0"/>
          </a:xfrm>
          <a:prstGeom prst="straightConnector1">
            <a:avLst/>
          </a:prstGeom>
          <a:ln>
            <a:solidFill>
              <a:srgbClr val="FF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0" y="4689158"/>
            <a:ext cx="1752600" cy="30777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lang="en-US" sz="2000" i="1" dirty="0">
                <a:latin typeface="Cambria"/>
                <a:cs typeface="Cambria"/>
              </a:rPr>
              <a:t>z=Rp330.000,-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8177150" y="5029200"/>
            <a:ext cx="60960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34400" y="4385846"/>
            <a:ext cx="1905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1">
                <a:latin typeface="Cambria"/>
                <a:cs typeface="Cambria"/>
              </a:rPr>
              <a:t>Garis Kemiskinan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6600" y="22860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1"/>
              <a:t>P</a:t>
            </a:r>
            <a:r>
              <a:rPr lang="en-US" baseline="-25000" noProof="1"/>
              <a:t>0</a:t>
            </a:r>
            <a:r>
              <a:rPr lang="en-US" noProof="1"/>
              <a:t> = % penduduk miskin = 23%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124200" y="2667000"/>
            <a:ext cx="304800" cy="609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266000" y="4302000"/>
            <a:ext cx="8382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339200" y="3886200"/>
            <a:ext cx="738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/>
                <a:cs typeface="Cambria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Times New Roman"/>
                <a:cs typeface="Times New Roman"/>
              </a:rPr>
              <a:t>z – y</a:t>
            </a:r>
            <a:r>
              <a:rPr lang="en-US" b="1" dirty="0">
                <a:solidFill>
                  <a:schemeClr val="tx1"/>
                </a:solidFill>
                <a:latin typeface="Cambria"/>
                <a:cs typeface="Cambria"/>
              </a:rPr>
              <a:t>)</a:t>
            </a:r>
            <a:r>
              <a:rPr lang="en-US" dirty="0"/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6400" y="4876800"/>
            <a:ext cx="13284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noProof="1"/>
              <a:t>Poverty Gap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7315200" y="4343400"/>
            <a:ext cx="228600" cy="457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587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CE2D25-8DA8-428D-A30D-D3BA6774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F0FAB-73C7-4589-B3CB-230F48FA27BF}" type="slidenum">
              <a:rPr lang="en-US" smtClean="0"/>
              <a:t>26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1AAADB-4A2E-485C-AB2A-A38736EDD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081710"/>
              </p:ext>
            </p:extLst>
          </p:nvPr>
        </p:nvGraphicFramePr>
        <p:xfrm>
          <a:off x="890649" y="712521"/>
          <a:ext cx="10236529" cy="6051101"/>
        </p:xfrm>
        <a:graphic>
          <a:graphicData uri="http://schemas.openxmlformats.org/drawingml/2006/table">
            <a:tbl>
              <a:tblPr/>
              <a:tblGrid>
                <a:gridCol w="2417485">
                  <a:extLst>
                    <a:ext uri="{9D8B030D-6E8A-4147-A177-3AD203B41FA5}">
                      <a16:colId xmlns:a16="http://schemas.microsoft.com/office/drawing/2014/main" val="2764525853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986821517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3164545210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167358570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1385743447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3794388787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712749262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937592523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352192772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787968560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2748674751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1751102390"/>
                    </a:ext>
                  </a:extLst>
                </a:gridCol>
                <a:gridCol w="651587">
                  <a:extLst>
                    <a:ext uri="{9D8B030D-6E8A-4147-A177-3AD203B41FA5}">
                      <a16:colId xmlns:a16="http://schemas.microsoft.com/office/drawing/2014/main" val="3285068696"/>
                    </a:ext>
                  </a:extLst>
                </a:gridCol>
              </a:tblGrid>
              <a:tr h="27384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Provinsi</a:t>
                      </a:r>
                    </a:p>
                  </a:txBody>
                  <a:tcPr marL="3742" marR="3742" marT="3742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Jumlah Penduduk Miskin (000)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0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</a:t>
                      </a:r>
                      <a:r>
                        <a:rPr lang="en-US" sz="10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616893"/>
                  </a:ext>
                </a:extLst>
              </a:tr>
              <a:tr h="1495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K+D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K+D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K+D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K+D</a:t>
                      </a:r>
                    </a:p>
                  </a:txBody>
                  <a:tcPr marL="3742" marR="3742" marT="374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789235"/>
                  </a:ext>
                </a:extLst>
              </a:tr>
              <a:tr h="1495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138178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ACEH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18.04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15.53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52162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SUMATERA UTARA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8.68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8.26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8.49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8631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SUMATERA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501152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RIAU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6.72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95830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JAMBI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6855686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SUMATERA SELATAN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12.79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41758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BENGKULU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14.73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14.43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66544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LAMPUNG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31471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KEP. BANGKA BELITUNG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36685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KEP. RIAU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10.45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5.75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948850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DKI JAKARTA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6583560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JAWA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7.48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9840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JAWA TENGAH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1847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3934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10.16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12.44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288132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 YOGYAKARTA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11.20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13.99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55247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JAWA TIMUR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2491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4260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10.59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000148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BANTEN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6.04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7.72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617871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BALI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4.33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2714391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NUSA TENGGARA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14.54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13.12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13.83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9059056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NUSA TENGGARA TIMUR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24.42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20.44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7599799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KALIMANTAN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9941989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KALIMANTAN TENGAH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5.16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0158658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KALIMANTAN SELATAN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4.56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134022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KALIMANTAN TIMUR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6.27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63833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KALIMANTAN UTARA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5.32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6.83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0068969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SULAWESI UTARA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7.36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401953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SULAWESI TENGAH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8.82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13.71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90481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SULAWESI SELATAN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11.55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91401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SULAWESI TENGGARA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7.14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14.34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11.74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214826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GORONTALO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15.41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4.79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928179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SULAWESI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11.85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1.25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6617065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24.34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16.30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911006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MALUKU UTARA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7.00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9207234"/>
                  </a:ext>
                </a:extLst>
              </a:tr>
              <a:tr h="144868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PAPUA BARAT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21.82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0.91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9.58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5.84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786626"/>
                  </a:ext>
                </a:extLst>
              </a:tr>
              <a:tr h="1495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PAPUA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4.94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36.50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27.38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0.86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8.53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6.31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0.22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2.80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082972"/>
                  </a:ext>
                </a:extLst>
              </a:tr>
              <a:tr h="1495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INDONESIA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11859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14644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26504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7.60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12.53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9.71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2.25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1.67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0.29</a:t>
                      </a:r>
                    </a:p>
                  </a:txBody>
                  <a:tcPr marL="3742" marR="3742" marT="3742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0.59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0.42</a:t>
                      </a:r>
                    </a:p>
                  </a:txBody>
                  <a:tcPr marL="3742" marR="3742" marT="3742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697979"/>
                  </a:ext>
                </a:extLst>
              </a:tr>
            </a:tbl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D6630C34-411E-441A-9D00-5A10AC7380E8}"/>
              </a:ext>
            </a:extLst>
          </p:cNvPr>
          <p:cNvSpPr txBox="1">
            <a:spLocks/>
          </p:cNvSpPr>
          <p:nvPr/>
        </p:nvSpPr>
        <p:spPr>
          <a:xfrm>
            <a:off x="1092530" y="130626"/>
            <a:ext cx="9844643" cy="38001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>
            <a:lvl1pPr algn="ctr" defTabSz="951692" rtl="0" eaLnBrk="1" latinLnBrk="0" hangingPunct="1">
              <a:spcBef>
                <a:spcPct val="0"/>
              </a:spcBef>
              <a:buNone/>
              <a:defRPr sz="4535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sz="2000" b="1" dirty="0"/>
              <a:t>Jumlah</a:t>
            </a:r>
            <a:r>
              <a:rPr lang="en-US" sz="2000" b="1" dirty="0"/>
              <a:t> </a:t>
            </a:r>
            <a:r>
              <a:rPr lang="en-US" sz="2000" b="1" dirty="0" err="1"/>
              <a:t>Penduduk</a:t>
            </a:r>
            <a:r>
              <a:rPr lang="en-US" sz="2000" b="1" dirty="0"/>
              <a:t> Miskin,</a:t>
            </a:r>
            <a:r>
              <a:rPr lang="id-ID" sz="2000" b="1" dirty="0"/>
              <a:t> </a:t>
            </a:r>
            <a:r>
              <a:rPr lang="en-US" sz="2000" b="1" dirty="0"/>
              <a:t>P0</a:t>
            </a:r>
            <a:r>
              <a:rPr lang="id-ID" sz="2000" b="1" dirty="0"/>
              <a:t>, </a:t>
            </a:r>
            <a:r>
              <a:rPr lang="en-US" sz="2000" b="1" dirty="0"/>
              <a:t>P1</a:t>
            </a:r>
            <a:r>
              <a:rPr lang="id-ID" sz="2000" b="1" dirty="0"/>
              <a:t>, dan </a:t>
            </a:r>
            <a:r>
              <a:rPr lang="en-US" sz="2000" b="1" dirty="0"/>
              <a:t>P2 </a:t>
            </a:r>
            <a:r>
              <a:rPr lang="id-ID" sz="2000" b="1" dirty="0"/>
              <a:t>Menurut Propinsi</a:t>
            </a:r>
            <a:r>
              <a:rPr lang="en-US" sz="2000" b="1" dirty="0"/>
              <a:t> di </a:t>
            </a:r>
            <a:r>
              <a:rPr lang="id-ID" sz="2000" b="1" dirty="0"/>
              <a:t>Indonesia, </a:t>
            </a:r>
            <a:r>
              <a:rPr lang="en-US" sz="2000" b="1" dirty="0"/>
              <a:t>September 2021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7214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9"/>
            <a:ext cx="10668000" cy="502714"/>
          </a:xfrm>
        </p:spPr>
        <p:txBody>
          <a:bodyPr>
            <a:noAutofit/>
          </a:bodyPr>
          <a:lstStyle/>
          <a:p>
            <a:pPr algn="l"/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Interpretasi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022075"/>
            <a:ext cx="110598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dirty="0">
                <a:solidFill>
                  <a:srgbClr val="000000"/>
                </a:solidFill>
              </a:rPr>
              <a:t>Terdapat sekitar 2</a:t>
            </a:r>
            <a:r>
              <a:rPr lang="en-US" sz="2800" dirty="0">
                <a:solidFill>
                  <a:srgbClr val="000000"/>
                </a:solidFill>
              </a:rPr>
              <a:t>6</a:t>
            </a:r>
            <a:r>
              <a:rPr lang="id-ID" sz="2800" dirty="0">
                <a:solidFill>
                  <a:srgbClr val="000000"/>
                </a:solidFill>
              </a:rPr>
              <a:t>,</a:t>
            </a:r>
            <a:r>
              <a:rPr lang="en-US" sz="2800" dirty="0">
                <a:solidFill>
                  <a:srgbClr val="000000"/>
                </a:solidFill>
              </a:rPr>
              <a:t>5</a:t>
            </a:r>
            <a:r>
              <a:rPr lang="id-ID" sz="2800" dirty="0">
                <a:solidFill>
                  <a:srgbClr val="000000"/>
                </a:solidFill>
              </a:rPr>
              <a:t> juta penduduk miskin di Indonesia pada </a:t>
            </a:r>
            <a:r>
              <a:rPr lang="en-US" sz="2800" dirty="0">
                <a:solidFill>
                  <a:srgbClr val="000000"/>
                </a:solidFill>
              </a:rPr>
              <a:t>September 2021</a:t>
            </a:r>
            <a:r>
              <a:rPr lang="id-ID" sz="2800" dirty="0">
                <a:solidFill>
                  <a:srgbClr val="000000"/>
                </a:solidFill>
              </a:rPr>
              <a:t>. Mereka ini tergolong miskin karena rata-rata pengeluaran bulanan untuk konsumsi mereka (makanan &amp; bukan makanan) di bawah GK yang ditentukan saat itu, yaitu Rp. 502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  <a:r>
              <a:rPr lang="id-ID" sz="2800" dirty="0">
                <a:solidFill>
                  <a:srgbClr val="000000"/>
                </a:solidFill>
              </a:rPr>
              <a:t>730/orang/bulan untuk di daerah </a:t>
            </a:r>
            <a:r>
              <a:rPr lang="en-US" sz="2800" dirty="0">
                <a:solidFill>
                  <a:srgbClr val="000000"/>
                </a:solidFill>
              </a:rPr>
              <a:t>per</a:t>
            </a:r>
            <a:r>
              <a:rPr lang="id-ID" sz="2800" dirty="0">
                <a:solidFill>
                  <a:srgbClr val="000000"/>
                </a:solidFill>
              </a:rPr>
              <a:t>kota</a:t>
            </a:r>
            <a:r>
              <a:rPr lang="en-US" sz="2800" dirty="0">
                <a:solidFill>
                  <a:srgbClr val="000000"/>
                </a:solidFill>
              </a:rPr>
              <a:t>an</a:t>
            </a:r>
            <a:r>
              <a:rPr lang="id-ID" sz="2800" dirty="0">
                <a:solidFill>
                  <a:srgbClr val="000000"/>
                </a:solidFill>
              </a:rPr>
              <a:t> dan Rp. 464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  <a:r>
              <a:rPr lang="id-ID" sz="2800" dirty="0">
                <a:solidFill>
                  <a:srgbClr val="000000"/>
                </a:solidFill>
              </a:rPr>
              <a:t>474/orang/ bulan di pedesaan.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dirty="0">
                <a:solidFill>
                  <a:srgbClr val="000000"/>
                </a:solidFill>
              </a:rPr>
              <a:t>Dengan perkiraan jumlah penduduk sekitar 2</a:t>
            </a:r>
            <a:r>
              <a:rPr lang="en-US" sz="2800" dirty="0">
                <a:solidFill>
                  <a:srgbClr val="000000"/>
                </a:solidFill>
              </a:rPr>
              <a:t>7</a:t>
            </a:r>
            <a:r>
              <a:rPr lang="id-ID" sz="2800" dirty="0">
                <a:solidFill>
                  <a:srgbClr val="000000"/>
                </a:solidFill>
              </a:rPr>
              <a:t>2,</a:t>
            </a:r>
            <a:r>
              <a:rPr lang="en-US" sz="2800" dirty="0">
                <a:solidFill>
                  <a:srgbClr val="000000"/>
                </a:solidFill>
              </a:rPr>
              <a:t>9</a:t>
            </a:r>
            <a:r>
              <a:rPr lang="id-ID" sz="2800" dirty="0">
                <a:solidFill>
                  <a:srgbClr val="000000"/>
                </a:solidFill>
              </a:rPr>
              <a:t> juta orang pada </a:t>
            </a:r>
            <a:r>
              <a:rPr lang="en-US" sz="2800" dirty="0">
                <a:solidFill>
                  <a:srgbClr val="000000"/>
                </a:solidFill>
              </a:rPr>
              <a:t>September</a:t>
            </a:r>
            <a:r>
              <a:rPr lang="id-ID" sz="2800" dirty="0">
                <a:solidFill>
                  <a:srgbClr val="000000"/>
                </a:solidFill>
              </a:rPr>
              <a:t> 20</a:t>
            </a:r>
            <a:r>
              <a:rPr lang="en-US" sz="2800" dirty="0">
                <a:solidFill>
                  <a:srgbClr val="000000"/>
                </a:solidFill>
              </a:rPr>
              <a:t>21</a:t>
            </a:r>
            <a:r>
              <a:rPr lang="id-ID" sz="2800" dirty="0">
                <a:solidFill>
                  <a:srgbClr val="000000"/>
                </a:solidFill>
              </a:rPr>
              <a:t>, persentase penduduk miskin atau </a:t>
            </a:r>
            <a:r>
              <a:rPr lang="id-ID" sz="2800" i="1" dirty="0">
                <a:solidFill>
                  <a:srgbClr val="000000"/>
                </a:solidFill>
              </a:rPr>
              <a:t>P</a:t>
            </a:r>
            <a:r>
              <a:rPr lang="id-ID" sz="2800" i="1" baseline="-25000" dirty="0">
                <a:solidFill>
                  <a:srgbClr val="000000"/>
                </a:solidFill>
              </a:rPr>
              <a:t>0</a:t>
            </a:r>
            <a:r>
              <a:rPr lang="id-ID" sz="2800" dirty="0">
                <a:solidFill>
                  <a:srgbClr val="000000"/>
                </a:solidFill>
              </a:rPr>
              <a:t> di seluruh Indonesia sebesar </a:t>
            </a:r>
            <a:r>
              <a:rPr lang="en-US" sz="2800" dirty="0">
                <a:solidFill>
                  <a:srgbClr val="000000"/>
                </a:solidFill>
              </a:rPr>
              <a:t>9,71</a:t>
            </a:r>
            <a:r>
              <a:rPr lang="id-ID" sz="2800" dirty="0">
                <a:solidFill>
                  <a:srgbClr val="000000"/>
                </a:solidFill>
              </a:rPr>
              <a:t>%, dengan tingkat kemiskinan di pedesaan lebih tinggi daripada di perkotaan yaitu </a:t>
            </a:r>
            <a:r>
              <a:rPr lang="en-US" sz="2800" dirty="0">
                <a:solidFill>
                  <a:srgbClr val="000000"/>
                </a:solidFill>
              </a:rPr>
              <a:t>12,53</a:t>
            </a:r>
            <a:r>
              <a:rPr lang="id-ID" sz="2800" dirty="0">
                <a:solidFill>
                  <a:srgbClr val="000000"/>
                </a:solidFill>
              </a:rPr>
              <a:t>% berbanding dengan </a:t>
            </a:r>
            <a:r>
              <a:rPr lang="en-US" sz="2800" dirty="0">
                <a:solidFill>
                  <a:srgbClr val="000000"/>
                </a:solidFill>
              </a:rPr>
              <a:t>7,60</a:t>
            </a:r>
            <a:r>
              <a:rPr lang="id-ID" sz="2800" dirty="0">
                <a:solidFill>
                  <a:srgbClr val="000000"/>
                </a:solidFill>
              </a:rPr>
              <a:t>%.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1813364"/>
      </p:ext>
    </p:extLst>
  </p:cSld>
  <p:clrMapOvr>
    <a:masterClrMapping/>
  </p:clrMapOvr>
  <p:transition spd="slow">
    <p:dissolv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9"/>
            <a:ext cx="10668000" cy="502714"/>
          </a:xfrm>
        </p:spPr>
        <p:txBody>
          <a:bodyPr>
            <a:noAutofit/>
          </a:bodyPr>
          <a:lstStyle/>
          <a:p>
            <a:pPr algn="l"/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Interpretasi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022075"/>
            <a:ext cx="1105988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dirty="0">
                <a:solidFill>
                  <a:srgbClr val="000000"/>
                </a:solidFill>
              </a:rPr>
              <a:t>Artinya bahwa sekitar 1</a:t>
            </a:r>
            <a:r>
              <a:rPr lang="en-US" sz="2800" dirty="0">
                <a:solidFill>
                  <a:srgbClr val="000000"/>
                </a:solidFill>
              </a:rPr>
              <a:t>0</a:t>
            </a:r>
            <a:r>
              <a:rPr lang="id-ID" sz="2800" dirty="0">
                <a:solidFill>
                  <a:srgbClr val="000000"/>
                </a:solidFill>
              </a:rPr>
              <a:t> dari setiap 100 orang Indonesia, atau 1 di antara 10 orang, adalah tergolong miskin. 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i="1" dirty="0">
                <a:solidFill>
                  <a:srgbClr val="000000"/>
                </a:solidFill>
              </a:rPr>
              <a:t>P</a:t>
            </a:r>
            <a:r>
              <a:rPr lang="id-ID" sz="2800" i="1" baseline="-25000" dirty="0">
                <a:solidFill>
                  <a:srgbClr val="000000"/>
                </a:solidFill>
              </a:rPr>
              <a:t>0</a:t>
            </a:r>
            <a:r>
              <a:rPr lang="id-ID" sz="2800" dirty="0">
                <a:solidFill>
                  <a:srgbClr val="000000"/>
                </a:solidFill>
              </a:rPr>
              <a:t> terendah di </a:t>
            </a:r>
            <a:r>
              <a:rPr lang="en-US" sz="2800" dirty="0">
                <a:solidFill>
                  <a:srgbClr val="000000"/>
                </a:solidFill>
              </a:rPr>
              <a:t>Kalimantan Selatan</a:t>
            </a:r>
            <a:r>
              <a:rPr lang="id-ID" sz="2800" dirty="0">
                <a:solidFill>
                  <a:srgbClr val="000000"/>
                </a:solidFill>
              </a:rPr>
              <a:t> (</a:t>
            </a:r>
            <a:r>
              <a:rPr lang="en-US" sz="2800" dirty="0">
                <a:solidFill>
                  <a:srgbClr val="000000"/>
                </a:solidFill>
              </a:rPr>
              <a:t>4,56</a:t>
            </a:r>
            <a:r>
              <a:rPr lang="id-ID" sz="2800" dirty="0">
                <a:solidFill>
                  <a:srgbClr val="000000"/>
                </a:solidFill>
              </a:rPr>
              <a:t>%), </a:t>
            </a:r>
            <a:r>
              <a:rPr lang="en-US" sz="2800" dirty="0">
                <a:solidFill>
                  <a:srgbClr val="000000"/>
                </a:solidFill>
              </a:rPr>
              <a:t>DKI dan </a:t>
            </a:r>
            <a:r>
              <a:rPr lang="id-ID" sz="2800" dirty="0">
                <a:solidFill>
                  <a:srgbClr val="000000"/>
                </a:solidFill>
              </a:rPr>
              <a:t>Bangka-Belitung (4,</a:t>
            </a:r>
            <a:r>
              <a:rPr lang="en-US" sz="2800" dirty="0">
                <a:solidFill>
                  <a:srgbClr val="000000"/>
                </a:solidFill>
              </a:rPr>
              <a:t>67</a:t>
            </a:r>
            <a:r>
              <a:rPr lang="id-ID" sz="2800" dirty="0">
                <a:solidFill>
                  <a:srgbClr val="000000"/>
                </a:solidFill>
              </a:rPr>
              <a:t>%), </a:t>
            </a:r>
            <a:r>
              <a:rPr lang="en-US" sz="2800" dirty="0">
                <a:solidFill>
                  <a:srgbClr val="000000"/>
                </a:solidFill>
              </a:rPr>
              <a:t>dan Bali</a:t>
            </a:r>
            <a:r>
              <a:rPr lang="id-ID" sz="2800" dirty="0">
                <a:solidFill>
                  <a:srgbClr val="000000"/>
                </a:solidFill>
              </a:rPr>
              <a:t> (4,7</a:t>
            </a:r>
            <a:r>
              <a:rPr lang="en-US" sz="2800" dirty="0">
                <a:solidFill>
                  <a:srgbClr val="000000"/>
                </a:solidFill>
              </a:rPr>
              <a:t>2</a:t>
            </a:r>
            <a:r>
              <a:rPr lang="id-ID" sz="2800" dirty="0">
                <a:solidFill>
                  <a:srgbClr val="000000"/>
                </a:solidFill>
              </a:rPr>
              <a:t>%). </a:t>
            </a:r>
            <a:r>
              <a:rPr lang="id-ID" sz="28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800" dirty="0">
                <a:solidFill>
                  <a:srgbClr val="000000"/>
                </a:solidFill>
                <a:sym typeface="Wingdings"/>
              </a:rPr>
              <a:t> </a:t>
            </a:r>
            <a:r>
              <a:rPr lang="id-ID" sz="2800" dirty="0">
                <a:solidFill>
                  <a:srgbClr val="000000"/>
                </a:solidFill>
              </a:rPr>
              <a:t>kurang dari 5 di antara 100 orang di keempat propinsi ini yang saat ini dianggap miskin.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dirty="0">
                <a:solidFill>
                  <a:srgbClr val="000000"/>
                </a:solidFill>
              </a:rPr>
              <a:t>Sebaliknya, </a:t>
            </a:r>
            <a:r>
              <a:rPr lang="id-ID" sz="2800" i="1" dirty="0">
                <a:solidFill>
                  <a:srgbClr val="000000"/>
                </a:solidFill>
              </a:rPr>
              <a:t>P</a:t>
            </a:r>
            <a:r>
              <a:rPr lang="id-ID" sz="2800" i="1" baseline="-25000" dirty="0">
                <a:solidFill>
                  <a:srgbClr val="000000"/>
                </a:solidFill>
              </a:rPr>
              <a:t>0</a:t>
            </a:r>
            <a:r>
              <a:rPr lang="id-ID" sz="2800" dirty="0">
                <a:solidFill>
                  <a:srgbClr val="000000"/>
                </a:solidFill>
              </a:rPr>
              <a:t> tertinggi di Papua (</a:t>
            </a:r>
            <a:r>
              <a:rPr lang="en-US" sz="2800" dirty="0">
                <a:solidFill>
                  <a:srgbClr val="000000"/>
                </a:solidFill>
              </a:rPr>
              <a:t>27,38</a:t>
            </a:r>
            <a:r>
              <a:rPr lang="id-ID" sz="2800" dirty="0">
                <a:solidFill>
                  <a:srgbClr val="000000"/>
                </a:solidFill>
              </a:rPr>
              <a:t>%), Papua Barat (2</a:t>
            </a:r>
            <a:r>
              <a:rPr lang="en-US" sz="2800" dirty="0">
                <a:solidFill>
                  <a:srgbClr val="000000"/>
                </a:solidFill>
              </a:rPr>
              <a:t>1,82</a:t>
            </a:r>
            <a:r>
              <a:rPr lang="id-ID" sz="2800" dirty="0">
                <a:solidFill>
                  <a:srgbClr val="000000"/>
                </a:solidFill>
              </a:rPr>
              <a:t>%), </a:t>
            </a:r>
            <a:r>
              <a:rPr lang="en-US" sz="2800" dirty="0">
                <a:solidFill>
                  <a:srgbClr val="000000"/>
                </a:solidFill>
              </a:rPr>
              <a:t>dan </a:t>
            </a:r>
            <a:r>
              <a:rPr lang="id-ID" sz="2800" dirty="0">
                <a:solidFill>
                  <a:srgbClr val="000000"/>
                </a:solidFill>
              </a:rPr>
              <a:t>NTT (20</a:t>
            </a:r>
            <a:r>
              <a:rPr lang="en-US" sz="2800" dirty="0">
                <a:solidFill>
                  <a:srgbClr val="000000"/>
                </a:solidFill>
              </a:rPr>
              <a:t>,44 </a:t>
            </a:r>
            <a:r>
              <a:rPr lang="id-ID" sz="2800" dirty="0">
                <a:solidFill>
                  <a:srgbClr val="000000"/>
                </a:solidFill>
              </a:rPr>
              <a:t>%). </a:t>
            </a:r>
            <a:r>
              <a:rPr lang="id-ID" sz="28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800" dirty="0">
                <a:solidFill>
                  <a:srgbClr val="000000"/>
                </a:solidFill>
                <a:sym typeface="Wingdings"/>
              </a:rPr>
              <a:t> sekitar</a:t>
            </a:r>
            <a:r>
              <a:rPr lang="id-ID" sz="2800" dirty="0">
                <a:solidFill>
                  <a:srgbClr val="000000"/>
                </a:solidFill>
              </a:rPr>
              <a:t> 1 dari setiap 3 penduduk Papua, dan sekitar 1 di antara 5 penduduk di </a:t>
            </a:r>
            <a:r>
              <a:rPr lang="en-US" sz="2800" dirty="0">
                <a:solidFill>
                  <a:srgbClr val="000000"/>
                </a:solidFill>
              </a:rPr>
              <a:t>Papua Barat dan </a:t>
            </a:r>
            <a:r>
              <a:rPr lang="id-ID" sz="2800" dirty="0">
                <a:solidFill>
                  <a:srgbClr val="000000"/>
                </a:solidFill>
              </a:rPr>
              <a:t>NTT, dikategorikan sebagai miskin!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800" dirty="0">
                <a:solidFill>
                  <a:srgbClr val="000000"/>
                </a:solidFill>
              </a:rPr>
              <a:t>Keragaman </a:t>
            </a:r>
            <a:r>
              <a:rPr lang="id-ID" sz="2800" i="1" dirty="0">
                <a:solidFill>
                  <a:srgbClr val="000000"/>
                </a:solidFill>
              </a:rPr>
              <a:t>P</a:t>
            </a:r>
            <a:r>
              <a:rPr lang="id-ID" sz="2800" i="1" baseline="-25000" dirty="0">
                <a:solidFill>
                  <a:srgbClr val="000000"/>
                </a:solidFill>
              </a:rPr>
              <a:t>0</a:t>
            </a:r>
            <a:r>
              <a:rPr lang="id-ID" sz="2800" dirty="0">
                <a:solidFill>
                  <a:srgbClr val="000000"/>
                </a:solidFill>
              </a:rPr>
              <a:t> menggambarkan ketimpangan tingkat kesejahteraan penduduk antara propinsi-propinsi di Indonesia, khususnya dilihat dari aspek kemampuan penduduk dalam memenuhi kebutuhan dasar hidupnya.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272440"/>
      </p:ext>
    </p:extLst>
  </p:cSld>
  <p:clrMapOvr>
    <a:masterClrMapping/>
  </p:clrMapOvr>
  <p:transition spd="slow">
    <p:dissolv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6" y="304809"/>
            <a:ext cx="10668000" cy="502714"/>
          </a:xfrm>
        </p:spPr>
        <p:txBody>
          <a:bodyPr>
            <a:noAutofit/>
          </a:bodyPr>
          <a:lstStyle/>
          <a:p>
            <a:pPr algn="l"/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Interpretasi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022075"/>
            <a:ext cx="1105988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dirty="0">
                <a:solidFill>
                  <a:srgbClr val="000000"/>
                </a:solidFill>
              </a:rPr>
              <a:t>Indeks ketimpangan kemiskinan (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) di Indonesia sekitar 1,</a:t>
            </a:r>
            <a:r>
              <a:rPr lang="en-US" sz="2000" dirty="0">
                <a:solidFill>
                  <a:srgbClr val="000000"/>
                </a:solidFill>
              </a:rPr>
              <a:t>67</a:t>
            </a:r>
            <a:r>
              <a:rPr lang="id-ID" sz="2000" dirty="0">
                <a:solidFill>
                  <a:srgbClr val="000000"/>
                </a:solidFill>
              </a:rPr>
              <a:t>% </a:t>
            </a:r>
            <a:r>
              <a:rPr lang="id-ID" sz="20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000" dirty="0">
                <a:solidFill>
                  <a:srgbClr val="000000"/>
                </a:solidFill>
                <a:sym typeface="Wingdings"/>
              </a:rPr>
              <a:t> </a:t>
            </a:r>
            <a:r>
              <a:rPr lang="id-ID" sz="2000" dirty="0">
                <a:solidFill>
                  <a:srgbClr val="000000"/>
                </a:solidFill>
              </a:rPr>
              <a:t>kesenjangan antara rata-rata pengeluaran konsumsi penduduk miskin dan garis kemiskinan adalah relatif kecil, yaitu hanya sebesar 1,</a:t>
            </a:r>
            <a:r>
              <a:rPr lang="en-US" sz="2000" dirty="0">
                <a:solidFill>
                  <a:srgbClr val="000000"/>
                </a:solidFill>
              </a:rPr>
              <a:t>67</a:t>
            </a:r>
            <a:r>
              <a:rPr lang="id-ID" sz="2000" dirty="0">
                <a:solidFill>
                  <a:srgbClr val="000000"/>
                </a:solidFill>
              </a:rPr>
              <a:t>%.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dirty="0">
                <a:solidFill>
                  <a:srgbClr val="000000"/>
                </a:solidFill>
              </a:rPr>
              <a:t>Berbeda dengan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0</a:t>
            </a:r>
            <a:r>
              <a:rPr lang="id-ID" sz="2000" dirty="0">
                <a:solidFill>
                  <a:srgbClr val="000000"/>
                </a:solidFill>
              </a:rPr>
              <a:t> yang menganggap semua orang miskin sama miskinnya, P1 adalah ukuran intensitas atau kedalaman kemiskinan dengan melihat sejauh mana pendapatan orang miskin terhadap garis kemiskinan.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dirty="0">
                <a:solidFill>
                  <a:srgbClr val="000000"/>
                </a:solidFill>
              </a:rPr>
              <a:t>Semakin tinggi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, semakin dalam jurang kemiskinan, dan oleh karena itu semakin sulit untuk mengentaskan mereka dari perangkap kemiskinan.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 di Indonesia sebesar 0,4</a:t>
            </a:r>
            <a:r>
              <a:rPr lang="en-US" sz="2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% </a:t>
            </a:r>
            <a:r>
              <a:rPr lang="id-ID" sz="20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000" dirty="0">
                <a:solidFill>
                  <a:srgbClr val="000000"/>
                </a:solidFill>
                <a:sym typeface="Wingdings"/>
              </a:rPr>
              <a:t> </a:t>
            </a:r>
            <a:r>
              <a:rPr lang="id-ID" sz="2000" dirty="0">
                <a:solidFill>
                  <a:srgbClr val="000000"/>
                </a:solidFill>
              </a:rPr>
              <a:t>distribusi pengeluaran konsumsi antar penduduk miskin tidak begitu timpang. 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 dan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 lebih tinggi di pedesaan dari pada di perkotaan Indonesia </a:t>
            </a:r>
            <a:r>
              <a:rPr lang="id-ID" sz="20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000" dirty="0">
                <a:solidFill>
                  <a:srgbClr val="000000"/>
                </a:solidFill>
                <a:sym typeface="Wingdings"/>
              </a:rPr>
              <a:t> </a:t>
            </a:r>
            <a:r>
              <a:rPr lang="id-ID" sz="2000" dirty="0">
                <a:solidFill>
                  <a:srgbClr val="000000"/>
                </a:solidFill>
              </a:rPr>
              <a:t>intensitas dan keparahan kemiskinan lebih nyata terjadi di desa dibandingkan di kota-kota Indonesia.</a:t>
            </a:r>
          </a:p>
          <a:p>
            <a:pPr marL="342900" indent="-342900" algn="just">
              <a:buClr>
                <a:srgbClr val="FF0000"/>
              </a:buClr>
              <a:buSzPct val="100000"/>
              <a:buFont typeface="Wingdings" charset="2"/>
              <a:buChar char=""/>
            </a:pPr>
            <a:r>
              <a:rPr lang="id-ID" sz="2000" dirty="0">
                <a:solidFill>
                  <a:srgbClr val="000000"/>
                </a:solidFill>
              </a:rPr>
              <a:t>Variasi antar propinsi mengindikasikan bahwa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0</a:t>
            </a:r>
            <a:r>
              <a:rPr lang="id-ID" sz="2000" dirty="0">
                <a:solidFill>
                  <a:srgbClr val="000000"/>
                </a:solidFill>
              </a:rPr>
              <a:t> tinggi cenderung diikuti dengan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 dan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 yang tinggi pula. Misalnya, Papua sebagai propinsi termiskin juga mempunyai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 dan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 yang paling tinggi di Indonesia. Sebaliknya, </a:t>
            </a:r>
            <a:r>
              <a:rPr lang="en-US" sz="2000" dirty="0">
                <a:solidFill>
                  <a:srgbClr val="000000"/>
                </a:solidFill>
              </a:rPr>
              <a:t>Kalimantan Selatan</a:t>
            </a:r>
            <a:r>
              <a:rPr lang="id-ID" sz="2000" dirty="0">
                <a:solidFill>
                  <a:srgbClr val="000000"/>
                </a:solidFill>
              </a:rPr>
              <a:t> dengan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0</a:t>
            </a:r>
            <a:r>
              <a:rPr lang="id-ID" sz="2000" dirty="0">
                <a:solidFill>
                  <a:srgbClr val="000000"/>
                </a:solidFill>
              </a:rPr>
              <a:t> terendah juga memiliki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1</a:t>
            </a:r>
            <a:r>
              <a:rPr lang="id-ID" sz="2000" dirty="0">
                <a:solidFill>
                  <a:srgbClr val="000000"/>
                </a:solidFill>
              </a:rPr>
              <a:t> dan </a:t>
            </a:r>
            <a:r>
              <a:rPr lang="id-ID" sz="2000" i="1" dirty="0">
                <a:solidFill>
                  <a:srgbClr val="000000"/>
                </a:solidFill>
              </a:rPr>
              <a:t>P</a:t>
            </a:r>
            <a:r>
              <a:rPr lang="id-ID" sz="2000" i="1" baseline="-25000" dirty="0">
                <a:solidFill>
                  <a:srgbClr val="000000"/>
                </a:solidFill>
              </a:rPr>
              <a:t>2</a:t>
            </a:r>
            <a:r>
              <a:rPr lang="id-ID" sz="2000" dirty="0">
                <a:solidFill>
                  <a:srgbClr val="000000"/>
                </a:solidFill>
              </a:rPr>
              <a:t> paling rendah di Indonesia </a:t>
            </a:r>
            <a:r>
              <a:rPr lang="id-ID" sz="2000" dirty="0">
                <a:solidFill>
                  <a:srgbClr val="000000"/>
                </a:solidFill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id-ID" sz="2000" dirty="0">
                <a:solidFill>
                  <a:srgbClr val="000000"/>
                </a:solidFill>
                <a:sym typeface="Wingdings"/>
              </a:rPr>
              <a:t> </a:t>
            </a:r>
            <a:r>
              <a:rPr lang="id-ID" sz="2000" dirty="0">
                <a:solidFill>
                  <a:srgbClr val="000000"/>
                </a:solidFill>
              </a:rPr>
              <a:t>tingginya konsentrasi penduduk miskin di suatu wilayah selalu ditandai oleh intensitas jurang kedalaman kemiskinan dan keparahan ketimpangan kesejahteraan antara penduduk miskin di wilayah tersebut. </a:t>
            </a:r>
            <a:endParaRPr lang="en-US" sz="2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509150"/>
      </p:ext>
    </p:extLst>
  </p:cSld>
  <p:clrMapOvr>
    <a:masterClrMapping/>
  </p:clrMapOvr>
  <p:transition spd="slow">
    <p:dissolv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46DF3-856D-4B12-81E7-E84835C9134F}"/>
              </a:ext>
            </a:extLst>
          </p:cNvPr>
          <p:cNvSpPr txBox="1"/>
          <p:nvPr/>
        </p:nvSpPr>
        <p:spPr>
          <a:xfrm>
            <a:off x="1864426" y="2541311"/>
            <a:ext cx="862148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Distribusi</a:t>
            </a: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</a:t>
            </a: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Pendapatan</a:t>
            </a:r>
            <a:r>
              <a:rPr kumimoji="0" lang="en-US" sz="4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 dan </a:t>
            </a:r>
            <a:r>
              <a:rPr kumimoji="0" lang="en-US" sz="46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Ketimpangan</a:t>
            </a:r>
            <a:endParaRPr kumimoji="0" lang="en-US" sz="4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9717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574F10-F523-4B23-AAA1-068CEAD43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8336" y="1047575"/>
            <a:ext cx="8666455" cy="53948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E6A655-C276-4D2E-B983-3762092473AC}"/>
              </a:ext>
            </a:extLst>
          </p:cNvPr>
          <p:cNvSpPr txBox="1"/>
          <p:nvPr/>
        </p:nvSpPr>
        <p:spPr>
          <a:xfrm>
            <a:off x="2119748" y="328400"/>
            <a:ext cx="8229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i="1" noProof="1">
                <a:solidFill>
                  <a:srgbClr val="FF0000"/>
                </a:solidFill>
              </a:rPr>
              <a:t>latar belakang dan bagian depan: kontras</a:t>
            </a:r>
          </a:p>
        </p:txBody>
      </p:sp>
    </p:spTree>
    <p:extLst>
      <p:ext uri="{BB962C8B-B14F-4D97-AF65-F5344CB8AC3E}">
        <p14:creationId xmlns:p14="http://schemas.microsoft.com/office/powerpoint/2010/main" val="2472929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2A5E8-7C58-435E-B371-BF2E09137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401" y="1167077"/>
            <a:ext cx="8032845" cy="5112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E682AC-174B-44B5-B0F4-B5F97A2F487E}"/>
              </a:ext>
            </a:extLst>
          </p:cNvPr>
          <p:cNvSpPr txBox="1"/>
          <p:nvPr/>
        </p:nvSpPr>
        <p:spPr>
          <a:xfrm>
            <a:off x="2048401" y="348955"/>
            <a:ext cx="8224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noProof="1">
                <a:solidFill>
                  <a:srgbClr val="FF0000"/>
                </a:solidFill>
                <a:latin typeface="Apple Chancery"/>
                <a:cs typeface="Apple Chancery"/>
              </a:rPr>
              <a:t>  </a:t>
            </a:r>
            <a:r>
              <a:rPr lang="is-IS" sz="3600" b="1" noProof="1">
                <a:solidFill>
                  <a:srgbClr val="FF0000"/>
                </a:solidFill>
                <a:latin typeface="Apple Chancery"/>
                <a:cs typeface="Apple Chancery"/>
              </a:rPr>
              <a:t>... </a:t>
            </a:r>
            <a:r>
              <a:rPr lang="en-US" sz="3600" b="1" noProof="1">
                <a:solidFill>
                  <a:srgbClr val="FF0000"/>
                </a:solidFill>
                <a:latin typeface="Apple Chancery"/>
                <a:cs typeface="Apple Chancery"/>
              </a:rPr>
              <a:t>ketimpangan nyata di depan mata </a:t>
            </a:r>
            <a:r>
              <a:rPr lang="is-IS" sz="3600" b="1" noProof="1">
                <a:solidFill>
                  <a:srgbClr val="FF0000"/>
                </a:solidFill>
                <a:latin typeface="Apple Chancery"/>
                <a:cs typeface="Apple Chancery"/>
              </a:rPr>
              <a:t>…...</a:t>
            </a:r>
            <a:endParaRPr lang="en-US" sz="3600" b="1" noProof="1">
              <a:solidFill>
                <a:srgbClr val="FF0000"/>
              </a:solidFill>
              <a:latin typeface="Apple Chancery"/>
              <a:cs typeface="Apple Chancery"/>
            </a:endParaRPr>
          </a:p>
        </p:txBody>
      </p:sp>
    </p:spTree>
    <p:extLst>
      <p:ext uri="{BB962C8B-B14F-4D97-AF65-F5344CB8AC3E}">
        <p14:creationId xmlns:p14="http://schemas.microsoft.com/office/powerpoint/2010/main" val="3105369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349D0B-B88C-4BEF-A644-154E5D88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5998" y="6071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d-ID" sz="3200" b="1" dirty="0">
                <a:solidFill>
                  <a:srgbClr val="000000"/>
                </a:solidFill>
              </a:rPr>
              <a:t>Konsep Distribusi Pendapatan </a:t>
            </a:r>
            <a:br>
              <a:rPr lang="id-ID" sz="3200" b="1" dirty="0">
                <a:solidFill>
                  <a:srgbClr val="000000"/>
                </a:solidFill>
              </a:rPr>
            </a:br>
            <a:r>
              <a:rPr lang="id-ID" sz="3200" b="1" dirty="0">
                <a:solidFill>
                  <a:srgbClr val="000000"/>
                </a:solidFill>
              </a:rPr>
              <a:t>dengan Kurva Lorenz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318C41-B587-49BA-9786-C77F9BD1F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5998" y="2244436"/>
            <a:ext cx="8229600" cy="3905156"/>
          </a:xfrm>
        </p:spPr>
        <p:txBody>
          <a:bodyPr>
            <a:normAutofit/>
          </a:bodyPr>
          <a:lstStyle/>
          <a:p>
            <a:pPr lvl="0"/>
            <a:r>
              <a:rPr lang="id-ID" sz="2800" dirty="0">
                <a:solidFill>
                  <a:srgbClr val="000000"/>
                </a:solidFill>
              </a:rPr>
              <a:t>Kurva Lorenz (</a:t>
            </a:r>
            <a:r>
              <a:rPr lang="id-ID" sz="2800" b="1" i="1" dirty="0">
                <a:solidFill>
                  <a:srgbClr val="000000"/>
                </a:solidFill>
              </a:rPr>
              <a:t>Lorenz curve</a:t>
            </a:r>
            <a:r>
              <a:rPr lang="id-ID" sz="2800" dirty="0">
                <a:solidFill>
                  <a:srgbClr val="000000"/>
                </a:solidFill>
              </a:rPr>
              <a:t>) menggambarkan suatu fungsi distribusi kumulatif pendapatan atau kesejahteraan dari sekelompok penduduk. </a:t>
            </a:r>
          </a:p>
          <a:p>
            <a:pPr lvl="0"/>
            <a:r>
              <a:rPr lang="id-ID" sz="2800" dirty="0">
                <a:solidFill>
                  <a:srgbClr val="000000"/>
                </a:solidFill>
              </a:rPr>
              <a:t>Kurva ini dikemukakan oleh </a:t>
            </a:r>
            <a:r>
              <a:rPr lang="id-ID" sz="2800" b="1" dirty="0">
                <a:solidFill>
                  <a:srgbClr val="000000"/>
                </a:solidFill>
              </a:rPr>
              <a:t>Max O. Lorenz </a:t>
            </a:r>
            <a:r>
              <a:rPr lang="id-ID" sz="2800" dirty="0">
                <a:solidFill>
                  <a:srgbClr val="000000"/>
                </a:solidFill>
              </a:rPr>
              <a:t>(1905) dalam upayanya untuk mempelajari ketimpangan pada distribusi kesejahteraan atau pendapatan.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28930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766F109-4830-49F5-B027-310D43185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986" y="52401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d-ID" sz="3200" b="1" dirty="0">
                <a:solidFill>
                  <a:srgbClr val="000000"/>
                </a:solidFill>
              </a:rPr>
              <a:t>Konsep Distribusi Pendapatan </a:t>
            </a:r>
            <a:br>
              <a:rPr lang="id-ID" sz="3200" b="1" dirty="0">
                <a:solidFill>
                  <a:srgbClr val="000000"/>
                </a:solidFill>
              </a:rPr>
            </a:br>
            <a:r>
              <a:rPr lang="id-ID" sz="3200" b="1" dirty="0">
                <a:solidFill>
                  <a:srgbClr val="000000"/>
                </a:solidFill>
              </a:rPr>
              <a:t>dengan Kurva Lorenz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endParaRPr lang="en-US" sz="3200" b="1" dirty="0">
              <a:solidFill>
                <a:srgbClr val="00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E7A955-34C8-4C95-9113-E71F8AA4A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76" y="1845915"/>
            <a:ext cx="4139590" cy="41395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6820EA-DF4D-4AFF-9A6A-2F87B93DEAFA}"/>
              </a:ext>
            </a:extLst>
          </p:cNvPr>
          <p:cNvSpPr txBox="1"/>
          <p:nvPr/>
        </p:nvSpPr>
        <p:spPr>
          <a:xfrm>
            <a:off x="5452456" y="2005479"/>
            <a:ext cx="5829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•"/>
            </a:pPr>
            <a:r>
              <a:rPr lang="en-US" sz="2400" dirty="0" err="1"/>
              <a:t>Kurva</a:t>
            </a:r>
            <a:r>
              <a:rPr lang="en-US" sz="2400" dirty="0"/>
              <a:t> Lorenz: </a:t>
            </a:r>
            <a:r>
              <a:rPr lang="en-US" sz="2400" dirty="0" err="1"/>
              <a:t>distribusi</a:t>
            </a:r>
            <a:r>
              <a:rPr lang="en-US" sz="2400" dirty="0"/>
              <a:t> </a:t>
            </a:r>
            <a:r>
              <a:rPr lang="en-US" sz="2400" dirty="0" err="1"/>
              <a:t>pendapatan</a:t>
            </a:r>
            <a:r>
              <a:rPr lang="en-US" sz="2400" dirty="0"/>
              <a:t> yang </a:t>
            </a:r>
            <a:r>
              <a:rPr lang="en-US" sz="2400" dirty="0" err="1"/>
              <a:t>merata</a:t>
            </a:r>
            <a:r>
              <a:rPr lang="en-US" sz="2400" dirty="0"/>
              <a:t>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sempurna</a:t>
            </a:r>
            <a:r>
              <a:rPr lang="en-US" sz="2400" dirty="0"/>
              <a:t> (</a:t>
            </a:r>
            <a:r>
              <a:rPr lang="en-US" sz="2400" b="1" i="1" dirty="0"/>
              <a:t>perfectly equal income distribution</a:t>
            </a:r>
            <a:r>
              <a:rPr lang="en-US" sz="2400" dirty="0"/>
              <a:t>) </a:t>
            </a:r>
            <a:r>
              <a:rPr lang="en-US" sz="2400" dirty="0" err="1"/>
              <a:t>terjadi</a:t>
            </a:r>
            <a:r>
              <a:rPr lang="en-US" sz="2400" dirty="0"/>
              <a:t> </a:t>
            </a:r>
            <a:r>
              <a:rPr lang="en-US" sz="2400" dirty="0" err="1"/>
              <a:t>bila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orang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sekelompok</a:t>
            </a:r>
            <a:r>
              <a:rPr lang="en-US" sz="2400" dirty="0"/>
              <a:t> </a:t>
            </a:r>
            <a:r>
              <a:rPr lang="en-US" sz="2400" dirty="0" err="1"/>
              <a:t>penduduk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</a:t>
            </a:r>
            <a:r>
              <a:rPr lang="en-US" sz="2400" dirty="0" err="1"/>
              <a:t>tingkat</a:t>
            </a:r>
            <a:r>
              <a:rPr lang="en-US" sz="2400" dirty="0"/>
              <a:t> </a:t>
            </a:r>
            <a:r>
              <a:rPr lang="en-US" sz="2400" dirty="0" err="1"/>
              <a:t>pendapatan</a:t>
            </a:r>
            <a:r>
              <a:rPr lang="en-US" sz="2400" dirty="0"/>
              <a:t> yang </a:t>
            </a:r>
            <a:r>
              <a:rPr lang="en-US" sz="2400" dirty="0" err="1"/>
              <a:t>sama</a:t>
            </a:r>
            <a:r>
              <a:rPr lang="en-US" sz="2400" dirty="0"/>
              <a:t>. 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dirty="0" err="1"/>
              <a:t>Mereka</a:t>
            </a:r>
            <a:r>
              <a:rPr lang="en-US" sz="2400" dirty="0"/>
              <a:t> yang </a:t>
            </a:r>
            <a:r>
              <a:rPr lang="en-US" sz="2400" dirty="0" err="1"/>
              <a:t>berada</a:t>
            </a:r>
            <a:r>
              <a:rPr lang="en-US" sz="2400" dirty="0"/>
              <a:t> di </a:t>
            </a:r>
            <a:r>
              <a:rPr lang="en-US" sz="2400" dirty="0" err="1"/>
              <a:t>bawah</a:t>
            </a:r>
            <a:r>
              <a:rPr lang="en-US" sz="2400" dirty="0"/>
              <a:t> 20%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</a:t>
            </a:r>
            <a:r>
              <a:rPr lang="en-US" sz="2400" dirty="0" err="1"/>
              <a:t>rumahtangga</a:t>
            </a:r>
            <a:r>
              <a:rPr lang="en-US" sz="2400" dirty="0"/>
              <a:t> </a:t>
            </a:r>
            <a:r>
              <a:rPr lang="en-US" sz="2400" dirty="0" err="1"/>
              <a:t>mempunyai</a:t>
            </a:r>
            <a:r>
              <a:rPr lang="en-US" sz="2400" dirty="0"/>
              <a:t> 20% </a:t>
            </a:r>
            <a:r>
              <a:rPr lang="en-US" sz="2400" dirty="0" err="1"/>
              <a:t>dari</a:t>
            </a:r>
            <a:r>
              <a:rPr lang="en-US" sz="2400" dirty="0"/>
              <a:t> total </a:t>
            </a:r>
            <a:r>
              <a:rPr lang="en-US" sz="2400" dirty="0" err="1"/>
              <a:t>pendapatan</a:t>
            </a:r>
            <a:r>
              <a:rPr lang="en-US" sz="2400" dirty="0"/>
              <a:t>.</a:t>
            </a:r>
          </a:p>
          <a:p>
            <a:pPr marL="285750" indent="-285750" algn="just">
              <a:buFontTx/>
              <a:buChar char="•"/>
            </a:pP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tentunya</a:t>
            </a:r>
            <a:r>
              <a:rPr lang="en-US" sz="2400" dirty="0"/>
              <a:t> </a:t>
            </a:r>
            <a:r>
              <a:rPr lang="en-US" sz="2400" dirty="0" err="1"/>
              <a:t>hampir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mungkin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di </a:t>
            </a:r>
            <a:r>
              <a:rPr lang="en-US" sz="2400" dirty="0" err="1"/>
              <a:t>manapun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kapanpun</a:t>
            </a:r>
            <a:r>
              <a:rPr lang="en-US" sz="2400" dirty="0"/>
              <a:t> di </a:t>
            </a:r>
            <a:r>
              <a:rPr lang="en-US" sz="2400" dirty="0" err="1"/>
              <a:t>dunia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367311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486CFEA-33C9-4FFE-AB0E-C6639C3C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2F896-40B5-4ADD-8801-0D06FADFA09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6B727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60963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A6B727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7FEAF6-25F1-48EC-8B74-EAC6B7102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486" y="429013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id-ID" sz="3200" b="1" dirty="0">
                <a:solidFill>
                  <a:srgbClr val="000000"/>
                </a:solidFill>
              </a:rPr>
              <a:t>Konsep Distribusi Pendapatan </a:t>
            </a:r>
            <a:br>
              <a:rPr lang="id-ID" sz="3200" b="1" dirty="0">
                <a:solidFill>
                  <a:srgbClr val="000000"/>
                </a:solidFill>
              </a:rPr>
            </a:br>
            <a:r>
              <a:rPr lang="id-ID" sz="3200" b="1" dirty="0">
                <a:solidFill>
                  <a:srgbClr val="000000"/>
                </a:solidFill>
              </a:rPr>
              <a:t>dengan Kurva Lorenz</a:t>
            </a:r>
            <a:r>
              <a:rPr lang="en-US" sz="3200" dirty="0">
                <a:solidFill>
                  <a:srgbClr val="000000"/>
                </a:solidFill>
              </a:rPr>
              <a:t> </a:t>
            </a:r>
            <a:endParaRPr lang="en-US" sz="3200" b="1" dirty="0">
              <a:solidFill>
                <a:srgbClr val="00000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6156AA5-596C-4304-86AF-6EC1B7DC0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775" y="1750914"/>
            <a:ext cx="10521538" cy="4220553"/>
          </a:xfrm>
        </p:spPr>
        <p:txBody>
          <a:bodyPr>
            <a:noAutofit/>
          </a:bodyPr>
          <a:lstStyle/>
          <a:p>
            <a:pPr algn="just"/>
            <a:r>
              <a:rPr lang="en-US" sz="2800" b="1" i="1" dirty="0">
                <a:solidFill>
                  <a:srgbClr val="000000"/>
                </a:solidFill>
              </a:rPr>
              <a:t>Line of perfect equality</a:t>
            </a:r>
            <a:r>
              <a:rPr lang="en-US" sz="2800" i="1" dirty="0">
                <a:solidFill>
                  <a:srgbClr val="000000"/>
                </a:solidFill>
              </a:rPr>
              <a:t> </a:t>
            </a:r>
            <a:r>
              <a:rPr lang="en-US" sz="2800" dirty="0">
                <a:solidFill>
                  <a:srgbClr val="000000"/>
                </a:solidFill>
              </a:rPr>
              <a:t>(</a:t>
            </a:r>
            <a:r>
              <a:rPr lang="en-US" sz="2800" dirty="0" err="1">
                <a:solidFill>
                  <a:srgbClr val="000000"/>
                </a:solidFill>
              </a:rPr>
              <a:t>distribusi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pendapatan</a:t>
            </a:r>
            <a:r>
              <a:rPr lang="en-US" sz="2800" dirty="0">
                <a:solidFill>
                  <a:srgbClr val="000000"/>
                </a:solidFill>
              </a:rPr>
              <a:t> yang </a:t>
            </a:r>
            <a:r>
              <a:rPr lang="en-US" sz="2800" dirty="0" err="1">
                <a:solidFill>
                  <a:srgbClr val="000000"/>
                </a:solidFill>
              </a:rPr>
              <a:t>merata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secara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sempurna</a:t>
            </a:r>
            <a:r>
              <a:rPr lang="en-US" sz="2800" dirty="0">
                <a:solidFill>
                  <a:srgbClr val="000000"/>
                </a:solidFill>
              </a:rPr>
              <a:t>): </a:t>
            </a:r>
            <a:r>
              <a:rPr lang="en-US" sz="2800" dirty="0" err="1">
                <a:solidFill>
                  <a:srgbClr val="000000"/>
                </a:solidFill>
              </a:rPr>
              <a:t>kelompok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terendah</a:t>
            </a:r>
            <a:r>
              <a:rPr lang="en-US" sz="2800" dirty="0">
                <a:solidFill>
                  <a:srgbClr val="000000"/>
                </a:solidFill>
              </a:rPr>
              <a:t> N% </a:t>
            </a:r>
            <a:r>
              <a:rPr lang="en-US" sz="2800" dirty="0" err="1">
                <a:solidFill>
                  <a:srgbClr val="000000"/>
                </a:solidFill>
              </a:rPr>
              <a:t>dari</a:t>
            </a:r>
            <a:r>
              <a:rPr lang="en-US" sz="2800" dirty="0">
                <a:solidFill>
                  <a:srgbClr val="000000"/>
                </a:solidFill>
              </a:rPr>
              <a:t> total </a:t>
            </a:r>
            <a:r>
              <a:rPr lang="en-US" sz="2800" dirty="0" err="1">
                <a:solidFill>
                  <a:srgbClr val="000000"/>
                </a:solidFill>
              </a:rPr>
              <a:t>penduduk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akan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menikmati</a:t>
            </a:r>
            <a:r>
              <a:rPr lang="en-US" sz="2800" dirty="0">
                <a:solidFill>
                  <a:srgbClr val="000000"/>
                </a:solidFill>
              </a:rPr>
              <a:t> N% </a:t>
            </a:r>
            <a:r>
              <a:rPr lang="en-US" sz="2800" dirty="0" err="1">
                <a:solidFill>
                  <a:srgbClr val="000000"/>
                </a:solidFill>
              </a:rPr>
              <a:t>dari</a:t>
            </a:r>
            <a:r>
              <a:rPr lang="en-US" sz="2800" dirty="0">
                <a:solidFill>
                  <a:srgbClr val="000000"/>
                </a:solidFill>
              </a:rPr>
              <a:t> total </a:t>
            </a:r>
            <a:r>
              <a:rPr lang="en-US" sz="2800" dirty="0" err="1">
                <a:solidFill>
                  <a:srgbClr val="000000"/>
                </a:solidFill>
              </a:rPr>
              <a:t>pendapatan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penduduk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tersebut</a:t>
            </a:r>
            <a:r>
              <a:rPr lang="en-US" sz="2800" dirty="0">
                <a:solidFill>
                  <a:srgbClr val="000000"/>
                </a:solidFill>
              </a:rPr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dirty="0" err="1">
                <a:solidFill>
                  <a:srgbClr val="000000"/>
                </a:solidFill>
              </a:rPr>
              <a:t>Kondisi</a:t>
            </a:r>
            <a:r>
              <a:rPr lang="en-US" sz="2600" dirty="0">
                <a:solidFill>
                  <a:srgbClr val="000000"/>
                </a:solidFill>
              </a:rPr>
              <a:t> </a:t>
            </a:r>
            <a:r>
              <a:rPr lang="en-US" sz="2600" dirty="0" err="1">
                <a:solidFill>
                  <a:srgbClr val="000000"/>
                </a:solidFill>
              </a:rPr>
              <a:t>ini</a:t>
            </a:r>
            <a:r>
              <a:rPr lang="en-US" sz="2600" dirty="0">
                <a:solidFill>
                  <a:srgbClr val="000000"/>
                </a:solidFill>
              </a:rPr>
              <a:t> </a:t>
            </a:r>
            <a:r>
              <a:rPr lang="en-US" sz="2600" dirty="0" err="1">
                <a:solidFill>
                  <a:srgbClr val="000000"/>
                </a:solidFill>
              </a:rPr>
              <a:t>digambarkan</a:t>
            </a:r>
            <a:r>
              <a:rPr lang="en-US" sz="2600" dirty="0">
                <a:solidFill>
                  <a:srgbClr val="000000"/>
                </a:solidFill>
              </a:rPr>
              <a:t> oleh garis </a:t>
            </a:r>
            <a:r>
              <a:rPr lang="en-US" sz="2600" dirty="0" err="1">
                <a:solidFill>
                  <a:srgbClr val="000000"/>
                </a:solidFill>
              </a:rPr>
              <a:t>lurus</a:t>
            </a:r>
            <a:r>
              <a:rPr lang="en-US" sz="2600" dirty="0">
                <a:solidFill>
                  <a:srgbClr val="000000"/>
                </a:solidFill>
              </a:rPr>
              <a:t> y = x</a:t>
            </a:r>
          </a:p>
          <a:p>
            <a:pPr marL="274334" lvl="1" indent="0" algn="just">
              <a:buNone/>
            </a:pPr>
            <a:endParaRPr lang="en-US" sz="2600" dirty="0">
              <a:solidFill>
                <a:srgbClr val="000000"/>
              </a:solidFill>
            </a:endParaRPr>
          </a:p>
          <a:p>
            <a:pPr algn="just"/>
            <a:r>
              <a:rPr lang="en-US" sz="2800" b="1" i="1" dirty="0">
                <a:solidFill>
                  <a:srgbClr val="000000"/>
                </a:solidFill>
              </a:rPr>
              <a:t>Line of perfect inequality</a:t>
            </a:r>
            <a:r>
              <a:rPr lang="en-US" sz="2800" i="1" dirty="0">
                <a:solidFill>
                  <a:srgbClr val="000000"/>
                </a:solidFill>
              </a:rPr>
              <a:t> (</a:t>
            </a:r>
            <a:r>
              <a:rPr lang="en-US" sz="2800" dirty="0" err="1">
                <a:solidFill>
                  <a:srgbClr val="000000"/>
                </a:solidFill>
              </a:rPr>
              <a:t>distribusi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pendapatan</a:t>
            </a:r>
            <a:r>
              <a:rPr lang="en-US" sz="2800" dirty="0">
                <a:solidFill>
                  <a:srgbClr val="000000"/>
                </a:solidFill>
              </a:rPr>
              <a:t> yang </a:t>
            </a:r>
            <a:r>
              <a:rPr lang="en-US" sz="2800" dirty="0" err="1">
                <a:solidFill>
                  <a:srgbClr val="000000"/>
                </a:solidFill>
              </a:rPr>
              <a:t>tidak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merata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secara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sempurna</a:t>
            </a:r>
            <a:r>
              <a:rPr lang="en-US" sz="2800" dirty="0">
                <a:solidFill>
                  <a:srgbClr val="000000"/>
                </a:solidFill>
              </a:rPr>
              <a:t>): </a:t>
            </a:r>
            <a:r>
              <a:rPr lang="en-US" sz="2800" dirty="0" err="1">
                <a:solidFill>
                  <a:srgbClr val="000000"/>
                </a:solidFill>
              </a:rPr>
              <a:t>bila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satu</a:t>
            </a:r>
            <a:r>
              <a:rPr lang="en-US" sz="2800" dirty="0">
                <a:solidFill>
                  <a:srgbClr val="000000"/>
                </a:solidFill>
              </a:rPr>
              <a:t> orang </a:t>
            </a:r>
            <a:r>
              <a:rPr lang="en-US" sz="2800" dirty="0" err="1">
                <a:solidFill>
                  <a:srgbClr val="000000"/>
                </a:solidFill>
              </a:rPr>
              <a:t>memiliki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semua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pendapatan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dan</a:t>
            </a:r>
            <a:r>
              <a:rPr lang="en-US" sz="2800" dirty="0">
                <a:solidFill>
                  <a:srgbClr val="000000"/>
                </a:solidFill>
              </a:rPr>
              <a:t> yang </a:t>
            </a:r>
            <a:r>
              <a:rPr lang="en-US" sz="2800" dirty="0" err="1">
                <a:solidFill>
                  <a:srgbClr val="000000"/>
                </a:solidFill>
              </a:rPr>
              <a:t>lainnya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tidak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memiliki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sama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sekali</a:t>
            </a:r>
            <a:r>
              <a:rPr lang="en-US" sz="2800" dirty="0">
                <a:solidFill>
                  <a:srgbClr val="000000"/>
                </a:solidFill>
              </a:rPr>
              <a:t>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600" dirty="0" err="1">
                <a:solidFill>
                  <a:srgbClr val="000000"/>
                </a:solidFill>
                <a:sym typeface="Wingdings"/>
              </a:rPr>
              <a:t>K</a:t>
            </a:r>
            <a:r>
              <a:rPr lang="en-US" sz="2600" dirty="0" err="1">
                <a:solidFill>
                  <a:srgbClr val="000000"/>
                </a:solidFill>
              </a:rPr>
              <a:t>urva</a:t>
            </a:r>
            <a:r>
              <a:rPr lang="en-US" sz="2600" dirty="0">
                <a:solidFill>
                  <a:srgbClr val="000000"/>
                </a:solidFill>
              </a:rPr>
              <a:t> </a:t>
            </a:r>
            <a:r>
              <a:rPr lang="en-US" sz="2600" dirty="0" err="1">
                <a:solidFill>
                  <a:srgbClr val="000000"/>
                </a:solidFill>
              </a:rPr>
              <a:t>menunjukkan</a:t>
            </a:r>
            <a:r>
              <a:rPr lang="en-US" sz="2600" dirty="0">
                <a:solidFill>
                  <a:srgbClr val="000000"/>
                </a:solidFill>
              </a:rPr>
              <a:t> y = 0% </a:t>
            </a:r>
            <a:r>
              <a:rPr lang="en-US" sz="2600" dirty="0" err="1">
                <a:solidFill>
                  <a:srgbClr val="000000"/>
                </a:solidFill>
              </a:rPr>
              <a:t>untuk</a:t>
            </a:r>
            <a:r>
              <a:rPr lang="en-US" sz="2600" dirty="0">
                <a:solidFill>
                  <a:srgbClr val="000000"/>
                </a:solidFill>
              </a:rPr>
              <a:t> </a:t>
            </a:r>
            <a:r>
              <a:rPr lang="en-US" sz="2600" dirty="0" err="1">
                <a:solidFill>
                  <a:srgbClr val="000000"/>
                </a:solidFill>
              </a:rPr>
              <a:t>semua</a:t>
            </a:r>
            <a:r>
              <a:rPr lang="en-US" sz="2600" dirty="0">
                <a:solidFill>
                  <a:srgbClr val="000000"/>
                </a:solidFill>
              </a:rPr>
              <a:t> x &lt; 100%, dan y = 100% di mana x = 100%. </a:t>
            </a:r>
          </a:p>
        </p:txBody>
      </p:sp>
    </p:spTree>
    <p:extLst>
      <p:ext uri="{BB962C8B-B14F-4D97-AF65-F5344CB8AC3E}">
        <p14:creationId xmlns:p14="http://schemas.microsoft.com/office/powerpoint/2010/main" val="33691396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id-ID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Indikator-indikator Ketimpangan Distribusi Pengeluaran sebagai Proksi Pendapatan di Indonesia 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746469"/>
            <a:ext cx="110598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charset="2"/>
              <a:buChar char=""/>
              <a:tabLst/>
              <a:defRPr/>
            </a:pPr>
            <a:r>
              <a:rPr kumimoji="0" lang="id-ID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Data pendapatan melalui survei rumahtangga di negara sedang berkembang seperti Indonesia sering tidak lengkap (under-reporting)</a:t>
            </a:r>
            <a:endParaRPr kumimoji="0" lang="en-US" sz="28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tabLst/>
              <a:defRPr/>
            </a:pPr>
            <a:endParaRPr kumimoji="0" lang="id-ID" sz="28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charset="2"/>
              <a:buChar char=""/>
              <a:tabLst/>
              <a:defRPr/>
            </a:pPr>
            <a:r>
              <a:rPr kumimoji="0" lang="id-ID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Indikator-indikator distribusi pendapatan</a:t>
            </a:r>
            <a:r>
              <a:rPr kumimoji="0" lang="en-US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, </a:t>
            </a:r>
            <a:r>
              <a:rPr kumimoji="0" lang="en-US" sz="28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seperti</a:t>
            </a:r>
            <a:r>
              <a:rPr kumimoji="0" lang="en-US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8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halnya</a:t>
            </a:r>
            <a:r>
              <a:rPr kumimoji="0" lang="en-US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8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indikator</a:t>
            </a:r>
            <a:r>
              <a:rPr kumimoji="0" lang="en-US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8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kemiskinan</a:t>
            </a:r>
            <a:r>
              <a:rPr kumimoji="0" lang="en-US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,</a:t>
            </a:r>
            <a:r>
              <a:rPr kumimoji="0" lang="id-ID" sz="28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umumnya diukur dengan menggunakan data pengeluaran konsumsi rumahtangga, sebagai proksi pendapatan. </a:t>
            </a:r>
          </a:p>
        </p:txBody>
      </p:sp>
    </p:spTree>
    <p:extLst>
      <p:ext uri="{BB962C8B-B14F-4D97-AF65-F5344CB8AC3E}">
        <p14:creationId xmlns:p14="http://schemas.microsoft.com/office/powerpoint/2010/main" val="2577229298"/>
      </p:ext>
    </p:extLst>
  </p:cSld>
  <p:clrMapOvr>
    <a:masterClrMapping/>
  </p:clrMapOvr>
  <p:transition spd="slow">
    <p:dissolv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Indikator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Distribusi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Pendapatan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dan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Ketimpangan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746469"/>
            <a:ext cx="11059887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tabLst/>
              <a:defRPr/>
            </a:pP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Terdapat 2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indikator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yang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umumnya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digunakan</a:t>
            </a: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, yaitu: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charset="2"/>
              <a:buChar char=""/>
              <a:tabLst/>
              <a:defRPr/>
            </a:pPr>
            <a:endParaRPr kumimoji="0" lang="id-ID" sz="22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"/>
              <a:tabLst/>
              <a:defRPr/>
            </a:pPr>
            <a:r>
              <a:rPr kumimoji="0" lang="id-ID" sz="2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Kriteria Bank Dunia</a:t>
            </a: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: mengklasifikasikan penduduk di suatu Negara atau wilayah atas 3 kelompok menurut pendapatan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,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yaitu</a:t>
            </a: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kelompok dengan pendapatan terendah 40%, kelompok dengan pendapatan menegah 40% dan kelompok dengan pendapatan tertinggi 20%. Ketimpangan distribusi pendapatan diukur dengan menghitung persentase pendapatan yang diperoleh oleh kelompok dengan pendapatan rendah 40%, sbb: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jika ‘kelompok terbawah 40%’ memperoleh kurang dari 12% dari total pendapatan, maka ketimpangan pendapatan dikatakan tinggi;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jika ‘kelompok terbawah 40%’ memperoleh antara 12% dan 17% dari total pendapatan, maka ketimpangan pendapatan dikatakan sedang;</a:t>
            </a:r>
          </a:p>
          <a:p>
            <a:pPr marL="800100" lvl="1" indent="-342900" algn="just">
              <a:buClr>
                <a:srgbClr val="FF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jika ‘kelompok terbawah 40%’ memperoleh lebih dari 17% dari total pendapatan, maka ketimpangan pendapatan dikatakan rendah;</a:t>
            </a:r>
          </a:p>
        </p:txBody>
      </p:sp>
    </p:spTree>
    <p:extLst>
      <p:ext uri="{BB962C8B-B14F-4D97-AF65-F5344CB8AC3E}">
        <p14:creationId xmlns:p14="http://schemas.microsoft.com/office/powerpoint/2010/main" val="1909315757"/>
      </p:ext>
    </p:extLst>
  </p:cSld>
  <p:clrMapOvr>
    <a:masterClrMapping/>
  </p:clrMapOvr>
  <p:transition spd="slow">
    <p:dissolv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F396-713B-47FB-AD55-2C157E2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Indikator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Distribusi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Pendapatan</a:t>
            </a:r>
            <a:r>
              <a:rPr lang="en-US" sz="3000" b="1" dirty="0">
                <a:solidFill>
                  <a:srgbClr val="000000"/>
                </a:solidFill>
                <a:effectLst/>
                <a:latin typeface="Georgia"/>
                <a:cs typeface="Georgia"/>
              </a:rPr>
              <a:t> dan </a:t>
            </a:r>
            <a:r>
              <a:rPr lang="en-US" sz="3000" b="1" dirty="0" err="1">
                <a:solidFill>
                  <a:srgbClr val="000000"/>
                </a:solidFill>
                <a:effectLst/>
                <a:latin typeface="Georgia"/>
                <a:cs typeface="Georgia"/>
              </a:rPr>
              <a:t>Ketimpangan</a:t>
            </a:r>
            <a:endParaRPr lang="en-US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1D81A-5BB2-4D08-BF64-9DCFB23707D6}"/>
              </a:ext>
            </a:extLst>
          </p:cNvPr>
          <p:cNvSpPr txBox="1"/>
          <p:nvPr/>
        </p:nvSpPr>
        <p:spPr>
          <a:xfrm>
            <a:off x="522514" y="1746469"/>
            <a:ext cx="1105988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Wingdings" panose="05000000000000000000" pitchFamily="2" charset="2"/>
              <a:buChar char=""/>
              <a:tabLst/>
              <a:defRPr/>
            </a:pPr>
            <a:r>
              <a:rPr kumimoji="0" lang="en-US" sz="2200" b="1" i="0" u="sng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Koefisien</a:t>
            </a:r>
            <a:r>
              <a:rPr kumimoji="0" lang="en-US" sz="22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Gini (Gini Ratio)</a:t>
            </a:r>
            <a:r>
              <a:rPr kumimoji="0" lang="id-ID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: adalah rasio wilayah (lihat Kurva Lorenz) antara ‘line of perfect equality’ dan kurva Lorenz hasil observasi (A) ke wilayah antara ‘line of perfect equality’ dan ‘line of perfect inequality’ (A+B). Atau koefisien Gini = rasio A/(A+B). Semakin tinggi koefisien, semakin timpang distribusi pendapatan.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Formula yang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dapat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digunakan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untuk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menghitung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gini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ratio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adalah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 </a:t>
            </a:r>
            <a:r>
              <a:rPr kumimoji="0" lang="en-US" sz="2200" i="0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sbb</a:t>
            </a:r>
            <a:r>
              <a:rPr kumimoji="0" lang="en-US" sz="2200" i="0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+mn-ea"/>
                <a:cs typeface="Arial Narrow"/>
              </a:rPr>
              <a:t>:</a:t>
            </a:r>
            <a:endParaRPr kumimoji="0" lang="id-ID" sz="22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tabLst/>
              <a:defRPr/>
            </a:pPr>
            <a:endParaRPr kumimoji="0" lang="id-ID" sz="220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+mn-ea"/>
              <a:cs typeface="Arial Narrow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AFB03E-FBA9-46A1-BAF2-39B0C238E9C6}"/>
                  </a:ext>
                </a:extLst>
              </p:cNvPr>
              <p:cNvSpPr txBox="1"/>
              <p:nvPr/>
            </p:nvSpPr>
            <p:spPr>
              <a:xfrm>
                <a:off x="2879766" y="3297524"/>
                <a:ext cx="6115792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𝐺𝑅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8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800" i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BAFB03E-FBA9-46A1-BAF2-39B0C238E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766" y="3297524"/>
                <a:ext cx="6115792" cy="1268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23C07E-8DC9-4038-9C1A-2E80AFE194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955662"/>
              </p:ext>
            </p:extLst>
          </p:nvPr>
        </p:nvGraphicFramePr>
        <p:xfrm>
          <a:off x="1274823" y="4621071"/>
          <a:ext cx="9887982" cy="1371600"/>
        </p:xfrm>
        <a:graphic>
          <a:graphicData uri="http://schemas.openxmlformats.org/drawingml/2006/table">
            <a:tbl>
              <a:tblPr firstRow="1" firstCol="1" bandRow="1"/>
              <a:tblGrid>
                <a:gridCol w="1133681">
                  <a:extLst>
                    <a:ext uri="{9D8B030D-6E8A-4147-A177-3AD203B41FA5}">
                      <a16:colId xmlns:a16="http://schemas.microsoft.com/office/drawing/2014/main" val="2909404254"/>
                    </a:ext>
                  </a:extLst>
                </a:gridCol>
                <a:gridCol w="364851">
                  <a:extLst>
                    <a:ext uri="{9D8B030D-6E8A-4147-A177-3AD203B41FA5}">
                      <a16:colId xmlns:a16="http://schemas.microsoft.com/office/drawing/2014/main" val="358994514"/>
                    </a:ext>
                  </a:extLst>
                </a:gridCol>
                <a:gridCol w="8389450">
                  <a:extLst>
                    <a:ext uri="{9D8B030D-6E8A-4147-A177-3AD203B41FA5}">
                      <a16:colId xmlns:a16="http://schemas.microsoft.com/office/drawing/2014/main" val="4145971407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Dimana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53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pendapatan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5823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sz="22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persen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(%)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penduduk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penerima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pendapatan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ke-i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317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US" sz="2200" baseline="-25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en-US" sz="2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Jumlah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kumulatif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(%)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pendapatan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pada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kelas</a:t>
                      </a:r>
                      <a:r>
                        <a:rPr lang="en-US" sz="22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ke-i</a:t>
                      </a:r>
                      <a:endParaRPr lang="en-US" sz="2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5751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303678"/>
      </p:ext>
    </p:extLst>
  </p:cSld>
  <p:clrMapOvr>
    <a:masterClrMapping/>
  </p:clrMapOvr>
  <p:transition spd="slow">
    <p:dissolv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F5D43F8-E7F6-4633-AE4A-EF144DACA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156217"/>
              </p:ext>
            </p:extLst>
          </p:nvPr>
        </p:nvGraphicFramePr>
        <p:xfrm>
          <a:off x="689820" y="1007789"/>
          <a:ext cx="10722369" cy="4799247"/>
        </p:xfrm>
        <a:graphic>
          <a:graphicData uri="http://schemas.openxmlformats.org/drawingml/2006/table">
            <a:tbl>
              <a:tblPr/>
              <a:tblGrid>
                <a:gridCol w="1238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4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0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1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84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14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9173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Persentase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Kumulatif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+Y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i-1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f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*(Y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+Y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i-1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Quintile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Konsumsi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konsumsi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penduduk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 (f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konsumsi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 (Y</a:t>
                      </a:r>
                      <a:r>
                        <a:rPr lang="en-US" sz="2200" b="0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i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2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penduduk</a:t>
                      </a:r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200" b="0" i="0" u="none" strike="noStrike" dirty="0">
                        <a:solidFill>
                          <a:srgbClr val="000000"/>
                        </a:solidFill>
                        <a:effectLst/>
                        <a:latin typeface="Book Antiqua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50,000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0.0719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0.0719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0.0719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0.0144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70,000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0.1007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0.1727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0.4000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0.2446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0.0489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100,000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0.1439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0.3165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0.6000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0.4892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0.0978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125,000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0.1799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0.4964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0.8000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0.8129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0.1626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350,000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0.5036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1.0000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1.0000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1.4964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0.2993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173">
                <a:tc>
                  <a:txBody>
                    <a:bodyPr/>
                    <a:lstStyle/>
                    <a:p>
                      <a:pPr algn="l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695,000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1.0000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1.0000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0.6230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173">
                <a:tc gridSpan="8"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GI = 1 - 0,6230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173">
                <a:tc gridSpan="8">
                  <a:txBody>
                    <a:bodyPr/>
                    <a:lstStyle/>
                    <a:p>
                      <a:pPr algn="r" fontAlgn="b"/>
                      <a:r>
                        <a:rPr lang="en-US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/>
                        </a:rPr>
                        <a:t>    = 0,3770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29D73C5-D006-420A-90C2-80A35AC99184}"/>
              </a:ext>
            </a:extLst>
          </p:cNvPr>
          <p:cNvSpPr txBox="1"/>
          <p:nvPr/>
        </p:nvSpPr>
        <p:spPr>
          <a:xfrm>
            <a:off x="689820" y="403761"/>
            <a:ext cx="381092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 err="1"/>
              <a:t>Contoh</a:t>
            </a:r>
            <a:r>
              <a:rPr lang="en-US" sz="2200" b="1" u="sng" dirty="0"/>
              <a:t> </a:t>
            </a:r>
            <a:r>
              <a:rPr lang="en-US" sz="2200" b="1" u="sng" dirty="0" err="1"/>
              <a:t>Penghitungan</a:t>
            </a:r>
            <a:endParaRPr lang="en-US" sz="2200" b="1" u="sng" dirty="0"/>
          </a:p>
        </p:txBody>
      </p:sp>
    </p:spTree>
    <p:extLst>
      <p:ext uri="{BB962C8B-B14F-4D97-AF65-F5344CB8AC3E}">
        <p14:creationId xmlns:p14="http://schemas.microsoft.com/office/powerpoint/2010/main" val="4190540236"/>
      </p:ext>
    </p:extLst>
  </p:cSld>
  <p:clrMapOvr>
    <a:masterClrMapping/>
  </p:clrMapOvr>
  <p:transition spd="slow">
    <p:dissolv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B4B6ED4-3DB8-4762-9FE6-1839605186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3907573"/>
              </p:ext>
            </p:extLst>
          </p:nvPr>
        </p:nvGraphicFramePr>
        <p:xfrm>
          <a:off x="1258784" y="833015"/>
          <a:ext cx="9535886" cy="49502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7661890"/>
      </p:ext>
    </p:extLst>
  </p:cSld>
  <p:clrMapOvr>
    <a:masterClrMapping/>
  </p:clrMapOvr>
  <p:transition spd="slow">
    <p:dissolv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D2DFC5B-7A44-46AA-A445-C231783D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97" y="329803"/>
            <a:ext cx="10763004" cy="1016492"/>
          </a:xfrm>
        </p:spPr>
        <p:txBody>
          <a:bodyPr>
            <a:normAutofit/>
          </a:bodyPr>
          <a:lstStyle/>
          <a:p>
            <a:pPr algn="ctr"/>
            <a:r>
              <a:rPr lang="en-US" b="1" dirty="0" err="1">
                <a:solidFill>
                  <a:srgbClr val="000000"/>
                </a:solidFill>
              </a:rPr>
              <a:t>Interpretasi</a:t>
            </a:r>
            <a:r>
              <a:rPr lang="en-US" b="1" dirty="0">
                <a:solidFill>
                  <a:srgbClr val="000000"/>
                </a:solidFill>
              </a:rPr>
              <a:t> Data </a:t>
            </a:r>
            <a:r>
              <a:rPr lang="en-US" b="1" dirty="0" err="1">
                <a:solidFill>
                  <a:srgbClr val="000000"/>
                </a:solidFill>
              </a:rPr>
              <a:t>Ketimpangan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en-US" b="1" dirty="0" err="1">
                <a:solidFill>
                  <a:srgbClr val="000000"/>
                </a:solidFill>
              </a:rPr>
              <a:t>Pendapatan</a:t>
            </a:r>
            <a:r>
              <a:rPr lang="en-US" dirty="0">
                <a:solidFill>
                  <a:srgbClr val="000000"/>
                </a:solidFill>
              </a:rPr>
              <a:t> </a:t>
            </a:r>
            <a:endParaRPr lang="en-US" b="1" dirty="0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28079F-E1A7-4FB5-B049-7402A9E71F6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300" y="1447175"/>
            <a:ext cx="5063202" cy="45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458309-3B92-461D-B802-694DE5FDD4F0}"/>
              </a:ext>
            </a:extLst>
          </p:cNvPr>
          <p:cNvSpPr txBox="1"/>
          <p:nvPr/>
        </p:nvSpPr>
        <p:spPr>
          <a:xfrm>
            <a:off x="6293922" y="1599880"/>
            <a:ext cx="528847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•"/>
            </a:pPr>
            <a:r>
              <a:rPr lang="en-US" sz="2000" dirty="0" err="1"/>
              <a:t>Pada</a:t>
            </a:r>
            <a:r>
              <a:rPr lang="en-US" sz="2000" dirty="0"/>
              <a:t> </a:t>
            </a:r>
            <a:r>
              <a:rPr lang="en-US" sz="2000" dirty="0" err="1"/>
              <a:t>tahun</a:t>
            </a:r>
            <a:r>
              <a:rPr lang="en-US" sz="2000" dirty="0"/>
              <a:t> 2003,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Gini</a:t>
            </a:r>
            <a:r>
              <a:rPr lang="en-US" sz="2000" dirty="0"/>
              <a:t> di Indonesia </a:t>
            </a:r>
            <a:r>
              <a:rPr lang="en-US" sz="2000" dirty="0" err="1"/>
              <a:t>sekitar</a:t>
            </a:r>
            <a:r>
              <a:rPr lang="en-US" sz="2000" dirty="0"/>
              <a:t> 0,35,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lebih</a:t>
            </a:r>
            <a:r>
              <a:rPr lang="en-US" sz="2000" dirty="0"/>
              <a:t> </a:t>
            </a:r>
            <a:r>
              <a:rPr lang="en-US" sz="2000" dirty="0" err="1"/>
              <a:t>tinggi</a:t>
            </a:r>
            <a:r>
              <a:rPr lang="en-US" sz="2000" dirty="0"/>
              <a:t> di </a:t>
            </a:r>
            <a:r>
              <a:rPr lang="en-US" sz="2000" dirty="0" err="1"/>
              <a:t>perkotaan</a:t>
            </a:r>
            <a:r>
              <a:rPr lang="en-US" sz="2000" dirty="0"/>
              <a:t> (0,35) </a:t>
            </a:r>
            <a:r>
              <a:rPr lang="en-US" sz="2000" dirty="0" err="1"/>
              <a:t>daripada</a:t>
            </a:r>
            <a:r>
              <a:rPr lang="en-US" sz="2000" dirty="0"/>
              <a:t> di </a:t>
            </a:r>
            <a:r>
              <a:rPr lang="en-US" sz="2000" dirty="0" err="1"/>
              <a:t>pedesaan</a:t>
            </a:r>
            <a:r>
              <a:rPr lang="en-US" sz="2000" dirty="0"/>
              <a:t> (0,27). </a:t>
            </a:r>
          </a:p>
          <a:p>
            <a:pPr marL="285750" indent="-285750" algn="just">
              <a:buFontTx/>
              <a:buChar char="•"/>
            </a:pPr>
            <a:r>
              <a:rPr lang="en-US" sz="2000" dirty="0"/>
              <a:t>Hal </a:t>
            </a:r>
            <a:r>
              <a:rPr lang="en-US" sz="2000" dirty="0" err="1"/>
              <a:t>ini</a:t>
            </a:r>
            <a:r>
              <a:rPr lang="en-US" sz="2000" dirty="0"/>
              <a:t> </a:t>
            </a:r>
            <a:r>
              <a:rPr lang="en-US" sz="2000" dirty="0" err="1"/>
              <a:t>berarti</a:t>
            </a:r>
            <a:r>
              <a:rPr lang="en-US" sz="2000" dirty="0"/>
              <a:t> </a:t>
            </a:r>
            <a:r>
              <a:rPr lang="en-US" sz="2000" dirty="0" err="1"/>
              <a:t>bahwa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pengeluaran</a:t>
            </a:r>
            <a:r>
              <a:rPr lang="en-US" sz="2000" dirty="0"/>
              <a:t> di Indonesia </a:t>
            </a:r>
            <a:r>
              <a:rPr lang="en-US" sz="2000" dirty="0" err="1"/>
              <a:t>secara</a:t>
            </a:r>
            <a:r>
              <a:rPr lang="en-US" sz="2000" dirty="0"/>
              <a:t> </a:t>
            </a:r>
            <a:r>
              <a:rPr lang="en-US" sz="2000" dirty="0" err="1"/>
              <a:t>keseluruhan</a:t>
            </a:r>
            <a:r>
              <a:rPr lang="en-US" sz="2000" dirty="0"/>
              <a:t> </a:t>
            </a:r>
            <a:r>
              <a:rPr lang="en-US" sz="2000" dirty="0" err="1"/>
              <a:t>dan</a:t>
            </a:r>
            <a:r>
              <a:rPr lang="en-US" sz="2000" dirty="0"/>
              <a:t> di </a:t>
            </a:r>
            <a:r>
              <a:rPr lang="en-US" sz="2000" dirty="0" err="1"/>
              <a:t>perkotaan</a:t>
            </a:r>
            <a:r>
              <a:rPr lang="en-US" sz="2000" dirty="0"/>
              <a:t> </a:t>
            </a:r>
            <a:r>
              <a:rPr lang="en-US" sz="2000" dirty="0" err="1"/>
              <a:t>tergolong</a:t>
            </a:r>
            <a:r>
              <a:rPr lang="en-US" sz="2000" dirty="0"/>
              <a:t> </a:t>
            </a:r>
            <a:r>
              <a:rPr lang="en-US" sz="2000" dirty="0" err="1"/>
              <a:t>dalam</a:t>
            </a:r>
            <a:r>
              <a:rPr lang="en-US" sz="2000" dirty="0"/>
              <a:t> </a:t>
            </a:r>
            <a:r>
              <a:rPr lang="en-US" sz="2000" dirty="0" err="1"/>
              <a:t>ketimpangan</a:t>
            </a:r>
            <a:r>
              <a:rPr lang="en-US" sz="2000" dirty="0"/>
              <a:t> </a:t>
            </a:r>
            <a:r>
              <a:rPr lang="en-US" sz="2000" dirty="0" err="1"/>
              <a:t>sedang</a:t>
            </a:r>
            <a:r>
              <a:rPr lang="en-US" sz="2000" dirty="0"/>
              <a:t>, </a:t>
            </a:r>
            <a:r>
              <a:rPr lang="en-US" sz="2000" dirty="0" err="1"/>
              <a:t>sedangkan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di </a:t>
            </a:r>
            <a:r>
              <a:rPr lang="en-US" sz="2000" dirty="0" err="1"/>
              <a:t>pedesaan</a:t>
            </a:r>
            <a:r>
              <a:rPr lang="en-US" sz="2000" dirty="0"/>
              <a:t> </a:t>
            </a:r>
            <a:r>
              <a:rPr lang="en-US" sz="2000" dirty="0" err="1"/>
              <a:t>termasuk</a:t>
            </a:r>
            <a:r>
              <a:rPr lang="en-US" sz="2000" dirty="0"/>
              <a:t> </a:t>
            </a:r>
            <a:r>
              <a:rPr lang="en-US" sz="2000" dirty="0" err="1"/>
              <a:t>ketimpangan</a:t>
            </a:r>
            <a:r>
              <a:rPr lang="en-US" sz="2000" dirty="0"/>
              <a:t> </a:t>
            </a:r>
            <a:r>
              <a:rPr lang="en-US" sz="2000" dirty="0" err="1"/>
              <a:t>rendah</a:t>
            </a:r>
            <a:r>
              <a:rPr lang="en-US" sz="2000" dirty="0"/>
              <a:t>.</a:t>
            </a:r>
          </a:p>
          <a:p>
            <a:pPr marL="285750" indent="-285750" algn="just">
              <a:buFontTx/>
              <a:buChar char="•"/>
            </a:pPr>
            <a:r>
              <a:rPr lang="en-US" sz="2000" dirty="0"/>
              <a:t> </a:t>
            </a:r>
            <a:r>
              <a:rPr lang="en-US" sz="2000" dirty="0" err="1"/>
              <a:t>Tren</a:t>
            </a:r>
            <a:r>
              <a:rPr lang="en-US" sz="2000" dirty="0"/>
              <a:t>: </a:t>
            </a:r>
            <a:r>
              <a:rPr lang="en-US" sz="2000" dirty="0" err="1"/>
              <a:t>selama</a:t>
            </a:r>
            <a:r>
              <a:rPr lang="en-US" sz="2000" dirty="0"/>
              <a:t> </a:t>
            </a:r>
            <a:r>
              <a:rPr lang="en-US" sz="2000" dirty="0" err="1"/>
              <a:t>empat</a:t>
            </a:r>
            <a:r>
              <a:rPr lang="en-US" sz="2000" dirty="0"/>
              <a:t> </a:t>
            </a:r>
            <a:r>
              <a:rPr lang="en-US" sz="2000" dirty="0" err="1"/>
              <a:t>dekade</a:t>
            </a:r>
            <a:r>
              <a:rPr lang="en-US" sz="2000" dirty="0"/>
              <a:t> </a:t>
            </a:r>
            <a:r>
              <a:rPr lang="en-US" sz="2000" dirty="0" err="1"/>
              <a:t>terakhir</a:t>
            </a:r>
            <a:r>
              <a:rPr lang="en-US" sz="2000" dirty="0"/>
              <a:t> </a:t>
            </a:r>
            <a:r>
              <a:rPr lang="en-US" sz="2000" dirty="0" err="1"/>
              <a:t>ini</a:t>
            </a:r>
            <a:r>
              <a:rPr lang="en-US" sz="2000" dirty="0"/>
              <a:t>, </a:t>
            </a:r>
            <a:r>
              <a:rPr lang="en-US" sz="2000" dirty="0" err="1"/>
              <a:t>koefisien</a:t>
            </a:r>
            <a:r>
              <a:rPr lang="en-US" sz="2000" dirty="0"/>
              <a:t> </a:t>
            </a:r>
            <a:r>
              <a:rPr lang="en-US" sz="2000" dirty="0" err="1"/>
              <a:t>Gini</a:t>
            </a:r>
            <a:r>
              <a:rPr lang="en-US" sz="2000" dirty="0"/>
              <a:t> </a:t>
            </a:r>
            <a:r>
              <a:rPr lang="en-US" sz="2000" dirty="0" err="1"/>
              <a:t>cenderung</a:t>
            </a:r>
            <a:r>
              <a:rPr lang="en-US" sz="2000" dirty="0"/>
              <a:t> </a:t>
            </a:r>
            <a:r>
              <a:rPr lang="en-US" sz="2000" dirty="0" err="1"/>
              <a:t>menurun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ketimpangan</a:t>
            </a:r>
            <a:r>
              <a:rPr lang="en-US" sz="2000" dirty="0"/>
              <a:t> </a:t>
            </a:r>
            <a:r>
              <a:rPr lang="en-US" sz="2000" dirty="0" err="1"/>
              <a:t>berkurang</a:t>
            </a:r>
            <a:r>
              <a:rPr lang="en-US" sz="2000" dirty="0"/>
              <a:t> di </a:t>
            </a:r>
            <a:r>
              <a:rPr lang="en-US" sz="2000" dirty="0" err="1"/>
              <a:t>pedesaan</a:t>
            </a:r>
            <a:r>
              <a:rPr lang="en-US" sz="2000" dirty="0"/>
              <a:t>, </a:t>
            </a:r>
            <a:r>
              <a:rPr lang="en-US" sz="2000" dirty="0" err="1"/>
              <a:t>sementara</a:t>
            </a:r>
            <a:r>
              <a:rPr lang="en-US" sz="2000" dirty="0"/>
              <a:t> </a:t>
            </a:r>
            <a:r>
              <a:rPr lang="en-US" sz="2000" dirty="0" err="1"/>
              <a:t>ketimpangan</a:t>
            </a:r>
            <a:r>
              <a:rPr lang="en-US" sz="2000" dirty="0"/>
              <a:t> di </a:t>
            </a:r>
            <a:r>
              <a:rPr lang="en-US" sz="2000" dirty="0" err="1"/>
              <a:t>perkotaan</a:t>
            </a:r>
            <a:r>
              <a:rPr lang="en-US" sz="2000" dirty="0"/>
              <a:t> </a:t>
            </a:r>
            <a:r>
              <a:rPr lang="en-US" sz="2000" dirty="0" err="1"/>
              <a:t>cenderung</a:t>
            </a:r>
            <a:r>
              <a:rPr lang="en-US" sz="2000" dirty="0"/>
              <a:t> </a:t>
            </a:r>
            <a:r>
              <a:rPr lang="en-US" sz="2000" dirty="0" err="1"/>
              <a:t>tidak</a:t>
            </a:r>
            <a:r>
              <a:rPr lang="en-US" sz="2000" dirty="0"/>
              <a:t> </a:t>
            </a:r>
            <a:r>
              <a:rPr lang="en-US" sz="2000" dirty="0" err="1"/>
              <a:t>berubah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9085088"/>
      </p:ext>
    </p:extLst>
  </p:cSld>
  <p:clrMapOvr>
    <a:masterClrMapping/>
  </p:clrMapOvr>
  <p:transition spd="slow">
    <p:dissolv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31F69C-EFCC-476C-8959-5972CC61BC9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84" y="680311"/>
            <a:ext cx="11340935" cy="604116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38D64F-8B6B-4699-8F72-9A1AB7437B4D}"/>
              </a:ext>
            </a:extLst>
          </p:cNvPr>
          <p:cNvSpPr txBox="1"/>
          <p:nvPr/>
        </p:nvSpPr>
        <p:spPr>
          <a:xfrm>
            <a:off x="7032015" y="833015"/>
            <a:ext cx="45503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•"/>
            </a:pPr>
            <a:r>
              <a:rPr lang="en-US" sz="2000" dirty="0"/>
              <a:t>Ketika garis </a:t>
            </a:r>
            <a:r>
              <a:rPr lang="en-US" sz="2000" dirty="0" err="1"/>
              <a:t>kemiskinan</a:t>
            </a:r>
            <a:r>
              <a:rPr lang="en-US" sz="2000" dirty="0"/>
              <a:t> (GK) </a:t>
            </a:r>
            <a:r>
              <a:rPr lang="en-US" sz="2000" dirty="0" err="1"/>
              <a:t>diterap-kan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memotong</a:t>
            </a:r>
            <a:r>
              <a:rPr lang="en-US" sz="2000" dirty="0"/>
              <a:t> </a:t>
            </a: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tsb</a:t>
            </a:r>
            <a:r>
              <a:rPr lang="en-US" sz="2000" dirty="0"/>
              <a:t>,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bagian</a:t>
            </a:r>
            <a:r>
              <a:rPr lang="en-US" sz="2000" dirty="0"/>
              <a:t> </a:t>
            </a:r>
            <a:r>
              <a:rPr lang="en-US" sz="2000" dirty="0" err="1"/>
              <a:t>sebelah</a:t>
            </a:r>
            <a:r>
              <a:rPr lang="en-US" sz="2000" dirty="0"/>
              <a:t> </a:t>
            </a:r>
            <a:r>
              <a:rPr lang="en-US" sz="2000" dirty="0" err="1"/>
              <a:t>kiri</a:t>
            </a:r>
            <a:r>
              <a:rPr lang="en-US" sz="2000" dirty="0"/>
              <a:t> GK </a:t>
            </a:r>
            <a:r>
              <a:rPr lang="en-US" sz="2000" dirty="0" err="1"/>
              <a:t>tergolong</a:t>
            </a:r>
            <a:r>
              <a:rPr lang="en-US" sz="2000" dirty="0"/>
              <a:t> </a:t>
            </a:r>
            <a:r>
              <a:rPr lang="en-US" sz="2000" dirty="0" err="1"/>
              <a:t>sebagai</a:t>
            </a:r>
            <a:r>
              <a:rPr lang="en-US" sz="2000" dirty="0"/>
              <a:t> </a:t>
            </a:r>
            <a:r>
              <a:rPr lang="en-US" sz="2000" dirty="0" err="1"/>
              <a:t>penduduk</a:t>
            </a:r>
            <a:r>
              <a:rPr lang="en-US" sz="2000" dirty="0"/>
              <a:t> miskin </a:t>
            </a:r>
            <a:r>
              <a:rPr lang="en-US" sz="2000" dirty="0" err="1"/>
              <a:t>absolut</a:t>
            </a:r>
            <a:r>
              <a:rPr lang="en-US" sz="2000" dirty="0"/>
              <a:t>.</a:t>
            </a:r>
          </a:p>
          <a:p>
            <a:pPr marL="285750" indent="-285750" algn="just">
              <a:buFontTx/>
              <a:buChar char="•"/>
            </a:pPr>
            <a:r>
              <a:rPr lang="en-US" sz="2000" dirty="0" err="1"/>
              <a:t>Adanya</a:t>
            </a:r>
            <a:r>
              <a:rPr lang="en-US" sz="2000" dirty="0"/>
              <a:t> </a:t>
            </a:r>
            <a:r>
              <a:rPr lang="en-US" sz="2000" dirty="0" err="1"/>
              <a:t>sejumlah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penduduk</a:t>
            </a:r>
            <a:r>
              <a:rPr lang="en-US" sz="2000" dirty="0"/>
              <a:t> Indonesia yang </a:t>
            </a:r>
            <a:r>
              <a:rPr lang="en-US" sz="2000" dirty="0" err="1"/>
              <a:t>berada</a:t>
            </a:r>
            <a:r>
              <a:rPr lang="en-US" sz="2000" dirty="0"/>
              <a:t> </a:t>
            </a:r>
            <a:r>
              <a:rPr lang="en-US" sz="2000" dirty="0" err="1"/>
              <a:t>sedikit</a:t>
            </a:r>
            <a:r>
              <a:rPr lang="en-US" sz="2000" dirty="0"/>
              <a:t> di </a:t>
            </a:r>
            <a:r>
              <a:rPr lang="en-US" sz="2000" dirty="0" err="1"/>
              <a:t>atas</a:t>
            </a:r>
            <a:r>
              <a:rPr lang="en-US" sz="2000" dirty="0"/>
              <a:t> GK (</a:t>
            </a:r>
            <a:r>
              <a:rPr lang="en-US" sz="2000" b="1" i="1" dirty="0"/>
              <a:t>NEAR POOR</a:t>
            </a:r>
            <a:r>
              <a:rPr lang="en-US" sz="2000" dirty="0"/>
              <a:t>) </a:t>
            </a:r>
            <a:r>
              <a:rPr lang="en-US" sz="20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000" dirty="0">
                <a:sym typeface="Wingdings"/>
              </a:rPr>
              <a:t> yang</a:t>
            </a:r>
            <a:r>
              <a:rPr lang="en-US" sz="2000" dirty="0"/>
              <a:t> sangat </a:t>
            </a:r>
            <a:r>
              <a:rPr lang="en-US" sz="2000" dirty="0" err="1"/>
              <a:t>rentan</a:t>
            </a:r>
            <a:r>
              <a:rPr lang="en-US" sz="2000" dirty="0"/>
              <a:t> </a:t>
            </a:r>
            <a:r>
              <a:rPr lang="en-US" sz="2000" dirty="0" err="1"/>
              <a:t>terhadap</a:t>
            </a:r>
            <a:r>
              <a:rPr lang="en-US" sz="2000" dirty="0"/>
              <a:t> </a:t>
            </a:r>
            <a:r>
              <a:rPr lang="en-US" sz="2000" dirty="0" err="1"/>
              <a:t>resiko</a:t>
            </a:r>
            <a:r>
              <a:rPr lang="en-US" sz="2000" dirty="0"/>
              <a:t> </a:t>
            </a:r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jatuh</a:t>
            </a:r>
            <a:r>
              <a:rPr lang="en-US" sz="2000" dirty="0"/>
              <a:t> miskin, </a:t>
            </a:r>
            <a:r>
              <a:rPr lang="en-US" sz="2000" dirty="0" err="1"/>
              <a:t>ketika</a:t>
            </a:r>
            <a:r>
              <a:rPr lang="en-US" sz="2000" dirty="0"/>
              <a:t> garis </a:t>
            </a:r>
            <a:r>
              <a:rPr lang="en-US" sz="2000" dirty="0" err="1"/>
              <a:t>kemiskinan</a:t>
            </a:r>
            <a:r>
              <a:rPr lang="en-US" sz="2000" dirty="0"/>
              <a:t> </a:t>
            </a:r>
            <a:r>
              <a:rPr lang="en-US" sz="2000" dirty="0" err="1"/>
              <a:t>bergeser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</a:t>
            </a:r>
            <a:r>
              <a:rPr lang="en-US" sz="2000" dirty="0" err="1"/>
              <a:t>kanan</a:t>
            </a:r>
            <a:r>
              <a:rPr lang="en-US" sz="2000" dirty="0"/>
              <a:t> </a:t>
            </a:r>
            <a:r>
              <a:rPr lang="en-US" sz="2000" dirty="0" err="1"/>
              <a:t>atau</a:t>
            </a:r>
            <a:r>
              <a:rPr lang="en-US" sz="2000" dirty="0"/>
              <a:t> </a:t>
            </a:r>
            <a:r>
              <a:rPr lang="en-US" sz="2000" dirty="0" err="1"/>
              <a:t>nilainya</a:t>
            </a:r>
            <a:r>
              <a:rPr lang="en-US" sz="2000" dirty="0"/>
              <a:t> </a:t>
            </a:r>
            <a:r>
              <a:rPr lang="en-US" sz="2000" dirty="0" err="1"/>
              <a:t>meningkat</a:t>
            </a:r>
            <a:r>
              <a:rPr lang="en-US" sz="2000" dirty="0"/>
              <a:t> </a:t>
            </a:r>
            <a:r>
              <a:rPr lang="en-US" sz="2000" dirty="0" err="1"/>
              <a:t>sejalan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kenaikan</a:t>
            </a:r>
            <a:r>
              <a:rPr lang="en-US" sz="2000" dirty="0"/>
              <a:t> </a:t>
            </a:r>
            <a:r>
              <a:rPr lang="en-US" sz="2000" dirty="0" err="1"/>
              <a:t>harga-harga</a:t>
            </a:r>
            <a:r>
              <a:rPr lang="en-US" sz="2000" dirty="0"/>
              <a:t> </a:t>
            </a:r>
            <a:r>
              <a:rPr lang="en-US" sz="2000" dirty="0" err="1"/>
              <a:t>karena</a:t>
            </a:r>
            <a:r>
              <a:rPr lang="en-US" sz="2000" dirty="0"/>
              <a:t> </a:t>
            </a:r>
            <a:r>
              <a:rPr lang="en-US" sz="2000" dirty="0" err="1"/>
              <a:t>gejolak</a:t>
            </a:r>
            <a:r>
              <a:rPr lang="en-US" sz="2000" dirty="0"/>
              <a:t> </a:t>
            </a:r>
            <a:r>
              <a:rPr lang="en-US" sz="2000" dirty="0" err="1"/>
              <a:t>ekonomi</a:t>
            </a:r>
            <a:r>
              <a:rPr lang="en-US" sz="2000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7DB3A-34A4-4D11-A33E-AC0C49571032}"/>
              </a:ext>
            </a:extLst>
          </p:cNvPr>
          <p:cNvSpPr txBox="1"/>
          <p:nvPr/>
        </p:nvSpPr>
        <p:spPr>
          <a:xfrm>
            <a:off x="2537501" y="833015"/>
            <a:ext cx="44095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•"/>
            </a:pPr>
            <a:r>
              <a:rPr lang="en-US" sz="2000" dirty="0" err="1"/>
              <a:t>Distribusi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kemiringan</a:t>
            </a:r>
            <a:r>
              <a:rPr lang="en-US" sz="2000" dirty="0"/>
              <a:t> </a:t>
            </a:r>
            <a:r>
              <a:rPr lang="en-US" sz="2000" dirty="0" err="1"/>
              <a:t>ke</a:t>
            </a:r>
            <a:r>
              <a:rPr lang="en-US" sz="2000" dirty="0"/>
              <a:t> </a:t>
            </a:r>
            <a:r>
              <a:rPr lang="en-US" sz="2000" dirty="0" err="1"/>
              <a:t>arah</a:t>
            </a:r>
            <a:r>
              <a:rPr lang="en-US" sz="2000" dirty="0"/>
              <a:t> </a:t>
            </a:r>
            <a:r>
              <a:rPr lang="en-US" sz="2000" dirty="0" err="1"/>
              <a:t>kanan</a:t>
            </a:r>
            <a:r>
              <a:rPr lang="en-US" sz="2000" dirty="0"/>
              <a:t> </a:t>
            </a:r>
            <a:r>
              <a:rPr lang="en-US" sz="2000" dirty="0">
                <a:latin typeface="Wingdings"/>
                <a:ea typeface="Wingdings"/>
                <a:cs typeface="Wingdings"/>
                <a:sym typeface="Wingdings"/>
              </a:rPr>
              <a:t></a:t>
            </a:r>
            <a:r>
              <a:rPr lang="en-US" sz="2000" dirty="0">
                <a:sym typeface="Wingdings"/>
              </a:rPr>
              <a:t> </a:t>
            </a:r>
            <a:r>
              <a:rPr lang="en-US" sz="2000" dirty="0" err="1"/>
              <a:t>sebagian</a:t>
            </a:r>
            <a:r>
              <a:rPr lang="en-US" sz="2000" dirty="0"/>
              <a:t> </a:t>
            </a:r>
            <a:r>
              <a:rPr lang="en-US" sz="2000" dirty="0" err="1"/>
              <a:t>besar</a:t>
            </a:r>
            <a:r>
              <a:rPr lang="en-US" sz="2000" dirty="0"/>
              <a:t> </a:t>
            </a:r>
            <a:r>
              <a:rPr lang="en-US" sz="2000" dirty="0" err="1"/>
              <a:t>penduduk</a:t>
            </a:r>
            <a:r>
              <a:rPr lang="en-US" sz="2000" dirty="0"/>
              <a:t> Indonesia </a:t>
            </a:r>
            <a:r>
              <a:rPr lang="en-US" sz="2000" dirty="0" err="1"/>
              <a:t>mengelompok</a:t>
            </a:r>
            <a:r>
              <a:rPr lang="en-US" sz="2000" dirty="0"/>
              <a:t> di </a:t>
            </a:r>
            <a:r>
              <a:rPr lang="en-US" sz="2000" dirty="0" err="1"/>
              <a:t>kelas-kelas</a:t>
            </a:r>
            <a:r>
              <a:rPr lang="en-US" sz="2000" dirty="0"/>
              <a:t> </a:t>
            </a:r>
            <a:r>
              <a:rPr lang="en-US" sz="2000" dirty="0" err="1"/>
              <a:t>pengeluaran</a:t>
            </a:r>
            <a:r>
              <a:rPr lang="en-US" sz="2000" dirty="0"/>
              <a:t> </a:t>
            </a:r>
            <a:r>
              <a:rPr lang="en-US" sz="2000" dirty="0" err="1"/>
              <a:t>bawah</a:t>
            </a:r>
            <a:r>
              <a:rPr lang="en-US" sz="2000" dirty="0"/>
              <a:t>. 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1F872D5-28C1-4CEE-91E5-D97612C2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786" y="21053"/>
            <a:ext cx="9143999" cy="65925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err="1">
                <a:solidFill>
                  <a:srgbClr val="000000"/>
                </a:solidFill>
              </a:rPr>
              <a:t>Distribusi</a:t>
            </a: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 err="1">
                <a:solidFill>
                  <a:srgbClr val="000000"/>
                </a:solidFill>
              </a:rPr>
              <a:t>Pengeluaran</a:t>
            </a:r>
            <a:r>
              <a:rPr lang="en-US" sz="3200" b="1" dirty="0">
                <a:solidFill>
                  <a:srgbClr val="000000"/>
                </a:solidFill>
              </a:rPr>
              <a:t> </a:t>
            </a:r>
            <a:r>
              <a:rPr lang="en-US" sz="3200" b="1" dirty="0" err="1">
                <a:solidFill>
                  <a:srgbClr val="000000"/>
                </a:solidFill>
              </a:rPr>
              <a:t>Penduduk</a:t>
            </a:r>
            <a:r>
              <a:rPr lang="en-US" sz="3200" b="1" dirty="0">
                <a:solidFill>
                  <a:srgbClr val="000000"/>
                </a:solidFill>
              </a:rPr>
              <a:t> Indonesia</a:t>
            </a:r>
          </a:p>
        </p:txBody>
      </p:sp>
    </p:spTree>
    <p:extLst>
      <p:ext uri="{BB962C8B-B14F-4D97-AF65-F5344CB8AC3E}">
        <p14:creationId xmlns:p14="http://schemas.microsoft.com/office/powerpoint/2010/main" val="184778197"/>
      </p:ext>
    </p:extLst>
  </p:cSld>
  <p:clrMapOvr>
    <a:masterClrMapping/>
  </p:clrMapOvr>
  <p:transition spd="slow">
    <p:dissolv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989B5-3689-41EF-B800-EA5361B4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671D77-DC8B-41CA-BDFA-63B03DA9354E}" type="slidenum">
              <a:rPr kumimoji="0" lang="en-US" altLang="id-ID" sz="127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altLang="id-ID" sz="127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2E72DAC-AC1D-4673-8C8D-2EBC6287B67D}"/>
              </a:ext>
            </a:extLst>
          </p:cNvPr>
          <p:cNvGrpSpPr/>
          <p:nvPr/>
        </p:nvGrpSpPr>
        <p:grpSpPr>
          <a:xfrm>
            <a:off x="997527" y="1432958"/>
            <a:ext cx="10177154" cy="4923393"/>
            <a:chOff x="517525" y="1484313"/>
            <a:chExt cx="8442325" cy="4897437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F0C4BF87-D211-405A-9586-1C00F889FC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525" y="1484313"/>
              <a:ext cx="8442325" cy="4897437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Line 3">
              <a:extLst>
                <a:ext uri="{FF2B5EF4-FFF2-40B4-BE49-F238E27FC236}">
                  <a16:creationId xmlns:a16="http://schemas.microsoft.com/office/drawing/2014/main" id="{2252E940-AA05-4BD2-B2FF-67AC10DEFF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75075" y="2708275"/>
              <a:ext cx="0" cy="28082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">
              <a:extLst>
                <a:ext uri="{FF2B5EF4-FFF2-40B4-BE49-F238E27FC236}">
                  <a16:creationId xmlns:a16="http://schemas.microsoft.com/office/drawing/2014/main" id="{C76A824B-2481-4F56-B1B3-373EAFC530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5075" y="3273425"/>
              <a:ext cx="623888" cy="1555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5">
              <a:extLst>
                <a:ext uri="{FF2B5EF4-FFF2-40B4-BE49-F238E27FC236}">
                  <a16:creationId xmlns:a16="http://schemas.microsoft.com/office/drawing/2014/main" id="{CEF268B7-8582-4A38-8404-D2854B12C6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08350" y="4005263"/>
              <a:ext cx="1397000" cy="2619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6">
              <a:extLst>
                <a:ext uri="{FF2B5EF4-FFF2-40B4-BE49-F238E27FC236}">
                  <a16:creationId xmlns:a16="http://schemas.microsoft.com/office/drawing/2014/main" id="{29463906-C871-4476-95AC-257571BF98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563" y="4581525"/>
              <a:ext cx="1860550" cy="53022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7">
              <a:extLst>
                <a:ext uri="{FF2B5EF4-FFF2-40B4-BE49-F238E27FC236}">
                  <a16:creationId xmlns:a16="http://schemas.microsoft.com/office/drawing/2014/main" id="{CA71DFBB-8303-48EF-8236-591F2337A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5350" y="3573463"/>
              <a:ext cx="20605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200">
                  <a:solidFill>
                    <a:srgbClr val="000E1C"/>
                  </a:solidFill>
                  <a:cs typeface="Times New Roman" pitchFamily="18" charset="0"/>
                </a:rPr>
                <a:t>16.7% below National Poverty Line (+/- $1,55 PPP/cap/hari)</a:t>
              </a:r>
            </a:p>
          </p:txBody>
        </p:sp>
        <p:sp>
          <p:nvSpPr>
            <p:cNvPr id="20" name="Text Box 8">
              <a:extLst>
                <a:ext uri="{FF2B5EF4-FFF2-40B4-BE49-F238E27FC236}">
                  <a16:creationId xmlns:a16="http://schemas.microsoft.com/office/drawing/2014/main" id="{1C13BCDE-9875-4610-8765-2524186DA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5375" y="4292600"/>
              <a:ext cx="139382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200">
                  <a:solidFill>
                    <a:srgbClr val="000E1C"/>
                  </a:solidFill>
                  <a:cs typeface="Times New Roman" pitchFamily="18" charset="0"/>
                </a:rPr>
                <a:t>7.4 % below $1 PPP/cap/day</a:t>
              </a:r>
            </a:p>
          </p:txBody>
        </p:sp>
        <p:sp>
          <p:nvSpPr>
            <p:cNvPr id="21" name="Text Box 9">
              <a:extLst>
                <a:ext uri="{FF2B5EF4-FFF2-40B4-BE49-F238E27FC236}">
                  <a16:creationId xmlns:a16="http://schemas.microsoft.com/office/drawing/2014/main" id="{386271F2-1BFE-4E77-8245-D7334A8DE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975" y="2924175"/>
              <a:ext cx="172878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en-US" altLang="en-US" sz="1200" b="1">
                  <a:solidFill>
                    <a:srgbClr val="FF6600"/>
                  </a:solidFill>
                  <a:cs typeface="Times New Roman" pitchFamily="18" charset="0"/>
                </a:rPr>
                <a:t>49% of population below $2 PPP/cap/day</a:t>
              </a:r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E172CCCC-74AF-4F40-B2D2-41867CFC9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475" y="4914900"/>
              <a:ext cx="7938" cy="601663"/>
            </a:xfrm>
            <a:custGeom>
              <a:avLst/>
              <a:gdLst>
                <a:gd name="T0" fmla="*/ 5 w 5"/>
                <a:gd name="T1" fmla="*/ 0 h 379"/>
                <a:gd name="T2" fmla="*/ 0 w 5"/>
                <a:gd name="T3" fmla="*/ 379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" h="379">
                  <a:moveTo>
                    <a:pt x="5" y="0"/>
                  </a:moveTo>
                  <a:lnTo>
                    <a:pt x="0" y="37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63CF141D-EF60-4A63-8BF0-08F6E927C5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8350" y="3213100"/>
              <a:ext cx="0" cy="23034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2">
              <a:extLst>
                <a:ext uri="{FF2B5EF4-FFF2-40B4-BE49-F238E27FC236}">
                  <a16:creationId xmlns:a16="http://schemas.microsoft.com/office/drawing/2014/main" id="{8E1417A0-54D7-4D2F-BB91-3EFA16B60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125" y="6021388"/>
              <a:ext cx="5051425" cy="287337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 eaLnBrk="0" hangingPunct="0"/>
              <a:r>
                <a:rPr lang="en-US" altLang="en-US">
                  <a:latin typeface="Verdana" pitchFamily="34" charset="0"/>
                </a:rPr>
                <a:t>Sumber: Susenas Panel data 2006 (WB:2006) </a:t>
              </a:r>
            </a:p>
          </p:txBody>
        </p:sp>
      </p:grpSp>
      <p:sp>
        <p:nvSpPr>
          <p:cNvPr id="25" name="Rectangle 13">
            <a:extLst>
              <a:ext uri="{FF2B5EF4-FFF2-40B4-BE49-F238E27FC236}">
                <a16:creationId xmlns:a16="http://schemas.microsoft.com/office/drawing/2014/main" id="{8AEAE89A-902F-44BC-8A2A-F618283AA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527" y="228600"/>
            <a:ext cx="101771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511175"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sz="2400" b="1" dirty="0" err="1">
                <a:latin typeface="Verdana" pitchFamily="34" charset="0"/>
              </a:rPr>
              <a:t>Permasalahan</a:t>
            </a:r>
            <a:r>
              <a:rPr lang="en-US" altLang="en-US" sz="2400" b="1" dirty="0">
                <a:latin typeface="Verdana" pitchFamily="34" charset="0"/>
              </a:rPr>
              <a:t> </a:t>
            </a:r>
            <a:r>
              <a:rPr lang="en-US" altLang="en-US" sz="2400" b="1" dirty="0" err="1">
                <a:latin typeface="Verdana" pitchFamily="34" charset="0"/>
              </a:rPr>
              <a:t>Kemiskinan</a:t>
            </a:r>
            <a:r>
              <a:rPr lang="en-US" altLang="en-US" sz="2400" b="1" dirty="0">
                <a:latin typeface="Verdana" pitchFamily="34" charset="0"/>
              </a:rPr>
              <a:t> di Indonesia:</a:t>
            </a:r>
          </a:p>
          <a:p>
            <a:pPr algn="ctr"/>
            <a:r>
              <a:rPr lang="en-US" altLang="en-US" sz="2400" b="1" dirty="0" err="1">
                <a:latin typeface="Verdana" pitchFamily="34" charset="0"/>
              </a:rPr>
              <a:t>Kerentanan</a:t>
            </a:r>
            <a:r>
              <a:rPr lang="en-US" altLang="en-US" sz="2400" b="1" dirty="0">
                <a:latin typeface="Verdana" pitchFamily="34" charset="0"/>
              </a:rPr>
              <a:t> </a:t>
            </a:r>
            <a:r>
              <a:rPr lang="en-US" altLang="en-US" sz="2400" b="1" dirty="0" err="1">
                <a:latin typeface="Verdana" pitchFamily="34" charset="0"/>
              </a:rPr>
              <a:t>Kelompok</a:t>
            </a:r>
            <a:r>
              <a:rPr lang="en-US" altLang="en-US" sz="2400" b="1" dirty="0">
                <a:latin typeface="Verdana" pitchFamily="34" charset="0"/>
              </a:rPr>
              <a:t> </a:t>
            </a:r>
            <a:r>
              <a:rPr lang="en-US" altLang="en-US" sz="2400" b="1" i="1" dirty="0" err="1">
                <a:latin typeface="Verdana" pitchFamily="34" charset="0"/>
              </a:rPr>
              <a:t>NearPoor</a:t>
            </a:r>
            <a:endParaRPr lang="en-US" altLang="en-US" sz="2400" b="1" i="1" dirty="0">
              <a:latin typeface="Verdana" pitchFamily="34" charset="0"/>
            </a:endParaRPr>
          </a:p>
          <a:p>
            <a:pPr algn="ctr"/>
            <a:r>
              <a:rPr lang="en-US" altLang="en-US" sz="2400" b="1" dirty="0">
                <a:latin typeface="Verdana" pitchFamily="34" charset="0"/>
              </a:rPr>
              <a:t>(</a:t>
            </a:r>
            <a:r>
              <a:rPr lang="en-US" altLang="en-US" sz="2400" b="1" dirty="0" err="1">
                <a:latin typeface="Verdana" pitchFamily="34" charset="0"/>
              </a:rPr>
              <a:t>Melihat</a:t>
            </a:r>
            <a:r>
              <a:rPr lang="en-US" altLang="en-US" sz="2400" b="1" dirty="0">
                <a:latin typeface="Verdana" pitchFamily="34" charset="0"/>
              </a:rPr>
              <a:t> </a:t>
            </a:r>
            <a:r>
              <a:rPr lang="en-US" altLang="en-US" sz="2400" b="1" dirty="0" err="1">
                <a:latin typeface="Verdana" pitchFamily="34" charset="0"/>
              </a:rPr>
              <a:t>Kemiskinan</a:t>
            </a:r>
            <a:r>
              <a:rPr lang="en-US" altLang="en-US" sz="2400" b="1" dirty="0">
                <a:latin typeface="Verdana" pitchFamily="34" charset="0"/>
              </a:rPr>
              <a:t> </a:t>
            </a:r>
            <a:r>
              <a:rPr lang="en-US" altLang="en-US" sz="2400" b="1" dirty="0" err="1">
                <a:latin typeface="Verdana" pitchFamily="34" charset="0"/>
              </a:rPr>
              <a:t>dengan</a:t>
            </a:r>
            <a:r>
              <a:rPr lang="en-US" altLang="en-US" sz="2400" b="1" dirty="0">
                <a:latin typeface="Verdana" pitchFamily="34" charset="0"/>
              </a:rPr>
              <a:t> GK $1 PPP Vs GK $2 PPP)</a:t>
            </a:r>
          </a:p>
        </p:txBody>
      </p:sp>
    </p:spTree>
    <p:extLst>
      <p:ext uri="{BB962C8B-B14F-4D97-AF65-F5344CB8AC3E}">
        <p14:creationId xmlns:p14="http://schemas.microsoft.com/office/powerpoint/2010/main" val="732219816"/>
      </p:ext>
    </p:extLst>
  </p:cSld>
  <p:clrMapOvr>
    <a:masterClrMapping/>
  </p:clrMapOvr>
  <p:transition spd="slow">
    <p:dissolv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B2047-69D6-441C-88C1-ADF04C6C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671D77-DC8B-41CA-BDFA-63B03DA9354E}" type="slidenum">
              <a:rPr lang="en-US" altLang="id-ID" smtClean="0"/>
              <a:pPr>
                <a:defRPr/>
              </a:pPr>
              <a:t>44</a:t>
            </a:fld>
            <a:endParaRPr lang="en-US" altLang="id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58FB42-EF0D-4369-A1F2-4AE4EABCD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728"/>
            <a:ext cx="12192000" cy="4920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32221"/>
      </p:ext>
    </p:extLst>
  </p:cSld>
  <p:clrMapOvr>
    <a:masterClrMapping/>
  </p:clrMapOvr>
  <p:transition spd="slow">
    <p:dissolv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2D995-20F0-4C14-BF62-1248AB4B484D}">
  <ds:schemaRefs>
    <ds:schemaRef ds:uri="http://www.w3.org/XML/1998/namespace"/>
    <ds:schemaRef ds:uri="http://purl.org/dc/elements/1.1/"/>
    <ds:schemaRef ds:uri="16c05727-aa75-4e4a-9b5f-8a80a1165891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BB3242A4-1E6A-4E02-809C-4A24066EC0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5255AC-12AC-4323-AA35-9BAC798B66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{E0CCF368-FE97-4907-8EA7-BB4A2D24863F}tf67061901_win32</Template>
  <TotalTime>1752</TotalTime>
  <Words>4044</Words>
  <Application>Microsoft Office PowerPoint</Application>
  <PresentationFormat>Widescreen</PresentationFormat>
  <Paragraphs>861</Paragraphs>
  <Slides>44</Slides>
  <Notes>25</Notes>
  <HiddenSlides>0</HiddenSlides>
  <MMClips>1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44</vt:i4>
      </vt:variant>
    </vt:vector>
  </HeadingPairs>
  <TitlesOfParts>
    <vt:vector size="62" baseType="lpstr">
      <vt:lpstr>MS PGothic</vt:lpstr>
      <vt:lpstr>Apple Chancery</vt:lpstr>
      <vt:lpstr>Arial</vt:lpstr>
      <vt:lpstr>Arial Narrow</vt:lpstr>
      <vt:lpstr>Book Antiqua</vt:lpstr>
      <vt:lpstr>Calibri</vt:lpstr>
      <vt:lpstr>Calibri Light</vt:lpstr>
      <vt:lpstr>Cambria</vt:lpstr>
      <vt:lpstr>Cambria Math</vt:lpstr>
      <vt:lpstr>Corbel</vt:lpstr>
      <vt:lpstr>Georgia</vt:lpstr>
      <vt:lpstr>Times New Roman</vt:lpstr>
      <vt:lpstr>Verdana</vt:lpstr>
      <vt:lpstr>Wingdings</vt:lpstr>
      <vt:lpstr>Office Theme</vt:lpstr>
      <vt:lpstr>2_Office Theme</vt:lpstr>
      <vt:lpstr>Basis</vt:lpstr>
      <vt:lpstr>1_Office Theme</vt:lpstr>
      <vt:lpstr>PowerPoint Presentation</vt:lpstr>
      <vt:lpstr>PowerPoint Presentation</vt:lpstr>
      <vt:lpstr>PowerPoint Presentation</vt:lpstr>
      <vt:lpstr>Tujuan Pengukuran Kemiskinan</vt:lpstr>
      <vt:lpstr>Konsep Dasar Kemiskinan</vt:lpstr>
      <vt:lpstr>Konsep Dasar Kemiskinan</vt:lpstr>
      <vt:lpstr>Kemiskinan Absolut &amp; Relatif</vt:lpstr>
      <vt:lpstr>Absolute Poverty Line: After Development</vt:lpstr>
      <vt:lpstr>Relative Poverty Line: After Development</vt:lpstr>
      <vt:lpstr>Kemiskinan dalam Konteks SDGs (1)</vt:lpstr>
      <vt:lpstr>Catatan:</vt:lpstr>
      <vt:lpstr>Catatan:</vt:lpstr>
      <vt:lpstr>Kemiskinan dalam Konteks SDGs (2)</vt:lpstr>
      <vt:lpstr>Garis Kemiskinan (poverty line) yang digunakan di Indonesia</vt:lpstr>
      <vt:lpstr>Garis Kemiskinan (poverty line) yang digunakan di Indonesia</vt:lpstr>
      <vt:lpstr>Garis Kemiskinan (poverty line) yang digunakan di Indonesia</vt:lpstr>
      <vt:lpstr>Kemiskinan Makro &amp; Kemiskinan Mikro</vt:lpstr>
      <vt:lpstr>Kemiskinan Makro &amp; Kemiskinan Mikro</vt:lpstr>
      <vt:lpstr>Kemiskinan Makro &amp; Kemiskinan Mikro</vt:lpstr>
      <vt:lpstr>Penghitungan Indikator Kemiskinan (Makro)</vt:lpstr>
      <vt:lpstr>Persentase Penduduk Miskin (Headcount Index/P0)</vt:lpstr>
      <vt:lpstr>Indeks Kedalaman Kemiskinan (Poverty Gap Index/P1)</vt:lpstr>
      <vt:lpstr>Indeks Keparahan Kemiskinan (Poverty Severity Index/P2)</vt:lpstr>
      <vt:lpstr>Contoh1: Penghitungan P0, P1, P2</vt:lpstr>
      <vt:lpstr>PowerPoint Presentation</vt:lpstr>
      <vt:lpstr>PowerPoint Presentation</vt:lpstr>
      <vt:lpstr>Interpretasi</vt:lpstr>
      <vt:lpstr>Interpretasi</vt:lpstr>
      <vt:lpstr>Interpretasi</vt:lpstr>
      <vt:lpstr>PowerPoint Presentation</vt:lpstr>
      <vt:lpstr>PowerPoint Presentation</vt:lpstr>
      <vt:lpstr>PowerPoint Presentation</vt:lpstr>
      <vt:lpstr>Konsep Distribusi Pendapatan  dengan Kurva Lorenz </vt:lpstr>
      <vt:lpstr>Konsep Distribusi Pendapatan  dengan Kurva Lorenz </vt:lpstr>
      <vt:lpstr>Konsep Distribusi Pendapatan  dengan Kurva Lorenz </vt:lpstr>
      <vt:lpstr>Indikator-indikator Ketimpangan Distribusi Pengeluaran sebagai Proksi Pendapatan di Indonesia </vt:lpstr>
      <vt:lpstr>Indikator Distribusi Pendapatan dan Ketimpangan</vt:lpstr>
      <vt:lpstr>Indikator Distribusi Pendapatan dan Ketimpangan</vt:lpstr>
      <vt:lpstr>PowerPoint Presentation</vt:lpstr>
      <vt:lpstr>PowerPoint Presentation</vt:lpstr>
      <vt:lpstr>Interpretasi Data Ketimpangan Pendapatan </vt:lpstr>
      <vt:lpstr>Distribusi Pengeluaran Penduduk Indonesia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Tio</cp:lastModifiedBy>
  <cp:revision>17</cp:revision>
  <dcterms:created xsi:type="dcterms:W3CDTF">2022-02-03T05:49:29Z</dcterms:created>
  <dcterms:modified xsi:type="dcterms:W3CDTF">2026-05-17T21:45:48Z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