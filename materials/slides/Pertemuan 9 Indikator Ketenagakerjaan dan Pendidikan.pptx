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7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329" r:id="rId42"/>
    <p:sldId id="330"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2192000" cy="6858000"/>
  <p:notesSz cx="6858000" cy="9144000"/>
  <p:embeddedFontLst>
    <p:embeddedFont>
      <p:font typeface="Arial Narrow" panose="020B0606020202030204" pitchFamily="34" charset="0"/>
      <p:regular r:id="rId80"/>
      <p:bold r:id="rId81"/>
      <p:italic r:id="rId82"/>
      <p:boldItalic r:id="rId83"/>
    </p:embeddedFont>
    <p:embeddedFont>
      <p:font typeface="Calibri" panose="020F0502020204030204" pitchFamily="34" charset="0"/>
      <p:regular r:id="rId84"/>
      <p:bold r:id="rId85"/>
      <p:italic r:id="rId86"/>
      <p:boldItalic r:id="rId87"/>
    </p:embeddedFont>
    <p:embeddedFont>
      <p:font typeface="Cambria" panose="02040503050406030204" pitchFamily="18" charset="0"/>
      <p:regular r:id="rId88"/>
      <p:bold r:id="rId89"/>
      <p:italic r:id="rId90"/>
      <p:boldItalic r:id="rId91"/>
    </p:embeddedFont>
    <p:embeddedFont>
      <p:font typeface="Corbel" panose="020B0503020204020204" pitchFamily="34" charset="0"/>
      <p:regular r:id="rId92"/>
      <p:bold r:id="rId93"/>
      <p:italic r:id="rId94"/>
      <p:boldItalic r:id="rId95"/>
    </p:embeddedFont>
    <p:embeddedFont>
      <p:font typeface="Georgia" panose="02040502050405020303" pitchFamily="18" charset="0"/>
      <p:regular r:id="rId96"/>
      <p:bold r:id="rId97"/>
      <p:italic r:id="rId98"/>
      <p:boldItalic r:id="rId99"/>
    </p:embeddedFont>
    <p:embeddedFont>
      <p:font typeface="Oswald" panose="020B0604020202020204" charset="0"/>
      <p:regular r:id="rId100"/>
      <p:bold r:id="rId101"/>
    </p:embeddedFont>
    <p:embeddedFont>
      <p:font typeface="Quattrocento Sans" panose="020B0604020202020204" charset="0"/>
      <p:regular r:id="rId102"/>
      <p:bold r:id="rId103"/>
      <p:italic r:id="rId104"/>
      <p:boldItalic r:id="rId10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6" roundtripDataSignature="AMtx7mhpdLIH1ZFO4cfDDjDIzwPp8M0d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DFE0BF-3721-438C-8B7B-D8BF3B89A407}">
  <a:tblStyle styleId="{5BDFE0BF-3721-438C-8B7B-D8BF3B89A40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E4929FC-98BC-4A90-AF6C-45F87D23BB2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4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5.fntdata"/><Relationship Id="rId89" Type="http://schemas.openxmlformats.org/officeDocument/2006/relationships/font" Target="fonts/font10.fntdata"/><Relationship Id="rId16" Type="http://schemas.openxmlformats.org/officeDocument/2006/relationships/slide" Target="slides/slide13.xml"/><Relationship Id="rId107" Type="http://schemas.openxmlformats.org/officeDocument/2006/relationships/presProps" Target="presProp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notesMaster" Target="notesMasters/notesMaster1.xml"/><Relationship Id="rId102" Type="http://schemas.openxmlformats.org/officeDocument/2006/relationships/font" Target="fonts/font23.fntdata"/><Relationship Id="rId5" Type="http://schemas.openxmlformats.org/officeDocument/2006/relationships/slide" Target="slides/slide2.xml"/><Relationship Id="rId90" Type="http://schemas.openxmlformats.org/officeDocument/2006/relationships/font" Target="fonts/font11.fntdata"/><Relationship Id="rId95" Type="http://schemas.openxmlformats.org/officeDocument/2006/relationships/font" Target="fonts/font16.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font" Target="fonts/font1.fntdata"/><Relationship Id="rId85" Type="http://schemas.openxmlformats.org/officeDocument/2006/relationships/font" Target="fonts/font6.fntdata"/><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font" Target="fonts/font24.fntdata"/><Relationship Id="rId108"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font" Target="fonts/font12.fntdata"/><Relationship Id="rId96"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customschemas.google.com/relationships/presentationmetadata" Target="meta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font" Target="fonts/font2.fntdata"/><Relationship Id="rId86" Type="http://schemas.openxmlformats.org/officeDocument/2006/relationships/font" Target="fonts/font7.fntdata"/><Relationship Id="rId94" Type="http://schemas.openxmlformats.org/officeDocument/2006/relationships/font" Target="fonts/font15.fntdata"/><Relationship Id="rId99" Type="http://schemas.openxmlformats.org/officeDocument/2006/relationships/font" Target="fonts/font20.fntdata"/><Relationship Id="rId101" Type="http://schemas.openxmlformats.org/officeDocument/2006/relationships/font" Target="fonts/font22.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theme" Target="theme/theme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font" Target="fonts/font18.fntdata"/><Relationship Id="rId104" Type="http://schemas.openxmlformats.org/officeDocument/2006/relationships/font" Target="fonts/font25.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font" Target="fonts/font13.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8.fntdata"/><Relationship Id="rId110"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font" Target="fonts/font3.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font" Target="fonts/font21.fntdata"/><Relationship Id="rId105" Type="http://schemas.openxmlformats.org/officeDocument/2006/relationships/font" Target="fonts/font26.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font" Target="fonts/font14.fntdata"/><Relationship Id="rId98" Type="http://schemas.openxmlformats.org/officeDocument/2006/relationships/font" Target="fonts/font19.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font" Target="fonts/font4.fntdata"/><Relationship Id="rId8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4" name="Google Shape;58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7" name="Google Shape;70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1" name="Google Shape;73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5" name="Google Shape;755;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5" name="Google Shape;785;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2" name="Google Shape;79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9" name="Google Shape;799;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1" name="Google Shape;83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0" name="Google Shape;850;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7" name="Google Shape;857;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3" name="Google Shape;86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9" name="Google Shape;889;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5" name="Google Shape;89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3" name="Google Shape;903;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0" name="Google Shape;910;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6" name="Google Shape;916;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9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9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9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0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1"/>
          <p:cNvSpPr>
            <a:spLocks noGrp="1"/>
          </p:cNvSpPr>
          <p:nvPr>
            <p:ph type="pic" idx="2"/>
          </p:nvPr>
        </p:nvSpPr>
        <p:spPr>
          <a:xfrm>
            <a:off x="5183188" y="987425"/>
            <a:ext cx="6172200" cy="4873625"/>
          </a:xfrm>
          <a:prstGeom prst="rect">
            <a:avLst/>
          </a:prstGeom>
          <a:noFill/>
          <a:ln>
            <a:noFill/>
          </a:ln>
        </p:spPr>
      </p:sp>
      <p:sp>
        <p:nvSpPr>
          <p:cNvPr id="68" name="Google Shape;68;p10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0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0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1"/>
        <p:cNvGrpSpPr/>
        <p:nvPr/>
      </p:nvGrpSpPr>
      <p:grpSpPr>
        <a:xfrm>
          <a:off x="0" y="0"/>
          <a:ext cx="0" cy="0"/>
          <a:chOff x="0" y="0"/>
          <a:chExt cx="0" cy="0"/>
        </a:xfrm>
      </p:grpSpPr>
      <p:sp>
        <p:nvSpPr>
          <p:cNvPr id="92" name="Google Shape;92;p77"/>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77"/>
          <p:cNvSpPr txBox="1">
            <a:spLocks noGrp="1"/>
          </p:cNvSpPr>
          <p:nvPr>
            <p:ph type="body" idx="1"/>
          </p:nvPr>
        </p:nvSpPr>
        <p:spPr>
          <a:xfrm>
            <a:off x="1143001" y="2057400"/>
            <a:ext cx="9872871" cy="40386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94" name="Google Shape;94;p77"/>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77"/>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77"/>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7"/>
        <p:cNvGrpSpPr/>
        <p:nvPr/>
      </p:nvGrpSpPr>
      <p:grpSpPr>
        <a:xfrm>
          <a:off x="0" y="0"/>
          <a:ext cx="0" cy="0"/>
          <a:chOff x="0" y="0"/>
          <a:chExt cx="0" cy="0"/>
        </a:xfrm>
      </p:grpSpPr>
      <p:sp>
        <p:nvSpPr>
          <p:cNvPr id="98" name="Google Shape;98;p104"/>
          <p:cNvSpPr/>
          <p:nvPr/>
        </p:nvSpPr>
        <p:spPr>
          <a:xfrm>
            <a:off x="231140" y="243841"/>
            <a:ext cx="11724640" cy="6377939"/>
          </a:xfrm>
          <a:prstGeom prst="rect">
            <a:avLst/>
          </a:prstGeom>
          <a:solidFill>
            <a:schemeClr val="accent1"/>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04"/>
          <p:cNvSpPr txBox="1">
            <a:spLocks noGrp="1"/>
          </p:cNvSpPr>
          <p:nvPr>
            <p:ph type="ctrTitle"/>
          </p:nvPr>
        </p:nvSpPr>
        <p:spPr>
          <a:xfrm>
            <a:off x="1109980" y="882376"/>
            <a:ext cx="9966960" cy="2926080"/>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rgbClr val="FFFFFF"/>
              </a:buClr>
              <a:buSzPts val="7200"/>
              <a:buFont typeface="Corbel"/>
              <a:buNone/>
              <a:defRPr sz="7200" b="1"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04"/>
          <p:cNvSpPr txBox="1">
            <a:spLocks noGrp="1"/>
          </p:cNvSpPr>
          <p:nvPr>
            <p:ph type="subTitle" idx="1"/>
          </p:nvPr>
        </p:nvSpPr>
        <p:spPr>
          <a:xfrm>
            <a:off x="1709530" y="3869635"/>
            <a:ext cx="8767860" cy="138816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SzPts val="1760"/>
              <a:buNone/>
              <a:defRPr sz="2200">
                <a:solidFill>
                  <a:srgbClr val="FFFFFF"/>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a:endParaRPr/>
          </a:p>
        </p:txBody>
      </p:sp>
      <p:sp>
        <p:nvSpPr>
          <p:cNvPr id="101" name="Google Shape;101;p104"/>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04"/>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04"/>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FFFFFF"/>
                </a:solidFill>
                <a:latin typeface="Corbel"/>
                <a:ea typeface="Corbel"/>
                <a:cs typeface="Corbel"/>
                <a:sym typeface="Corbel"/>
              </a:defRPr>
            </a:lvl1pPr>
            <a:lvl2pPr marL="0" lvl="1" indent="0" algn="r">
              <a:spcBef>
                <a:spcPts val="0"/>
              </a:spcBef>
              <a:buNone/>
              <a:defRPr sz="1200">
                <a:solidFill>
                  <a:srgbClr val="FFFFFF"/>
                </a:solidFill>
                <a:latin typeface="Corbel"/>
                <a:ea typeface="Corbel"/>
                <a:cs typeface="Corbel"/>
                <a:sym typeface="Corbel"/>
              </a:defRPr>
            </a:lvl2pPr>
            <a:lvl3pPr marL="0" lvl="2" indent="0" algn="r">
              <a:spcBef>
                <a:spcPts val="0"/>
              </a:spcBef>
              <a:buNone/>
              <a:defRPr sz="1200">
                <a:solidFill>
                  <a:srgbClr val="FFFFFF"/>
                </a:solidFill>
                <a:latin typeface="Corbel"/>
                <a:ea typeface="Corbel"/>
                <a:cs typeface="Corbel"/>
                <a:sym typeface="Corbel"/>
              </a:defRPr>
            </a:lvl3pPr>
            <a:lvl4pPr marL="0" lvl="3" indent="0" algn="r">
              <a:spcBef>
                <a:spcPts val="0"/>
              </a:spcBef>
              <a:buNone/>
              <a:defRPr sz="1200">
                <a:solidFill>
                  <a:srgbClr val="FFFFFF"/>
                </a:solidFill>
                <a:latin typeface="Corbel"/>
                <a:ea typeface="Corbel"/>
                <a:cs typeface="Corbel"/>
                <a:sym typeface="Corbel"/>
              </a:defRPr>
            </a:lvl4pPr>
            <a:lvl5pPr marL="0" lvl="4" indent="0" algn="r">
              <a:spcBef>
                <a:spcPts val="0"/>
              </a:spcBef>
              <a:buNone/>
              <a:defRPr sz="1200">
                <a:solidFill>
                  <a:srgbClr val="FFFFFF"/>
                </a:solidFill>
                <a:latin typeface="Corbel"/>
                <a:ea typeface="Corbel"/>
                <a:cs typeface="Corbel"/>
                <a:sym typeface="Corbel"/>
              </a:defRPr>
            </a:lvl5pPr>
            <a:lvl6pPr marL="0" lvl="5" indent="0" algn="r">
              <a:spcBef>
                <a:spcPts val="0"/>
              </a:spcBef>
              <a:buNone/>
              <a:defRPr sz="1200">
                <a:solidFill>
                  <a:srgbClr val="FFFFFF"/>
                </a:solidFill>
                <a:latin typeface="Corbel"/>
                <a:ea typeface="Corbel"/>
                <a:cs typeface="Corbel"/>
                <a:sym typeface="Corbel"/>
              </a:defRPr>
            </a:lvl6pPr>
            <a:lvl7pPr marL="0" lvl="6" indent="0" algn="r">
              <a:spcBef>
                <a:spcPts val="0"/>
              </a:spcBef>
              <a:buNone/>
              <a:defRPr sz="1200">
                <a:solidFill>
                  <a:srgbClr val="FFFFFF"/>
                </a:solidFill>
                <a:latin typeface="Corbel"/>
                <a:ea typeface="Corbel"/>
                <a:cs typeface="Corbel"/>
                <a:sym typeface="Corbel"/>
              </a:defRPr>
            </a:lvl7pPr>
            <a:lvl8pPr marL="0" lvl="7" indent="0" algn="r">
              <a:spcBef>
                <a:spcPts val="0"/>
              </a:spcBef>
              <a:buNone/>
              <a:defRPr sz="1200">
                <a:solidFill>
                  <a:srgbClr val="FFFFFF"/>
                </a:solidFill>
                <a:latin typeface="Corbel"/>
                <a:ea typeface="Corbel"/>
                <a:cs typeface="Corbel"/>
                <a:sym typeface="Corbel"/>
              </a:defRPr>
            </a:lvl8pPr>
            <a:lvl9pPr marL="0" lvl="8" indent="0" algn="r">
              <a:spcBef>
                <a:spcPts val="0"/>
              </a:spcBef>
              <a:buNone/>
              <a:defRPr sz="1200">
                <a:solidFill>
                  <a:srgbClr val="FFFFFF"/>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cxnSp>
        <p:nvCxnSpPr>
          <p:cNvPr id="104" name="Google Shape;104;p104"/>
          <p:cNvCxnSpPr/>
          <p:nvPr/>
        </p:nvCxnSpPr>
        <p:spPr>
          <a:xfrm>
            <a:off x="1978661" y="3733800"/>
            <a:ext cx="8229601" cy="0"/>
          </a:xfrm>
          <a:prstGeom prst="straightConnector1">
            <a:avLst/>
          </a:prstGeom>
          <a:noFill/>
          <a:ln w="10000" cap="flat" cmpd="sng">
            <a:solidFill>
              <a:srgbClr val="FFFFFF"/>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5"/>
        <p:cNvGrpSpPr/>
        <p:nvPr/>
      </p:nvGrpSpPr>
      <p:grpSpPr>
        <a:xfrm>
          <a:off x="0" y="0"/>
          <a:ext cx="0" cy="0"/>
          <a:chOff x="0" y="0"/>
          <a:chExt cx="0" cy="0"/>
        </a:xfrm>
      </p:grpSpPr>
      <p:sp>
        <p:nvSpPr>
          <p:cNvPr id="106" name="Google Shape;106;p105"/>
          <p:cNvSpPr txBox="1">
            <a:spLocks noGrp="1"/>
          </p:cNvSpPr>
          <p:nvPr>
            <p:ph type="title"/>
          </p:nvPr>
        </p:nvSpPr>
        <p:spPr>
          <a:xfrm>
            <a:off x="1106424" y="1173575"/>
            <a:ext cx="9966960" cy="2926080"/>
          </a:xfrm>
          <a:prstGeom prst="rect">
            <a:avLst/>
          </a:prstGeom>
          <a:noFill/>
          <a:ln>
            <a:noFill/>
          </a:ln>
        </p:spPr>
        <p:txBody>
          <a:bodyPr spcFirstLastPara="1" wrap="square" lIns="91425" tIns="45700" rIns="91425" bIns="45700" anchor="b" anchorCtr="0">
            <a:noAutofit/>
          </a:bodyPr>
          <a:lstStyle>
            <a:lvl1pPr lvl="0" algn="ctr">
              <a:lnSpc>
                <a:spcPct val="85000"/>
              </a:lnSpc>
              <a:spcBef>
                <a:spcPts val="0"/>
              </a:spcBef>
              <a:spcAft>
                <a:spcPts val="0"/>
              </a:spcAft>
              <a:buClr>
                <a:schemeClr val="accent1"/>
              </a:buClr>
              <a:buSzPts val="7200"/>
              <a:buFont typeface="Corbel"/>
              <a:buNone/>
              <a:defRPr sz="7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05"/>
          <p:cNvSpPr txBox="1">
            <a:spLocks noGrp="1"/>
          </p:cNvSpPr>
          <p:nvPr>
            <p:ph type="body" idx="1"/>
          </p:nvPr>
        </p:nvSpPr>
        <p:spPr>
          <a:xfrm>
            <a:off x="1709928" y="4154520"/>
            <a:ext cx="8769096" cy="136380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400"/>
              </a:spcBef>
              <a:spcAft>
                <a:spcPts val="0"/>
              </a:spcAft>
              <a:buSzPts val="1760"/>
              <a:buNone/>
              <a:defRPr sz="2200">
                <a:solidFill>
                  <a:schemeClr val="accent1"/>
                </a:solidFill>
              </a:defRPr>
            </a:lvl1pPr>
            <a:lvl2pPr marL="914400" lvl="1" indent="-228600" algn="l">
              <a:lnSpc>
                <a:spcPct val="90000"/>
              </a:lnSpc>
              <a:spcBef>
                <a:spcPts val="200"/>
              </a:spcBef>
              <a:spcAft>
                <a:spcPts val="0"/>
              </a:spcAft>
              <a:buSzPts val="1440"/>
              <a:buNone/>
              <a:defRPr sz="1800">
                <a:solidFill>
                  <a:srgbClr val="888888"/>
                </a:solidFill>
              </a:defRPr>
            </a:lvl2pPr>
            <a:lvl3pPr marL="1371600" lvl="2" indent="-228600" algn="l">
              <a:lnSpc>
                <a:spcPct val="90000"/>
              </a:lnSpc>
              <a:spcBef>
                <a:spcPts val="400"/>
              </a:spcBef>
              <a:spcAft>
                <a:spcPts val="0"/>
              </a:spcAft>
              <a:buSzPts val="1280"/>
              <a:buNone/>
              <a:defRPr sz="1600">
                <a:solidFill>
                  <a:srgbClr val="888888"/>
                </a:solidFill>
              </a:defRPr>
            </a:lvl3pPr>
            <a:lvl4pPr marL="1828800" lvl="3" indent="-228600" algn="l">
              <a:lnSpc>
                <a:spcPct val="90000"/>
              </a:lnSpc>
              <a:spcBef>
                <a:spcPts val="400"/>
              </a:spcBef>
              <a:spcAft>
                <a:spcPts val="0"/>
              </a:spcAft>
              <a:buSzPts val="1120"/>
              <a:buNone/>
              <a:defRPr sz="1400">
                <a:solidFill>
                  <a:srgbClr val="888888"/>
                </a:solidFill>
              </a:defRPr>
            </a:lvl4pPr>
            <a:lvl5pPr marL="2286000" lvl="4" indent="-228600" algn="l">
              <a:lnSpc>
                <a:spcPct val="90000"/>
              </a:lnSpc>
              <a:spcBef>
                <a:spcPts val="400"/>
              </a:spcBef>
              <a:spcAft>
                <a:spcPts val="0"/>
              </a:spcAft>
              <a:buSzPts val="1120"/>
              <a:buNone/>
              <a:defRPr sz="1400">
                <a:solidFill>
                  <a:srgbClr val="888888"/>
                </a:solidFill>
              </a:defRPr>
            </a:lvl5pPr>
            <a:lvl6pPr marL="2743200" lvl="5" indent="-228600" algn="l">
              <a:lnSpc>
                <a:spcPct val="90000"/>
              </a:lnSpc>
              <a:spcBef>
                <a:spcPts val="400"/>
              </a:spcBef>
              <a:spcAft>
                <a:spcPts val="0"/>
              </a:spcAft>
              <a:buSzPts val="1120"/>
              <a:buNone/>
              <a:defRPr sz="1400">
                <a:solidFill>
                  <a:srgbClr val="888888"/>
                </a:solidFill>
              </a:defRPr>
            </a:lvl6pPr>
            <a:lvl7pPr marL="3200400" lvl="6" indent="-228600" algn="l">
              <a:lnSpc>
                <a:spcPct val="90000"/>
              </a:lnSpc>
              <a:spcBef>
                <a:spcPts val="400"/>
              </a:spcBef>
              <a:spcAft>
                <a:spcPts val="0"/>
              </a:spcAft>
              <a:buSzPts val="1120"/>
              <a:buNone/>
              <a:defRPr sz="1400">
                <a:solidFill>
                  <a:srgbClr val="888888"/>
                </a:solidFill>
              </a:defRPr>
            </a:lvl7pPr>
            <a:lvl8pPr marL="3657600" lvl="7" indent="-228600" algn="l">
              <a:lnSpc>
                <a:spcPct val="90000"/>
              </a:lnSpc>
              <a:spcBef>
                <a:spcPts val="400"/>
              </a:spcBef>
              <a:spcAft>
                <a:spcPts val="0"/>
              </a:spcAft>
              <a:buSzPts val="1120"/>
              <a:buNone/>
              <a:defRPr sz="1400">
                <a:solidFill>
                  <a:srgbClr val="888888"/>
                </a:solidFill>
              </a:defRPr>
            </a:lvl8pPr>
            <a:lvl9pPr marL="4114800" lvl="8" indent="-228600" algn="l">
              <a:lnSpc>
                <a:spcPct val="90000"/>
              </a:lnSpc>
              <a:spcBef>
                <a:spcPts val="400"/>
              </a:spcBef>
              <a:spcAft>
                <a:spcPts val="400"/>
              </a:spcAft>
              <a:buSzPts val="1120"/>
              <a:buNone/>
              <a:defRPr sz="1400">
                <a:solidFill>
                  <a:srgbClr val="888888"/>
                </a:solidFill>
              </a:defRPr>
            </a:lvl9pPr>
          </a:lstStyle>
          <a:p>
            <a:endParaRPr/>
          </a:p>
        </p:txBody>
      </p:sp>
      <p:sp>
        <p:nvSpPr>
          <p:cNvPr id="108" name="Google Shape;108;p105"/>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05"/>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05"/>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11" name="Google Shape;111;p105"/>
          <p:cNvCxnSpPr/>
          <p:nvPr/>
        </p:nvCxnSpPr>
        <p:spPr>
          <a:xfrm>
            <a:off x="1981201" y="4020408"/>
            <a:ext cx="8229601" cy="0"/>
          </a:xfrm>
          <a:prstGeom prst="straightConnector1">
            <a:avLst/>
          </a:prstGeom>
          <a:noFill/>
          <a:ln w="10000"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2"/>
        <p:cNvGrpSpPr/>
        <p:nvPr/>
      </p:nvGrpSpPr>
      <p:grpSpPr>
        <a:xfrm>
          <a:off x="0" y="0"/>
          <a:ext cx="0" cy="0"/>
          <a:chOff x="0" y="0"/>
          <a:chExt cx="0" cy="0"/>
        </a:xfrm>
      </p:grpSpPr>
      <p:sp>
        <p:nvSpPr>
          <p:cNvPr id="113" name="Google Shape;113;p106"/>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106"/>
          <p:cNvSpPr txBox="1">
            <a:spLocks noGrp="1"/>
          </p:cNvSpPr>
          <p:nvPr>
            <p:ph type="body" idx="1"/>
          </p:nvPr>
        </p:nvSpPr>
        <p:spPr>
          <a:xfrm>
            <a:off x="1143000" y="2057399"/>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115" name="Google Shape;115;p106"/>
          <p:cNvSpPr txBox="1">
            <a:spLocks noGrp="1"/>
          </p:cNvSpPr>
          <p:nvPr>
            <p:ph type="body" idx="2"/>
          </p:nvPr>
        </p:nvSpPr>
        <p:spPr>
          <a:xfrm>
            <a:off x="6267612" y="2057400"/>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116" name="Google Shape;116;p106"/>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06"/>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06"/>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9"/>
        <p:cNvGrpSpPr/>
        <p:nvPr/>
      </p:nvGrpSpPr>
      <p:grpSpPr>
        <a:xfrm>
          <a:off x="0" y="0"/>
          <a:ext cx="0" cy="0"/>
          <a:chOff x="0" y="0"/>
          <a:chExt cx="0" cy="0"/>
        </a:xfrm>
      </p:grpSpPr>
      <p:sp>
        <p:nvSpPr>
          <p:cNvPr id="120" name="Google Shape;120;p107"/>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107"/>
          <p:cNvSpPr txBox="1">
            <a:spLocks noGrp="1"/>
          </p:cNvSpPr>
          <p:nvPr>
            <p:ph type="body" idx="1"/>
          </p:nvPr>
        </p:nvSpPr>
        <p:spPr>
          <a:xfrm>
            <a:off x="1143000" y="2001511"/>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122" name="Google Shape;122;p107"/>
          <p:cNvSpPr txBox="1">
            <a:spLocks noGrp="1"/>
          </p:cNvSpPr>
          <p:nvPr>
            <p:ph type="body" idx="2"/>
          </p:nvPr>
        </p:nvSpPr>
        <p:spPr>
          <a:xfrm>
            <a:off x="1143000" y="2721483"/>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123" name="Google Shape;123;p107"/>
          <p:cNvSpPr txBox="1">
            <a:spLocks noGrp="1"/>
          </p:cNvSpPr>
          <p:nvPr>
            <p:ph type="body" idx="3"/>
          </p:nvPr>
        </p:nvSpPr>
        <p:spPr>
          <a:xfrm>
            <a:off x="6269173" y="1999032"/>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124" name="Google Shape;124;p107"/>
          <p:cNvSpPr txBox="1">
            <a:spLocks noGrp="1"/>
          </p:cNvSpPr>
          <p:nvPr>
            <p:ph type="body" idx="4"/>
          </p:nvPr>
        </p:nvSpPr>
        <p:spPr>
          <a:xfrm>
            <a:off x="6269173" y="2719322"/>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125" name="Google Shape;125;p107"/>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07"/>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7"/>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8"/>
        <p:cNvGrpSpPr/>
        <p:nvPr/>
      </p:nvGrpSpPr>
      <p:grpSpPr>
        <a:xfrm>
          <a:off x="0" y="0"/>
          <a:ext cx="0" cy="0"/>
          <a:chOff x="0" y="0"/>
          <a:chExt cx="0" cy="0"/>
        </a:xfrm>
      </p:grpSpPr>
      <p:sp>
        <p:nvSpPr>
          <p:cNvPr id="129" name="Google Shape;129;p108"/>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08"/>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08"/>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08"/>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3"/>
        <p:cNvGrpSpPr/>
        <p:nvPr/>
      </p:nvGrpSpPr>
      <p:grpSpPr>
        <a:xfrm>
          <a:off x="0" y="0"/>
          <a:ext cx="0" cy="0"/>
          <a:chOff x="0" y="0"/>
          <a:chExt cx="0" cy="0"/>
        </a:xfrm>
      </p:grpSpPr>
      <p:sp>
        <p:nvSpPr>
          <p:cNvPr id="134" name="Google Shape;134;p109"/>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09"/>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09"/>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7"/>
        <p:cNvGrpSpPr/>
        <p:nvPr/>
      </p:nvGrpSpPr>
      <p:grpSpPr>
        <a:xfrm>
          <a:off x="0" y="0"/>
          <a:ext cx="0" cy="0"/>
          <a:chOff x="0" y="0"/>
          <a:chExt cx="0" cy="0"/>
        </a:xfrm>
      </p:grpSpPr>
      <p:sp>
        <p:nvSpPr>
          <p:cNvPr id="138" name="Google Shape;138;p110"/>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4000"/>
              <a:buFont typeface="Corbel"/>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110"/>
          <p:cNvSpPr txBox="1">
            <a:spLocks noGrp="1"/>
          </p:cNvSpPr>
          <p:nvPr>
            <p:ph type="body" idx="1"/>
          </p:nvPr>
        </p:nvSpPr>
        <p:spPr>
          <a:xfrm>
            <a:off x="5852159" y="1097280"/>
            <a:ext cx="5212080" cy="4663440"/>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400"/>
              </a:spcBef>
              <a:spcAft>
                <a:spcPts val="0"/>
              </a:spcAft>
              <a:buSzPts val="2560"/>
              <a:buChar char="•"/>
              <a:defRPr sz="3200"/>
            </a:lvl1pPr>
            <a:lvl2pPr marL="914400" lvl="1" indent="-370840" algn="l">
              <a:lnSpc>
                <a:spcPct val="90000"/>
              </a:lnSpc>
              <a:spcBef>
                <a:spcPts val="200"/>
              </a:spcBef>
              <a:spcAft>
                <a:spcPts val="0"/>
              </a:spcAft>
              <a:buSzPts val="2240"/>
              <a:buChar char="•"/>
              <a:defRPr sz="2800"/>
            </a:lvl2pPr>
            <a:lvl3pPr marL="1371600" lvl="2" indent="-350519" algn="l">
              <a:lnSpc>
                <a:spcPct val="90000"/>
              </a:lnSpc>
              <a:spcBef>
                <a:spcPts val="400"/>
              </a:spcBef>
              <a:spcAft>
                <a:spcPts val="0"/>
              </a:spcAft>
              <a:buSzPts val="1920"/>
              <a:buChar char="•"/>
              <a:defRPr sz="2400"/>
            </a:lvl3pPr>
            <a:lvl4pPr marL="1828800" lvl="3" indent="-330200" algn="l">
              <a:lnSpc>
                <a:spcPct val="90000"/>
              </a:lnSpc>
              <a:spcBef>
                <a:spcPts val="400"/>
              </a:spcBef>
              <a:spcAft>
                <a:spcPts val="0"/>
              </a:spcAft>
              <a:buSzPts val="1600"/>
              <a:buChar char="•"/>
              <a:defRPr sz="2000"/>
            </a:lvl4pPr>
            <a:lvl5pPr marL="2286000" lvl="4" indent="-330200" algn="l">
              <a:lnSpc>
                <a:spcPct val="90000"/>
              </a:lnSpc>
              <a:spcBef>
                <a:spcPts val="400"/>
              </a:spcBef>
              <a:spcAft>
                <a:spcPts val="0"/>
              </a:spcAft>
              <a:buSzPts val="1600"/>
              <a:buChar char="•"/>
              <a:defRPr sz="2000"/>
            </a:lvl5pPr>
            <a:lvl6pPr marL="2743200" lvl="5" indent="-330200" algn="l">
              <a:lnSpc>
                <a:spcPct val="90000"/>
              </a:lnSpc>
              <a:spcBef>
                <a:spcPts val="400"/>
              </a:spcBef>
              <a:spcAft>
                <a:spcPts val="0"/>
              </a:spcAft>
              <a:buSzPts val="1600"/>
              <a:buChar char="•"/>
              <a:defRPr sz="2000"/>
            </a:lvl6pPr>
            <a:lvl7pPr marL="3200400" lvl="6" indent="-330200" algn="l">
              <a:lnSpc>
                <a:spcPct val="90000"/>
              </a:lnSpc>
              <a:spcBef>
                <a:spcPts val="400"/>
              </a:spcBef>
              <a:spcAft>
                <a:spcPts val="0"/>
              </a:spcAft>
              <a:buSzPts val="1600"/>
              <a:buChar char="•"/>
              <a:defRPr sz="2000"/>
            </a:lvl7pPr>
            <a:lvl8pPr marL="3657600" lvl="7" indent="-330200" algn="l">
              <a:lnSpc>
                <a:spcPct val="90000"/>
              </a:lnSpc>
              <a:spcBef>
                <a:spcPts val="400"/>
              </a:spcBef>
              <a:spcAft>
                <a:spcPts val="0"/>
              </a:spcAft>
              <a:buSzPts val="1600"/>
              <a:buChar char="•"/>
              <a:defRPr sz="2000"/>
            </a:lvl8pPr>
            <a:lvl9pPr marL="4114800" lvl="8" indent="-330200" algn="l">
              <a:lnSpc>
                <a:spcPct val="90000"/>
              </a:lnSpc>
              <a:spcBef>
                <a:spcPts val="400"/>
              </a:spcBef>
              <a:spcAft>
                <a:spcPts val="400"/>
              </a:spcAft>
              <a:buSzPts val="1600"/>
              <a:buChar char="•"/>
              <a:defRPr sz="2000"/>
            </a:lvl9pPr>
          </a:lstStyle>
          <a:p>
            <a:endParaRPr/>
          </a:p>
        </p:txBody>
      </p:sp>
      <p:sp>
        <p:nvSpPr>
          <p:cNvPr id="140" name="Google Shape;140;p110"/>
          <p:cNvSpPr txBox="1">
            <a:spLocks noGrp="1"/>
          </p:cNvSpPr>
          <p:nvPr>
            <p:ph type="body" idx="2"/>
          </p:nvPr>
        </p:nvSpPr>
        <p:spPr>
          <a:xfrm>
            <a:off x="1143000" y="2834640"/>
            <a:ext cx="3931920" cy="301752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141" name="Google Shape;141;p110"/>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10"/>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10"/>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4"/>
        <p:cNvGrpSpPr/>
        <p:nvPr/>
      </p:nvGrpSpPr>
      <p:grpSpPr>
        <a:xfrm>
          <a:off x="0" y="0"/>
          <a:ext cx="0" cy="0"/>
          <a:chOff x="0" y="0"/>
          <a:chExt cx="0" cy="0"/>
        </a:xfrm>
      </p:grpSpPr>
      <p:sp>
        <p:nvSpPr>
          <p:cNvPr id="145" name="Google Shape;145;p111"/>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4000"/>
              <a:buFont typeface="Corbel"/>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111"/>
          <p:cNvSpPr>
            <a:spLocks noGrp="1"/>
          </p:cNvSpPr>
          <p:nvPr>
            <p:ph type="pic" idx="2"/>
          </p:nvPr>
        </p:nvSpPr>
        <p:spPr>
          <a:xfrm>
            <a:off x="5413248" y="1069847"/>
            <a:ext cx="6099048" cy="4800600"/>
          </a:xfrm>
          <a:prstGeom prst="rect">
            <a:avLst/>
          </a:prstGeom>
          <a:noFill/>
          <a:ln>
            <a:noFill/>
          </a:ln>
        </p:spPr>
      </p:sp>
      <p:sp>
        <p:nvSpPr>
          <p:cNvPr id="147" name="Google Shape;147;p111"/>
          <p:cNvSpPr txBox="1">
            <a:spLocks noGrp="1"/>
          </p:cNvSpPr>
          <p:nvPr>
            <p:ph type="body" idx="1"/>
          </p:nvPr>
        </p:nvSpPr>
        <p:spPr>
          <a:xfrm>
            <a:off x="1143000" y="2834640"/>
            <a:ext cx="3931920" cy="28803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148" name="Google Shape;148;p111"/>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11"/>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11"/>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112"/>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112"/>
          <p:cNvSpPr txBox="1">
            <a:spLocks noGrp="1"/>
          </p:cNvSpPr>
          <p:nvPr>
            <p:ph type="body" idx="1"/>
          </p:nvPr>
        </p:nvSpPr>
        <p:spPr>
          <a:xfrm rot="5400000">
            <a:off x="4060137" y="-859736"/>
            <a:ext cx="4038600" cy="9872871"/>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154" name="Google Shape;154;p112"/>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112"/>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12"/>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113"/>
          <p:cNvSpPr txBox="1">
            <a:spLocks noGrp="1"/>
          </p:cNvSpPr>
          <p:nvPr>
            <p:ph type="title"/>
          </p:nvPr>
        </p:nvSpPr>
        <p:spPr>
          <a:xfrm rot="5400000">
            <a:off x="7181850" y="2305050"/>
            <a:ext cx="5410200" cy="2324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13"/>
          <p:cNvSpPr txBox="1">
            <a:spLocks noGrp="1"/>
          </p:cNvSpPr>
          <p:nvPr>
            <p:ph type="body" idx="1"/>
          </p:nvPr>
        </p:nvSpPr>
        <p:spPr>
          <a:xfrm rot="5400000">
            <a:off x="2152650" y="-247650"/>
            <a:ext cx="5410200" cy="74295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160" name="Google Shape;160;p113"/>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13"/>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13"/>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69"/>
        <p:cNvGrpSpPr/>
        <p:nvPr/>
      </p:nvGrpSpPr>
      <p:grpSpPr>
        <a:xfrm>
          <a:off x="0" y="0"/>
          <a:ext cx="0" cy="0"/>
          <a:chOff x="0" y="0"/>
          <a:chExt cx="0" cy="0"/>
        </a:xfrm>
      </p:grpSpPr>
      <p:graphicFrame>
        <p:nvGraphicFramePr>
          <p:cNvPr id="170" name="Google Shape;170;p79"/>
          <p:cNvGraphicFramePr/>
          <p:nvPr/>
        </p:nvGraphicFramePr>
        <p:xfrm>
          <a:off x="0" y="6210905"/>
          <a:ext cx="12192000" cy="647100"/>
        </p:xfrm>
        <a:graphic>
          <a:graphicData uri="http://schemas.openxmlformats.org/drawingml/2006/table">
            <a:tbl>
              <a:tblPr firstRow="1" bandRow="1">
                <a:noFill/>
                <a:tableStyleId>{5BDFE0BF-3721-438C-8B7B-D8BF3B89A407}</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gridCol w="1219200">
                  <a:extLst>
                    <a:ext uri="{9D8B030D-6E8A-4147-A177-3AD203B41FA5}">
                      <a16:colId xmlns:a16="http://schemas.microsoft.com/office/drawing/2014/main" val="20007"/>
                    </a:ext>
                  </a:extLst>
                </a:gridCol>
                <a:gridCol w="1219200">
                  <a:extLst>
                    <a:ext uri="{9D8B030D-6E8A-4147-A177-3AD203B41FA5}">
                      <a16:colId xmlns:a16="http://schemas.microsoft.com/office/drawing/2014/main" val="20008"/>
                    </a:ext>
                  </a:extLst>
                </a:gridCol>
                <a:gridCol w="1219200">
                  <a:extLst>
                    <a:ext uri="{9D8B030D-6E8A-4147-A177-3AD203B41FA5}">
                      <a16:colId xmlns:a16="http://schemas.microsoft.com/office/drawing/2014/main" val="20009"/>
                    </a:ext>
                  </a:extLst>
                </a:gridCol>
              </a:tblGrid>
              <a:tr h="647100">
                <a:tc>
                  <a:txBody>
                    <a:bodyPr/>
                    <a:lstStyle/>
                    <a:p>
                      <a:pPr marL="0" marR="0" lvl="0" indent="0" algn="l" rtl="0">
                        <a:spcBef>
                          <a:spcPts val="0"/>
                        </a:spcBef>
                        <a:spcAft>
                          <a:spcPts val="0"/>
                        </a:spcAft>
                        <a:buNone/>
                      </a:pPr>
                      <a:endParaRPr sz="1900"/>
                    </a:p>
                  </a:txBody>
                  <a:tcPr marL="112550" marR="112550" marT="45625" marB="45625">
                    <a:solidFill>
                      <a:srgbClr val="C00000"/>
                    </a:solidFill>
                  </a:tcPr>
                </a:tc>
                <a:tc>
                  <a:txBody>
                    <a:bodyPr/>
                    <a:lstStyle/>
                    <a:p>
                      <a:pPr marL="0" marR="0" lvl="0" indent="0" algn="l" rtl="0">
                        <a:spcBef>
                          <a:spcPts val="0"/>
                        </a:spcBef>
                        <a:spcAft>
                          <a:spcPts val="0"/>
                        </a:spcAft>
                        <a:buNone/>
                      </a:pPr>
                      <a:endParaRPr sz="1900"/>
                    </a:p>
                  </a:txBody>
                  <a:tcPr marL="112550" marR="112550" marT="45625" marB="45625">
                    <a:solidFill>
                      <a:srgbClr val="FF0000"/>
                    </a:solidFill>
                  </a:tcPr>
                </a:tc>
                <a:tc>
                  <a:txBody>
                    <a:bodyPr/>
                    <a:lstStyle/>
                    <a:p>
                      <a:pPr marL="0" marR="0" lvl="0" indent="0" algn="l" rtl="0">
                        <a:spcBef>
                          <a:spcPts val="0"/>
                        </a:spcBef>
                        <a:spcAft>
                          <a:spcPts val="0"/>
                        </a:spcAft>
                        <a:buNone/>
                      </a:pPr>
                      <a:endParaRPr sz="1900"/>
                    </a:p>
                  </a:txBody>
                  <a:tcPr marL="112550" marR="112550" marT="45625" marB="45625">
                    <a:solidFill>
                      <a:srgbClr val="FFC000"/>
                    </a:solidFill>
                  </a:tcPr>
                </a:tc>
                <a:tc>
                  <a:txBody>
                    <a:bodyPr/>
                    <a:lstStyle/>
                    <a:p>
                      <a:pPr marL="0" marR="0" lvl="0" indent="0" algn="l" rtl="0">
                        <a:spcBef>
                          <a:spcPts val="0"/>
                        </a:spcBef>
                        <a:spcAft>
                          <a:spcPts val="0"/>
                        </a:spcAft>
                        <a:buNone/>
                      </a:pPr>
                      <a:endParaRPr sz="1900"/>
                    </a:p>
                  </a:txBody>
                  <a:tcPr marL="112550" marR="112550" marT="45625" marB="45625">
                    <a:solidFill>
                      <a:srgbClr val="FFFF00"/>
                    </a:solidFill>
                  </a:tcPr>
                </a:tc>
                <a:tc>
                  <a:txBody>
                    <a:bodyPr/>
                    <a:lstStyle/>
                    <a:p>
                      <a:pPr marL="0" marR="0" lvl="0" indent="0" algn="l" rtl="0">
                        <a:spcBef>
                          <a:spcPts val="0"/>
                        </a:spcBef>
                        <a:spcAft>
                          <a:spcPts val="0"/>
                        </a:spcAft>
                        <a:buNone/>
                      </a:pPr>
                      <a:endParaRPr sz="1900"/>
                    </a:p>
                  </a:txBody>
                  <a:tcPr marL="112550" marR="112550" marT="45625" marB="45625">
                    <a:solidFill>
                      <a:srgbClr val="92D050"/>
                    </a:solidFill>
                  </a:tcPr>
                </a:tc>
                <a:tc>
                  <a:txBody>
                    <a:bodyPr/>
                    <a:lstStyle/>
                    <a:p>
                      <a:pPr marL="0" marR="0" lvl="0" indent="0" algn="l" rtl="0">
                        <a:spcBef>
                          <a:spcPts val="0"/>
                        </a:spcBef>
                        <a:spcAft>
                          <a:spcPts val="0"/>
                        </a:spcAft>
                        <a:buNone/>
                      </a:pPr>
                      <a:endParaRPr sz="1900"/>
                    </a:p>
                  </a:txBody>
                  <a:tcPr marL="112550" marR="112550" marT="45625" marB="45625">
                    <a:solidFill>
                      <a:srgbClr val="00B050"/>
                    </a:solidFill>
                  </a:tcPr>
                </a:tc>
                <a:tc>
                  <a:txBody>
                    <a:bodyPr/>
                    <a:lstStyle/>
                    <a:p>
                      <a:pPr marL="0" marR="0" lvl="0" indent="0" algn="l" rtl="0">
                        <a:spcBef>
                          <a:spcPts val="0"/>
                        </a:spcBef>
                        <a:spcAft>
                          <a:spcPts val="0"/>
                        </a:spcAft>
                        <a:buNone/>
                      </a:pPr>
                      <a:endParaRPr sz="1900"/>
                    </a:p>
                  </a:txBody>
                  <a:tcPr marL="112550" marR="112550" marT="45625" marB="45625">
                    <a:solidFill>
                      <a:srgbClr val="00B0F0"/>
                    </a:solidFill>
                  </a:tcPr>
                </a:tc>
                <a:tc>
                  <a:txBody>
                    <a:bodyPr/>
                    <a:lstStyle/>
                    <a:p>
                      <a:pPr marL="0" marR="0" lvl="0" indent="0" algn="l" rtl="0">
                        <a:spcBef>
                          <a:spcPts val="0"/>
                        </a:spcBef>
                        <a:spcAft>
                          <a:spcPts val="0"/>
                        </a:spcAft>
                        <a:buNone/>
                      </a:pPr>
                      <a:endParaRPr sz="1900"/>
                    </a:p>
                  </a:txBody>
                  <a:tcPr marL="112550" marR="112550" marT="45625" marB="45625">
                    <a:solidFill>
                      <a:srgbClr val="0070C0"/>
                    </a:solidFill>
                  </a:tcPr>
                </a:tc>
                <a:tc>
                  <a:txBody>
                    <a:bodyPr/>
                    <a:lstStyle/>
                    <a:p>
                      <a:pPr marL="0" marR="0" lvl="0" indent="0" algn="l" rtl="0">
                        <a:spcBef>
                          <a:spcPts val="0"/>
                        </a:spcBef>
                        <a:spcAft>
                          <a:spcPts val="0"/>
                        </a:spcAft>
                        <a:buNone/>
                      </a:pPr>
                      <a:endParaRPr sz="1900"/>
                    </a:p>
                  </a:txBody>
                  <a:tcPr marL="112550" marR="112550" marT="45625" marB="45625">
                    <a:solidFill>
                      <a:srgbClr val="002060"/>
                    </a:solidFill>
                  </a:tcPr>
                </a:tc>
                <a:tc>
                  <a:txBody>
                    <a:bodyPr/>
                    <a:lstStyle/>
                    <a:p>
                      <a:pPr marL="0" marR="0" lvl="0" indent="0" algn="l" rtl="0">
                        <a:spcBef>
                          <a:spcPts val="0"/>
                        </a:spcBef>
                        <a:spcAft>
                          <a:spcPts val="0"/>
                        </a:spcAft>
                        <a:buNone/>
                      </a:pPr>
                      <a:endParaRPr sz="1900"/>
                    </a:p>
                  </a:txBody>
                  <a:tcPr marL="112550" marR="112550" marT="45625" marB="45625">
                    <a:solidFill>
                      <a:srgbClr val="7030A0"/>
                    </a:solidFill>
                  </a:tcPr>
                </a:tc>
                <a:extLst>
                  <a:ext uri="{0D108BD9-81ED-4DB2-BD59-A6C34878D82A}">
                    <a16:rowId xmlns:a16="http://schemas.microsoft.com/office/drawing/2014/main" val="10000"/>
                  </a:ext>
                </a:extLst>
              </a:tr>
            </a:tbl>
          </a:graphicData>
        </a:graphic>
      </p:graphicFrame>
      <p:sp>
        <p:nvSpPr>
          <p:cNvPr id="171" name="Google Shape;171;p79"/>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79"/>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b="0">
                <a:latin typeface="Arial Narrow"/>
                <a:ea typeface="Arial Narrow"/>
                <a:cs typeface="Arial Narrow"/>
                <a:sym typeface="Arial Narro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79"/>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7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marR="0" lvl="0" indent="0" algn="r">
              <a:spcBef>
                <a:spcPts val="0"/>
              </a:spcBef>
              <a:buNone/>
              <a:defRPr sz="1270" b="0" i="0" u="none" strike="noStrike" cap="none">
                <a:solidFill>
                  <a:srgbClr val="888888"/>
                </a:solidFill>
                <a:latin typeface="Arial"/>
                <a:ea typeface="Arial"/>
                <a:cs typeface="Arial"/>
                <a:sym typeface="Arial"/>
              </a:defRPr>
            </a:lvl1pPr>
            <a:lvl2pPr marL="0" marR="0" lvl="1" indent="0" algn="r">
              <a:spcBef>
                <a:spcPts val="0"/>
              </a:spcBef>
              <a:buNone/>
              <a:defRPr sz="1270" b="0" i="0" u="none" strike="noStrike" cap="none">
                <a:solidFill>
                  <a:srgbClr val="888888"/>
                </a:solidFill>
                <a:latin typeface="Arial"/>
                <a:ea typeface="Arial"/>
                <a:cs typeface="Arial"/>
                <a:sym typeface="Arial"/>
              </a:defRPr>
            </a:lvl2pPr>
            <a:lvl3pPr marL="0" marR="0" lvl="2" indent="0" algn="r">
              <a:spcBef>
                <a:spcPts val="0"/>
              </a:spcBef>
              <a:buNone/>
              <a:defRPr sz="1270" b="0" i="0" u="none" strike="noStrike" cap="none">
                <a:solidFill>
                  <a:srgbClr val="888888"/>
                </a:solidFill>
                <a:latin typeface="Arial"/>
                <a:ea typeface="Arial"/>
                <a:cs typeface="Arial"/>
                <a:sym typeface="Arial"/>
              </a:defRPr>
            </a:lvl3pPr>
            <a:lvl4pPr marL="0" marR="0" lvl="3" indent="0" algn="r">
              <a:spcBef>
                <a:spcPts val="0"/>
              </a:spcBef>
              <a:buNone/>
              <a:defRPr sz="1270" b="0" i="0" u="none" strike="noStrike" cap="none">
                <a:solidFill>
                  <a:srgbClr val="888888"/>
                </a:solidFill>
                <a:latin typeface="Arial"/>
                <a:ea typeface="Arial"/>
                <a:cs typeface="Arial"/>
                <a:sym typeface="Arial"/>
              </a:defRPr>
            </a:lvl4pPr>
            <a:lvl5pPr marL="0" marR="0" lvl="4" indent="0" algn="r">
              <a:spcBef>
                <a:spcPts val="0"/>
              </a:spcBef>
              <a:buNone/>
              <a:defRPr sz="1270" b="0" i="0" u="none" strike="noStrike" cap="none">
                <a:solidFill>
                  <a:srgbClr val="888888"/>
                </a:solidFill>
                <a:latin typeface="Arial"/>
                <a:ea typeface="Arial"/>
                <a:cs typeface="Arial"/>
                <a:sym typeface="Arial"/>
              </a:defRPr>
            </a:lvl5pPr>
            <a:lvl6pPr marL="0" marR="0" lvl="5" indent="0" algn="r">
              <a:spcBef>
                <a:spcPts val="0"/>
              </a:spcBef>
              <a:buNone/>
              <a:defRPr sz="1270" b="0" i="0" u="none" strike="noStrike" cap="none">
                <a:solidFill>
                  <a:srgbClr val="888888"/>
                </a:solidFill>
                <a:latin typeface="Arial"/>
                <a:ea typeface="Arial"/>
                <a:cs typeface="Arial"/>
                <a:sym typeface="Arial"/>
              </a:defRPr>
            </a:lvl6pPr>
            <a:lvl7pPr marL="0" marR="0" lvl="6" indent="0" algn="r">
              <a:spcBef>
                <a:spcPts val="0"/>
              </a:spcBef>
              <a:buNone/>
              <a:defRPr sz="1270" b="0" i="0" u="none" strike="noStrike" cap="none">
                <a:solidFill>
                  <a:srgbClr val="888888"/>
                </a:solidFill>
                <a:latin typeface="Arial"/>
                <a:ea typeface="Arial"/>
                <a:cs typeface="Arial"/>
                <a:sym typeface="Arial"/>
              </a:defRPr>
            </a:lvl7pPr>
            <a:lvl8pPr marL="0" marR="0" lvl="7" indent="0" algn="r">
              <a:spcBef>
                <a:spcPts val="0"/>
              </a:spcBef>
              <a:buNone/>
              <a:defRPr sz="1270" b="0" i="0" u="none" strike="noStrike" cap="none">
                <a:solidFill>
                  <a:srgbClr val="888888"/>
                </a:solidFill>
                <a:latin typeface="Arial"/>
                <a:ea typeface="Arial"/>
                <a:cs typeface="Arial"/>
                <a:sym typeface="Arial"/>
              </a:defRPr>
            </a:lvl8pPr>
            <a:lvl9pPr marL="0" marR="0" lvl="8" indent="0" algn="r">
              <a:spcBef>
                <a:spcPts val="0"/>
              </a:spcBef>
              <a:buNone/>
              <a:defRPr sz="127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thruBlk="1"/>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75"/>
        <p:cNvGrpSpPr/>
        <p:nvPr/>
      </p:nvGrpSpPr>
      <p:grpSpPr>
        <a:xfrm>
          <a:off x="0" y="0"/>
          <a:ext cx="0" cy="0"/>
          <a:chOff x="0" y="0"/>
          <a:chExt cx="0" cy="0"/>
        </a:xfrm>
      </p:grpSpPr>
      <p:pic>
        <p:nvPicPr>
          <p:cNvPr id="176" name="Google Shape;176;p80"/>
          <p:cNvPicPr preferRelativeResize="0"/>
          <p:nvPr/>
        </p:nvPicPr>
        <p:blipFill rotWithShape="1">
          <a:blip r:embed="rId2">
            <a:alphaModFix/>
          </a:blip>
          <a:srcRect/>
          <a:stretch/>
        </p:blipFill>
        <p:spPr>
          <a:xfrm>
            <a:off x="1" y="0"/>
            <a:ext cx="12192411" cy="908720"/>
          </a:xfrm>
          <a:prstGeom prst="rect">
            <a:avLst/>
          </a:prstGeom>
          <a:noFill/>
          <a:ln>
            <a:noFill/>
          </a:ln>
        </p:spPr>
      </p:pic>
      <p:sp>
        <p:nvSpPr>
          <p:cNvPr id="177" name="Google Shape;177;p80"/>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sz="1200" b="1">
                <a:solidFill>
                  <a:srgbClr val="000000"/>
                </a:solidFill>
                <a:latin typeface="Calibri"/>
                <a:ea typeface="Calibri"/>
                <a:cs typeface="Calibri"/>
                <a:sym typeface="Calibri"/>
              </a:defRPr>
            </a:lvl1pPr>
            <a:lvl2pPr marL="0" lvl="1" indent="0" algn="r">
              <a:spcBef>
                <a:spcPts val="0"/>
              </a:spcBef>
              <a:buNone/>
              <a:defRPr sz="1200" b="1">
                <a:solidFill>
                  <a:srgbClr val="000000"/>
                </a:solidFill>
                <a:latin typeface="Calibri"/>
                <a:ea typeface="Calibri"/>
                <a:cs typeface="Calibri"/>
                <a:sym typeface="Calibri"/>
              </a:defRPr>
            </a:lvl2pPr>
            <a:lvl3pPr marL="0" lvl="2" indent="0" algn="r">
              <a:spcBef>
                <a:spcPts val="0"/>
              </a:spcBef>
              <a:buNone/>
              <a:defRPr sz="1200" b="1">
                <a:solidFill>
                  <a:srgbClr val="000000"/>
                </a:solidFill>
                <a:latin typeface="Calibri"/>
                <a:ea typeface="Calibri"/>
                <a:cs typeface="Calibri"/>
                <a:sym typeface="Calibri"/>
              </a:defRPr>
            </a:lvl3pPr>
            <a:lvl4pPr marL="0" lvl="3" indent="0" algn="r">
              <a:spcBef>
                <a:spcPts val="0"/>
              </a:spcBef>
              <a:buNone/>
              <a:defRPr sz="1200" b="1">
                <a:solidFill>
                  <a:srgbClr val="000000"/>
                </a:solidFill>
                <a:latin typeface="Calibri"/>
                <a:ea typeface="Calibri"/>
                <a:cs typeface="Calibri"/>
                <a:sym typeface="Calibri"/>
              </a:defRPr>
            </a:lvl4pPr>
            <a:lvl5pPr marL="0" lvl="4" indent="0" algn="r">
              <a:spcBef>
                <a:spcPts val="0"/>
              </a:spcBef>
              <a:buNone/>
              <a:defRPr sz="1200" b="1">
                <a:solidFill>
                  <a:srgbClr val="000000"/>
                </a:solidFill>
                <a:latin typeface="Calibri"/>
                <a:ea typeface="Calibri"/>
                <a:cs typeface="Calibri"/>
                <a:sym typeface="Calibri"/>
              </a:defRPr>
            </a:lvl5pPr>
            <a:lvl6pPr marL="0" lvl="5" indent="0" algn="r">
              <a:spcBef>
                <a:spcPts val="0"/>
              </a:spcBef>
              <a:buNone/>
              <a:defRPr sz="1200" b="1">
                <a:solidFill>
                  <a:srgbClr val="000000"/>
                </a:solidFill>
                <a:latin typeface="Calibri"/>
                <a:ea typeface="Calibri"/>
                <a:cs typeface="Calibri"/>
                <a:sym typeface="Calibri"/>
              </a:defRPr>
            </a:lvl6pPr>
            <a:lvl7pPr marL="0" lvl="6" indent="0" algn="r">
              <a:spcBef>
                <a:spcPts val="0"/>
              </a:spcBef>
              <a:buNone/>
              <a:defRPr sz="1200" b="1">
                <a:solidFill>
                  <a:srgbClr val="000000"/>
                </a:solidFill>
                <a:latin typeface="Calibri"/>
                <a:ea typeface="Calibri"/>
                <a:cs typeface="Calibri"/>
                <a:sym typeface="Calibri"/>
              </a:defRPr>
            </a:lvl7pPr>
            <a:lvl8pPr marL="0" lvl="7" indent="0" algn="r">
              <a:spcBef>
                <a:spcPts val="0"/>
              </a:spcBef>
              <a:buNone/>
              <a:defRPr sz="1200" b="1">
                <a:solidFill>
                  <a:srgbClr val="000000"/>
                </a:solidFill>
                <a:latin typeface="Calibri"/>
                <a:ea typeface="Calibri"/>
                <a:cs typeface="Calibri"/>
                <a:sym typeface="Calibri"/>
              </a:defRPr>
            </a:lvl8pPr>
            <a:lvl9pPr marL="0" lvl="8" indent="0" algn="r">
              <a:spcBef>
                <a:spcPts val="0"/>
              </a:spcBef>
              <a:buNone/>
              <a:defRPr sz="1200" b="1">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78" name="Google Shape;178;p80" descr="D:\Template Powerpoint\logo bps.png"/>
          <p:cNvPicPr preferRelativeResize="0"/>
          <p:nvPr/>
        </p:nvPicPr>
        <p:blipFill rotWithShape="1">
          <a:blip r:embed="rId3">
            <a:alphaModFix/>
          </a:blip>
          <a:srcRect/>
          <a:stretch/>
        </p:blipFill>
        <p:spPr>
          <a:xfrm>
            <a:off x="1448697" y="188640"/>
            <a:ext cx="2822307" cy="566738"/>
          </a:xfrm>
          <a:prstGeom prst="rect">
            <a:avLst/>
          </a:prstGeom>
          <a:noFill/>
          <a:ln>
            <a:noFill/>
          </a:ln>
        </p:spPr>
      </p:pic>
      <p:pic>
        <p:nvPicPr>
          <p:cNvPr id="179" name="Google Shape;179;p80" descr="D:\Template Powerpoint\pelopor data statistik.png"/>
          <p:cNvPicPr preferRelativeResize="0"/>
          <p:nvPr/>
        </p:nvPicPr>
        <p:blipFill rotWithShape="1">
          <a:blip r:embed="rId4">
            <a:alphaModFix/>
          </a:blip>
          <a:srcRect/>
          <a:stretch/>
        </p:blipFill>
        <p:spPr>
          <a:xfrm>
            <a:off x="9952569" y="-3430"/>
            <a:ext cx="2239433" cy="850900"/>
          </a:xfrm>
          <a:prstGeom prst="rect">
            <a:avLst/>
          </a:prstGeom>
          <a:noFill/>
          <a:ln>
            <a:noFill/>
          </a:ln>
        </p:spPr>
      </p:pic>
      <p:sp>
        <p:nvSpPr>
          <p:cNvPr id="180" name="Google Shape;180;p80"/>
          <p:cNvSpPr txBox="1">
            <a:spLocks noGrp="1"/>
          </p:cNvSpPr>
          <p:nvPr>
            <p:ph type="body" idx="1"/>
          </p:nvPr>
        </p:nvSpPr>
        <p:spPr>
          <a:xfrm>
            <a:off x="624419" y="1916832"/>
            <a:ext cx="11040533" cy="4248150"/>
          </a:xfrm>
          <a:prstGeom prst="rect">
            <a:avLst/>
          </a:prstGeom>
          <a:noFill/>
          <a:ln>
            <a:noFill/>
          </a:ln>
        </p:spPr>
        <p:txBody>
          <a:bodyPr spcFirstLastPara="1" wrap="square" lIns="104925" tIns="52450" rIns="104925" bIns="5245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1" name="Google Shape;181;p80"/>
          <p:cNvSpPr txBox="1">
            <a:spLocks noGrp="1"/>
          </p:cNvSpPr>
          <p:nvPr>
            <p:ph type="title"/>
          </p:nvPr>
        </p:nvSpPr>
        <p:spPr>
          <a:xfrm>
            <a:off x="623393" y="1052736"/>
            <a:ext cx="11041227" cy="566738"/>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3600"/>
              <a:buFont typeface="Calibri"/>
              <a:buNone/>
              <a:defRPr sz="36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182"/>
        <p:cNvGrpSpPr/>
        <p:nvPr/>
      </p:nvGrpSpPr>
      <p:grpSpPr>
        <a:xfrm>
          <a:off x="0" y="0"/>
          <a:ext cx="0" cy="0"/>
          <a:chOff x="0" y="0"/>
          <a:chExt cx="0" cy="0"/>
        </a:xfrm>
      </p:grpSpPr>
      <p:pic>
        <p:nvPicPr>
          <p:cNvPr id="183" name="Google Shape;183;p81"/>
          <p:cNvPicPr preferRelativeResize="0"/>
          <p:nvPr/>
        </p:nvPicPr>
        <p:blipFill rotWithShape="1">
          <a:blip r:embed="rId2">
            <a:alphaModFix/>
          </a:blip>
          <a:srcRect/>
          <a:stretch/>
        </p:blipFill>
        <p:spPr>
          <a:xfrm>
            <a:off x="1" y="0"/>
            <a:ext cx="12192411" cy="908720"/>
          </a:xfrm>
          <a:prstGeom prst="rect">
            <a:avLst/>
          </a:prstGeom>
          <a:noFill/>
          <a:ln>
            <a:noFill/>
          </a:ln>
        </p:spPr>
      </p:pic>
      <p:sp>
        <p:nvSpPr>
          <p:cNvPr id="184" name="Google Shape;184;p81"/>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sz="1200" b="1">
                <a:solidFill>
                  <a:srgbClr val="000000"/>
                </a:solidFill>
                <a:latin typeface="Calibri"/>
                <a:ea typeface="Calibri"/>
                <a:cs typeface="Calibri"/>
                <a:sym typeface="Calibri"/>
              </a:defRPr>
            </a:lvl1pPr>
            <a:lvl2pPr marL="0" lvl="1" indent="0" algn="r">
              <a:spcBef>
                <a:spcPts val="0"/>
              </a:spcBef>
              <a:buNone/>
              <a:defRPr sz="1200" b="1">
                <a:solidFill>
                  <a:srgbClr val="000000"/>
                </a:solidFill>
                <a:latin typeface="Calibri"/>
                <a:ea typeface="Calibri"/>
                <a:cs typeface="Calibri"/>
                <a:sym typeface="Calibri"/>
              </a:defRPr>
            </a:lvl2pPr>
            <a:lvl3pPr marL="0" lvl="2" indent="0" algn="r">
              <a:spcBef>
                <a:spcPts val="0"/>
              </a:spcBef>
              <a:buNone/>
              <a:defRPr sz="1200" b="1">
                <a:solidFill>
                  <a:srgbClr val="000000"/>
                </a:solidFill>
                <a:latin typeface="Calibri"/>
                <a:ea typeface="Calibri"/>
                <a:cs typeface="Calibri"/>
                <a:sym typeface="Calibri"/>
              </a:defRPr>
            </a:lvl3pPr>
            <a:lvl4pPr marL="0" lvl="3" indent="0" algn="r">
              <a:spcBef>
                <a:spcPts val="0"/>
              </a:spcBef>
              <a:buNone/>
              <a:defRPr sz="1200" b="1">
                <a:solidFill>
                  <a:srgbClr val="000000"/>
                </a:solidFill>
                <a:latin typeface="Calibri"/>
                <a:ea typeface="Calibri"/>
                <a:cs typeface="Calibri"/>
                <a:sym typeface="Calibri"/>
              </a:defRPr>
            </a:lvl4pPr>
            <a:lvl5pPr marL="0" lvl="4" indent="0" algn="r">
              <a:spcBef>
                <a:spcPts val="0"/>
              </a:spcBef>
              <a:buNone/>
              <a:defRPr sz="1200" b="1">
                <a:solidFill>
                  <a:srgbClr val="000000"/>
                </a:solidFill>
                <a:latin typeface="Calibri"/>
                <a:ea typeface="Calibri"/>
                <a:cs typeface="Calibri"/>
                <a:sym typeface="Calibri"/>
              </a:defRPr>
            </a:lvl5pPr>
            <a:lvl6pPr marL="0" lvl="5" indent="0" algn="r">
              <a:spcBef>
                <a:spcPts val="0"/>
              </a:spcBef>
              <a:buNone/>
              <a:defRPr sz="1200" b="1">
                <a:solidFill>
                  <a:srgbClr val="000000"/>
                </a:solidFill>
                <a:latin typeface="Calibri"/>
                <a:ea typeface="Calibri"/>
                <a:cs typeface="Calibri"/>
                <a:sym typeface="Calibri"/>
              </a:defRPr>
            </a:lvl6pPr>
            <a:lvl7pPr marL="0" lvl="6" indent="0" algn="r">
              <a:spcBef>
                <a:spcPts val="0"/>
              </a:spcBef>
              <a:buNone/>
              <a:defRPr sz="1200" b="1">
                <a:solidFill>
                  <a:srgbClr val="000000"/>
                </a:solidFill>
                <a:latin typeface="Calibri"/>
                <a:ea typeface="Calibri"/>
                <a:cs typeface="Calibri"/>
                <a:sym typeface="Calibri"/>
              </a:defRPr>
            </a:lvl7pPr>
            <a:lvl8pPr marL="0" lvl="7" indent="0" algn="r">
              <a:spcBef>
                <a:spcPts val="0"/>
              </a:spcBef>
              <a:buNone/>
              <a:defRPr sz="1200" b="1">
                <a:solidFill>
                  <a:srgbClr val="000000"/>
                </a:solidFill>
                <a:latin typeface="Calibri"/>
                <a:ea typeface="Calibri"/>
                <a:cs typeface="Calibri"/>
                <a:sym typeface="Calibri"/>
              </a:defRPr>
            </a:lvl8pPr>
            <a:lvl9pPr marL="0" lvl="8" indent="0" algn="r">
              <a:spcBef>
                <a:spcPts val="0"/>
              </a:spcBef>
              <a:buNone/>
              <a:defRPr sz="1200" b="1">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85" name="Google Shape;185;p81" descr="D:\Template Powerpoint\logo bps.png"/>
          <p:cNvPicPr preferRelativeResize="0"/>
          <p:nvPr/>
        </p:nvPicPr>
        <p:blipFill rotWithShape="1">
          <a:blip r:embed="rId3">
            <a:alphaModFix/>
          </a:blip>
          <a:srcRect/>
          <a:stretch/>
        </p:blipFill>
        <p:spPr>
          <a:xfrm>
            <a:off x="1448697" y="188640"/>
            <a:ext cx="2822307" cy="566738"/>
          </a:xfrm>
          <a:prstGeom prst="rect">
            <a:avLst/>
          </a:prstGeom>
          <a:noFill/>
          <a:ln>
            <a:noFill/>
          </a:ln>
        </p:spPr>
      </p:pic>
      <p:pic>
        <p:nvPicPr>
          <p:cNvPr id="186" name="Google Shape;186;p81" descr="D:\Template Powerpoint\pelopor data statistik.png"/>
          <p:cNvPicPr preferRelativeResize="0"/>
          <p:nvPr/>
        </p:nvPicPr>
        <p:blipFill rotWithShape="1">
          <a:blip r:embed="rId4">
            <a:alphaModFix/>
          </a:blip>
          <a:srcRect/>
          <a:stretch/>
        </p:blipFill>
        <p:spPr>
          <a:xfrm>
            <a:off x="9952569" y="-3430"/>
            <a:ext cx="2239433" cy="850900"/>
          </a:xfrm>
          <a:prstGeom prst="rect">
            <a:avLst/>
          </a:prstGeom>
          <a:noFill/>
          <a:ln>
            <a:noFill/>
          </a:ln>
        </p:spPr>
      </p:pic>
      <p:sp>
        <p:nvSpPr>
          <p:cNvPr id="187" name="Google Shape;187;p81"/>
          <p:cNvSpPr txBox="1">
            <a:spLocks noGrp="1"/>
          </p:cNvSpPr>
          <p:nvPr>
            <p:ph type="body" idx="1"/>
          </p:nvPr>
        </p:nvSpPr>
        <p:spPr>
          <a:xfrm>
            <a:off x="624419" y="1916832"/>
            <a:ext cx="11040533" cy="4248150"/>
          </a:xfrm>
          <a:prstGeom prst="rect">
            <a:avLst/>
          </a:prstGeom>
          <a:noFill/>
          <a:ln>
            <a:noFill/>
          </a:ln>
        </p:spPr>
        <p:txBody>
          <a:bodyPr spcFirstLastPara="1" wrap="square" lIns="104925" tIns="52450" rIns="104925" bIns="5245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8" name="Google Shape;188;p81"/>
          <p:cNvSpPr txBox="1">
            <a:spLocks noGrp="1"/>
          </p:cNvSpPr>
          <p:nvPr>
            <p:ph type="title"/>
          </p:nvPr>
        </p:nvSpPr>
        <p:spPr>
          <a:xfrm>
            <a:off x="623393" y="1052736"/>
            <a:ext cx="11041227" cy="566738"/>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3600"/>
              <a:buFont typeface="Calibri"/>
              <a:buNone/>
              <a:defRPr sz="36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Section Header">
  <p:cSld name="3_Section Header">
    <p:spTree>
      <p:nvGrpSpPr>
        <p:cNvPr id="1" name="Shape 189"/>
        <p:cNvGrpSpPr/>
        <p:nvPr/>
      </p:nvGrpSpPr>
      <p:grpSpPr>
        <a:xfrm>
          <a:off x="0" y="0"/>
          <a:ext cx="0" cy="0"/>
          <a:chOff x="0" y="0"/>
          <a:chExt cx="0" cy="0"/>
        </a:xfrm>
      </p:grpSpPr>
      <p:pic>
        <p:nvPicPr>
          <p:cNvPr id="190" name="Google Shape;190;p82"/>
          <p:cNvPicPr preferRelativeResize="0"/>
          <p:nvPr/>
        </p:nvPicPr>
        <p:blipFill rotWithShape="1">
          <a:blip r:embed="rId2">
            <a:alphaModFix/>
          </a:blip>
          <a:srcRect/>
          <a:stretch/>
        </p:blipFill>
        <p:spPr>
          <a:xfrm>
            <a:off x="1" y="0"/>
            <a:ext cx="12192411" cy="908720"/>
          </a:xfrm>
          <a:prstGeom prst="rect">
            <a:avLst/>
          </a:prstGeom>
          <a:noFill/>
          <a:ln>
            <a:noFill/>
          </a:ln>
        </p:spPr>
      </p:pic>
      <p:sp>
        <p:nvSpPr>
          <p:cNvPr id="191" name="Google Shape;191;p82"/>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sz="1200" b="1">
                <a:solidFill>
                  <a:srgbClr val="000000"/>
                </a:solidFill>
                <a:latin typeface="Calibri"/>
                <a:ea typeface="Calibri"/>
                <a:cs typeface="Calibri"/>
                <a:sym typeface="Calibri"/>
              </a:defRPr>
            </a:lvl1pPr>
            <a:lvl2pPr marL="0" lvl="1" indent="0" algn="r">
              <a:spcBef>
                <a:spcPts val="0"/>
              </a:spcBef>
              <a:buNone/>
              <a:defRPr sz="1200" b="1">
                <a:solidFill>
                  <a:srgbClr val="000000"/>
                </a:solidFill>
                <a:latin typeface="Calibri"/>
                <a:ea typeface="Calibri"/>
                <a:cs typeface="Calibri"/>
                <a:sym typeface="Calibri"/>
              </a:defRPr>
            </a:lvl2pPr>
            <a:lvl3pPr marL="0" lvl="2" indent="0" algn="r">
              <a:spcBef>
                <a:spcPts val="0"/>
              </a:spcBef>
              <a:buNone/>
              <a:defRPr sz="1200" b="1">
                <a:solidFill>
                  <a:srgbClr val="000000"/>
                </a:solidFill>
                <a:latin typeface="Calibri"/>
                <a:ea typeface="Calibri"/>
                <a:cs typeface="Calibri"/>
                <a:sym typeface="Calibri"/>
              </a:defRPr>
            </a:lvl3pPr>
            <a:lvl4pPr marL="0" lvl="3" indent="0" algn="r">
              <a:spcBef>
                <a:spcPts val="0"/>
              </a:spcBef>
              <a:buNone/>
              <a:defRPr sz="1200" b="1">
                <a:solidFill>
                  <a:srgbClr val="000000"/>
                </a:solidFill>
                <a:latin typeface="Calibri"/>
                <a:ea typeface="Calibri"/>
                <a:cs typeface="Calibri"/>
                <a:sym typeface="Calibri"/>
              </a:defRPr>
            </a:lvl4pPr>
            <a:lvl5pPr marL="0" lvl="4" indent="0" algn="r">
              <a:spcBef>
                <a:spcPts val="0"/>
              </a:spcBef>
              <a:buNone/>
              <a:defRPr sz="1200" b="1">
                <a:solidFill>
                  <a:srgbClr val="000000"/>
                </a:solidFill>
                <a:latin typeface="Calibri"/>
                <a:ea typeface="Calibri"/>
                <a:cs typeface="Calibri"/>
                <a:sym typeface="Calibri"/>
              </a:defRPr>
            </a:lvl5pPr>
            <a:lvl6pPr marL="0" lvl="5" indent="0" algn="r">
              <a:spcBef>
                <a:spcPts val="0"/>
              </a:spcBef>
              <a:buNone/>
              <a:defRPr sz="1200" b="1">
                <a:solidFill>
                  <a:srgbClr val="000000"/>
                </a:solidFill>
                <a:latin typeface="Calibri"/>
                <a:ea typeface="Calibri"/>
                <a:cs typeface="Calibri"/>
                <a:sym typeface="Calibri"/>
              </a:defRPr>
            </a:lvl6pPr>
            <a:lvl7pPr marL="0" lvl="6" indent="0" algn="r">
              <a:spcBef>
                <a:spcPts val="0"/>
              </a:spcBef>
              <a:buNone/>
              <a:defRPr sz="1200" b="1">
                <a:solidFill>
                  <a:srgbClr val="000000"/>
                </a:solidFill>
                <a:latin typeface="Calibri"/>
                <a:ea typeface="Calibri"/>
                <a:cs typeface="Calibri"/>
                <a:sym typeface="Calibri"/>
              </a:defRPr>
            </a:lvl7pPr>
            <a:lvl8pPr marL="0" lvl="7" indent="0" algn="r">
              <a:spcBef>
                <a:spcPts val="0"/>
              </a:spcBef>
              <a:buNone/>
              <a:defRPr sz="1200" b="1">
                <a:solidFill>
                  <a:srgbClr val="000000"/>
                </a:solidFill>
                <a:latin typeface="Calibri"/>
                <a:ea typeface="Calibri"/>
                <a:cs typeface="Calibri"/>
                <a:sym typeface="Calibri"/>
              </a:defRPr>
            </a:lvl8pPr>
            <a:lvl9pPr marL="0" lvl="8" indent="0" algn="r">
              <a:spcBef>
                <a:spcPts val="0"/>
              </a:spcBef>
              <a:buNone/>
              <a:defRPr sz="1200" b="1">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2" name="Google Shape;192;p82" descr="D:\Template Powerpoint\logo bps.png"/>
          <p:cNvPicPr preferRelativeResize="0"/>
          <p:nvPr/>
        </p:nvPicPr>
        <p:blipFill rotWithShape="1">
          <a:blip r:embed="rId3">
            <a:alphaModFix/>
          </a:blip>
          <a:srcRect/>
          <a:stretch/>
        </p:blipFill>
        <p:spPr>
          <a:xfrm>
            <a:off x="1448697" y="188640"/>
            <a:ext cx="2822307" cy="566738"/>
          </a:xfrm>
          <a:prstGeom prst="rect">
            <a:avLst/>
          </a:prstGeom>
          <a:noFill/>
          <a:ln>
            <a:noFill/>
          </a:ln>
        </p:spPr>
      </p:pic>
      <p:pic>
        <p:nvPicPr>
          <p:cNvPr id="193" name="Google Shape;193;p82" descr="D:\Template Powerpoint\pelopor data statistik.png"/>
          <p:cNvPicPr preferRelativeResize="0"/>
          <p:nvPr/>
        </p:nvPicPr>
        <p:blipFill rotWithShape="1">
          <a:blip r:embed="rId4">
            <a:alphaModFix/>
          </a:blip>
          <a:srcRect/>
          <a:stretch/>
        </p:blipFill>
        <p:spPr>
          <a:xfrm>
            <a:off x="9952569" y="-3430"/>
            <a:ext cx="2239433" cy="850900"/>
          </a:xfrm>
          <a:prstGeom prst="rect">
            <a:avLst/>
          </a:prstGeom>
          <a:noFill/>
          <a:ln>
            <a:noFill/>
          </a:ln>
        </p:spPr>
      </p:pic>
      <p:sp>
        <p:nvSpPr>
          <p:cNvPr id="194" name="Google Shape;194;p82"/>
          <p:cNvSpPr txBox="1">
            <a:spLocks noGrp="1"/>
          </p:cNvSpPr>
          <p:nvPr>
            <p:ph type="body" idx="1"/>
          </p:nvPr>
        </p:nvSpPr>
        <p:spPr>
          <a:xfrm>
            <a:off x="624419" y="1916832"/>
            <a:ext cx="11040533" cy="4248150"/>
          </a:xfrm>
          <a:prstGeom prst="rect">
            <a:avLst/>
          </a:prstGeom>
          <a:noFill/>
          <a:ln>
            <a:noFill/>
          </a:ln>
        </p:spPr>
        <p:txBody>
          <a:bodyPr spcFirstLastPara="1" wrap="square" lIns="104925" tIns="52450" rIns="104925" bIns="5245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82"/>
          <p:cNvSpPr txBox="1">
            <a:spLocks noGrp="1"/>
          </p:cNvSpPr>
          <p:nvPr>
            <p:ph type="title"/>
          </p:nvPr>
        </p:nvSpPr>
        <p:spPr>
          <a:xfrm>
            <a:off x="623393" y="1052736"/>
            <a:ext cx="11041227" cy="566738"/>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3600"/>
              <a:buFont typeface="Calibri"/>
              <a:buNone/>
              <a:defRPr sz="36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6"/>
        <p:cNvGrpSpPr/>
        <p:nvPr/>
      </p:nvGrpSpPr>
      <p:grpSpPr>
        <a:xfrm>
          <a:off x="0" y="0"/>
          <a:ext cx="0" cy="0"/>
          <a:chOff x="0" y="0"/>
          <a:chExt cx="0" cy="0"/>
        </a:xfrm>
      </p:grpSpPr>
      <p:sp>
        <p:nvSpPr>
          <p:cNvPr id="197" name="Google Shape;197;p83"/>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3"/>
          <p:cNvSpPr txBox="1">
            <a:spLocks noGrp="1"/>
          </p:cNvSpPr>
          <p:nvPr>
            <p:ph type="body" idx="1"/>
          </p:nvPr>
        </p:nvSpPr>
        <p:spPr>
          <a:xfrm>
            <a:off x="609601" y="1600200"/>
            <a:ext cx="10972800" cy="4525963"/>
          </a:xfrm>
          <a:prstGeom prst="rect">
            <a:avLst/>
          </a:prstGeom>
          <a:noFill/>
          <a:ln>
            <a:noFill/>
          </a:ln>
        </p:spPr>
        <p:txBody>
          <a:bodyPr spcFirstLastPara="1" wrap="square" lIns="104925" tIns="52450" rIns="104925" bIns="52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9" name="Google Shape;199;p83"/>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83"/>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8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2"/>
        <p:cNvGrpSpPr/>
        <p:nvPr/>
      </p:nvGrpSpPr>
      <p:grpSpPr>
        <a:xfrm>
          <a:off x="0" y="0"/>
          <a:ext cx="0" cy="0"/>
          <a:chOff x="0" y="0"/>
          <a:chExt cx="0" cy="0"/>
        </a:xfrm>
      </p:grpSpPr>
      <p:sp>
        <p:nvSpPr>
          <p:cNvPr id="203" name="Google Shape;203;p84"/>
          <p:cNvSpPr txBox="1">
            <a:spLocks noGrp="1"/>
          </p:cNvSpPr>
          <p:nvPr>
            <p:ph type="ctrTitle"/>
          </p:nvPr>
        </p:nvSpPr>
        <p:spPr>
          <a:xfrm>
            <a:off x="914400" y="2130426"/>
            <a:ext cx="10363201" cy="1470025"/>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84"/>
          <p:cNvSpPr txBox="1">
            <a:spLocks noGrp="1"/>
          </p:cNvSpPr>
          <p:nvPr>
            <p:ph type="subTitle" idx="1"/>
          </p:nvPr>
        </p:nvSpPr>
        <p:spPr>
          <a:xfrm>
            <a:off x="1828801" y="3886201"/>
            <a:ext cx="8534400" cy="1752600"/>
          </a:xfrm>
          <a:prstGeom prst="rect">
            <a:avLst/>
          </a:prstGeom>
          <a:noFill/>
          <a:ln>
            <a:noFill/>
          </a:ln>
        </p:spPr>
        <p:txBody>
          <a:bodyPr spcFirstLastPara="1" wrap="square" lIns="104925" tIns="52450" rIns="104925" bIns="52450" anchor="t" anchorCtr="0">
            <a:normAutofit/>
          </a:bodyPr>
          <a:lstStyle>
            <a:lvl1pPr lvl="0" algn="ctr">
              <a:spcBef>
                <a:spcPts val="671"/>
              </a:spcBef>
              <a:spcAft>
                <a:spcPts val="0"/>
              </a:spcAft>
              <a:buClr>
                <a:srgbClr val="888888"/>
              </a:buClr>
              <a:buSzPts val="3356"/>
              <a:buNone/>
              <a:defRPr>
                <a:solidFill>
                  <a:srgbClr val="888888"/>
                </a:solidFill>
              </a:defRPr>
            </a:lvl1pPr>
            <a:lvl2pPr lvl="1" algn="ctr">
              <a:spcBef>
                <a:spcPts val="580"/>
              </a:spcBef>
              <a:spcAft>
                <a:spcPts val="0"/>
              </a:spcAft>
              <a:buClr>
                <a:srgbClr val="888888"/>
              </a:buClr>
              <a:buSzPts val="2902"/>
              <a:buNone/>
              <a:defRPr>
                <a:solidFill>
                  <a:srgbClr val="888888"/>
                </a:solidFill>
              </a:defRPr>
            </a:lvl2pPr>
            <a:lvl3pPr lvl="2" algn="ctr">
              <a:spcBef>
                <a:spcPts val="508"/>
              </a:spcBef>
              <a:spcAft>
                <a:spcPts val="0"/>
              </a:spcAft>
              <a:buClr>
                <a:srgbClr val="888888"/>
              </a:buClr>
              <a:buSzPts val="2540"/>
              <a:buNone/>
              <a:defRPr>
                <a:solidFill>
                  <a:srgbClr val="888888"/>
                </a:solidFill>
              </a:defRPr>
            </a:lvl3pPr>
            <a:lvl4pPr lvl="3" algn="ctr">
              <a:spcBef>
                <a:spcPts val="417"/>
              </a:spcBef>
              <a:spcAft>
                <a:spcPts val="0"/>
              </a:spcAft>
              <a:buClr>
                <a:srgbClr val="888888"/>
              </a:buClr>
              <a:buSzPts val="2086"/>
              <a:buNone/>
              <a:defRPr>
                <a:solidFill>
                  <a:srgbClr val="888888"/>
                </a:solidFill>
              </a:defRPr>
            </a:lvl4pPr>
            <a:lvl5pPr lvl="4" algn="ctr">
              <a:spcBef>
                <a:spcPts val="417"/>
              </a:spcBef>
              <a:spcAft>
                <a:spcPts val="0"/>
              </a:spcAft>
              <a:buClr>
                <a:srgbClr val="888888"/>
              </a:buClr>
              <a:buSzPts val="2086"/>
              <a:buNone/>
              <a:defRPr>
                <a:solidFill>
                  <a:srgbClr val="888888"/>
                </a:solidFill>
              </a:defRPr>
            </a:lvl5pPr>
            <a:lvl6pPr lvl="5" algn="ctr">
              <a:spcBef>
                <a:spcPts val="417"/>
              </a:spcBef>
              <a:spcAft>
                <a:spcPts val="0"/>
              </a:spcAft>
              <a:buClr>
                <a:srgbClr val="888888"/>
              </a:buClr>
              <a:buSzPts val="2086"/>
              <a:buNone/>
              <a:defRPr>
                <a:solidFill>
                  <a:srgbClr val="888888"/>
                </a:solidFill>
              </a:defRPr>
            </a:lvl6pPr>
            <a:lvl7pPr lvl="6" algn="ctr">
              <a:spcBef>
                <a:spcPts val="417"/>
              </a:spcBef>
              <a:spcAft>
                <a:spcPts val="0"/>
              </a:spcAft>
              <a:buClr>
                <a:srgbClr val="888888"/>
              </a:buClr>
              <a:buSzPts val="2086"/>
              <a:buNone/>
              <a:defRPr>
                <a:solidFill>
                  <a:srgbClr val="888888"/>
                </a:solidFill>
              </a:defRPr>
            </a:lvl7pPr>
            <a:lvl8pPr lvl="7" algn="ctr">
              <a:spcBef>
                <a:spcPts val="417"/>
              </a:spcBef>
              <a:spcAft>
                <a:spcPts val="0"/>
              </a:spcAft>
              <a:buClr>
                <a:srgbClr val="888888"/>
              </a:buClr>
              <a:buSzPts val="2086"/>
              <a:buNone/>
              <a:defRPr>
                <a:solidFill>
                  <a:srgbClr val="888888"/>
                </a:solidFill>
              </a:defRPr>
            </a:lvl8pPr>
            <a:lvl9pPr lvl="8" algn="ctr">
              <a:spcBef>
                <a:spcPts val="417"/>
              </a:spcBef>
              <a:spcAft>
                <a:spcPts val="0"/>
              </a:spcAft>
              <a:buClr>
                <a:srgbClr val="888888"/>
              </a:buClr>
              <a:buSzPts val="2086"/>
              <a:buNone/>
              <a:defRPr>
                <a:solidFill>
                  <a:srgbClr val="888888"/>
                </a:solidFill>
              </a:defRPr>
            </a:lvl9pPr>
          </a:lstStyle>
          <a:p>
            <a:endParaRPr/>
          </a:p>
        </p:txBody>
      </p:sp>
      <p:sp>
        <p:nvSpPr>
          <p:cNvPr id="205" name="Google Shape;205;p84"/>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84"/>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8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8"/>
        <p:cNvGrpSpPr/>
        <p:nvPr/>
      </p:nvGrpSpPr>
      <p:grpSpPr>
        <a:xfrm>
          <a:off x="0" y="0"/>
          <a:ext cx="0" cy="0"/>
          <a:chOff x="0" y="0"/>
          <a:chExt cx="0" cy="0"/>
        </a:xfrm>
      </p:grpSpPr>
      <p:sp>
        <p:nvSpPr>
          <p:cNvPr id="209" name="Google Shape;209;p85"/>
          <p:cNvSpPr txBox="1">
            <a:spLocks noGrp="1"/>
          </p:cNvSpPr>
          <p:nvPr>
            <p:ph type="title"/>
          </p:nvPr>
        </p:nvSpPr>
        <p:spPr>
          <a:xfrm>
            <a:off x="963084" y="4406901"/>
            <a:ext cx="10363201" cy="1362075"/>
          </a:xfrm>
          <a:prstGeom prst="rect">
            <a:avLst/>
          </a:prstGeom>
          <a:noFill/>
          <a:ln>
            <a:noFill/>
          </a:ln>
        </p:spPr>
        <p:txBody>
          <a:bodyPr spcFirstLastPara="1" wrap="square" lIns="104925" tIns="52450" rIns="104925" bIns="52450" anchor="t" anchorCtr="0">
            <a:normAutofit/>
          </a:bodyPr>
          <a:lstStyle>
            <a:lvl1pPr lvl="0" algn="l">
              <a:spcBef>
                <a:spcPts val="0"/>
              </a:spcBef>
              <a:spcAft>
                <a:spcPts val="0"/>
              </a:spcAft>
              <a:buClr>
                <a:schemeClr val="dk1"/>
              </a:buClr>
              <a:buSzPts val="4172"/>
              <a:buFont typeface="Calibri"/>
              <a:buNone/>
              <a:defRPr sz="4172"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85"/>
          <p:cNvSpPr txBox="1">
            <a:spLocks noGrp="1"/>
          </p:cNvSpPr>
          <p:nvPr>
            <p:ph type="body" idx="1"/>
          </p:nvPr>
        </p:nvSpPr>
        <p:spPr>
          <a:xfrm>
            <a:off x="963084" y="2906713"/>
            <a:ext cx="10363201" cy="1500187"/>
          </a:xfrm>
          <a:prstGeom prst="rect">
            <a:avLst/>
          </a:prstGeom>
          <a:noFill/>
          <a:ln>
            <a:noFill/>
          </a:ln>
        </p:spPr>
        <p:txBody>
          <a:bodyPr spcFirstLastPara="1" wrap="square" lIns="104925" tIns="52450" rIns="104925" bIns="52450" anchor="b" anchorCtr="0">
            <a:normAutofit/>
          </a:bodyPr>
          <a:lstStyle>
            <a:lvl1pPr marL="457200" lvl="0" indent="-228600" algn="l">
              <a:spcBef>
                <a:spcPts val="417"/>
              </a:spcBef>
              <a:spcAft>
                <a:spcPts val="0"/>
              </a:spcAft>
              <a:buClr>
                <a:srgbClr val="888888"/>
              </a:buClr>
              <a:buSzPts val="2086"/>
              <a:buNone/>
              <a:defRPr sz="2086">
                <a:solidFill>
                  <a:srgbClr val="888888"/>
                </a:solidFill>
              </a:defRPr>
            </a:lvl1pPr>
            <a:lvl2pPr marL="914400" lvl="1" indent="-228600" algn="l">
              <a:spcBef>
                <a:spcPts val="381"/>
              </a:spcBef>
              <a:spcAft>
                <a:spcPts val="0"/>
              </a:spcAft>
              <a:buClr>
                <a:srgbClr val="888888"/>
              </a:buClr>
              <a:buSzPts val="1905"/>
              <a:buNone/>
              <a:defRPr sz="1904">
                <a:solidFill>
                  <a:srgbClr val="888888"/>
                </a:solidFill>
              </a:defRPr>
            </a:lvl2pPr>
            <a:lvl3pPr marL="1371600" lvl="2" indent="-228600" algn="l">
              <a:spcBef>
                <a:spcPts val="327"/>
              </a:spcBef>
              <a:spcAft>
                <a:spcPts val="0"/>
              </a:spcAft>
              <a:buClr>
                <a:srgbClr val="888888"/>
              </a:buClr>
              <a:buSzPts val="1633"/>
              <a:buNone/>
              <a:defRPr sz="1633">
                <a:solidFill>
                  <a:srgbClr val="888888"/>
                </a:solidFill>
              </a:defRPr>
            </a:lvl3pPr>
            <a:lvl4pPr marL="1828800" lvl="3" indent="-228600" algn="l">
              <a:spcBef>
                <a:spcPts val="290"/>
              </a:spcBef>
              <a:spcAft>
                <a:spcPts val="0"/>
              </a:spcAft>
              <a:buClr>
                <a:srgbClr val="888888"/>
              </a:buClr>
              <a:buSzPts val="1451"/>
              <a:buNone/>
              <a:defRPr sz="1451">
                <a:solidFill>
                  <a:srgbClr val="888888"/>
                </a:solidFill>
              </a:defRPr>
            </a:lvl4pPr>
            <a:lvl5pPr marL="2286000" lvl="4" indent="-228600" algn="l">
              <a:spcBef>
                <a:spcPts val="290"/>
              </a:spcBef>
              <a:spcAft>
                <a:spcPts val="0"/>
              </a:spcAft>
              <a:buClr>
                <a:srgbClr val="888888"/>
              </a:buClr>
              <a:buSzPts val="1451"/>
              <a:buNone/>
              <a:defRPr sz="1451">
                <a:solidFill>
                  <a:srgbClr val="888888"/>
                </a:solidFill>
              </a:defRPr>
            </a:lvl5pPr>
            <a:lvl6pPr marL="2743200" lvl="5" indent="-228600" algn="l">
              <a:spcBef>
                <a:spcPts val="290"/>
              </a:spcBef>
              <a:spcAft>
                <a:spcPts val="0"/>
              </a:spcAft>
              <a:buClr>
                <a:srgbClr val="888888"/>
              </a:buClr>
              <a:buSzPts val="1451"/>
              <a:buNone/>
              <a:defRPr sz="1451">
                <a:solidFill>
                  <a:srgbClr val="888888"/>
                </a:solidFill>
              </a:defRPr>
            </a:lvl6pPr>
            <a:lvl7pPr marL="3200400" lvl="6" indent="-228600" algn="l">
              <a:spcBef>
                <a:spcPts val="290"/>
              </a:spcBef>
              <a:spcAft>
                <a:spcPts val="0"/>
              </a:spcAft>
              <a:buClr>
                <a:srgbClr val="888888"/>
              </a:buClr>
              <a:buSzPts val="1451"/>
              <a:buNone/>
              <a:defRPr sz="1451">
                <a:solidFill>
                  <a:srgbClr val="888888"/>
                </a:solidFill>
              </a:defRPr>
            </a:lvl7pPr>
            <a:lvl8pPr marL="3657600" lvl="7" indent="-228600" algn="l">
              <a:spcBef>
                <a:spcPts val="290"/>
              </a:spcBef>
              <a:spcAft>
                <a:spcPts val="0"/>
              </a:spcAft>
              <a:buClr>
                <a:srgbClr val="888888"/>
              </a:buClr>
              <a:buSzPts val="1451"/>
              <a:buNone/>
              <a:defRPr sz="1451">
                <a:solidFill>
                  <a:srgbClr val="888888"/>
                </a:solidFill>
              </a:defRPr>
            </a:lvl8pPr>
            <a:lvl9pPr marL="4114800" lvl="8" indent="-228600" algn="l">
              <a:spcBef>
                <a:spcPts val="290"/>
              </a:spcBef>
              <a:spcAft>
                <a:spcPts val="0"/>
              </a:spcAft>
              <a:buClr>
                <a:srgbClr val="888888"/>
              </a:buClr>
              <a:buSzPts val="1451"/>
              <a:buNone/>
              <a:defRPr sz="1451">
                <a:solidFill>
                  <a:srgbClr val="888888"/>
                </a:solidFill>
              </a:defRPr>
            </a:lvl9pPr>
          </a:lstStyle>
          <a:p>
            <a:endParaRPr/>
          </a:p>
        </p:txBody>
      </p:sp>
      <p:sp>
        <p:nvSpPr>
          <p:cNvPr id="211" name="Google Shape;211;p85"/>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85"/>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8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4"/>
        <p:cNvGrpSpPr/>
        <p:nvPr/>
      </p:nvGrpSpPr>
      <p:grpSpPr>
        <a:xfrm>
          <a:off x="0" y="0"/>
          <a:ext cx="0" cy="0"/>
          <a:chOff x="0" y="0"/>
          <a:chExt cx="0" cy="0"/>
        </a:xfrm>
      </p:grpSpPr>
      <p:sp>
        <p:nvSpPr>
          <p:cNvPr id="215" name="Google Shape;215;p86"/>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 name="Google Shape;216;p86"/>
          <p:cNvSpPr txBox="1">
            <a:spLocks noGrp="1"/>
          </p:cNvSpPr>
          <p:nvPr>
            <p:ph type="body" idx="1"/>
          </p:nvPr>
        </p:nvSpPr>
        <p:spPr>
          <a:xfrm>
            <a:off x="609600" y="1600200"/>
            <a:ext cx="5384800" cy="4525963"/>
          </a:xfrm>
          <a:prstGeom prst="rect">
            <a:avLst/>
          </a:prstGeom>
          <a:noFill/>
          <a:ln>
            <a:noFill/>
          </a:ln>
        </p:spPr>
        <p:txBody>
          <a:bodyPr spcFirstLastPara="1" wrap="square" lIns="104925" tIns="52450" rIns="104925" bIns="52450" anchor="t" anchorCtr="0">
            <a:normAutofit/>
          </a:bodyPr>
          <a:lstStyle>
            <a:lvl1pPr marL="457200" lvl="0" indent="-412877" algn="l">
              <a:spcBef>
                <a:spcPts val="580"/>
              </a:spcBef>
              <a:spcAft>
                <a:spcPts val="0"/>
              </a:spcAft>
              <a:buClr>
                <a:schemeClr val="dk1"/>
              </a:buClr>
              <a:buSzPts val="2902"/>
              <a:buChar char="•"/>
              <a:defRPr sz="2902"/>
            </a:lvl1pPr>
            <a:lvl2pPr marL="914400" lvl="1" indent="-389890" algn="l">
              <a:spcBef>
                <a:spcPts val="508"/>
              </a:spcBef>
              <a:spcAft>
                <a:spcPts val="0"/>
              </a:spcAft>
              <a:buClr>
                <a:schemeClr val="dk1"/>
              </a:buClr>
              <a:buSzPts val="2540"/>
              <a:buChar char="–"/>
              <a:defRPr sz="2540"/>
            </a:lvl2pPr>
            <a:lvl3pPr marL="1371600" lvl="2" indent="-361061" algn="l">
              <a:spcBef>
                <a:spcPts val="417"/>
              </a:spcBef>
              <a:spcAft>
                <a:spcPts val="0"/>
              </a:spcAft>
              <a:buClr>
                <a:schemeClr val="dk1"/>
              </a:buClr>
              <a:buSzPts val="2086"/>
              <a:buChar char="•"/>
              <a:defRPr sz="2086"/>
            </a:lvl3pPr>
            <a:lvl4pPr marL="1828800" lvl="3" indent="-349567" algn="l">
              <a:spcBef>
                <a:spcPts val="381"/>
              </a:spcBef>
              <a:spcAft>
                <a:spcPts val="0"/>
              </a:spcAft>
              <a:buClr>
                <a:schemeClr val="dk1"/>
              </a:buClr>
              <a:buSzPts val="1905"/>
              <a:buChar char="–"/>
              <a:defRPr sz="1904"/>
            </a:lvl4pPr>
            <a:lvl5pPr marL="2286000" lvl="4" indent="-349567" algn="l">
              <a:spcBef>
                <a:spcPts val="381"/>
              </a:spcBef>
              <a:spcAft>
                <a:spcPts val="0"/>
              </a:spcAft>
              <a:buClr>
                <a:schemeClr val="dk1"/>
              </a:buClr>
              <a:buSzPts val="1905"/>
              <a:buChar char="»"/>
              <a:defRPr sz="1904"/>
            </a:lvl5pPr>
            <a:lvl6pPr marL="2743200" lvl="5" indent="-349567" algn="l">
              <a:spcBef>
                <a:spcPts val="381"/>
              </a:spcBef>
              <a:spcAft>
                <a:spcPts val="0"/>
              </a:spcAft>
              <a:buClr>
                <a:schemeClr val="dk1"/>
              </a:buClr>
              <a:buSzPts val="1905"/>
              <a:buChar char="•"/>
              <a:defRPr sz="1904"/>
            </a:lvl6pPr>
            <a:lvl7pPr marL="3200400" lvl="6" indent="-349567" algn="l">
              <a:spcBef>
                <a:spcPts val="381"/>
              </a:spcBef>
              <a:spcAft>
                <a:spcPts val="0"/>
              </a:spcAft>
              <a:buClr>
                <a:schemeClr val="dk1"/>
              </a:buClr>
              <a:buSzPts val="1905"/>
              <a:buChar char="•"/>
              <a:defRPr sz="1904"/>
            </a:lvl7pPr>
            <a:lvl8pPr marL="3657600" lvl="7" indent="-349567" algn="l">
              <a:spcBef>
                <a:spcPts val="381"/>
              </a:spcBef>
              <a:spcAft>
                <a:spcPts val="0"/>
              </a:spcAft>
              <a:buClr>
                <a:schemeClr val="dk1"/>
              </a:buClr>
              <a:buSzPts val="1905"/>
              <a:buChar char="•"/>
              <a:defRPr sz="1904"/>
            </a:lvl8pPr>
            <a:lvl9pPr marL="4114800" lvl="8" indent="-349567" algn="l">
              <a:spcBef>
                <a:spcPts val="381"/>
              </a:spcBef>
              <a:spcAft>
                <a:spcPts val="0"/>
              </a:spcAft>
              <a:buClr>
                <a:schemeClr val="dk1"/>
              </a:buClr>
              <a:buSzPts val="1905"/>
              <a:buChar char="•"/>
              <a:defRPr sz="1904"/>
            </a:lvl9pPr>
          </a:lstStyle>
          <a:p>
            <a:endParaRPr/>
          </a:p>
        </p:txBody>
      </p:sp>
      <p:sp>
        <p:nvSpPr>
          <p:cNvPr id="217" name="Google Shape;217;p86"/>
          <p:cNvSpPr txBox="1">
            <a:spLocks noGrp="1"/>
          </p:cNvSpPr>
          <p:nvPr>
            <p:ph type="body" idx="2"/>
          </p:nvPr>
        </p:nvSpPr>
        <p:spPr>
          <a:xfrm>
            <a:off x="6197600" y="1600200"/>
            <a:ext cx="5384800" cy="4525963"/>
          </a:xfrm>
          <a:prstGeom prst="rect">
            <a:avLst/>
          </a:prstGeom>
          <a:noFill/>
          <a:ln>
            <a:noFill/>
          </a:ln>
        </p:spPr>
        <p:txBody>
          <a:bodyPr spcFirstLastPara="1" wrap="square" lIns="104925" tIns="52450" rIns="104925" bIns="52450" anchor="t" anchorCtr="0">
            <a:normAutofit/>
          </a:bodyPr>
          <a:lstStyle>
            <a:lvl1pPr marL="457200" lvl="0" indent="-412877" algn="l">
              <a:spcBef>
                <a:spcPts val="580"/>
              </a:spcBef>
              <a:spcAft>
                <a:spcPts val="0"/>
              </a:spcAft>
              <a:buClr>
                <a:schemeClr val="dk1"/>
              </a:buClr>
              <a:buSzPts val="2902"/>
              <a:buChar char="•"/>
              <a:defRPr sz="2902"/>
            </a:lvl1pPr>
            <a:lvl2pPr marL="914400" lvl="1" indent="-389890" algn="l">
              <a:spcBef>
                <a:spcPts val="508"/>
              </a:spcBef>
              <a:spcAft>
                <a:spcPts val="0"/>
              </a:spcAft>
              <a:buClr>
                <a:schemeClr val="dk1"/>
              </a:buClr>
              <a:buSzPts val="2540"/>
              <a:buChar char="–"/>
              <a:defRPr sz="2540"/>
            </a:lvl2pPr>
            <a:lvl3pPr marL="1371600" lvl="2" indent="-361061" algn="l">
              <a:spcBef>
                <a:spcPts val="417"/>
              </a:spcBef>
              <a:spcAft>
                <a:spcPts val="0"/>
              </a:spcAft>
              <a:buClr>
                <a:schemeClr val="dk1"/>
              </a:buClr>
              <a:buSzPts val="2086"/>
              <a:buChar char="•"/>
              <a:defRPr sz="2086"/>
            </a:lvl3pPr>
            <a:lvl4pPr marL="1828800" lvl="3" indent="-349567" algn="l">
              <a:spcBef>
                <a:spcPts val="381"/>
              </a:spcBef>
              <a:spcAft>
                <a:spcPts val="0"/>
              </a:spcAft>
              <a:buClr>
                <a:schemeClr val="dk1"/>
              </a:buClr>
              <a:buSzPts val="1905"/>
              <a:buChar char="–"/>
              <a:defRPr sz="1904"/>
            </a:lvl4pPr>
            <a:lvl5pPr marL="2286000" lvl="4" indent="-349567" algn="l">
              <a:spcBef>
                <a:spcPts val="381"/>
              </a:spcBef>
              <a:spcAft>
                <a:spcPts val="0"/>
              </a:spcAft>
              <a:buClr>
                <a:schemeClr val="dk1"/>
              </a:buClr>
              <a:buSzPts val="1905"/>
              <a:buChar char="»"/>
              <a:defRPr sz="1904"/>
            </a:lvl5pPr>
            <a:lvl6pPr marL="2743200" lvl="5" indent="-349567" algn="l">
              <a:spcBef>
                <a:spcPts val="381"/>
              </a:spcBef>
              <a:spcAft>
                <a:spcPts val="0"/>
              </a:spcAft>
              <a:buClr>
                <a:schemeClr val="dk1"/>
              </a:buClr>
              <a:buSzPts val="1905"/>
              <a:buChar char="•"/>
              <a:defRPr sz="1904"/>
            </a:lvl6pPr>
            <a:lvl7pPr marL="3200400" lvl="6" indent="-349567" algn="l">
              <a:spcBef>
                <a:spcPts val="381"/>
              </a:spcBef>
              <a:spcAft>
                <a:spcPts val="0"/>
              </a:spcAft>
              <a:buClr>
                <a:schemeClr val="dk1"/>
              </a:buClr>
              <a:buSzPts val="1905"/>
              <a:buChar char="•"/>
              <a:defRPr sz="1904"/>
            </a:lvl7pPr>
            <a:lvl8pPr marL="3657600" lvl="7" indent="-349567" algn="l">
              <a:spcBef>
                <a:spcPts val="381"/>
              </a:spcBef>
              <a:spcAft>
                <a:spcPts val="0"/>
              </a:spcAft>
              <a:buClr>
                <a:schemeClr val="dk1"/>
              </a:buClr>
              <a:buSzPts val="1905"/>
              <a:buChar char="•"/>
              <a:defRPr sz="1904"/>
            </a:lvl8pPr>
            <a:lvl9pPr marL="4114800" lvl="8" indent="-349567" algn="l">
              <a:spcBef>
                <a:spcPts val="381"/>
              </a:spcBef>
              <a:spcAft>
                <a:spcPts val="0"/>
              </a:spcAft>
              <a:buClr>
                <a:schemeClr val="dk1"/>
              </a:buClr>
              <a:buSzPts val="1905"/>
              <a:buChar char="•"/>
              <a:defRPr sz="1904"/>
            </a:lvl9pPr>
          </a:lstStyle>
          <a:p>
            <a:endParaRPr/>
          </a:p>
        </p:txBody>
      </p:sp>
      <p:sp>
        <p:nvSpPr>
          <p:cNvPr id="218" name="Google Shape;218;p86"/>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86"/>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8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1"/>
        <p:cNvGrpSpPr/>
        <p:nvPr/>
      </p:nvGrpSpPr>
      <p:grpSpPr>
        <a:xfrm>
          <a:off x="0" y="0"/>
          <a:ext cx="0" cy="0"/>
          <a:chOff x="0" y="0"/>
          <a:chExt cx="0" cy="0"/>
        </a:xfrm>
      </p:grpSpPr>
      <p:sp>
        <p:nvSpPr>
          <p:cNvPr id="222" name="Google Shape;222;p87"/>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4535"/>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p87"/>
          <p:cNvSpPr txBox="1">
            <a:spLocks noGrp="1"/>
          </p:cNvSpPr>
          <p:nvPr>
            <p:ph type="body" idx="1"/>
          </p:nvPr>
        </p:nvSpPr>
        <p:spPr>
          <a:xfrm>
            <a:off x="609601" y="1535113"/>
            <a:ext cx="5386917" cy="639762"/>
          </a:xfrm>
          <a:prstGeom prst="rect">
            <a:avLst/>
          </a:prstGeom>
          <a:noFill/>
          <a:ln>
            <a:noFill/>
          </a:ln>
        </p:spPr>
        <p:txBody>
          <a:bodyPr spcFirstLastPara="1" wrap="square" lIns="104925" tIns="52450" rIns="104925" bIns="52450" anchor="b" anchorCtr="0">
            <a:normAutofit/>
          </a:bodyPr>
          <a:lstStyle>
            <a:lvl1pPr marL="457200" lvl="0" indent="-228600" algn="l">
              <a:spcBef>
                <a:spcPts val="508"/>
              </a:spcBef>
              <a:spcAft>
                <a:spcPts val="0"/>
              </a:spcAft>
              <a:buClr>
                <a:schemeClr val="dk1"/>
              </a:buClr>
              <a:buSzPts val="2540"/>
              <a:buNone/>
              <a:defRPr sz="2540" b="1"/>
            </a:lvl1pPr>
            <a:lvl2pPr marL="914400" lvl="1" indent="-228600" algn="l">
              <a:spcBef>
                <a:spcPts val="417"/>
              </a:spcBef>
              <a:spcAft>
                <a:spcPts val="0"/>
              </a:spcAft>
              <a:buClr>
                <a:schemeClr val="dk1"/>
              </a:buClr>
              <a:buSzPts val="2086"/>
              <a:buNone/>
              <a:defRPr sz="2086" b="1"/>
            </a:lvl2pPr>
            <a:lvl3pPr marL="1371600" lvl="2" indent="-228600" algn="l">
              <a:spcBef>
                <a:spcPts val="381"/>
              </a:spcBef>
              <a:spcAft>
                <a:spcPts val="0"/>
              </a:spcAft>
              <a:buClr>
                <a:schemeClr val="dk1"/>
              </a:buClr>
              <a:buSzPts val="1905"/>
              <a:buNone/>
              <a:defRPr sz="1904" b="1"/>
            </a:lvl3pPr>
            <a:lvl4pPr marL="1828800" lvl="3" indent="-228600" algn="l">
              <a:spcBef>
                <a:spcPts val="327"/>
              </a:spcBef>
              <a:spcAft>
                <a:spcPts val="0"/>
              </a:spcAft>
              <a:buClr>
                <a:schemeClr val="dk1"/>
              </a:buClr>
              <a:buSzPts val="1633"/>
              <a:buNone/>
              <a:defRPr sz="1633" b="1"/>
            </a:lvl4pPr>
            <a:lvl5pPr marL="2286000" lvl="4" indent="-228600" algn="l">
              <a:spcBef>
                <a:spcPts val="327"/>
              </a:spcBef>
              <a:spcAft>
                <a:spcPts val="0"/>
              </a:spcAft>
              <a:buClr>
                <a:schemeClr val="dk1"/>
              </a:buClr>
              <a:buSzPts val="1633"/>
              <a:buNone/>
              <a:defRPr sz="1633" b="1"/>
            </a:lvl5pPr>
            <a:lvl6pPr marL="2743200" lvl="5" indent="-228600" algn="l">
              <a:spcBef>
                <a:spcPts val="327"/>
              </a:spcBef>
              <a:spcAft>
                <a:spcPts val="0"/>
              </a:spcAft>
              <a:buClr>
                <a:schemeClr val="dk1"/>
              </a:buClr>
              <a:buSzPts val="1633"/>
              <a:buNone/>
              <a:defRPr sz="1633" b="1"/>
            </a:lvl6pPr>
            <a:lvl7pPr marL="3200400" lvl="6" indent="-228600" algn="l">
              <a:spcBef>
                <a:spcPts val="327"/>
              </a:spcBef>
              <a:spcAft>
                <a:spcPts val="0"/>
              </a:spcAft>
              <a:buClr>
                <a:schemeClr val="dk1"/>
              </a:buClr>
              <a:buSzPts val="1633"/>
              <a:buNone/>
              <a:defRPr sz="1633" b="1"/>
            </a:lvl7pPr>
            <a:lvl8pPr marL="3657600" lvl="7" indent="-228600" algn="l">
              <a:spcBef>
                <a:spcPts val="327"/>
              </a:spcBef>
              <a:spcAft>
                <a:spcPts val="0"/>
              </a:spcAft>
              <a:buClr>
                <a:schemeClr val="dk1"/>
              </a:buClr>
              <a:buSzPts val="1633"/>
              <a:buNone/>
              <a:defRPr sz="1633" b="1"/>
            </a:lvl8pPr>
            <a:lvl9pPr marL="4114800" lvl="8" indent="-228600" algn="l">
              <a:spcBef>
                <a:spcPts val="327"/>
              </a:spcBef>
              <a:spcAft>
                <a:spcPts val="0"/>
              </a:spcAft>
              <a:buClr>
                <a:schemeClr val="dk1"/>
              </a:buClr>
              <a:buSzPts val="1633"/>
              <a:buNone/>
              <a:defRPr sz="1633" b="1"/>
            </a:lvl9pPr>
          </a:lstStyle>
          <a:p>
            <a:endParaRPr/>
          </a:p>
        </p:txBody>
      </p:sp>
      <p:sp>
        <p:nvSpPr>
          <p:cNvPr id="224" name="Google Shape;224;p87"/>
          <p:cNvSpPr txBox="1">
            <a:spLocks noGrp="1"/>
          </p:cNvSpPr>
          <p:nvPr>
            <p:ph type="body" idx="2"/>
          </p:nvPr>
        </p:nvSpPr>
        <p:spPr>
          <a:xfrm>
            <a:off x="609601" y="2174875"/>
            <a:ext cx="5386917" cy="3951288"/>
          </a:xfrm>
          <a:prstGeom prst="rect">
            <a:avLst/>
          </a:prstGeom>
          <a:noFill/>
          <a:ln>
            <a:noFill/>
          </a:ln>
        </p:spPr>
        <p:txBody>
          <a:bodyPr spcFirstLastPara="1" wrap="square" lIns="104925" tIns="52450" rIns="104925" bIns="52450" anchor="t" anchorCtr="0">
            <a:normAutofit/>
          </a:bodyPr>
          <a:lstStyle>
            <a:lvl1pPr marL="457200" lvl="0" indent="-389890" algn="l">
              <a:spcBef>
                <a:spcPts val="508"/>
              </a:spcBef>
              <a:spcAft>
                <a:spcPts val="0"/>
              </a:spcAft>
              <a:buClr>
                <a:schemeClr val="dk1"/>
              </a:buClr>
              <a:buSzPts val="2540"/>
              <a:buChar char="•"/>
              <a:defRPr sz="2540"/>
            </a:lvl1pPr>
            <a:lvl2pPr marL="914400" lvl="1" indent="-361061" algn="l">
              <a:spcBef>
                <a:spcPts val="417"/>
              </a:spcBef>
              <a:spcAft>
                <a:spcPts val="0"/>
              </a:spcAft>
              <a:buClr>
                <a:schemeClr val="dk1"/>
              </a:buClr>
              <a:buSzPts val="2086"/>
              <a:buChar char="–"/>
              <a:defRPr sz="2086"/>
            </a:lvl2pPr>
            <a:lvl3pPr marL="1371600" lvl="2" indent="-349567" algn="l">
              <a:spcBef>
                <a:spcPts val="381"/>
              </a:spcBef>
              <a:spcAft>
                <a:spcPts val="0"/>
              </a:spcAft>
              <a:buClr>
                <a:schemeClr val="dk1"/>
              </a:buClr>
              <a:buSzPts val="1905"/>
              <a:buChar char="•"/>
              <a:defRPr sz="1904"/>
            </a:lvl3pPr>
            <a:lvl4pPr marL="1828800" lvl="3" indent="-332295" algn="l">
              <a:spcBef>
                <a:spcPts val="327"/>
              </a:spcBef>
              <a:spcAft>
                <a:spcPts val="0"/>
              </a:spcAft>
              <a:buClr>
                <a:schemeClr val="dk1"/>
              </a:buClr>
              <a:buSzPts val="1633"/>
              <a:buChar char="–"/>
              <a:defRPr sz="1633"/>
            </a:lvl4pPr>
            <a:lvl5pPr marL="2286000" lvl="4" indent="-332295" algn="l">
              <a:spcBef>
                <a:spcPts val="327"/>
              </a:spcBef>
              <a:spcAft>
                <a:spcPts val="0"/>
              </a:spcAft>
              <a:buClr>
                <a:schemeClr val="dk1"/>
              </a:buClr>
              <a:buSzPts val="1633"/>
              <a:buChar char="»"/>
              <a:defRPr sz="1633"/>
            </a:lvl5pPr>
            <a:lvl6pPr marL="2743200" lvl="5" indent="-332295" algn="l">
              <a:spcBef>
                <a:spcPts val="327"/>
              </a:spcBef>
              <a:spcAft>
                <a:spcPts val="0"/>
              </a:spcAft>
              <a:buClr>
                <a:schemeClr val="dk1"/>
              </a:buClr>
              <a:buSzPts val="1633"/>
              <a:buChar char="•"/>
              <a:defRPr sz="1633"/>
            </a:lvl6pPr>
            <a:lvl7pPr marL="3200400" lvl="6" indent="-332295" algn="l">
              <a:spcBef>
                <a:spcPts val="327"/>
              </a:spcBef>
              <a:spcAft>
                <a:spcPts val="0"/>
              </a:spcAft>
              <a:buClr>
                <a:schemeClr val="dk1"/>
              </a:buClr>
              <a:buSzPts val="1633"/>
              <a:buChar char="•"/>
              <a:defRPr sz="1633"/>
            </a:lvl7pPr>
            <a:lvl8pPr marL="3657600" lvl="7" indent="-332295" algn="l">
              <a:spcBef>
                <a:spcPts val="327"/>
              </a:spcBef>
              <a:spcAft>
                <a:spcPts val="0"/>
              </a:spcAft>
              <a:buClr>
                <a:schemeClr val="dk1"/>
              </a:buClr>
              <a:buSzPts val="1633"/>
              <a:buChar char="•"/>
              <a:defRPr sz="1633"/>
            </a:lvl8pPr>
            <a:lvl9pPr marL="4114800" lvl="8" indent="-332295" algn="l">
              <a:spcBef>
                <a:spcPts val="327"/>
              </a:spcBef>
              <a:spcAft>
                <a:spcPts val="0"/>
              </a:spcAft>
              <a:buClr>
                <a:schemeClr val="dk1"/>
              </a:buClr>
              <a:buSzPts val="1633"/>
              <a:buChar char="•"/>
              <a:defRPr sz="1633"/>
            </a:lvl9pPr>
          </a:lstStyle>
          <a:p>
            <a:endParaRPr/>
          </a:p>
        </p:txBody>
      </p:sp>
      <p:sp>
        <p:nvSpPr>
          <p:cNvPr id="225" name="Google Shape;225;p87"/>
          <p:cNvSpPr txBox="1">
            <a:spLocks noGrp="1"/>
          </p:cNvSpPr>
          <p:nvPr>
            <p:ph type="body" idx="3"/>
          </p:nvPr>
        </p:nvSpPr>
        <p:spPr>
          <a:xfrm>
            <a:off x="6193367" y="1535113"/>
            <a:ext cx="5389034" cy="639762"/>
          </a:xfrm>
          <a:prstGeom prst="rect">
            <a:avLst/>
          </a:prstGeom>
          <a:noFill/>
          <a:ln>
            <a:noFill/>
          </a:ln>
        </p:spPr>
        <p:txBody>
          <a:bodyPr spcFirstLastPara="1" wrap="square" lIns="104925" tIns="52450" rIns="104925" bIns="52450" anchor="b" anchorCtr="0">
            <a:normAutofit/>
          </a:bodyPr>
          <a:lstStyle>
            <a:lvl1pPr marL="457200" lvl="0" indent="-228600" algn="l">
              <a:spcBef>
                <a:spcPts val="508"/>
              </a:spcBef>
              <a:spcAft>
                <a:spcPts val="0"/>
              </a:spcAft>
              <a:buClr>
                <a:schemeClr val="dk1"/>
              </a:buClr>
              <a:buSzPts val="2540"/>
              <a:buNone/>
              <a:defRPr sz="2540" b="1"/>
            </a:lvl1pPr>
            <a:lvl2pPr marL="914400" lvl="1" indent="-228600" algn="l">
              <a:spcBef>
                <a:spcPts val="417"/>
              </a:spcBef>
              <a:spcAft>
                <a:spcPts val="0"/>
              </a:spcAft>
              <a:buClr>
                <a:schemeClr val="dk1"/>
              </a:buClr>
              <a:buSzPts val="2086"/>
              <a:buNone/>
              <a:defRPr sz="2086" b="1"/>
            </a:lvl2pPr>
            <a:lvl3pPr marL="1371600" lvl="2" indent="-228600" algn="l">
              <a:spcBef>
                <a:spcPts val="381"/>
              </a:spcBef>
              <a:spcAft>
                <a:spcPts val="0"/>
              </a:spcAft>
              <a:buClr>
                <a:schemeClr val="dk1"/>
              </a:buClr>
              <a:buSzPts val="1905"/>
              <a:buNone/>
              <a:defRPr sz="1904" b="1"/>
            </a:lvl3pPr>
            <a:lvl4pPr marL="1828800" lvl="3" indent="-228600" algn="l">
              <a:spcBef>
                <a:spcPts val="327"/>
              </a:spcBef>
              <a:spcAft>
                <a:spcPts val="0"/>
              </a:spcAft>
              <a:buClr>
                <a:schemeClr val="dk1"/>
              </a:buClr>
              <a:buSzPts val="1633"/>
              <a:buNone/>
              <a:defRPr sz="1633" b="1"/>
            </a:lvl4pPr>
            <a:lvl5pPr marL="2286000" lvl="4" indent="-228600" algn="l">
              <a:spcBef>
                <a:spcPts val="327"/>
              </a:spcBef>
              <a:spcAft>
                <a:spcPts val="0"/>
              </a:spcAft>
              <a:buClr>
                <a:schemeClr val="dk1"/>
              </a:buClr>
              <a:buSzPts val="1633"/>
              <a:buNone/>
              <a:defRPr sz="1633" b="1"/>
            </a:lvl5pPr>
            <a:lvl6pPr marL="2743200" lvl="5" indent="-228600" algn="l">
              <a:spcBef>
                <a:spcPts val="327"/>
              </a:spcBef>
              <a:spcAft>
                <a:spcPts val="0"/>
              </a:spcAft>
              <a:buClr>
                <a:schemeClr val="dk1"/>
              </a:buClr>
              <a:buSzPts val="1633"/>
              <a:buNone/>
              <a:defRPr sz="1633" b="1"/>
            </a:lvl6pPr>
            <a:lvl7pPr marL="3200400" lvl="6" indent="-228600" algn="l">
              <a:spcBef>
                <a:spcPts val="327"/>
              </a:spcBef>
              <a:spcAft>
                <a:spcPts val="0"/>
              </a:spcAft>
              <a:buClr>
                <a:schemeClr val="dk1"/>
              </a:buClr>
              <a:buSzPts val="1633"/>
              <a:buNone/>
              <a:defRPr sz="1633" b="1"/>
            </a:lvl7pPr>
            <a:lvl8pPr marL="3657600" lvl="7" indent="-228600" algn="l">
              <a:spcBef>
                <a:spcPts val="327"/>
              </a:spcBef>
              <a:spcAft>
                <a:spcPts val="0"/>
              </a:spcAft>
              <a:buClr>
                <a:schemeClr val="dk1"/>
              </a:buClr>
              <a:buSzPts val="1633"/>
              <a:buNone/>
              <a:defRPr sz="1633" b="1"/>
            </a:lvl8pPr>
            <a:lvl9pPr marL="4114800" lvl="8" indent="-228600" algn="l">
              <a:spcBef>
                <a:spcPts val="327"/>
              </a:spcBef>
              <a:spcAft>
                <a:spcPts val="0"/>
              </a:spcAft>
              <a:buClr>
                <a:schemeClr val="dk1"/>
              </a:buClr>
              <a:buSzPts val="1633"/>
              <a:buNone/>
              <a:defRPr sz="1633" b="1"/>
            </a:lvl9pPr>
          </a:lstStyle>
          <a:p>
            <a:endParaRPr/>
          </a:p>
        </p:txBody>
      </p:sp>
      <p:sp>
        <p:nvSpPr>
          <p:cNvPr id="226" name="Google Shape;226;p87"/>
          <p:cNvSpPr txBox="1">
            <a:spLocks noGrp="1"/>
          </p:cNvSpPr>
          <p:nvPr>
            <p:ph type="body" idx="4"/>
          </p:nvPr>
        </p:nvSpPr>
        <p:spPr>
          <a:xfrm>
            <a:off x="6193367" y="2174875"/>
            <a:ext cx="5389034" cy="3951288"/>
          </a:xfrm>
          <a:prstGeom prst="rect">
            <a:avLst/>
          </a:prstGeom>
          <a:noFill/>
          <a:ln>
            <a:noFill/>
          </a:ln>
        </p:spPr>
        <p:txBody>
          <a:bodyPr spcFirstLastPara="1" wrap="square" lIns="104925" tIns="52450" rIns="104925" bIns="52450" anchor="t" anchorCtr="0">
            <a:normAutofit/>
          </a:bodyPr>
          <a:lstStyle>
            <a:lvl1pPr marL="457200" lvl="0" indent="-389890" algn="l">
              <a:spcBef>
                <a:spcPts val="508"/>
              </a:spcBef>
              <a:spcAft>
                <a:spcPts val="0"/>
              </a:spcAft>
              <a:buClr>
                <a:schemeClr val="dk1"/>
              </a:buClr>
              <a:buSzPts val="2540"/>
              <a:buChar char="•"/>
              <a:defRPr sz="2540"/>
            </a:lvl1pPr>
            <a:lvl2pPr marL="914400" lvl="1" indent="-361061" algn="l">
              <a:spcBef>
                <a:spcPts val="417"/>
              </a:spcBef>
              <a:spcAft>
                <a:spcPts val="0"/>
              </a:spcAft>
              <a:buClr>
                <a:schemeClr val="dk1"/>
              </a:buClr>
              <a:buSzPts val="2086"/>
              <a:buChar char="–"/>
              <a:defRPr sz="2086"/>
            </a:lvl2pPr>
            <a:lvl3pPr marL="1371600" lvl="2" indent="-349567" algn="l">
              <a:spcBef>
                <a:spcPts val="381"/>
              </a:spcBef>
              <a:spcAft>
                <a:spcPts val="0"/>
              </a:spcAft>
              <a:buClr>
                <a:schemeClr val="dk1"/>
              </a:buClr>
              <a:buSzPts val="1905"/>
              <a:buChar char="•"/>
              <a:defRPr sz="1904"/>
            </a:lvl3pPr>
            <a:lvl4pPr marL="1828800" lvl="3" indent="-332295" algn="l">
              <a:spcBef>
                <a:spcPts val="327"/>
              </a:spcBef>
              <a:spcAft>
                <a:spcPts val="0"/>
              </a:spcAft>
              <a:buClr>
                <a:schemeClr val="dk1"/>
              </a:buClr>
              <a:buSzPts val="1633"/>
              <a:buChar char="–"/>
              <a:defRPr sz="1633"/>
            </a:lvl4pPr>
            <a:lvl5pPr marL="2286000" lvl="4" indent="-332295" algn="l">
              <a:spcBef>
                <a:spcPts val="327"/>
              </a:spcBef>
              <a:spcAft>
                <a:spcPts val="0"/>
              </a:spcAft>
              <a:buClr>
                <a:schemeClr val="dk1"/>
              </a:buClr>
              <a:buSzPts val="1633"/>
              <a:buChar char="»"/>
              <a:defRPr sz="1633"/>
            </a:lvl5pPr>
            <a:lvl6pPr marL="2743200" lvl="5" indent="-332295" algn="l">
              <a:spcBef>
                <a:spcPts val="327"/>
              </a:spcBef>
              <a:spcAft>
                <a:spcPts val="0"/>
              </a:spcAft>
              <a:buClr>
                <a:schemeClr val="dk1"/>
              </a:buClr>
              <a:buSzPts val="1633"/>
              <a:buChar char="•"/>
              <a:defRPr sz="1633"/>
            </a:lvl6pPr>
            <a:lvl7pPr marL="3200400" lvl="6" indent="-332295" algn="l">
              <a:spcBef>
                <a:spcPts val="327"/>
              </a:spcBef>
              <a:spcAft>
                <a:spcPts val="0"/>
              </a:spcAft>
              <a:buClr>
                <a:schemeClr val="dk1"/>
              </a:buClr>
              <a:buSzPts val="1633"/>
              <a:buChar char="•"/>
              <a:defRPr sz="1633"/>
            </a:lvl7pPr>
            <a:lvl8pPr marL="3657600" lvl="7" indent="-332295" algn="l">
              <a:spcBef>
                <a:spcPts val="327"/>
              </a:spcBef>
              <a:spcAft>
                <a:spcPts val="0"/>
              </a:spcAft>
              <a:buClr>
                <a:schemeClr val="dk1"/>
              </a:buClr>
              <a:buSzPts val="1633"/>
              <a:buChar char="•"/>
              <a:defRPr sz="1633"/>
            </a:lvl8pPr>
            <a:lvl9pPr marL="4114800" lvl="8" indent="-332295" algn="l">
              <a:spcBef>
                <a:spcPts val="327"/>
              </a:spcBef>
              <a:spcAft>
                <a:spcPts val="0"/>
              </a:spcAft>
              <a:buClr>
                <a:schemeClr val="dk1"/>
              </a:buClr>
              <a:buSzPts val="1633"/>
              <a:buChar char="•"/>
              <a:defRPr sz="1633"/>
            </a:lvl9pPr>
          </a:lstStyle>
          <a:p>
            <a:endParaRPr/>
          </a:p>
        </p:txBody>
      </p:sp>
      <p:sp>
        <p:nvSpPr>
          <p:cNvPr id="227" name="Google Shape;227;p87"/>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87"/>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8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0"/>
        <p:cNvGrpSpPr/>
        <p:nvPr/>
      </p:nvGrpSpPr>
      <p:grpSpPr>
        <a:xfrm>
          <a:off x="0" y="0"/>
          <a:ext cx="0" cy="0"/>
          <a:chOff x="0" y="0"/>
          <a:chExt cx="0" cy="0"/>
        </a:xfrm>
      </p:grpSpPr>
      <p:sp>
        <p:nvSpPr>
          <p:cNvPr id="231" name="Google Shape;231;p88"/>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88"/>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88"/>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8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5"/>
        <p:cNvGrpSpPr/>
        <p:nvPr/>
      </p:nvGrpSpPr>
      <p:grpSpPr>
        <a:xfrm>
          <a:off x="0" y="0"/>
          <a:ext cx="0" cy="0"/>
          <a:chOff x="0" y="0"/>
          <a:chExt cx="0" cy="0"/>
        </a:xfrm>
      </p:grpSpPr>
      <p:sp>
        <p:nvSpPr>
          <p:cNvPr id="236" name="Google Shape;236;p89"/>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89"/>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8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9"/>
        <p:cNvGrpSpPr/>
        <p:nvPr/>
      </p:nvGrpSpPr>
      <p:grpSpPr>
        <a:xfrm>
          <a:off x="0" y="0"/>
          <a:ext cx="0" cy="0"/>
          <a:chOff x="0" y="0"/>
          <a:chExt cx="0" cy="0"/>
        </a:xfrm>
      </p:grpSpPr>
      <p:sp>
        <p:nvSpPr>
          <p:cNvPr id="240" name="Google Shape;240;p90"/>
          <p:cNvSpPr txBox="1">
            <a:spLocks noGrp="1"/>
          </p:cNvSpPr>
          <p:nvPr>
            <p:ph type="title"/>
          </p:nvPr>
        </p:nvSpPr>
        <p:spPr>
          <a:xfrm>
            <a:off x="609601" y="273050"/>
            <a:ext cx="4011084" cy="1162050"/>
          </a:xfrm>
          <a:prstGeom prst="rect">
            <a:avLst/>
          </a:prstGeom>
          <a:noFill/>
          <a:ln>
            <a:noFill/>
          </a:ln>
        </p:spPr>
        <p:txBody>
          <a:bodyPr spcFirstLastPara="1" wrap="square" lIns="104925" tIns="52450" rIns="104925" bIns="52450" anchor="b" anchorCtr="0">
            <a:normAutofit/>
          </a:bodyPr>
          <a:lstStyle>
            <a:lvl1pPr lvl="0" algn="l">
              <a:spcBef>
                <a:spcPts val="0"/>
              </a:spcBef>
              <a:spcAft>
                <a:spcPts val="0"/>
              </a:spcAft>
              <a:buClr>
                <a:schemeClr val="dk1"/>
              </a:buClr>
              <a:buSzPts val="2086"/>
              <a:buFont typeface="Calibri"/>
              <a:buNone/>
              <a:defRPr sz="2086"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90"/>
          <p:cNvSpPr txBox="1">
            <a:spLocks noGrp="1"/>
          </p:cNvSpPr>
          <p:nvPr>
            <p:ph type="body" idx="1"/>
          </p:nvPr>
        </p:nvSpPr>
        <p:spPr>
          <a:xfrm>
            <a:off x="4766734" y="273050"/>
            <a:ext cx="6815667" cy="5853113"/>
          </a:xfrm>
          <a:prstGeom prst="rect">
            <a:avLst/>
          </a:prstGeom>
          <a:noFill/>
          <a:ln>
            <a:noFill/>
          </a:ln>
        </p:spPr>
        <p:txBody>
          <a:bodyPr spcFirstLastPara="1" wrap="square" lIns="104925" tIns="52450" rIns="104925" bIns="52450" anchor="t" anchorCtr="0">
            <a:normAutofit/>
          </a:bodyPr>
          <a:lstStyle>
            <a:lvl1pPr marL="457200" lvl="0" indent="-441706" algn="l">
              <a:spcBef>
                <a:spcPts val="671"/>
              </a:spcBef>
              <a:spcAft>
                <a:spcPts val="0"/>
              </a:spcAft>
              <a:buClr>
                <a:schemeClr val="dk1"/>
              </a:buClr>
              <a:buSzPts val="3356"/>
              <a:buChar char="•"/>
              <a:defRPr sz="3356"/>
            </a:lvl1pPr>
            <a:lvl2pPr marL="914400" lvl="1" indent="-412877" algn="l">
              <a:spcBef>
                <a:spcPts val="580"/>
              </a:spcBef>
              <a:spcAft>
                <a:spcPts val="0"/>
              </a:spcAft>
              <a:buClr>
                <a:schemeClr val="dk1"/>
              </a:buClr>
              <a:buSzPts val="2902"/>
              <a:buChar char="–"/>
              <a:defRPr sz="2902"/>
            </a:lvl2pPr>
            <a:lvl3pPr marL="1371600" lvl="2" indent="-389889" algn="l">
              <a:spcBef>
                <a:spcPts val="508"/>
              </a:spcBef>
              <a:spcAft>
                <a:spcPts val="0"/>
              </a:spcAft>
              <a:buClr>
                <a:schemeClr val="dk1"/>
              </a:buClr>
              <a:buSzPts val="2540"/>
              <a:buChar char="•"/>
              <a:defRPr sz="2540"/>
            </a:lvl3pPr>
            <a:lvl4pPr marL="1828800" lvl="3" indent="-361061" algn="l">
              <a:spcBef>
                <a:spcPts val="417"/>
              </a:spcBef>
              <a:spcAft>
                <a:spcPts val="0"/>
              </a:spcAft>
              <a:buClr>
                <a:schemeClr val="dk1"/>
              </a:buClr>
              <a:buSzPts val="2086"/>
              <a:buChar char="–"/>
              <a:defRPr sz="2086"/>
            </a:lvl4pPr>
            <a:lvl5pPr marL="2286000" lvl="4" indent="-361060" algn="l">
              <a:spcBef>
                <a:spcPts val="417"/>
              </a:spcBef>
              <a:spcAft>
                <a:spcPts val="0"/>
              </a:spcAft>
              <a:buClr>
                <a:schemeClr val="dk1"/>
              </a:buClr>
              <a:buSzPts val="2086"/>
              <a:buChar char="»"/>
              <a:defRPr sz="2086"/>
            </a:lvl5pPr>
            <a:lvl6pPr marL="2743200" lvl="5" indent="-361060" algn="l">
              <a:spcBef>
                <a:spcPts val="417"/>
              </a:spcBef>
              <a:spcAft>
                <a:spcPts val="0"/>
              </a:spcAft>
              <a:buClr>
                <a:schemeClr val="dk1"/>
              </a:buClr>
              <a:buSzPts val="2086"/>
              <a:buChar char="•"/>
              <a:defRPr sz="2086"/>
            </a:lvl6pPr>
            <a:lvl7pPr marL="3200400" lvl="6" indent="-361060" algn="l">
              <a:spcBef>
                <a:spcPts val="417"/>
              </a:spcBef>
              <a:spcAft>
                <a:spcPts val="0"/>
              </a:spcAft>
              <a:buClr>
                <a:schemeClr val="dk1"/>
              </a:buClr>
              <a:buSzPts val="2086"/>
              <a:buChar char="•"/>
              <a:defRPr sz="2086"/>
            </a:lvl7pPr>
            <a:lvl8pPr marL="3657600" lvl="7" indent="-361060" algn="l">
              <a:spcBef>
                <a:spcPts val="417"/>
              </a:spcBef>
              <a:spcAft>
                <a:spcPts val="0"/>
              </a:spcAft>
              <a:buClr>
                <a:schemeClr val="dk1"/>
              </a:buClr>
              <a:buSzPts val="2086"/>
              <a:buChar char="•"/>
              <a:defRPr sz="2086"/>
            </a:lvl8pPr>
            <a:lvl9pPr marL="4114800" lvl="8" indent="-361060" algn="l">
              <a:spcBef>
                <a:spcPts val="417"/>
              </a:spcBef>
              <a:spcAft>
                <a:spcPts val="0"/>
              </a:spcAft>
              <a:buClr>
                <a:schemeClr val="dk1"/>
              </a:buClr>
              <a:buSzPts val="2086"/>
              <a:buChar char="•"/>
              <a:defRPr sz="2086"/>
            </a:lvl9pPr>
          </a:lstStyle>
          <a:p>
            <a:endParaRPr/>
          </a:p>
        </p:txBody>
      </p:sp>
      <p:sp>
        <p:nvSpPr>
          <p:cNvPr id="242" name="Google Shape;242;p90"/>
          <p:cNvSpPr txBox="1">
            <a:spLocks noGrp="1"/>
          </p:cNvSpPr>
          <p:nvPr>
            <p:ph type="body" idx="2"/>
          </p:nvPr>
        </p:nvSpPr>
        <p:spPr>
          <a:xfrm>
            <a:off x="609601" y="1435100"/>
            <a:ext cx="4011084" cy="4691063"/>
          </a:xfrm>
          <a:prstGeom prst="rect">
            <a:avLst/>
          </a:prstGeom>
          <a:noFill/>
          <a:ln>
            <a:noFill/>
          </a:ln>
        </p:spPr>
        <p:txBody>
          <a:bodyPr spcFirstLastPara="1" wrap="square" lIns="104925" tIns="52450" rIns="104925" bIns="52450" anchor="t" anchorCtr="0">
            <a:normAutofit/>
          </a:bodyPr>
          <a:lstStyle>
            <a:lvl1pPr marL="457200" lvl="0" indent="-228600" algn="l">
              <a:spcBef>
                <a:spcPts val="290"/>
              </a:spcBef>
              <a:spcAft>
                <a:spcPts val="0"/>
              </a:spcAft>
              <a:buClr>
                <a:schemeClr val="dk1"/>
              </a:buClr>
              <a:buSzPts val="1451"/>
              <a:buNone/>
              <a:defRPr sz="1451"/>
            </a:lvl1pPr>
            <a:lvl2pPr marL="914400" lvl="1" indent="-228600" algn="l">
              <a:spcBef>
                <a:spcPts val="254"/>
              </a:spcBef>
              <a:spcAft>
                <a:spcPts val="0"/>
              </a:spcAft>
              <a:buClr>
                <a:schemeClr val="dk1"/>
              </a:buClr>
              <a:buSzPts val="1270"/>
              <a:buNone/>
              <a:defRPr sz="1270"/>
            </a:lvl2pPr>
            <a:lvl3pPr marL="1371600" lvl="2" indent="-228600" algn="l">
              <a:spcBef>
                <a:spcPts val="200"/>
              </a:spcBef>
              <a:spcAft>
                <a:spcPts val="0"/>
              </a:spcAft>
              <a:buClr>
                <a:schemeClr val="dk1"/>
              </a:buClr>
              <a:buSzPts val="998"/>
              <a:buNone/>
              <a:defRPr sz="997"/>
            </a:lvl3pPr>
            <a:lvl4pPr marL="1828800" lvl="3" indent="-228600" algn="l">
              <a:spcBef>
                <a:spcPts val="181"/>
              </a:spcBef>
              <a:spcAft>
                <a:spcPts val="0"/>
              </a:spcAft>
              <a:buClr>
                <a:schemeClr val="dk1"/>
              </a:buClr>
              <a:buSzPts val="907"/>
              <a:buNone/>
              <a:defRPr sz="907"/>
            </a:lvl4pPr>
            <a:lvl5pPr marL="2286000" lvl="4" indent="-228600" algn="l">
              <a:spcBef>
                <a:spcPts val="181"/>
              </a:spcBef>
              <a:spcAft>
                <a:spcPts val="0"/>
              </a:spcAft>
              <a:buClr>
                <a:schemeClr val="dk1"/>
              </a:buClr>
              <a:buSzPts val="907"/>
              <a:buNone/>
              <a:defRPr sz="907"/>
            </a:lvl5pPr>
            <a:lvl6pPr marL="2743200" lvl="5" indent="-228600" algn="l">
              <a:spcBef>
                <a:spcPts val="181"/>
              </a:spcBef>
              <a:spcAft>
                <a:spcPts val="0"/>
              </a:spcAft>
              <a:buClr>
                <a:schemeClr val="dk1"/>
              </a:buClr>
              <a:buSzPts val="907"/>
              <a:buNone/>
              <a:defRPr sz="907"/>
            </a:lvl6pPr>
            <a:lvl7pPr marL="3200400" lvl="6" indent="-228600" algn="l">
              <a:spcBef>
                <a:spcPts val="181"/>
              </a:spcBef>
              <a:spcAft>
                <a:spcPts val="0"/>
              </a:spcAft>
              <a:buClr>
                <a:schemeClr val="dk1"/>
              </a:buClr>
              <a:buSzPts val="907"/>
              <a:buNone/>
              <a:defRPr sz="907"/>
            </a:lvl7pPr>
            <a:lvl8pPr marL="3657600" lvl="7" indent="-228600" algn="l">
              <a:spcBef>
                <a:spcPts val="181"/>
              </a:spcBef>
              <a:spcAft>
                <a:spcPts val="0"/>
              </a:spcAft>
              <a:buClr>
                <a:schemeClr val="dk1"/>
              </a:buClr>
              <a:buSzPts val="907"/>
              <a:buNone/>
              <a:defRPr sz="907"/>
            </a:lvl8pPr>
            <a:lvl9pPr marL="4114800" lvl="8" indent="-228600" algn="l">
              <a:spcBef>
                <a:spcPts val="181"/>
              </a:spcBef>
              <a:spcAft>
                <a:spcPts val="0"/>
              </a:spcAft>
              <a:buClr>
                <a:schemeClr val="dk1"/>
              </a:buClr>
              <a:buSzPts val="907"/>
              <a:buNone/>
              <a:defRPr sz="907"/>
            </a:lvl9pPr>
          </a:lstStyle>
          <a:p>
            <a:endParaRPr/>
          </a:p>
        </p:txBody>
      </p:sp>
      <p:sp>
        <p:nvSpPr>
          <p:cNvPr id="243" name="Google Shape;243;p90"/>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90"/>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9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6"/>
        <p:cNvGrpSpPr/>
        <p:nvPr/>
      </p:nvGrpSpPr>
      <p:grpSpPr>
        <a:xfrm>
          <a:off x="0" y="0"/>
          <a:ext cx="0" cy="0"/>
          <a:chOff x="0" y="0"/>
          <a:chExt cx="0" cy="0"/>
        </a:xfrm>
      </p:grpSpPr>
      <p:sp>
        <p:nvSpPr>
          <p:cNvPr id="247" name="Google Shape;247;p91"/>
          <p:cNvSpPr txBox="1">
            <a:spLocks noGrp="1"/>
          </p:cNvSpPr>
          <p:nvPr>
            <p:ph type="title"/>
          </p:nvPr>
        </p:nvSpPr>
        <p:spPr>
          <a:xfrm>
            <a:off x="2389717" y="4800600"/>
            <a:ext cx="7315200" cy="566738"/>
          </a:xfrm>
          <a:prstGeom prst="rect">
            <a:avLst/>
          </a:prstGeom>
          <a:noFill/>
          <a:ln>
            <a:noFill/>
          </a:ln>
        </p:spPr>
        <p:txBody>
          <a:bodyPr spcFirstLastPara="1" wrap="square" lIns="104925" tIns="52450" rIns="104925" bIns="52450" anchor="b" anchorCtr="0">
            <a:normAutofit/>
          </a:bodyPr>
          <a:lstStyle>
            <a:lvl1pPr lvl="0" algn="l">
              <a:spcBef>
                <a:spcPts val="0"/>
              </a:spcBef>
              <a:spcAft>
                <a:spcPts val="0"/>
              </a:spcAft>
              <a:buClr>
                <a:schemeClr val="dk1"/>
              </a:buClr>
              <a:buSzPts val="2086"/>
              <a:buFont typeface="Calibri"/>
              <a:buNone/>
              <a:defRPr sz="2086"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91"/>
          <p:cNvSpPr>
            <a:spLocks noGrp="1"/>
          </p:cNvSpPr>
          <p:nvPr>
            <p:ph type="pic" idx="2"/>
          </p:nvPr>
        </p:nvSpPr>
        <p:spPr>
          <a:xfrm>
            <a:off x="2389717" y="612775"/>
            <a:ext cx="7315200" cy="4114800"/>
          </a:xfrm>
          <a:prstGeom prst="rect">
            <a:avLst/>
          </a:prstGeom>
          <a:noFill/>
          <a:ln>
            <a:noFill/>
          </a:ln>
        </p:spPr>
      </p:sp>
      <p:sp>
        <p:nvSpPr>
          <p:cNvPr id="249" name="Google Shape;249;p91"/>
          <p:cNvSpPr txBox="1">
            <a:spLocks noGrp="1"/>
          </p:cNvSpPr>
          <p:nvPr>
            <p:ph type="body" idx="1"/>
          </p:nvPr>
        </p:nvSpPr>
        <p:spPr>
          <a:xfrm>
            <a:off x="2389717" y="5367338"/>
            <a:ext cx="7315200" cy="804862"/>
          </a:xfrm>
          <a:prstGeom prst="rect">
            <a:avLst/>
          </a:prstGeom>
          <a:noFill/>
          <a:ln>
            <a:noFill/>
          </a:ln>
        </p:spPr>
        <p:txBody>
          <a:bodyPr spcFirstLastPara="1" wrap="square" lIns="104925" tIns="52450" rIns="104925" bIns="52450" anchor="t" anchorCtr="0">
            <a:normAutofit/>
          </a:bodyPr>
          <a:lstStyle>
            <a:lvl1pPr marL="457200" lvl="0" indent="-228600" algn="l">
              <a:spcBef>
                <a:spcPts val="290"/>
              </a:spcBef>
              <a:spcAft>
                <a:spcPts val="0"/>
              </a:spcAft>
              <a:buClr>
                <a:schemeClr val="dk1"/>
              </a:buClr>
              <a:buSzPts val="1451"/>
              <a:buNone/>
              <a:defRPr sz="1451"/>
            </a:lvl1pPr>
            <a:lvl2pPr marL="914400" lvl="1" indent="-228600" algn="l">
              <a:spcBef>
                <a:spcPts val="254"/>
              </a:spcBef>
              <a:spcAft>
                <a:spcPts val="0"/>
              </a:spcAft>
              <a:buClr>
                <a:schemeClr val="dk1"/>
              </a:buClr>
              <a:buSzPts val="1270"/>
              <a:buNone/>
              <a:defRPr sz="1270"/>
            </a:lvl2pPr>
            <a:lvl3pPr marL="1371600" lvl="2" indent="-228600" algn="l">
              <a:spcBef>
                <a:spcPts val="200"/>
              </a:spcBef>
              <a:spcAft>
                <a:spcPts val="0"/>
              </a:spcAft>
              <a:buClr>
                <a:schemeClr val="dk1"/>
              </a:buClr>
              <a:buSzPts val="998"/>
              <a:buNone/>
              <a:defRPr sz="997"/>
            </a:lvl3pPr>
            <a:lvl4pPr marL="1828800" lvl="3" indent="-228600" algn="l">
              <a:spcBef>
                <a:spcPts val="181"/>
              </a:spcBef>
              <a:spcAft>
                <a:spcPts val="0"/>
              </a:spcAft>
              <a:buClr>
                <a:schemeClr val="dk1"/>
              </a:buClr>
              <a:buSzPts val="907"/>
              <a:buNone/>
              <a:defRPr sz="907"/>
            </a:lvl4pPr>
            <a:lvl5pPr marL="2286000" lvl="4" indent="-228600" algn="l">
              <a:spcBef>
                <a:spcPts val="181"/>
              </a:spcBef>
              <a:spcAft>
                <a:spcPts val="0"/>
              </a:spcAft>
              <a:buClr>
                <a:schemeClr val="dk1"/>
              </a:buClr>
              <a:buSzPts val="907"/>
              <a:buNone/>
              <a:defRPr sz="907"/>
            </a:lvl5pPr>
            <a:lvl6pPr marL="2743200" lvl="5" indent="-228600" algn="l">
              <a:spcBef>
                <a:spcPts val="181"/>
              </a:spcBef>
              <a:spcAft>
                <a:spcPts val="0"/>
              </a:spcAft>
              <a:buClr>
                <a:schemeClr val="dk1"/>
              </a:buClr>
              <a:buSzPts val="907"/>
              <a:buNone/>
              <a:defRPr sz="907"/>
            </a:lvl6pPr>
            <a:lvl7pPr marL="3200400" lvl="6" indent="-228600" algn="l">
              <a:spcBef>
                <a:spcPts val="181"/>
              </a:spcBef>
              <a:spcAft>
                <a:spcPts val="0"/>
              </a:spcAft>
              <a:buClr>
                <a:schemeClr val="dk1"/>
              </a:buClr>
              <a:buSzPts val="907"/>
              <a:buNone/>
              <a:defRPr sz="907"/>
            </a:lvl7pPr>
            <a:lvl8pPr marL="3657600" lvl="7" indent="-228600" algn="l">
              <a:spcBef>
                <a:spcPts val="181"/>
              </a:spcBef>
              <a:spcAft>
                <a:spcPts val="0"/>
              </a:spcAft>
              <a:buClr>
                <a:schemeClr val="dk1"/>
              </a:buClr>
              <a:buSzPts val="907"/>
              <a:buNone/>
              <a:defRPr sz="907"/>
            </a:lvl8pPr>
            <a:lvl9pPr marL="4114800" lvl="8" indent="-228600" algn="l">
              <a:spcBef>
                <a:spcPts val="181"/>
              </a:spcBef>
              <a:spcAft>
                <a:spcPts val="0"/>
              </a:spcAft>
              <a:buClr>
                <a:schemeClr val="dk1"/>
              </a:buClr>
              <a:buSzPts val="907"/>
              <a:buNone/>
              <a:defRPr sz="907"/>
            </a:lvl9pPr>
          </a:lstStyle>
          <a:p>
            <a:endParaRPr/>
          </a:p>
        </p:txBody>
      </p:sp>
      <p:sp>
        <p:nvSpPr>
          <p:cNvPr id="250" name="Google Shape;250;p91"/>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91"/>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9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3"/>
        <p:cNvGrpSpPr/>
        <p:nvPr/>
      </p:nvGrpSpPr>
      <p:grpSpPr>
        <a:xfrm>
          <a:off x="0" y="0"/>
          <a:ext cx="0" cy="0"/>
          <a:chOff x="0" y="0"/>
          <a:chExt cx="0" cy="0"/>
        </a:xfrm>
      </p:grpSpPr>
      <p:sp>
        <p:nvSpPr>
          <p:cNvPr id="254" name="Google Shape;254;p92"/>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92"/>
          <p:cNvSpPr txBox="1">
            <a:spLocks noGrp="1"/>
          </p:cNvSpPr>
          <p:nvPr>
            <p:ph type="body" idx="1"/>
          </p:nvPr>
        </p:nvSpPr>
        <p:spPr>
          <a:xfrm rot="5400000">
            <a:off x="3833019" y="-1623218"/>
            <a:ext cx="4525963" cy="10972800"/>
          </a:xfrm>
          <a:prstGeom prst="rect">
            <a:avLst/>
          </a:prstGeom>
          <a:noFill/>
          <a:ln>
            <a:noFill/>
          </a:ln>
        </p:spPr>
        <p:txBody>
          <a:bodyPr spcFirstLastPara="1" wrap="square" lIns="104925" tIns="52450" rIns="104925" bIns="52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6" name="Google Shape;256;p92"/>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92"/>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9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9"/>
        <p:cNvGrpSpPr/>
        <p:nvPr/>
      </p:nvGrpSpPr>
      <p:grpSpPr>
        <a:xfrm>
          <a:off x="0" y="0"/>
          <a:ext cx="0" cy="0"/>
          <a:chOff x="0" y="0"/>
          <a:chExt cx="0" cy="0"/>
        </a:xfrm>
      </p:grpSpPr>
      <p:sp>
        <p:nvSpPr>
          <p:cNvPr id="260" name="Google Shape;260;p93"/>
          <p:cNvSpPr txBox="1">
            <a:spLocks noGrp="1"/>
          </p:cNvSpPr>
          <p:nvPr>
            <p:ph type="title"/>
          </p:nvPr>
        </p:nvSpPr>
        <p:spPr>
          <a:xfrm rot="5400000">
            <a:off x="7285038" y="1828802"/>
            <a:ext cx="5851525" cy="2743200"/>
          </a:xfrm>
          <a:prstGeom prst="rect">
            <a:avLst/>
          </a:prstGeom>
          <a:noFill/>
          <a:ln>
            <a:noFill/>
          </a:ln>
        </p:spPr>
        <p:txBody>
          <a:bodyPr spcFirstLastPara="1" wrap="square" lIns="104925" tIns="52450" rIns="104925" bIns="52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93"/>
          <p:cNvSpPr txBox="1">
            <a:spLocks noGrp="1"/>
          </p:cNvSpPr>
          <p:nvPr>
            <p:ph type="body" idx="1"/>
          </p:nvPr>
        </p:nvSpPr>
        <p:spPr>
          <a:xfrm rot="5400000">
            <a:off x="1697038" y="-812799"/>
            <a:ext cx="5851525" cy="8026400"/>
          </a:xfrm>
          <a:prstGeom prst="rect">
            <a:avLst/>
          </a:prstGeom>
          <a:noFill/>
          <a:ln>
            <a:noFill/>
          </a:ln>
        </p:spPr>
        <p:txBody>
          <a:bodyPr spcFirstLastPara="1" wrap="square" lIns="104925" tIns="52450" rIns="104925" bIns="52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2" name="Google Shape;262;p93"/>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93"/>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9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84"/>
        <p:cNvGrpSpPr/>
        <p:nvPr/>
      </p:nvGrpSpPr>
      <p:grpSpPr>
        <a:xfrm>
          <a:off x="0" y="0"/>
          <a:ext cx="0" cy="0"/>
          <a:chOff x="0" y="0"/>
          <a:chExt cx="0" cy="0"/>
        </a:xfrm>
      </p:grpSpPr>
      <p:sp>
        <p:nvSpPr>
          <p:cNvPr id="85" name="Google Shape;85;p76"/>
          <p:cNvSpPr/>
          <p:nvPr/>
        </p:nvSpPr>
        <p:spPr>
          <a:xfrm>
            <a:off x="231140" y="243841"/>
            <a:ext cx="11724640" cy="6377939"/>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6"/>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1"/>
              </a:buClr>
              <a:buSzPts val="4400"/>
              <a:buFont typeface="Corbel"/>
              <a:buNone/>
              <a:defRPr sz="4400" b="0" i="0" u="none" strike="noStrike" cap="non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76"/>
          <p:cNvSpPr txBox="1">
            <a:spLocks noGrp="1"/>
          </p:cNvSpPr>
          <p:nvPr>
            <p:ph type="body" idx="1"/>
          </p:nvPr>
        </p:nvSpPr>
        <p:spPr>
          <a:xfrm>
            <a:off x="1143001" y="2057400"/>
            <a:ext cx="9872871" cy="4038600"/>
          </a:xfrm>
          <a:prstGeom prst="rect">
            <a:avLst/>
          </a:prstGeom>
          <a:noFill/>
          <a:ln>
            <a:noFill/>
          </a:ln>
        </p:spPr>
        <p:txBody>
          <a:bodyPr spcFirstLastPara="1" wrap="square" lIns="91425" tIns="45700" rIns="91425" bIns="45700" anchor="t" anchorCtr="0">
            <a:normAutofit/>
          </a:bodyPr>
          <a:lstStyle>
            <a:lvl1pPr marL="457200" marR="0" lvl="0" indent="-340360" algn="l" rtl="0">
              <a:lnSpc>
                <a:spcPct val="90000"/>
              </a:lnSpc>
              <a:spcBef>
                <a:spcPts val="1400"/>
              </a:spcBef>
              <a:spcAft>
                <a:spcPts val="0"/>
              </a:spcAft>
              <a:buClr>
                <a:schemeClr val="accent1"/>
              </a:buClr>
              <a:buSzPts val="1760"/>
              <a:buFont typeface="Corbel"/>
              <a:buChar char="•"/>
              <a:defRPr sz="2200" b="0" i="0" u="none" strike="noStrike" cap="none">
                <a:solidFill>
                  <a:schemeClr val="accent1"/>
                </a:solidFill>
                <a:latin typeface="Corbel"/>
                <a:ea typeface="Corbel"/>
                <a:cs typeface="Corbel"/>
                <a:sym typeface="Corbel"/>
              </a:defRPr>
            </a:lvl1pPr>
            <a:lvl2pPr marL="914400" marR="0" lvl="1" indent="-330200" algn="l" rtl="0">
              <a:lnSpc>
                <a:spcPct val="90000"/>
              </a:lnSpc>
              <a:spcBef>
                <a:spcPts val="200"/>
              </a:spcBef>
              <a:spcAft>
                <a:spcPts val="0"/>
              </a:spcAft>
              <a:buClr>
                <a:schemeClr val="accent1"/>
              </a:buClr>
              <a:buSzPts val="1600"/>
              <a:buFont typeface="Corbel"/>
              <a:buChar char="•"/>
              <a:defRPr sz="2000" b="0" i="0" u="none" strike="noStrike" cap="none">
                <a:solidFill>
                  <a:schemeClr val="accent1"/>
                </a:solidFill>
                <a:latin typeface="Corbel"/>
                <a:ea typeface="Corbel"/>
                <a:cs typeface="Corbel"/>
                <a:sym typeface="Corbel"/>
              </a:defRPr>
            </a:lvl2pPr>
            <a:lvl3pPr marL="1371600" marR="0" lvl="2" indent="-320039" algn="l" rtl="0">
              <a:lnSpc>
                <a:spcPct val="90000"/>
              </a:lnSpc>
              <a:spcBef>
                <a:spcPts val="400"/>
              </a:spcBef>
              <a:spcAft>
                <a:spcPts val="0"/>
              </a:spcAft>
              <a:buClr>
                <a:schemeClr val="accent1"/>
              </a:buClr>
              <a:buSzPts val="1440"/>
              <a:buFont typeface="Corbel"/>
              <a:buChar char="•"/>
              <a:defRPr sz="1800" b="0" i="0" u="none" strike="noStrike" cap="none">
                <a:solidFill>
                  <a:schemeClr val="accent1"/>
                </a:solidFill>
                <a:latin typeface="Corbel"/>
                <a:ea typeface="Corbel"/>
                <a:cs typeface="Corbel"/>
                <a:sym typeface="Corbel"/>
              </a:defRPr>
            </a:lvl3pPr>
            <a:lvl4pPr marL="1828800" marR="0" lvl="3" indent="-309880"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4pPr>
            <a:lvl5pPr marL="2286000" marR="0" lvl="4"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5pPr>
            <a:lvl6pPr marL="2743200" marR="0" lvl="5"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6pPr>
            <a:lvl7pPr marL="3200400" marR="0" lvl="6"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7pPr>
            <a:lvl8pPr marL="3657600" marR="0" lvl="7"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8pPr>
            <a:lvl9pPr marL="4114800" marR="0" lvl="8" indent="-309879" algn="l" rtl="0">
              <a:lnSpc>
                <a:spcPct val="90000"/>
              </a:lnSpc>
              <a:spcBef>
                <a:spcPts val="400"/>
              </a:spcBef>
              <a:spcAft>
                <a:spcPts val="40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9pPr>
          </a:lstStyle>
          <a:p>
            <a:endParaRPr/>
          </a:p>
        </p:txBody>
      </p:sp>
      <p:sp>
        <p:nvSpPr>
          <p:cNvPr id="88" name="Google Shape;88;p76"/>
          <p:cNvSpPr txBox="1">
            <a:spLocks noGrp="1"/>
          </p:cNvSpPr>
          <p:nvPr>
            <p:ph type="dt" idx="10"/>
          </p:nvPr>
        </p:nvSpPr>
        <p:spPr>
          <a:xfrm>
            <a:off x="1142996" y="6223829"/>
            <a:ext cx="232907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89" name="Google Shape;89;p76"/>
          <p:cNvSpPr txBox="1">
            <a:spLocks noGrp="1"/>
          </p:cNvSpPr>
          <p:nvPr>
            <p:ph type="ftr" idx="11"/>
          </p:nvPr>
        </p:nvSpPr>
        <p:spPr>
          <a:xfrm>
            <a:off x="3949148" y="6223829"/>
            <a:ext cx="471777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90" name="Google Shape;90;p76"/>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accent1"/>
                </a:solidFill>
                <a:latin typeface="Corbel"/>
                <a:ea typeface="Corbel"/>
                <a:cs typeface="Corbel"/>
                <a:sym typeface="Corbel"/>
              </a:defRPr>
            </a:lvl1pPr>
            <a:lvl2pPr marL="0" marR="0" lvl="1" indent="0" algn="r" rtl="0">
              <a:spcBef>
                <a:spcPts val="0"/>
              </a:spcBef>
              <a:buNone/>
              <a:defRPr sz="1200" b="0" i="0" u="none" strike="noStrike" cap="none">
                <a:solidFill>
                  <a:schemeClr val="accent1"/>
                </a:solidFill>
                <a:latin typeface="Corbel"/>
                <a:ea typeface="Corbel"/>
                <a:cs typeface="Corbel"/>
                <a:sym typeface="Corbel"/>
              </a:defRPr>
            </a:lvl2pPr>
            <a:lvl3pPr marL="0" marR="0" lvl="2" indent="0" algn="r" rtl="0">
              <a:spcBef>
                <a:spcPts val="0"/>
              </a:spcBef>
              <a:buNone/>
              <a:defRPr sz="1200" b="0" i="0" u="none" strike="noStrike" cap="none">
                <a:solidFill>
                  <a:schemeClr val="accent1"/>
                </a:solidFill>
                <a:latin typeface="Corbel"/>
                <a:ea typeface="Corbel"/>
                <a:cs typeface="Corbel"/>
                <a:sym typeface="Corbel"/>
              </a:defRPr>
            </a:lvl3pPr>
            <a:lvl4pPr marL="0" marR="0" lvl="3" indent="0" algn="r" rtl="0">
              <a:spcBef>
                <a:spcPts val="0"/>
              </a:spcBef>
              <a:buNone/>
              <a:defRPr sz="1200" b="0" i="0" u="none" strike="noStrike" cap="none">
                <a:solidFill>
                  <a:schemeClr val="accent1"/>
                </a:solidFill>
                <a:latin typeface="Corbel"/>
                <a:ea typeface="Corbel"/>
                <a:cs typeface="Corbel"/>
                <a:sym typeface="Corbel"/>
              </a:defRPr>
            </a:lvl4pPr>
            <a:lvl5pPr marL="0" marR="0" lvl="4" indent="0" algn="r" rtl="0">
              <a:spcBef>
                <a:spcPts val="0"/>
              </a:spcBef>
              <a:buNone/>
              <a:defRPr sz="1200" b="0" i="0" u="none" strike="noStrike" cap="none">
                <a:solidFill>
                  <a:schemeClr val="accent1"/>
                </a:solidFill>
                <a:latin typeface="Corbel"/>
                <a:ea typeface="Corbel"/>
                <a:cs typeface="Corbel"/>
                <a:sym typeface="Corbel"/>
              </a:defRPr>
            </a:lvl5pPr>
            <a:lvl6pPr marL="0" marR="0" lvl="5" indent="0" algn="r" rtl="0">
              <a:spcBef>
                <a:spcPts val="0"/>
              </a:spcBef>
              <a:buNone/>
              <a:defRPr sz="1200" b="0" i="0" u="none" strike="noStrike" cap="none">
                <a:solidFill>
                  <a:schemeClr val="accent1"/>
                </a:solidFill>
                <a:latin typeface="Corbel"/>
                <a:ea typeface="Corbel"/>
                <a:cs typeface="Corbel"/>
                <a:sym typeface="Corbel"/>
              </a:defRPr>
            </a:lvl6pPr>
            <a:lvl7pPr marL="0" marR="0" lvl="6" indent="0" algn="r" rtl="0">
              <a:spcBef>
                <a:spcPts val="0"/>
              </a:spcBef>
              <a:buNone/>
              <a:defRPr sz="1200" b="0" i="0" u="none" strike="noStrike" cap="none">
                <a:solidFill>
                  <a:schemeClr val="accent1"/>
                </a:solidFill>
                <a:latin typeface="Corbel"/>
                <a:ea typeface="Corbel"/>
                <a:cs typeface="Corbel"/>
                <a:sym typeface="Corbel"/>
              </a:defRPr>
            </a:lvl7pPr>
            <a:lvl8pPr marL="0" marR="0" lvl="7" indent="0" algn="r" rtl="0">
              <a:spcBef>
                <a:spcPts val="0"/>
              </a:spcBef>
              <a:buNone/>
              <a:defRPr sz="1200" b="0" i="0" u="none" strike="noStrike" cap="none">
                <a:solidFill>
                  <a:schemeClr val="accent1"/>
                </a:solidFill>
                <a:latin typeface="Corbel"/>
                <a:ea typeface="Corbel"/>
                <a:cs typeface="Corbel"/>
                <a:sym typeface="Corbel"/>
              </a:defRPr>
            </a:lvl8pPr>
            <a:lvl9pPr marL="0" marR="0" lvl="8" indent="0" algn="r" rtl="0">
              <a:spcBef>
                <a:spcPts val="0"/>
              </a:spcBef>
              <a:buNone/>
              <a:defRPr sz="1200" b="0"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4" name="Google Shape;164;p78"/>
          <p:cNvSpPr txBox="1">
            <a:spLocks noGrp="1"/>
          </p:cNvSpPr>
          <p:nvPr>
            <p:ph type="title"/>
          </p:nvPr>
        </p:nvSpPr>
        <p:spPr>
          <a:xfrm>
            <a:off x="609601" y="274639"/>
            <a:ext cx="10972800" cy="1143000"/>
          </a:xfrm>
          <a:prstGeom prst="rect">
            <a:avLst/>
          </a:prstGeom>
          <a:noFill/>
          <a:ln>
            <a:noFill/>
          </a:ln>
        </p:spPr>
        <p:txBody>
          <a:bodyPr spcFirstLastPara="1" wrap="square" lIns="104925" tIns="52450" rIns="104925" bIns="52450" anchor="ctr" anchorCtr="0">
            <a:normAutofit/>
          </a:bodyPr>
          <a:lstStyle>
            <a:lvl1pPr marR="0" lvl="0" algn="ctr" rtl="0">
              <a:spcBef>
                <a:spcPts val="0"/>
              </a:spcBef>
              <a:spcAft>
                <a:spcPts val="0"/>
              </a:spcAft>
              <a:buClr>
                <a:schemeClr val="dk1"/>
              </a:buClr>
              <a:buSzPts val="4535"/>
              <a:buFont typeface="Calibri"/>
              <a:buNone/>
              <a:defRPr sz="4535"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5" name="Google Shape;165;p78"/>
          <p:cNvSpPr txBox="1">
            <a:spLocks noGrp="1"/>
          </p:cNvSpPr>
          <p:nvPr>
            <p:ph type="body" idx="1"/>
          </p:nvPr>
        </p:nvSpPr>
        <p:spPr>
          <a:xfrm>
            <a:off x="609601" y="1600200"/>
            <a:ext cx="10972800" cy="4525963"/>
          </a:xfrm>
          <a:prstGeom prst="rect">
            <a:avLst/>
          </a:prstGeom>
          <a:noFill/>
          <a:ln>
            <a:noFill/>
          </a:ln>
        </p:spPr>
        <p:txBody>
          <a:bodyPr spcFirstLastPara="1" wrap="square" lIns="104925" tIns="52450" rIns="104925" bIns="52450" anchor="t" anchorCtr="0">
            <a:normAutofit/>
          </a:bodyPr>
          <a:lstStyle>
            <a:lvl1pPr marL="457200" marR="0" lvl="0" indent="-441706" algn="l" rtl="0">
              <a:spcBef>
                <a:spcPts val="671"/>
              </a:spcBef>
              <a:spcAft>
                <a:spcPts val="0"/>
              </a:spcAft>
              <a:buClr>
                <a:schemeClr val="dk1"/>
              </a:buClr>
              <a:buSzPts val="3356"/>
              <a:buFont typeface="Arial"/>
              <a:buChar char="•"/>
              <a:defRPr sz="3356" b="0" i="0" u="none" strike="noStrike" cap="none">
                <a:solidFill>
                  <a:schemeClr val="dk1"/>
                </a:solidFill>
                <a:latin typeface="Calibri"/>
                <a:ea typeface="Calibri"/>
                <a:cs typeface="Calibri"/>
                <a:sym typeface="Calibri"/>
              </a:defRPr>
            </a:lvl1pPr>
            <a:lvl2pPr marL="914400" marR="0" lvl="1" indent="-412877" algn="l" rtl="0">
              <a:spcBef>
                <a:spcPts val="580"/>
              </a:spcBef>
              <a:spcAft>
                <a:spcPts val="0"/>
              </a:spcAft>
              <a:buClr>
                <a:schemeClr val="dk1"/>
              </a:buClr>
              <a:buSzPts val="2902"/>
              <a:buFont typeface="Arial"/>
              <a:buChar char="–"/>
              <a:defRPr sz="2902" b="0" i="0" u="none" strike="noStrike" cap="none">
                <a:solidFill>
                  <a:schemeClr val="dk1"/>
                </a:solidFill>
                <a:latin typeface="Calibri"/>
                <a:ea typeface="Calibri"/>
                <a:cs typeface="Calibri"/>
                <a:sym typeface="Calibri"/>
              </a:defRPr>
            </a:lvl2pPr>
            <a:lvl3pPr marL="1371600" marR="0" lvl="2" indent="-389889" algn="l" rtl="0">
              <a:spcBef>
                <a:spcPts val="508"/>
              </a:spcBef>
              <a:spcAft>
                <a:spcPts val="0"/>
              </a:spcAft>
              <a:buClr>
                <a:schemeClr val="dk1"/>
              </a:buClr>
              <a:buSzPts val="2540"/>
              <a:buFont typeface="Arial"/>
              <a:buChar char="•"/>
              <a:defRPr sz="2540" b="0" i="0" u="none" strike="noStrike" cap="none">
                <a:solidFill>
                  <a:schemeClr val="dk1"/>
                </a:solidFill>
                <a:latin typeface="Calibri"/>
                <a:ea typeface="Calibri"/>
                <a:cs typeface="Calibri"/>
                <a:sym typeface="Calibri"/>
              </a:defRPr>
            </a:lvl3pPr>
            <a:lvl4pPr marL="1828800" marR="0" lvl="3" indent="-361061"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4pPr>
            <a:lvl5pPr marL="2286000" marR="0" lvl="4" indent="-361060"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5pPr>
            <a:lvl6pPr marL="2743200" marR="0" lvl="5" indent="-361060"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6pPr>
            <a:lvl7pPr marL="3200400" marR="0" lvl="6" indent="-361060"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7pPr>
            <a:lvl8pPr marL="3657600" marR="0" lvl="7" indent="-361060"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8pPr>
            <a:lvl9pPr marL="4114800" marR="0" lvl="8" indent="-361060" algn="l" rtl="0">
              <a:spcBef>
                <a:spcPts val="417"/>
              </a:spcBef>
              <a:spcAft>
                <a:spcPts val="0"/>
              </a:spcAft>
              <a:buClr>
                <a:schemeClr val="dk1"/>
              </a:buClr>
              <a:buSzPts val="2086"/>
              <a:buFont typeface="Arial"/>
              <a:buChar char="•"/>
              <a:defRPr sz="2086" b="0" i="0" u="none" strike="noStrike" cap="none">
                <a:solidFill>
                  <a:schemeClr val="dk1"/>
                </a:solidFill>
                <a:latin typeface="Calibri"/>
                <a:ea typeface="Calibri"/>
                <a:cs typeface="Calibri"/>
                <a:sym typeface="Calibri"/>
              </a:defRPr>
            </a:lvl9pPr>
          </a:lstStyle>
          <a:p>
            <a:endParaRPr/>
          </a:p>
        </p:txBody>
      </p:sp>
      <p:sp>
        <p:nvSpPr>
          <p:cNvPr id="166" name="Google Shape;166;p78"/>
          <p:cNvSpPr txBox="1">
            <a:spLocks noGrp="1"/>
          </p:cNvSpPr>
          <p:nvPr>
            <p:ph type="dt" idx="10"/>
          </p:nvPr>
        </p:nvSpPr>
        <p:spPr>
          <a:xfrm>
            <a:off x="609600" y="6356351"/>
            <a:ext cx="2844800" cy="365125"/>
          </a:xfrm>
          <a:prstGeom prst="rect">
            <a:avLst/>
          </a:prstGeom>
          <a:noFill/>
          <a:ln>
            <a:noFill/>
          </a:ln>
        </p:spPr>
        <p:txBody>
          <a:bodyPr spcFirstLastPara="1" wrap="square" lIns="104925" tIns="52450" rIns="104925" bIns="52450" anchor="ctr" anchorCtr="0">
            <a:noAutofit/>
          </a:bodyPr>
          <a:lstStyle>
            <a:lvl1pPr marR="0" lvl="0" algn="l" rtl="0">
              <a:spcBef>
                <a:spcPts val="0"/>
              </a:spcBef>
              <a:spcAft>
                <a:spcPts val="0"/>
              </a:spcAft>
              <a:buSzPts val="1400"/>
              <a:buNone/>
              <a:defRPr sz="12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7" name="Google Shape;167;p78"/>
          <p:cNvSpPr txBox="1">
            <a:spLocks noGrp="1"/>
          </p:cNvSpPr>
          <p:nvPr>
            <p:ph type="ftr" idx="11"/>
          </p:nvPr>
        </p:nvSpPr>
        <p:spPr>
          <a:xfrm>
            <a:off x="4165600" y="6356351"/>
            <a:ext cx="3860801" cy="365125"/>
          </a:xfrm>
          <a:prstGeom prst="rect">
            <a:avLst/>
          </a:prstGeom>
          <a:noFill/>
          <a:ln>
            <a:noFill/>
          </a:ln>
        </p:spPr>
        <p:txBody>
          <a:bodyPr spcFirstLastPara="1" wrap="square" lIns="104925" tIns="52450" rIns="104925" bIns="52450" anchor="ctr" anchorCtr="0">
            <a:noAutofit/>
          </a:bodyPr>
          <a:lstStyle>
            <a:lvl1pPr marR="0" lvl="0" algn="ctr" rtl="0">
              <a:spcBef>
                <a:spcPts val="0"/>
              </a:spcBef>
              <a:spcAft>
                <a:spcPts val="0"/>
              </a:spcAft>
              <a:buSzPts val="1400"/>
              <a:buNone/>
              <a:defRPr sz="12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8" name="Google Shape;168;p7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lvl1pPr marL="0" marR="0" lvl="0" indent="0" algn="r" rtl="0">
              <a:spcBef>
                <a:spcPts val="0"/>
              </a:spcBef>
              <a:buNone/>
              <a:defRPr sz="1270" b="0" i="0" u="none" strike="noStrike" cap="none">
                <a:solidFill>
                  <a:srgbClr val="888888"/>
                </a:solidFill>
                <a:latin typeface="Calibri"/>
                <a:ea typeface="Calibri"/>
                <a:cs typeface="Calibri"/>
                <a:sym typeface="Calibri"/>
              </a:defRPr>
            </a:lvl1pPr>
            <a:lvl2pPr marL="0" marR="0" lvl="1" indent="0" algn="r" rtl="0">
              <a:spcBef>
                <a:spcPts val="0"/>
              </a:spcBef>
              <a:buNone/>
              <a:defRPr sz="1270" b="0" i="0" u="none" strike="noStrike" cap="none">
                <a:solidFill>
                  <a:srgbClr val="888888"/>
                </a:solidFill>
                <a:latin typeface="Calibri"/>
                <a:ea typeface="Calibri"/>
                <a:cs typeface="Calibri"/>
                <a:sym typeface="Calibri"/>
              </a:defRPr>
            </a:lvl2pPr>
            <a:lvl3pPr marL="0" marR="0" lvl="2" indent="0" algn="r" rtl="0">
              <a:spcBef>
                <a:spcPts val="0"/>
              </a:spcBef>
              <a:buNone/>
              <a:defRPr sz="1270" b="0" i="0" u="none" strike="noStrike" cap="none">
                <a:solidFill>
                  <a:srgbClr val="888888"/>
                </a:solidFill>
                <a:latin typeface="Calibri"/>
                <a:ea typeface="Calibri"/>
                <a:cs typeface="Calibri"/>
                <a:sym typeface="Calibri"/>
              </a:defRPr>
            </a:lvl3pPr>
            <a:lvl4pPr marL="0" marR="0" lvl="3" indent="0" algn="r" rtl="0">
              <a:spcBef>
                <a:spcPts val="0"/>
              </a:spcBef>
              <a:buNone/>
              <a:defRPr sz="1270" b="0" i="0" u="none" strike="noStrike" cap="none">
                <a:solidFill>
                  <a:srgbClr val="888888"/>
                </a:solidFill>
                <a:latin typeface="Calibri"/>
                <a:ea typeface="Calibri"/>
                <a:cs typeface="Calibri"/>
                <a:sym typeface="Calibri"/>
              </a:defRPr>
            </a:lvl4pPr>
            <a:lvl5pPr marL="0" marR="0" lvl="4" indent="0" algn="r" rtl="0">
              <a:spcBef>
                <a:spcPts val="0"/>
              </a:spcBef>
              <a:buNone/>
              <a:defRPr sz="1270" b="0" i="0" u="none" strike="noStrike" cap="none">
                <a:solidFill>
                  <a:srgbClr val="888888"/>
                </a:solidFill>
                <a:latin typeface="Calibri"/>
                <a:ea typeface="Calibri"/>
                <a:cs typeface="Calibri"/>
                <a:sym typeface="Calibri"/>
              </a:defRPr>
            </a:lvl5pPr>
            <a:lvl6pPr marL="0" marR="0" lvl="5" indent="0" algn="r" rtl="0">
              <a:spcBef>
                <a:spcPts val="0"/>
              </a:spcBef>
              <a:buNone/>
              <a:defRPr sz="1270" b="0" i="0" u="none" strike="noStrike" cap="none">
                <a:solidFill>
                  <a:srgbClr val="888888"/>
                </a:solidFill>
                <a:latin typeface="Calibri"/>
                <a:ea typeface="Calibri"/>
                <a:cs typeface="Calibri"/>
                <a:sym typeface="Calibri"/>
              </a:defRPr>
            </a:lvl6pPr>
            <a:lvl7pPr marL="0" marR="0" lvl="6" indent="0" algn="r" rtl="0">
              <a:spcBef>
                <a:spcPts val="0"/>
              </a:spcBef>
              <a:buNone/>
              <a:defRPr sz="1270" b="0" i="0" u="none" strike="noStrike" cap="none">
                <a:solidFill>
                  <a:srgbClr val="888888"/>
                </a:solidFill>
                <a:latin typeface="Calibri"/>
                <a:ea typeface="Calibri"/>
                <a:cs typeface="Calibri"/>
                <a:sym typeface="Calibri"/>
              </a:defRPr>
            </a:lvl7pPr>
            <a:lvl8pPr marL="0" marR="0" lvl="7" indent="0" algn="r" rtl="0">
              <a:spcBef>
                <a:spcPts val="0"/>
              </a:spcBef>
              <a:buNone/>
              <a:defRPr sz="1270" b="0" i="0" u="none" strike="noStrike" cap="none">
                <a:solidFill>
                  <a:srgbClr val="888888"/>
                </a:solidFill>
                <a:latin typeface="Calibri"/>
                <a:ea typeface="Calibri"/>
                <a:cs typeface="Calibri"/>
                <a:sym typeface="Calibri"/>
              </a:defRPr>
            </a:lvl8pPr>
            <a:lvl9pPr marL="0" marR="0" lvl="8" indent="0" algn="r" rtl="0">
              <a:spcBef>
                <a:spcPts val="0"/>
              </a:spcBef>
              <a:buNone/>
              <a:defRPr sz="127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hyperlink" Target="http://www.dlt.ri.gov/lmi/pdf/lfconcepts.pdf" TargetMode="External"/><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3.xml"/><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9.xml"/><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2.xml"/><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1" descr="A close up of a sign  Description automatically generated"/>
          <p:cNvPicPr preferRelativeResize="0"/>
          <p:nvPr/>
        </p:nvPicPr>
        <p:blipFill rotWithShape="1">
          <a:blip r:embed="rId3">
            <a:alphaModFix/>
          </a:blip>
          <a:srcRect r="59750"/>
          <a:stretch/>
        </p:blipFill>
        <p:spPr>
          <a:xfrm>
            <a:off x="20" y="10"/>
            <a:ext cx="4580077" cy="6400784"/>
          </a:xfrm>
          <a:prstGeom prst="rect">
            <a:avLst/>
          </a:prstGeom>
          <a:noFill/>
          <a:ln>
            <a:noFill/>
          </a:ln>
        </p:spPr>
      </p:pic>
      <p:pic>
        <p:nvPicPr>
          <p:cNvPr id="271" name="Google Shape;271;p1" descr="A picture containing drawing, device  Description automatically generated"/>
          <p:cNvPicPr preferRelativeResize="0"/>
          <p:nvPr/>
        </p:nvPicPr>
        <p:blipFill rotWithShape="1">
          <a:blip r:embed="rId4">
            <a:alphaModFix/>
          </a:blip>
          <a:srcRect l="27648" t="90352"/>
          <a:stretch/>
        </p:blipFill>
        <p:spPr>
          <a:xfrm>
            <a:off x="0" y="6286691"/>
            <a:ext cx="12192001" cy="689610"/>
          </a:xfrm>
          <a:prstGeom prst="rect">
            <a:avLst/>
          </a:prstGeom>
          <a:noFill/>
          <a:ln>
            <a:noFill/>
          </a:ln>
          <a:effectLst>
            <a:outerShdw blurRad="190500" algn="tl" rotWithShape="0">
              <a:srgbClr val="000000">
                <a:alpha val="69803"/>
              </a:srgbClr>
            </a:outerShdw>
          </a:effectLst>
        </p:spPr>
      </p:pic>
      <p:sp>
        <p:nvSpPr>
          <p:cNvPr id="272" name="Google Shape;272;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1</a:t>
            </a:fld>
            <a:endParaRPr sz="1200" b="0" i="0" u="none" strike="noStrike" cap="none">
              <a:solidFill>
                <a:srgbClr val="888888"/>
              </a:solidFill>
              <a:latin typeface="Calibri"/>
              <a:ea typeface="Calibri"/>
              <a:cs typeface="Calibri"/>
              <a:sym typeface="Calibri"/>
            </a:endParaRPr>
          </a:p>
        </p:txBody>
      </p:sp>
      <p:sp>
        <p:nvSpPr>
          <p:cNvPr id="273" name="Google Shape;273;p1"/>
          <p:cNvSpPr txBox="1"/>
          <p:nvPr/>
        </p:nvSpPr>
        <p:spPr>
          <a:xfrm>
            <a:off x="4969839" y="1445043"/>
            <a:ext cx="433054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Pertemuan 9: Official Statistics Lanjutan</a:t>
            </a:r>
            <a:endParaRPr sz="2000" b="0" i="0" u="none" strike="noStrike" cap="none">
              <a:solidFill>
                <a:srgbClr val="000000"/>
              </a:solidFill>
              <a:latin typeface="Calibri"/>
              <a:ea typeface="Calibri"/>
              <a:cs typeface="Calibri"/>
              <a:sym typeface="Calibri"/>
            </a:endParaRPr>
          </a:p>
        </p:txBody>
      </p:sp>
      <p:sp>
        <p:nvSpPr>
          <p:cNvPr id="274" name="Google Shape;274;p1"/>
          <p:cNvSpPr txBox="1"/>
          <p:nvPr/>
        </p:nvSpPr>
        <p:spPr>
          <a:xfrm>
            <a:off x="4580096" y="2004788"/>
            <a:ext cx="7611884" cy="1803398"/>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4000"/>
              <a:buFont typeface="Arial"/>
              <a:buNone/>
            </a:pPr>
            <a:r>
              <a:rPr lang="en-US" sz="4000" b="1" i="0" u="none" strike="noStrike" cap="none">
                <a:solidFill>
                  <a:srgbClr val="000000"/>
                </a:solidFill>
                <a:latin typeface="Arial"/>
                <a:ea typeface="Arial"/>
                <a:cs typeface="Arial"/>
                <a:sym typeface="Arial"/>
              </a:rPr>
              <a:t>Indikator Ketenagakerjaan</a:t>
            </a:r>
            <a:endParaRPr sz="4000" b="1"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n-US" sz="4000" b="1" i="0" u="none" strike="noStrike" cap="none">
                <a:solidFill>
                  <a:srgbClr val="000000"/>
                </a:solidFill>
                <a:latin typeface="Arial"/>
                <a:ea typeface="Arial"/>
                <a:cs typeface="Arial"/>
                <a:sym typeface="Arial"/>
              </a:rPr>
              <a:t>dan</a:t>
            </a:r>
            <a:endParaRPr sz="4000" b="1"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n-US" sz="4000" b="1" i="0" u="none" strike="noStrike" cap="none">
                <a:solidFill>
                  <a:srgbClr val="000000"/>
                </a:solidFill>
                <a:latin typeface="Arial"/>
                <a:ea typeface="Arial"/>
                <a:cs typeface="Arial"/>
                <a:sym typeface="Arial"/>
              </a:rPr>
              <a:t>Indikator Pendidikan</a:t>
            </a:r>
            <a:endParaRPr sz="4000" b="1"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279"/>
        <p:cNvGrpSpPr/>
        <p:nvPr/>
      </p:nvGrpSpPr>
      <p:grpSpPr>
        <a:xfrm>
          <a:off x="0" y="0"/>
          <a:ext cx="0" cy="0"/>
          <a:chOff x="0" y="0"/>
          <a:chExt cx="0" cy="0"/>
        </a:xfrm>
      </p:grpSpPr>
      <p:sp>
        <p:nvSpPr>
          <p:cNvPr id="280" name="Google Shape;280;p2"/>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A6B727"/>
              </a:buClr>
              <a:buSzPts val="1200"/>
              <a:buFont typeface="Corbel"/>
              <a:buNone/>
            </a:pPr>
            <a:fld id="{00000000-1234-1234-1234-123412341234}" type="slidenum">
              <a:rPr lang="en-US" sz="1200" b="0" i="0" u="none" strike="noStrike" cap="none">
                <a:solidFill>
                  <a:srgbClr val="A6B727"/>
                </a:solidFill>
                <a:latin typeface="Corbel"/>
                <a:ea typeface="Corbel"/>
                <a:cs typeface="Corbel"/>
                <a:sym typeface="Corbel"/>
              </a:rPr>
              <a:t>2</a:t>
            </a:fld>
            <a:endParaRPr sz="1200" b="0" i="0" u="none" strike="noStrike" cap="none">
              <a:solidFill>
                <a:srgbClr val="A6B727"/>
              </a:solidFill>
              <a:latin typeface="Corbel"/>
              <a:ea typeface="Corbel"/>
              <a:cs typeface="Corbel"/>
              <a:sym typeface="Corbel"/>
            </a:endParaRPr>
          </a:p>
        </p:txBody>
      </p:sp>
      <p:sp>
        <p:nvSpPr>
          <p:cNvPr id="281" name="Google Shape;281;p2"/>
          <p:cNvSpPr txBox="1"/>
          <p:nvPr/>
        </p:nvSpPr>
        <p:spPr>
          <a:xfrm>
            <a:off x="1864426" y="2576936"/>
            <a:ext cx="8621486" cy="80021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600" b="1" i="0" u="none" strike="noStrike" cap="none">
                <a:solidFill>
                  <a:schemeClr val="dk1"/>
                </a:solidFill>
                <a:latin typeface="Corbel"/>
                <a:ea typeface="Corbel"/>
                <a:cs typeface="Corbel"/>
                <a:sym typeface="Corbel"/>
              </a:rPr>
              <a:t>Indikator Ketenagakerjaan</a:t>
            </a:r>
            <a:endParaRPr sz="4600" b="1" i="0" u="none" strike="noStrike" cap="none">
              <a:solidFill>
                <a:schemeClr val="dk1"/>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rgbClr val="000000"/>
              </a:buClr>
              <a:buSzPts val="3400"/>
              <a:buFont typeface="Georgia"/>
              <a:buNone/>
            </a:pPr>
            <a:r>
              <a:rPr lang="en-US" sz="3400" b="1">
                <a:solidFill>
                  <a:srgbClr val="000000"/>
                </a:solidFill>
                <a:latin typeface="Georgia"/>
                <a:ea typeface="Georgia"/>
                <a:cs typeface="Georgia"/>
                <a:sym typeface="Georgia"/>
              </a:rPr>
              <a:t>Kenapa perlu informasi ketenagakerjaan? [1]</a:t>
            </a:r>
            <a:endParaRPr sz="3400"/>
          </a:p>
        </p:txBody>
      </p:sp>
      <p:sp>
        <p:nvSpPr>
          <p:cNvPr id="287" name="Google Shape;287;p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88" name="Google Shape;288;p3"/>
          <p:cNvSpPr txBox="1"/>
          <p:nvPr/>
        </p:nvSpPr>
        <p:spPr>
          <a:xfrm>
            <a:off x="522514" y="1511607"/>
            <a:ext cx="11059887" cy="470898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2400"/>
              <a:buFont typeface="Arial"/>
              <a:buChar char="•"/>
            </a:pPr>
            <a:r>
              <a:rPr lang="en-US" sz="2400" b="1" i="0" u="none" strike="noStrike" cap="none">
                <a:solidFill>
                  <a:srgbClr val="000000"/>
                </a:solidFill>
                <a:latin typeface="Cambria"/>
                <a:ea typeface="Cambria"/>
                <a:cs typeface="Cambria"/>
                <a:sym typeface="Cambria"/>
              </a:rPr>
              <a:t>faktor produksi</a:t>
            </a:r>
            <a:r>
              <a:rPr lang="en-US" sz="2400" b="0" i="0" u="none" strike="noStrike" cap="none">
                <a:solidFill>
                  <a:srgbClr val="000000"/>
                </a:solidFill>
                <a:latin typeface="Cambria"/>
                <a:ea typeface="Cambria"/>
                <a:cs typeface="Cambria"/>
                <a:sym typeface="Cambria"/>
              </a:rPr>
              <a:t>: modal, </a:t>
            </a:r>
            <a:r>
              <a:rPr lang="en-US" sz="2400" b="0" i="0" u="sng" strike="noStrike" cap="none">
                <a:solidFill>
                  <a:srgbClr val="0000FF"/>
                </a:solidFill>
                <a:latin typeface="Cambria"/>
                <a:ea typeface="Cambria"/>
                <a:cs typeface="Cambria"/>
                <a:sym typeface="Cambria"/>
              </a:rPr>
              <a:t>tenaga kerja</a:t>
            </a:r>
            <a:r>
              <a:rPr lang="en-US" sz="2400" b="0" i="0" u="none" strike="noStrike" cap="none">
                <a:solidFill>
                  <a:srgbClr val="000000"/>
                </a:solidFill>
                <a:latin typeface="Cambria"/>
                <a:ea typeface="Cambria"/>
                <a:cs typeface="Cambria"/>
                <a:sym typeface="Cambria"/>
              </a:rPr>
              <a:t>, tanah, kewirausahaan </a:t>
            </a:r>
            <a:endParaRPr/>
          </a:p>
          <a:p>
            <a:pPr marL="342900" marR="0" lvl="0" indent="-342900" algn="l" rtl="0">
              <a:spcBef>
                <a:spcPts val="1800"/>
              </a:spcBef>
              <a:spcAft>
                <a:spcPts val="0"/>
              </a:spcAft>
              <a:buClr>
                <a:srgbClr val="000000"/>
              </a:buClr>
              <a:buSzPts val="2400"/>
              <a:buFont typeface="Arial"/>
              <a:buChar char="•"/>
            </a:pPr>
            <a:r>
              <a:rPr lang="en-US" sz="2400" b="1" i="0" u="none" strike="noStrike" cap="none">
                <a:solidFill>
                  <a:srgbClr val="000000"/>
                </a:solidFill>
                <a:latin typeface="Cambria"/>
                <a:ea typeface="Cambria"/>
                <a:cs typeface="Cambria"/>
                <a:sym typeface="Cambria"/>
              </a:rPr>
              <a:t>proses produksi</a:t>
            </a:r>
            <a:r>
              <a:rPr lang="en-US" sz="2400" b="0" i="0" u="none" strike="noStrike" cap="none">
                <a:solidFill>
                  <a:srgbClr val="000000"/>
                </a:solidFill>
                <a:latin typeface="Cambria"/>
                <a:ea typeface="Cambria"/>
                <a:cs typeface="Cambria"/>
                <a:sym typeface="Cambria"/>
              </a:rPr>
              <a:t>: tenaga kerja pemegang </a:t>
            </a:r>
            <a:r>
              <a:rPr lang="en-US" sz="2400" b="0" i="0" u="sng" strike="noStrike" cap="none">
                <a:solidFill>
                  <a:srgbClr val="0000FF"/>
                </a:solidFill>
                <a:latin typeface="Cambria"/>
                <a:ea typeface="Cambria"/>
                <a:cs typeface="Cambria"/>
                <a:sym typeface="Cambria"/>
              </a:rPr>
              <a:t>peranan utama</a:t>
            </a:r>
            <a:endParaRPr sz="2400" b="0" i="0" u="none" strike="noStrike" cap="none">
              <a:solidFill>
                <a:srgbClr val="000000"/>
              </a:solidFill>
              <a:latin typeface="Cambria"/>
              <a:ea typeface="Cambria"/>
              <a:cs typeface="Cambria"/>
              <a:sym typeface="Cambria"/>
            </a:endParaRPr>
          </a:p>
          <a:p>
            <a:pPr marL="742950" marR="0" lvl="1" indent="-342900" algn="l" rtl="0">
              <a:spcBef>
                <a:spcPts val="60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peranan dalam produksi barang dan jasa</a:t>
            </a:r>
            <a:endParaRPr/>
          </a:p>
          <a:p>
            <a:pPr marL="742950" marR="0" lvl="1" indent="-342900" algn="l" rtl="0">
              <a:spcBef>
                <a:spcPts val="30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memperoleh </a:t>
            </a:r>
            <a:r>
              <a:rPr lang="en-US" sz="2000" b="0" i="0" u="sng" strike="noStrike" cap="none">
                <a:solidFill>
                  <a:srgbClr val="000000"/>
                </a:solidFill>
                <a:latin typeface="Cambria"/>
                <a:ea typeface="Cambria"/>
                <a:cs typeface="Cambria"/>
                <a:sym typeface="Cambria"/>
              </a:rPr>
              <a:t>pendapatan</a:t>
            </a:r>
            <a:r>
              <a:rPr lang="en-US" sz="2000" b="0" i="0" u="none" strike="noStrike" cap="none">
                <a:solidFill>
                  <a:srgbClr val="000000"/>
                </a:solidFill>
                <a:latin typeface="Cambria"/>
                <a:ea typeface="Cambria"/>
                <a:cs typeface="Cambria"/>
                <a:sym typeface="Cambria"/>
              </a:rPr>
              <a:t> untuk menghidupi keluarga =&gt; konsumsi</a:t>
            </a:r>
            <a:endParaRPr/>
          </a:p>
          <a:p>
            <a:pPr marL="742950" marR="0" lvl="1" indent="-342900" algn="l" rtl="0">
              <a:spcBef>
                <a:spcPts val="30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produktivitas sebagai tenaga kerja =&gt; PDB/ekonomi nasional</a:t>
            </a:r>
            <a:endParaRPr/>
          </a:p>
          <a:p>
            <a:pPr marL="342900" marR="0" lvl="0" indent="-342900" algn="l" rtl="0">
              <a:spcBef>
                <a:spcPts val="1800"/>
              </a:spcBef>
              <a:spcAft>
                <a:spcPts val="0"/>
              </a:spcAft>
              <a:buClr>
                <a:srgbClr val="000000"/>
              </a:buClr>
              <a:buSzPts val="2400"/>
              <a:buFont typeface="Arial"/>
              <a:buChar char="•"/>
            </a:pPr>
            <a:r>
              <a:rPr lang="en-US" sz="2400" b="1" i="0" u="none" strike="noStrike" cap="none">
                <a:solidFill>
                  <a:srgbClr val="000000"/>
                </a:solidFill>
                <a:latin typeface="Cambria"/>
                <a:ea typeface="Cambria"/>
                <a:cs typeface="Cambria"/>
                <a:sym typeface="Cambria"/>
              </a:rPr>
              <a:t>sisi psikologi</a:t>
            </a:r>
            <a:r>
              <a:rPr lang="en-US" sz="2400" b="0" i="0" u="none" strike="noStrike" cap="none">
                <a:solidFill>
                  <a:srgbClr val="000000"/>
                </a:solidFill>
                <a:latin typeface="Cambria"/>
                <a:ea typeface="Cambria"/>
                <a:cs typeface="Cambria"/>
                <a:sym typeface="Cambria"/>
              </a:rPr>
              <a:t>: bekerja adalah rasa kebanggaan [</a:t>
            </a:r>
            <a:r>
              <a:rPr lang="en-US" sz="2400" b="0" i="1" u="none" strike="noStrike" cap="none">
                <a:solidFill>
                  <a:srgbClr val="0000FF"/>
                </a:solidFill>
                <a:latin typeface="Cambria"/>
                <a:ea typeface="Cambria"/>
                <a:cs typeface="Cambria"/>
                <a:sym typeface="Cambria"/>
              </a:rPr>
              <a:t>self esteem</a:t>
            </a:r>
            <a:r>
              <a:rPr lang="en-US" sz="2400" b="0" i="0" u="none" strike="noStrike" cap="none">
                <a:solidFill>
                  <a:schemeClr val="dk1"/>
                </a:solidFill>
                <a:latin typeface="Cambria"/>
                <a:ea typeface="Cambria"/>
                <a:cs typeface="Cambria"/>
                <a:sym typeface="Cambria"/>
              </a:rPr>
              <a:t>]</a:t>
            </a:r>
            <a:endParaRPr/>
          </a:p>
          <a:p>
            <a:pPr marL="669925" marR="0" lvl="1" indent="-269875" algn="l" rtl="0">
              <a:spcBef>
                <a:spcPts val="600"/>
              </a:spcBef>
              <a:spcAft>
                <a:spcPts val="0"/>
              </a:spcAft>
              <a:buNone/>
            </a:pPr>
            <a:r>
              <a:rPr lang="en-US" sz="2000" b="0" i="0" u="none" strike="noStrike" cap="none">
                <a:solidFill>
                  <a:srgbClr val="000000"/>
                </a:solidFill>
                <a:latin typeface="Cambria"/>
                <a:ea typeface="Cambria"/>
                <a:cs typeface="Cambria"/>
                <a:sym typeface="Cambria"/>
              </a:rPr>
              <a:t>kebutuhan hidup sebagai manusia mendapat </a:t>
            </a:r>
            <a:r>
              <a:rPr lang="en-US" sz="2000" b="0" i="1" u="none" strike="noStrike" cap="none">
                <a:solidFill>
                  <a:srgbClr val="000000"/>
                </a:solidFill>
                <a:latin typeface="Cambria"/>
                <a:ea typeface="Cambria"/>
                <a:cs typeface="Cambria"/>
                <a:sym typeface="Cambria"/>
              </a:rPr>
              <a:t>respect</a:t>
            </a:r>
            <a:r>
              <a:rPr lang="en-US" sz="2000" b="0" i="0" u="none" strike="noStrike" cap="none">
                <a:solidFill>
                  <a:srgbClr val="000000"/>
                </a:solidFill>
                <a:latin typeface="Cambria"/>
                <a:ea typeface="Cambria"/>
                <a:cs typeface="Cambria"/>
                <a:sym typeface="Cambria"/>
              </a:rPr>
              <a:t>, </a:t>
            </a:r>
            <a:r>
              <a:rPr lang="en-US" sz="2000" b="0" i="1" u="none" strike="noStrike" cap="none">
                <a:solidFill>
                  <a:srgbClr val="000000"/>
                </a:solidFill>
                <a:latin typeface="Cambria"/>
                <a:ea typeface="Cambria"/>
                <a:cs typeface="Cambria"/>
                <a:sym typeface="Cambria"/>
              </a:rPr>
              <a:t>honor</a:t>
            </a:r>
            <a:r>
              <a:rPr lang="en-US" sz="2000" b="0" i="0" u="none" strike="noStrike" cap="none">
                <a:solidFill>
                  <a:srgbClr val="000000"/>
                </a:solidFill>
                <a:latin typeface="Cambria"/>
                <a:ea typeface="Cambria"/>
                <a:cs typeface="Cambria"/>
                <a:sym typeface="Cambria"/>
              </a:rPr>
              <a:t>,  pengakuan dalam keluarga maupun dalam komunitas </a:t>
            </a:r>
            <a:endParaRPr/>
          </a:p>
          <a:p>
            <a:pPr marL="669925" marR="0" lvl="1" indent="-269875" algn="l" rtl="0">
              <a:spcBef>
                <a:spcPts val="0"/>
              </a:spcBef>
              <a:spcAft>
                <a:spcPts val="0"/>
              </a:spcAft>
              <a:buNone/>
            </a:pPr>
            <a:r>
              <a:rPr lang="en-US" sz="2000" b="0" i="0" u="none" strike="noStrike" cap="none">
                <a:solidFill>
                  <a:srgbClr val="000000"/>
                </a:solidFill>
                <a:latin typeface="Cambria"/>
                <a:ea typeface="Cambria"/>
                <a:cs typeface="Cambria"/>
                <a:sym typeface="Cambria"/>
              </a:rPr>
              <a:t>pengakuan (karena posisi/jabatan) dari tempat kerja, atasan, teman sejawat, teman kerja</a:t>
            </a:r>
            <a:endParaRPr/>
          </a:p>
          <a:p>
            <a:pPr marL="342900" marR="0" lvl="0" indent="-342900" algn="l" rtl="0">
              <a:spcBef>
                <a:spcPts val="1800"/>
              </a:spcBef>
              <a:spcAft>
                <a:spcPts val="0"/>
              </a:spcAft>
              <a:buClr>
                <a:srgbClr val="000000"/>
              </a:buClr>
              <a:buSzPts val="2400"/>
              <a:buFont typeface="Arial"/>
              <a:buChar char="•"/>
            </a:pPr>
            <a:r>
              <a:rPr lang="en-US" sz="2400" b="1" i="0" u="none" strike="noStrike" cap="none">
                <a:solidFill>
                  <a:srgbClr val="000000"/>
                </a:solidFill>
                <a:latin typeface="Cambria"/>
                <a:ea typeface="Cambria"/>
                <a:cs typeface="Cambria"/>
                <a:sym typeface="Cambria"/>
              </a:rPr>
              <a:t>sisi politis</a:t>
            </a:r>
            <a:r>
              <a:rPr lang="en-US" sz="2400" b="0" i="0" u="none" strike="noStrike" cap="none">
                <a:solidFill>
                  <a:srgbClr val="000000"/>
                </a:solidFill>
                <a:latin typeface="Cambria"/>
                <a:ea typeface="Cambria"/>
                <a:cs typeface="Cambria"/>
                <a:sym typeface="Cambria"/>
              </a:rPr>
              <a:t>: serikat buruh merupakan pressure group =&gt; menentukan/mempengaruhi perumusan kebijakan </a:t>
            </a:r>
            <a:endParaRPr/>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rgbClr val="000000"/>
              </a:buClr>
              <a:buSzPts val="3400"/>
              <a:buFont typeface="Georgia"/>
              <a:buNone/>
            </a:pPr>
            <a:r>
              <a:rPr lang="en-US" sz="3400" b="1">
                <a:solidFill>
                  <a:srgbClr val="000000"/>
                </a:solidFill>
                <a:latin typeface="Georgia"/>
                <a:ea typeface="Georgia"/>
                <a:cs typeface="Georgia"/>
                <a:sym typeface="Georgia"/>
              </a:rPr>
              <a:t>Kenapa perlu informasi ketenagakerjaan? [2]</a:t>
            </a:r>
            <a:endParaRPr sz="3400"/>
          </a:p>
        </p:txBody>
      </p:sp>
      <p:sp>
        <p:nvSpPr>
          <p:cNvPr id="294" name="Google Shape;294;p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295" name="Google Shape;295;p4"/>
          <p:cNvSpPr txBox="1"/>
          <p:nvPr/>
        </p:nvSpPr>
        <p:spPr>
          <a:xfrm>
            <a:off x="522514" y="1520833"/>
            <a:ext cx="11059887" cy="477823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2400"/>
              <a:buFont typeface="Arial"/>
              <a:buChar char="•"/>
            </a:pPr>
            <a:r>
              <a:rPr lang="en-US" sz="2400" b="0" i="0" u="none" strike="noStrike" cap="none">
                <a:solidFill>
                  <a:srgbClr val="000000"/>
                </a:solidFill>
                <a:latin typeface="Cambria"/>
                <a:ea typeface="Cambria"/>
                <a:cs typeface="Cambria"/>
                <a:sym typeface="Cambria"/>
              </a:rPr>
              <a:t>informasi apa saja? </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penduduk dan angkatan kerja</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informasi pokok: berapa orang (%) bekerja (</a:t>
            </a:r>
            <a:r>
              <a:rPr lang="en-US" sz="2000" b="0" i="1" u="none" strike="noStrike" cap="none">
                <a:solidFill>
                  <a:srgbClr val="0000FF"/>
                </a:solidFill>
                <a:latin typeface="Cambria"/>
                <a:ea typeface="Cambria"/>
                <a:cs typeface="Cambria"/>
                <a:sym typeface="Cambria"/>
              </a:rPr>
              <a:t>employed</a:t>
            </a:r>
            <a:r>
              <a:rPr lang="en-US" sz="2000" b="0" i="0" u="none" strike="noStrike" cap="none">
                <a:solidFill>
                  <a:srgbClr val="000000"/>
                </a:solidFill>
                <a:latin typeface="Cambria"/>
                <a:ea typeface="Cambria"/>
                <a:cs typeface="Cambria"/>
                <a:sym typeface="Cambria"/>
              </a:rPr>
              <a:t>) dan berapa orang (%) tidak bekerja (</a:t>
            </a:r>
            <a:r>
              <a:rPr lang="en-US" sz="2000" b="0" i="1" u="none" strike="noStrike" cap="none">
                <a:solidFill>
                  <a:srgbClr val="0000FF"/>
                </a:solidFill>
                <a:latin typeface="Cambria"/>
                <a:ea typeface="Cambria"/>
                <a:cs typeface="Cambria"/>
                <a:sym typeface="Cambria"/>
              </a:rPr>
              <a:t>unemployed</a:t>
            </a:r>
            <a:r>
              <a:rPr lang="en-US" sz="2000" b="0" i="0" u="none" strike="noStrike" cap="none">
                <a:solidFill>
                  <a:srgbClr val="000000"/>
                </a:solidFill>
                <a:latin typeface="Cambria"/>
                <a:ea typeface="Cambria"/>
                <a:cs typeface="Cambria"/>
                <a:sym typeface="Cambria"/>
              </a:rPr>
              <a:t>)</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informasi tambahan: karakteristik pekerja dan pekerjaan dan karakteristik tentang pencari kerja </a:t>
            </a:r>
            <a:endParaRPr/>
          </a:p>
          <a:p>
            <a:pPr marL="342900" marR="0" lvl="0" indent="-342900" algn="l" rtl="0">
              <a:spcBef>
                <a:spcPts val="1800"/>
              </a:spcBef>
              <a:spcAft>
                <a:spcPts val="0"/>
              </a:spcAft>
              <a:buClr>
                <a:srgbClr val="000000"/>
              </a:buClr>
              <a:buSzPts val="2400"/>
              <a:buFont typeface="Arial"/>
              <a:buChar char="•"/>
            </a:pPr>
            <a:r>
              <a:rPr lang="en-US" sz="2400" b="0" i="0" u="none" strike="noStrike" cap="none">
                <a:solidFill>
                  <a:srgbClr val="000000"/>
                </a:solidFill>
                <a:latin typeface="Cambria"/>
                <a:ea typeface="Cambria"/>
                <a:cs typeface="Cambria"/>
                <a:sym typeface="Cambria"/>
              </a:rPr>
              <a:t>karakteristik pekerja dan pekerjaan</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penuh/tidak penuh =&gt; full/underemployment</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sektor formal dan informal, </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lapangan usaha/sektor, jenis pekerjaan, status pekerjaan, dll</a:t>
            </a:r>
            <a:endParaRPr/>
          </a:p>
          <a:p>
            <a:pPr marL="742950" marR="0" lvl="1" indent="-342900" algn="l" rtl="0">
              <a:spcBef>
                <a:spcPts val="30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produktivitas: jam kerja, upah/gaji, pendapatan, dll</a:t>
            </a:r>
            <a:endParaRPr/>
          </a:p>
          <a:p>
            <a:pPr marL="742950" marR="0" lvl="1" indent="-342900" algn="l" rtl="0">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pendidikan pekerja </a:t>
            </a:r>
            <a:endParaRPr/>
          </a:p>
          <a:p>
            <a:pPr marL="342900" marR="0" lvl="0" indent="-342900" algn="l" rtl="0">
              <a:spcBef>
                <a:spcPts val="1800"/>
              </a:spcBef>
              <a:spcAft>
                <a:spcPts val="0"/>
              </a:spcAft>
              <a:buClr>
                <a:srgbClr val="000000"/>
              </a:buClr>
              <a:buSzPts val="2400"/>
              <a:buFont typeface="Arial"/>
              <a:buChar char="•"/>
            </a:pPr>
            <a:r>
              <a:rPr lang="en-US" sz="2400" b="0" i="0" u="none" strike="noStrike" cap="none">
                <a:solidFill>
                  <a:srgbClr val="000000"/>
                </a:solidFill>
                <a:latin typeface="Cambria"/>
                <a:ea typeface="Cambria"/>
                <a:cs typeface="Cambria"/>
                <a:sym typeface="Cambria"/>
              </a:rPr>
              <a:t>informasi terkait lainnya</a:t>
            </a:r>
            <a:endParaRPr/>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301" name="Google Shape;301;p5"/>
          <p:cNvSpPr/>
          <p:nvPr/>
        </p:nvSpPr>
        <p:spPr>
          <a:xfrm>
            <a:off x="1205035" y="1003776"/>
            <a:ext cx="4728677" cy="2084353"/>
          </a:xfrm>
          <a:prstGeom prst="rect">
            <a:avLst/>
          </a:prstGeom>
          <a:solidFill>
            <a:srgbClr val="FBD4B4"/>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1700" b="0" i="1" u="none" strike="noStrike" cap="none">
                <a:solidFill>
                  <a:srgbClr val="FF0000"/>
                </a:solidFill>
                <a:latin typeface="Cambria"/>
                <a:ea typeface="Cambria"/>
                <a:cs typeface="Cambria"/>
                <a:sym typeface="Cambria"/>
              </a:rPr>
              <a:t>When workers are unemployed, they, their families, and the country as a whole lose. Workers and their families lose wages, and the country loses goods and services, which could have been produced. In addition, the purchasing power of these workers is lost, which can lead to unemployment for yet other workers.</a:t>
            </a:r>
            <a:endParaRPr/>
          </a:p>
        </p:txBody>
      </p:sp>
      <p:sp>
        <p:nvSpPr>
          <p:cNvPr id="302" name="Google Shape;302;p5"/>
          <p:cNvSpPr/>
          <p:nvPr/>
        </p:nvSpPr>
        <p:spPr>
          <a:xfrm>
            <a:off x="1290438" y="351149"/>
            <a:ext cx="9680705"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a:solidFill>
                  <a:schemeClr val="dk1"/>
                </a:solidFill>
                <a:latin typeface="Calibri"/>
                <a:ea typeface="Calibri"/>
                <a:cs typeface="Calibri"/>
                <a:sym typeface="Calibri"/>
              </a:rPr>
              <a:t>Why do we collect statistics on the unemployed?</a:t>
            </a:r>
            <a:endParaRPr sz="3000" b="0" i="0" u="none" strike="noStrike" cap="none">
              <a:solidFill>
                <a:schemeClr val="dk1"/>
              </a:solidFill>
              <a:latin typeface="Calibri"/>
              <a:ea typeface="Calibri"/>
              <a:cs typeface="Calibri"/>
              <a:sym typeface="Calibri"/>
            </a:endParaRPr>
          </a:p>
        </p:txBody>
      </p:sp>
      <p:sp>
        <p:nvSpPr>
          <p:cNvPr id="303" name="Google Shape;303;p5"/>
          <p:cNvSpPr txBox="1"/>
          <p:nvPr/>
        </p:nvSpPr>
        <p:spPr>
          <a:xfrm>
            <a:off x="1205035" y="3294351"/>
            <a:ext cx="4728677" cy="2708434"/>
          </a:xfrm>
          <a:prstGeom prst="rect">
            <a:avLst/>
          </a:prstGeom>
          <a:solidFill>
            <a:srgbClr val="FBD4B4"/>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1" u="none" strike="noStrike" cap="none">
                <a:solidFill>
                  <a:srgbClr val="FF0000"/>
                </a:solidFill>
                <a:latin typeface="Cambria"/>
                <a:ea typeface="Cambria"/>
                <a:cs typeface="Cambria"/>
                <a:sym typeface="Cambria"/>
              </a:rPr>
              <a:t>To know about the extent and nature of unemployment requires information. How many people are unemployed? Who is counted as unemployed? How did they become unemployed? How long have they been unemployed? Are the unemployment numbers growing or declining? These statistics are collected and interpreted along with other economic data and are used by policymakers in making decisions that influence the course of the economy.</a:t>
            </a:r>
            <a:endParaRPr/>
          </a:p>
        </p:txBody>
      </p:sp>
      <p:sp>
        <p:nvSpPr>
          <p:cNvPr id="304" name="Google Shape;304;p5"/>
          <p:cNvSpPr txBox="1"/>
          <p:nvPr/>
        </p:nvSpPr>
        <p:spPr>
          <a:xfrm>
            <a:off x="6139539" y="1003776"/>
            <a:ext cx="4938478" cy="2677656"/>
          </a:xfrm>
          <a:prstGeom prst="rect">
            <a:avLst/>
          </a:prstGeom>
          <a:solidFill>
            <a:srgbClr val="FBD4B4"/>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u="sng">
                <a:solidFill>
                  <a:srgbClr val="FF0000"/>
                </a:solidFill>
                <a:latin typeface="Cambria"/>
                <a:ea typeface="Cambria"/>
                <a:cs typeface="Cambria"/>
                <a:sym typeface="Cambria"/>
              </a:rPr>
              <a:t>Employed persons consist of</a:t>
            </a:r>
            <a:r>
              <a:rPr lang="en-US" sz="1700">
                <a:solidFill>
                  <a:srgbClr val="FF0000"/>
                </a:solidFill>
                <a:latin typeface="Cambria"/>
                <a:ea typeface="Cambria"/>
                <a:cs typeface="Cambria"/>
                <a:sym typeface="Cambria"/>
              </a:rPr>
              <a:t>:</a:t>
            </a:r>
            <a:endParaRPr sz="1700" u="sng">
              <a:solidFill>
                <a:srgbClr val="FF0000"/>
              </a:solidFill>
              <a:latin typeface="Cambria"/>
              <a:ea typeface="Cambria"/>
              <a:cs typeface="Cambria"/>
              <a:sym typeface="Cambria"/>
              <a:hlinkClick r:id="rId3">
                <a:extLst>
                  <a:ext uri="{A12FA001-AC4F-418D-AE19-62706E023703}">
                    <ahyp:hlinkClr xmlns:ahyp="http://schemas.microsoft.com/office/drawing/2018/hyperlinkcolor" val="tx"/>
                  </a:ext>
                </a:extLst>
              </a:hlinkClick>
            </a:endParaRPr>
          </a:p>
          <a:p>
            <a:pPr marL="176213" marR="0" lvl="0" indent="-176213" algn="l" rtl="0">
              <a:spcBef>
                <a:spcPts val="600"/>
              </a:spcBef>
              <a:spcAft>
                <a:spcPts val="0"/>
              </a:spcAft>
              <a:buNone/>
            </a:pPr>
            <a:r>
              <a:rPr lang="en-US" sz="1700">
                <a:solidFill>
                  <a:srgbClr val="FF0000"/>
                </a:solidFill>
                <a:latin typeface="Cambria"/>
                <a:ea typeface="Cambria"/>
                <a:cs typeface="Cambria"/>
                <a:sym typeface="Cambria"/>
              </a:rPr>
              <a:t>•	All persons who did any work for pay or profit during the survey week </a:t>
            </a:r>
            <a:endParaRPr/>
          </a:p>
          <a:p>
            <a:pPr marL="176213" marR="0" lvl="0" indent="-176213" algn="l" rtl="0">
              <a:spcBef>
                <a:spcPts val="600"/>
              </a:spcBef>
              <a:spcAft>
                <a:spcPts val="0"/>
              </a:spcAft>
              <a:buNone/>
            </a:pPr>
            <a:r>
              <a:rPr lang="en-US" sz="1700">
                <a:solidFill>
                  <a:srgbClr val="FF0000"/>
                </a:solidFill>
                <a:latin typeface="Cambria"/>
                <a:ea typeface="Cambria"/>
                <a:cs typeface="Cambria"/>
                <a:sym typeface="Cambria"/>
              </a:rPr>
              <a:t>•	All persons who did at least 15 hours of unpaid work in a family-operated business.</a:t>
            </a:r>
            <a:endParaRPr/>
          </a:p>
          <a:p>
            <a:pPr marL="176213" marR="0" lvl="0" indent="-176213" algn="l" rtl="0">
              <a:spcBef>
                <a:spcPts val="600"/>
              </a:spcBef>
              <a:spcAft>
                <a:spcPts val="0"/>
              </a:spcAft>
              <a:buNone/>
            </a:pPr>
            <a:r>
              <a:rPr lang="en-US" sz="1700">
                <a:solidFill>
                  <a:srgbClr val="FF0000"/>
                </a:solidFill>
                <a:latin typeface="Cambria"/>
                <a:ea typeface="Cambria"/>
                <a:cs typeface="Cambria"/>
                <a:sym typeface="Cambria"/>
              </a:rPr>
              <a:t>• 	All persons who were temporarily absent from their regular jobs because of illness, vacation, bad weather, industrial dispute, or various personal reasons.</a:t>
            </a:r>
            <a:endParaRPr/>
          </a:p>
        </p:txBody>
      </p:sp>
      <p:sp>
        <p:nvSpPr>
          <p:cNvPr id="305" name="Google Shape;305;p5"/>
          <p:cNvSpPr txBox="1"/>
          <p:nvPr/>
        </p:nvSpPr>
        <p:spPr>
          <a:xfrm>
            <a:off x="6139539" y="3829410"/>
            <a:ext cx="4938478" cy="2339102"/>
          </a:xfrm>
          <a:prstGeom prst="rect">
            <a:avLst/>
          </a:prstGeom>
          <a:solidFill>
            <a:srgbClr val="FBD4B4"/>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u="sng">
                <a:solidFill>
                  <a:srgbClr val="FF0000"/>
                </a:solidFill>
                <a:latin typeface="Cambria"/>
                <a:ea typeface="Cambria"/>
                <a:cs typeface="Cambria"/>
                <a:sym typeface="Cambria"/>
              </a:rPr>
              <a:t>Unemployed persons consist of</a:t>
            </a:r>
            <a:r>
              <a:rPr lang="en-US" sz="1700">
                <a:solidFill>
                  <a:srgbClr val="FF0000"/>
                </a:solidFill>
                <a:latin typeface="Cambria"/>
                <a:ea typeface="Cambria"/>
                <a:cs typeface="Cambria"/>
                <a:sym typeface="Cambria"/>
              </a:rPr>
              <a:t>:</a:t>
            </a:r>
            <a:endParaRPr sz="1700" u="sng">
              <a:solidFill>
                <a:srgbClr val="FF0000"/>
              </a:solidFill>
              <a:latin typeface="Cambria"/>
              <a:ea typeface="Cambria"/>
              <a:cs typeface="Cambria"/>
              <a:sym typeface="Cambria"/>
              <a:hlinkClick r:id="rId3">
                <a:extLst>
                  <a:ext uri="{A12FA001-AC4F-418D-AE19-62706E023703}">
                    <ahyp:hlinkClr xmlns:ahyp="http://schemas.microsoft.com/office/drawing/2018/hyperlinkcolor" val="tx"/>
                  </a:ext>
                </a:extLst>
              </a:hlinkClick>
            </a:endParaRPr>
          </a:p>
          <a:p>
            <a:pPr marL="176213" marR="0" lvl="0" indent="-176213" algn="l" rtl="0">
              <a:spcBef>
                <a:spcPts val="600"/>
              </a:spcBef>
              <a:spcAft>
                <a:spcPts val="0"/>
              </a:spcAft>
              <a:buNone/>
            </a:pPr>
            <a:r>
              <a:rPr lang="en-US" sz="1700">
                <a:solidFill>
                  <a:srgbClr val="FF0000"/>
                </a:solidFill>
                <a:latin typeface="Cambria"/>
                <a:ea typeface="Cambria"/>
                <a:cs typeface="Cambria"/>
                <a:sym typeface="Cambria"/>
              </a:rPr>
              <a:t>•	All persons who did not have a job at all during the survey week, made specific active efforts to find a job during the prior 4-week period, and were available for work (unless temporarily ill).</a:t>
            </a:r>
            <a:endParaRPr/>
          </a:p>
          <a:p>
            <a:pPr marL="176213" marR="0" lvl="0" indent="-176213" algn="l" rtl="0">
              <a:spcBef>
                <a:spcPts val="600"/>
              </a:spcBef>
              <a:spcAft>
                <a:spcPts val="0"/>
              </a:spcAft>
              <a:buNone/>
            </a:pPr>
            <a:r>
              <a:rPr lang="en-US" sz="1700">
                <a:solidFill>
                  <a:srgbClr val="FF0000"/>
                </a:solidFill>
                <a:latin typeface="Cambria"/>
                <a:ea typeface="Cambria"/>
                <a:cs typeface="Cambria"/>
                <a:sym typeface="Cambria"/>
              </a:rPr>
              <a:t>• 	All persons who were not working and were waiting to be called back to a job from which they had been temporarily laid off.</a:t>
            </a:r>
            <a:endParaRP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311" name="Google Shape;311;p6"/>
          <p:cNvSpPr txBox="1"/>
          <p:nvPr/>
        </p:nvSpPr>
        <p:spPr>
          <a:xfrm>
            <a:off x="680591" y="833015"/>
            <a:ext cx="10945350" cy="4176000"/>
          </a:xfrm>
          <a:prstGeom prst="rect">
            <a:avLst/>
          </a:prstGeom>
          <a:solidFill>
            <a:schemeClr val="lt1"/>
          </a:solidFill>
          <a:ln>
            <a:noFill/>
          </a:ln>
        </p:spPr>
        <p:txBody>
          <a:bodyPr spcFirstLastPara="1" wrap="square" lIns="36000" tIns="52450" rIns="36000" bIns="52450" anchor="t" anchorCtr="0">
            <a:normAutofit/>
          </a:bodyPr>
          <a:lstStyle/>
          <a:p>
            <a:pPr marL="356885" marR="0" lvl="0" indent="-356885" algn="l" rtl="0">
              <a:spcBef>
                <a:spcPts val="0"/>
              </a:spcBef>
              <a:spcAft>
                <a:spcPts val="0"/>
              </a:spcAft>
              <a:buClr>
                <a:schemeClr val="dk1"/>
              </a:buClr>
              <a:buSzPts val="2880"/>
              <a:buFont typeface="Arial"/>
              <a:buChar char="•"/>
            </a:pPr>
            <a:r>
              <a:rPr lang="en-US" sz="2400" b="1" u="sng">
                <a:solidFill>
                  <a:schemeClr val="dk1"/>
                </a:solidFill>
                <a:latin typeface="Cambria"/>
                <a:ea typeface="Cambria"/>
                <a:cs typeface="Cambria"/>
                <a:sym typeface="Cambria"/>
              </a:rPr>
              <a:t>Klasifikasi</a:t>
            </a:r>
            <a:r>
              <a:rPr lang="en-US" sz="2400" b="1">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2 kelompok penduduk dalam statistik tenaga kerja: </a:t>
            </a:r>
            <a:endParaRPr/>
          </a:p>
          <a:p>
            <a:pPr marL="717550" marR="0" lvl="0" indent="-447675" algn="l" rtl="0">
              <a:spcBef>
                <a:spcPts val="600"/>
              </a:spcBef>
              <a:spcAft>
                <a:spcPts val="0"/>
              </a:spcAft>
              <a:buClr>
                <a:schemeClr val="dk1"/>
              </a:buClr>
              <a:buSzPts val="2400"/>
              <a:buFont typeface="Arial"/>
              <a:buAutoNum type="arabicParenBoth"/>
            </a:pPr>
            <a:r>
              <a:rPr lang="en-US" sz="2400">
                <a:solidFill>
                  <a:schemeClr val="dk1"/>
                </a:solidFill>
                <a:latin typeface="Cambria"/>
                <a:ea typeface="Cambria"/>
                <a:cs typeface="Cambria"/>
                <a:sym typeface="Cambria"/>
              </a:rPr>
              <a:t>Penduduk mencapai usia minimum bekerja (berumur ≥ 15 tahun) =&gt;  PUK juga disebut </a:t>
            </a:r>
            <a:r>
              <a:rPr lang="en-US" sz="2400" u="sng">
                <a:solidFill>
                  <a:schemeClr val="dk1"/>
                </a:solidFill>
                <a:latin typeface="Cambria"/>
                <a:ea typeface="Cambria"/>
                <a:cs typeface="Cambria"/>
                <a:sym typeface="Cambria"/>
              </a:rPr>
              <a:t>angkatan kerja potensi</a:t>
            </a:r>
            <a:r>
              <a:rPr lang="en-US" sz="2400">
                <a:solidFill>
                  <a:schemeClr val="dk1"/>
                </a:solidFill>
                <a:latin typeface="Cambria"/>
                <a:ea typeface="Cambria"/>
                <a:cs typeface="Cambria"/>
                <a:sym typeface="Cambria"/>
              </a:rPr>
              <a:t>;</a:t>
            </a:r>
            <a:endParaRPr/>
          </a:p>
          <a:p>
            <a:pPr marL="717550" marR="0" lvl="0" indent="-447675" algn="l" rtl="0">
              <a:spcBef>
                <a:spcPts val="600"/>
              </a:spcBef>
              <a:spcAft>
                <a:spcPts val="0"/>
              </a:spcAft>
              <a:buClr>
                <a:schemeClr val="dk1"/>
              </a:buClr>
              <a:buSzPts val="2400"/>
              <a:buFont typeface="Arial"/>
              <a:buAutoNum type="arabicParenBoth"/>
            </a:pPr>
            <a:r>
              <a:rPr lang="en-US" sz="2400">
                <a:solidFill>
                  <a:schemeClr val="dk1"/>
                </a:solidFill>
                <a:latin typeface="Cambria"/>
                <a:ea typeface="Cambria"/>
                <a:cs typeface="Cambria"/>
                <a:sym typeface="Cambria"/>
              </a:rPr>
              <a:t>Selebihnya (berumur &lt; 14 tahun) =&gt; bukan usia kerja (BUK)</a:t>
            </a:r>
            <a:endParaRPr sz="2400">
              <a:solidFill>
                <a:schemeClr val="dk1"/>
              </a:solidFill>
              <a:latin typeface="Cambria"/>
              <a:ea typeface="Cambria"/>
              <a:cs typeface="Cambria"/>
              <a:sym typeface="Cambria"/>
            </a:endParaRPr>
          </a:p>
          <a:p>
            <a:pPr marL="269875" marR="0" lvl="0" indent="-269875" algn="l" rtl="0">
              <a:spcBef>
                <a:spcPts val="1800"/>
              </a:spcBef>
              <a:spcAft>
                <a:spcPts val="0"/>
              </a:spcAft>
              <a:buClr>
                <a:schemeClr val="dk1"/>
              </a:buClr>
              <a:buSzPts val="2880"/>
              <a:buFont typeface="Arial"/>
              <a:buChar char="•"/>
            </a:pPr>
            <a:r>
              <a:rPr lang="en-US" sz="2400" b="1" u="sng">
                <a:solidFill>
                  <a:schemeClr val="dk1"/>
                </a:solidFill>
                <a:latin typeface="Cambria"/>
                <a:ea typeface="Cambria"/>
                <a:cs typeface="Cambria"/>
                <a:sym typeface="Cambria"/>
              </a:rPr>
              <a:t>Definisi</a:t>
            </a:r>
            <a:r>
              <a:rPr lang="en-US" sz="2400" b="1">
                <a:solidFill>
                  <a:schemeClr val="dk1"/>
                </a:solidFill>
                <a:latin typeface="Cambria"/>
                <a:ea typeface="Cambria"/>
                <a:cs typeface="Cambria"/>
                <a:sym typeface="Cambria"/>
              </a:rPr>
              <a:t>: </a:t>
            </a:r>
            <a:endParaRPr/>
          </a:p>
          <a:p>
            <a:pPr marL="686239" marR="0" lvl="1" indent="-297403" algn="l" rtl="0">
              <a:spcBef>
                <a:spcPts val="600"/>
              </a:spcBef>
              <a:spcAft>
                <a:spcPts val="0"/>
              </a:spcAft>
              <a:buClr>
                <a:schemeClr val="dk1"/>
              </a:buClr>
              <a:buSzPts val="2880"/>
              <a:buFont typeface="Arial"/>
              <a:buChar char="–"/>
            </a:pPr>
            <a:r>
              <a:rPr lang="en-US" sz="2400" b="0" i="0" u="none" strike="noStrike" cap="none">
                <a:solidFill>
                  <a:schemeClr val="dk1"/>
                </a:solidFill>
                <a:latin typeface="Cambria"/>
                <a:ea typeface="Cambria"/>
                <a:cs typeface="Cambria"/>
                <a:sym typeface="Cambria"/>
              </a:rPr>
              <a:t>PUK yang aktif secara ekonomi (</a:t>
            </a:r>
            <a:r>
              <a:rPr lang="en-US" sz="2400" b="0" i="1" u="none" strike="noStrike" cap="none">
                <a:solidFill>
                  <a:schemeClr val="dk1"/>
                </a:solidFill>
                <a:latin typeface="Cambria"/>
                <a:ea typeface="Cambria"/>
                <a:cs typeface="Cambria"/>
                <a:sym typeface="Cambria"/>
              </a:rPr>
              <a:t>economically active population</a:t>
            </a:r>
            <a:r>
              <a:rPr lang="en-US" sz="2400" b="0" i="0" u="none" strike="noStrike" cap="none">
                <a:solidFill>
                  <a:schemeClr val="dk1"/>
                </a:solidFill>
                <a:latin typeface="Cambria"/>
                <a:ea typeface="Cambria"/>
                <a:cs typeface="Cambria"/>
                <a:sym typeface="Cambria"/>
              </a:rPr>
              <a:t>) terdiri dari: </a:t>
            </a:r>
            <a:r>
              <a:rPr lang="en-US" sz="2400" b="0" i="0" u="none" strike="noStrike" cap="none">
                <a:solidFill>
                  <a:srgbClr val="0000FF"/>
                </a:solidFill>
                <a:latin typeface="Cambria"/>
                <a:ea typeface="Cambria"/>
                <a:cs typeface="Cambria"/>
                <a:sym typeface="Cambria"/>
              </a:rPr>
              <a:t>(1) bekerja,  dan  (2) </a:t>
            </a:r>
            <a:r>
              <a:rPr lang="en-US" sz="2400" b="0" i="0" u="sng" strike="noStrike" cap="none">
                <a:solidFill>
                  <a:srgbClr val="0000FF"/>
                </a:solidFill>
                <a:latin typeface="Cambria"/>
                <a:ea typeface="Cambria"/>
                <a:cs typeface="Cambria"/>
                <a:sym typeface="Cambria"/>
              </a:rPr>
              <a:t>mencari pekerjaan</a:t>
            </a:r>
            <a:r>
              <a:rPr lang="en-US" sz="2400" b="0" i="0" u="none" strike="noStrike" cap="none">
                <a:solidFill>
                  <a:srgbClr val="0000FF"/>
                </a:solidFill>
                <a:latin typeface="Cambria"/>
                <a:ea typeface="Cambria"/>
                <a:cs typeface="Cambria"/>
                <a:sym typeface="Cambria"/>
              </a:rPr>
              <a:t> </a:t>
            </a:r>
            <a:r>
              <a:rPr lang="en-US" sz="2400" b="0" i="0" u="none" strike="noStrike" cap="none">
                <a:solidFill>
                  <a:srgbClr val="000000"/>
                </a:solidFill>
                <a:latin typeface="Cambria"/>
                <a:ea typeface="Cambria"/>
                <a:cs typeface="Cambria"/>
                <a:sym typeface="Cambria"/>
              </a:rPr>
              <a:t>=&gt; </a:t>
            </a:r>
            <a:r>
              <a:rPr lang="en-US" sz="2400" b="0" i="1" u="none" strike="noStrike" cap="none">
                <a:solidFill>
                  <a:srgbClr val="000000"/>
                </a:solidFill>
                <a:latin typeface="Cambria"/>
                <a:ea typeface="Cambria"/>
                <a:cs typeface="Cambria"/>
                <a:sym typeface="Cambria"/>
              </a:rPr>
              <a:t>unemployed</a:t>
            </a:r>
            <a:endParaRPr sz="2400" b="0" i="1" u="sng" strike="noStrike" cap="none">
              <a:solidFill>
                <a:srgbClr val="000000"/>
              </a:solidFill>
              <a:latin typeface="Cambria"/>
              <a:ea typeface="Cambria"/>
              <a:cs typeface="Cambria"/>
              <a:sym typeface="Cambria"/>
            </a:endParaRPr>
          </a:p>
          <a:p>
            <a:pPr marL="686239" marR="0" lvl="1" indent="-297403" algn="l" rtl="0">
              <a:spcBef>
                <a:spcPts val="1200"/>
              </a:spcBef>
              <a:spcAft>
                <a:spcPts val="0"/>
              </a:spcAft>
              <a:buClr>
                <a:schemeClr val="dk1"/>
              </a:buClr>
              <a:buSzPts val="2880"/>
              <a:buFont typeface="Arial"/>
              <a:buChar char="–"/>
            </a:pPr>
            <a:r>
              <a:rPr lang="en-US" sz="2400" b="0" i="0" u="none" strike="noStrike" cap="none">
                <a:solidFill>
                  <a:schemeClr val="dk1"/>
                </a:solidFill>
                <a:latin typeface="Cambria"/>
                <a:ea typeface="Cambria"/>
                <a:cs typeface="Cambria"/>
                <a:sym typeface="Cambria"/>
              </a:rPr>
              <a:t>PUK ‘tidak siap bekerja’ karena </a:t>
            </a:r>
            <a:r>
              <a:rPr lang="en-US" sz="2400" b="0" i="0" u="sng" strike="noStrike" cap="none">
                <a:solidFill>
                  <a:schemeClr val="dk1"/>
                </a:solidFill>
                <a:latin typeface="Cambria"/>
                <a:ea typeface="Cambria"/>
                <a:cs typeface="Cambria"/>
                <a:sym typeface="Cambria"/>
              </a:rPr>
              <a:t>sekolah</a:t>
            </a:r>
            <a:r>
              <a:rPr lang="en-US" sz="2400" b="0" i="0" u="none" strike="noStrike" cap="none">
                <a:solidFill>
                  <a:schemeClr val="dk1"/>
                </a:solidFill>
                <a:latin typeface="Cambria"/>
                <a:ea typeface="Cambria"/>
                <a:cs typeface="Cambria"/>
                <a:sym typeface="Cambria"/>
              </a:rPr>
              <a:t>, atau </a:t>
            </a:r>
            <a:r>
              <a:rPr lang="en-US" sz="2400" b="0" i="0" u="sng" strike="noStrike" cap="none">
                <a:solidFill>
                  <a:schemeClr val="dk1"/>
                </a:solidFill>
                <a:latin typeface="Cambria"/>
                <a:ea typeface="Cambria"/>
                <a:cs typeface="Cambria"/>
                <a:sym typeface="Cambria"/>
              </a:rPr>
              <a:t>mengurus rumahtangga</a:t>
            </a:r>
            <a:r>
              <a:rPr lang="en-US" sz="2400" b="0" i="0" u="none" strike="noStrike" cap="none">
                <a:solidFill>
                  <a:schemeClr val="dk1"/>
                </a:solidFill>
                <a:latin typeface="Cambria"/>
                <a:ea typeface="Cambria"/>
                <a:cs typeface="Cambria"/>
                <a:sym typeface="Cambria"/>
              </a:rPr>
              <a:t> (</a:t>
            </a:r>
            <a:r>
              <a:rPr lang="en-US" sz="2400" b="0" i="1" u="none" strike="noStrike" cap="none">
                <a:solidFill>
                  <a:schemeClr val="dk1"/>
                </a:solidFill>
                <a:latin typeface="Cambria"/>
                <a:ea typeface="Cambria"/>
                <a:cs typeface="Cambria"/>
                <a:sym typeface="Cambria"/>
              </a:rPr>
              <a:t>economically inactive population</a:t>
            </a:r>
            <a:r>
              <a:rPr lang="en-US" sz="2400" b="0" i="0" u="none" strike="noStrike" cap="none">
                <a:solidFill>
                  <a:schemeClr val="dk1"/>
                </a:solidFill>
                <a:latin typeface="Cambria"/>
                <a:ea typeface="Cambria"/>
                <a:cs typeface="Cambria"/>
                <a:sym typeface="Cambria"/>
              </a:rPr>
              <a:t>) =&gt; bukan angkatan kerja</a:t>
            </a:r>
            <a:endParaRPr/>
          </a:p>
        </p:txBody>
      </p:sp>
      <p:sp>
        <p:nvSpPr>
          <p:cNvPr id="312" name="Google Shape;312;p6"/>
          <p:cNvSpPr txBox="1"/>
          <p:nvPr/>
        </p:nvSpPr>
        <p:spPr>
          <a:xfrm>
            <a:off x="545639" y="69490"/>
            <a:ext cx="11086673" cy="704415"/>
          </a:xfrm>
          <a:prstGeom prst="rect">
            <a:avLst/>
          </a:prstGeom>
          <a:solidFill>
            <a:schemeClr val="lt1"/>
          </a:solidFill>
          <a:ln>
            <a:noFill/>
          </a:ln>
        </p:spPr>
        <p:txBody>
          <a:bodyPr spcFirstLastPara="1" wrap="square" lIns="104925" tIns="52450" rIns="104925" bIns="52450" anchor="ctr" anchorCtr="0">
            <a:normAutofit fontScale="92500" lnSpcReduction="10000"/>
          </a:bodyPr>
          <a:lstStyle/>
          <a:p>
            <a:pPr marL="182880" marR="0" lvl="0" indent="0" algn="ctr" rtl="0">
              <a:spcBef>
                <a:spcPts val="0"/>
              </a:spcBef>
              <a:spcAft>
                <a:spcPts val="0"/>
              </a:spcAft>
              <a:buClr>
                <a:srgbClr val="000000"/>
              </a:buClr>
              <a:buSzPct val="100000"/>
              <a:buFont typeface="Cambria"/>
              <a:buNone/>
            </a:pPr>
            <a:r>
              <a:rPr lang="en-US" sz="4535" b="1">
                <a:solidFill>
                  <a:srgbClr val="000000"/>
                </a:solidFill>
                <a:latin typeface="Cambria"/>
                <a:ea typeface="Cambria"/>
                <a:cs typeface="Cambria"/>
                <a:sym typeface="Cambria"/>
              </a:rPr>
              <a:t>Angkatan Kerja/Labor Force</a:t>
            </a:r>
            <a:r>
              <a:rPr lang="en-US" sz="3200">
                <a:solidFill>
                  <a:srgbClr val="000000"/>
                </a:solidFill>
                <a:latin typeface="Cambria"/>
                <a:ea typeface="Cambria"/>
                <a:cs typeface="Cambria"/>
                <a:sym typeface="Cambria"/>
              </a:rPr>
              <a:t>: Pengertian</a:t>
            </a:r>
            <a:endParaRPr sz="2600">
              <a:solidFill>
                <a:srgbClr val="000000"/>
              </a:solidFill>
              <a:latin typeface="Cambria"/>
              <a:ea typeface="Cambria"/>
              <a:cs typeface="Cambria"/>
              <a:sym typeface="Cambria"/>
            </a:endParaRPr>
          </a:p>
        </p:txBody>
      </p:sp>
      <p:sp>
        <p:nvSpPr>
          <p:cNvPr id="313" name="Google Shape;313;p6"/>
          <p:cNvSpPr txBox="1"/>
          <p:nvPr/>
        </p:nvSpPr>
        <p:spPr>
          <a:xfrm>
            <a:off x="698343" y="4956050"/>
            <a:ext cx="10866139" cy="1554272"/>
          </a:xfrm>
          <a:prstGeom prst="rect">
            <a:avLst/>
          </a:prstGeom>
          <a:solidFill>
            <a:srgbClr val="C5D8F1"/>
          </a:solidFill>
          <a:ln w="9525" cap="flat" cmpd="sng">
            <a:solidFill>
              <a:srgbClr val="000090"/>
            </a:solidFill>
            <a:prstDash val="solid"/>
            <a:round/>
            <a:headEnd type="none" w="sm" len="sm"/>
            <a:tailEnd type="none" w="sm" len="sm"/>
          </a:ln>
        </p:spPr>
        <p:txBody>
          <a:bodyPr spcFirstLastPara="1" wrap="square" lIns="72000" tIns="45700" rIns="72000" bIns="45700" anchor="t" anchorCtr="0">
            <a:spAutoFit/>
          </a:bodyPr>
          <a:lstStyle/>
          <a:p>
            <a:pPr marL="0" marR="0" lvl="0" indent="0" algn="l" rtl="0">
              <a:spcBef>
                <a:spcPts val="0"/>
              </a:spcBef>
              <a:spcAft>
                <a:spcPts val="0"/>
              </a:spcAft>
              <a:buNone/>
            </a:pPr>
            <a:r>
              <a:rPr lang="en-US" sz="1800" b="1">
                <a:solidFill>
                  <a:srgbClr val="0000FF"/>
                </a:solidFill>
                <a:latin typeface="Calibri"/>
                <a:ea typeface="Calibri"/>
                <a:cs typeface="Calibri"/>
                <a:sym typeface="Calibri"/>
              </a:rPr>
              <a:t>People who are neither Employed nor Unemployed are </a:t>
            </a:r>
            <a:r>
              <a:rPr lang="en-US" sz="1800" b="1" u="sng">
                <a:solidFill>
                  <a:srgbClr val="0000FF"/>
                </a:solidFill>
                <a:latin typeface="Calibri"/>
                <a:ea typeface="Calibri"/>
                <a:cs typeface="Calibri"/>
                <a:sym typeface="Calibri"/>
              </a:rPr>
              <a:t>out of the labor force</a:t>
            </a:r>
            <a:r>
              <a:rPr lang="en-US" sz="1800" u="sng">
                <a:solidFill>
                  <a:srgbClr val="0000FF"/>
                </a:solidFill>
                <a:latin typeface="Calibri"/>
                <a:ea typeface="Calibri"/>
                <a:cs typeface="Calibri"/>
                <a:sym typeface="Calibri"/>
              </a:rPr>
              <a:t>.</a:t>
            </a:r>
            <a:endParaRPr/>
          </a:p>
          <a:p>
            <a:pPr marL="176213" marR="0" lvl="0" indent="-176213" algn="l" rtl="0">
              <a:spcBef>
                <a:spcPts val="600"/>
              </a:spcBef>
              <a:spcAft>
                <a:spcPts val="0"/>
              </a:spcAft>
              <a:buNone/>
            </a:pPr>
            <a:r>
              <a:rPr lang="en-US" sz="1800">
                <a:solidFill>
                  <a:srgbClr val="0000FF"/>
                </a:solidFill>
                <a:latin typeface="Calibri"/>
                <a:ea typeface="Calibri"/>
                <a:cs typeface="Calibri"/>
                <a:sym typeface="Calibri"/>
              </a:rPr>
              <a:t>• 	Persons under 15 years of age are automatically excluded from the official labor force measurements.</a:t>
            </a:r>
            <a:endParaRPr/>
          </a:p>
          <a:p>
            <a:pPr marL="176213" marR="0" lvl="0" indent="-176213" algn="l" rtl="0">
              <a:spcBef>
                <a:spcPts val="0"/>
              </a:spcBef>
              <a:spcAft>
                <a:spcPts val="0"/>
              </a:spcAft>
              <a:buNone/>
            </a:pPr>
            <a:r>
              <a:rPr lang="en-US" sz="1800">
                <a:solidFill>
                  <a:srgbClr val="0000FF"/>
                </a:solidFill>
                <a:latin typeface="Calibri"/>
                <a:ea typeface="Calibri"/>
                <a:cs typeface="Calibri"/>
                <a:sym typeface="Calibri"/>
              </a:rPr>
              <a:t>• 	Residents of institutions and persons on active duty in the Armed Forces are excluded.</a:t>
            </a:r>
            <a:endParaRPr/>
          </a:p>
          <a:p>
            <a:pPr marL="176213" marR="0" lvl="0" indent="-176213" algn="l" rtl="0">
              <a:spcBef>
                <a:spcPts val="0"/>
              </a:spcBef>
              <a:spcAft>
                <a:spcPts val="0"/>
              </a:spcAft>
              <a:buNone/>
            </a:pPr>
            <a:r>
              <a:rPr lang="en-US" sz="1800">
                <a:solidFill>
                  <a:srgbClr val="0000FF"/>
                </a:solidFill>
                <a:latin typeface="Calibri"/>
                <a:ea typeface="Calibri"/>
                <a:cs typeface="Calibri"/>
                <a:sym typeface="Calibri"/>
              </a:rPr>
              <a:t>• 	Persons who have no job AND are not looking for one are excluded. Many who do not participate in the labor force are going to school, retired or have family responsibilities.</a:t>
            </a:r>
            <a:endParaRPr/>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19" name="Google Shape;319;p7"/>
          <p:cNvPicPr preferRelativeResize="0"/>
          <p:nvPr/>
        </p:nvPicPr>
        <p:blipFill rotWithShape="1">
          <a:blip r:embed="rId3">
            <a:alphaModFix/>
          </a:blip>
          <a:srcRect/>
          <a:stretch/>
        </p:blipFill>
        <p:spPr>
          <a:xfrm>
            <a:off x="880298" y="222194"/>
            <a:ext cx="6409189" cy="3512215"/>
          </a:xfrm>
          <a:prstGeom prst="rect">
            <a:avLst/>
          </a:prstGeom>
          <a:noFill/>
          <a:ln>
            <a:noFill/>
          </a:ln>
        </p:spPr>
      </p:pic>
      <p:pic>
        <p:nvPicPr>
          <p:cNvPr id="320" name="Google Shape;320;p7"/>
          <p:cNvPicPr preferRelativeResize="0"/>
          <p:nvPr/>
        </p:nvPicPr>
        <p:blipFill rotWithShape="1">
          <a:blip r:embed="rId4">
            <a:alphaModFix/>
          </a:blip>
          <a:srcRect l="6825" t="3597" r="2680" b="23158"/>
          <a:stretch/>
        </p:blipFill>
        <p:spPr>
          <a:xfrm>
            <a:off x="4257718" y="3581706"/>
            <a:ext cx="6572578" cy="3054100"/>
          </a:xfrm>
          <a:prstGeom prst="rect">
            <a:avLst/>
          </a:prstGeom>
          <a:noFill/>
          <a:ln>
            <a:noFill/>
          </a:ln>
        </p:spPr>
      </p:pic>
      <p:cxnSp>
        <p:nvCxnSpPr>
          <p:cNvPr id="321" name="Google Shape;321;p7"/>
          <p:cNvCxnSpPr/>
          <p:nvPr/>
        </p:nvCxnSpPr>
        <p:spPr>
          <a:xfrm rot="-5400000" flipH="1">
            <a:off x="3104257" y="3459593"/>
            <a:ext cx="1374300" cy="916200"/>
          </a:xfrm>
          <a:prstGeom prst="curvedConnector3">
            <a:avLst>
              <a:gd name="adj1" fmla="val 101513"/>
            </a:avLst>
          </a:prstGeom>
          <a:noFill/>
          <a:ln w="12700" cap="flat" cmpd="sng">
            <a:solidFill>
              <a:schemeClr val="dk1"/>
            </a:solidFill>
            <a:prstDash val="solid"/>
            <a:round/>
            <a:headEnd type="none" w="sm" len="sm"/>
            <a:tailEnd type="stealth" w="med" len="med"/>
          </a:ln>
          <a:effectLst>
            <a:outerShdw blurRad="40000" dist="20000" dir="5400000" rotWithShape="0">
              <a:srgbClr val="000000">
                <a:alpha val="37647"/>
              </a:srgbClr>
            </a:outerShdw>
          </a:effectLst>
        </p:spPr>
      </p:cxn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327" name="Google Shape;327;p8"/>
          <p:cNvSpPr txBox="1">
            <a:spLocks noGrp="1"/>
          </p:cNvSpPr>
          <p:nvPr>
            <p:ph type="title"/>
          </p:nvPr>
        </p:nvSpPr>
        <p:spPr>
          <a:xfrm>
            <a:off x="872832" y="274638"/>
            <a:ext cx="10193006" cy="711082"/>
          </a:xfrm>
          <a:prstGeom prst="rect">
            <a:avLst/>
          </a:prstGeom>
          <a:noFill/>
          <a:ln>
            <a:noFill/>
          </a:ln>
        </p:spPr>
        <p:txBody>
          <a:bodyPr spcFirstLastPara="1" wrap="square" lIns="104925" tIns="52450" rIns="104925" bIns="52450" anchor="ctr" anchorCtr="0">
            <a:normAutofit fontScale="90000"/>
          </a:bodyPr>
          <a:lstStyle/>
          <a:p>
            <a:pPr marL="0" lvl="0" indent="0" algn="ctr" rtl="0">
              <a:spcBef>
                <a:spcPts val="0"/>
              </a:spcBef>
              <a:spcAft>
                <a:spcPts val="0"/>
              </a:spcAft>
              <a:buClr>
                <a:schemeClr val="dk1"/>
              </a:buClr>
              <a:buSzPct val="100000"/>
              <a:buFont typeface="Calibri"/>
              <a:buNone/>
            </a:pPr>
            <a:r>
              <a:rPr lang="en-US" sz="4000" b="1">
                <a:solidFill>
                  <a:schemeClr val="dk1"/>
                </a:solidFill>
              </a:rPr>
              <a:t>Statistik ketenagakerjaan: catatan</a:t>
            </a:r>
            <a:endParaRPr/>
          </a:p>
        </p:txBody>
      </p:sp>
      <p:sp>
        <p:nvSpPr>
          <p:cNvPr id="328" name="Google Shape;328;p8"/>
          <p:cNvSpPr txBox="1"/>
          <p:nvPr/>
        </p:nvSpPr>
        <p:spPr>
          <a:xfrm>
            <a:off x="864597" y="1291130"/>
            <a:ext cx="10203206" cy="4428445"/>
          </a:xfrm>
          <a:prstGeom prst="rect">
            <a:avLst/>
          </a:prstGeom>
          <a:noFill/>
          <a:ln>
            <a:noFill/>
          </a:ln>
        </p:spPr>
        <p:txBody>
          <a:bodyPr spcFirstLastPara="1" wrap="square" lIns="104925" tIns="52450" rIns="104925" bIns="52450" anchor="t" anchorCtr="0">
            <a:noAutofit/>
          </a:bodyPr>
          <a:lstStyle/>
          <a:p>
            <a:pPr marL="269875" marR="0" lvl="0" indent="-269875" algn="l" rtl="0">
              <a:lnSpc>
                <a:spcPct val="90000"/>
              </a:lnSpc>
              <a:spcBef>
                <a:spcPts val="0"/>
              </a:spcBef>
              <a:spcAft>
                <a:spcPts val="0"/>
              </a:spcAft>
              <a:buClr>
                <a:schemeClr val="dk1"/>
              </a:buClr>
              <a:buSzPts val="2400"/>
              <a:buFont typeface="Arial"/>
              <a:buChar char="•"/>
            </a:pPr>
            <a:r>
              <a:rPr lang="en-US" sz="2400">
                <a:solidFill>
                  <a:srgbClr val="000000"/>
                </a:solidFill>
                <a:latin typeface="Cambria"/>
                <a:ea typeface="Cambria"/>
                <a:cs typeface="Cambria"/>
                <a:sym typeface="Cambria"/>
              </a:rPr>
              <a:t>Batasan usia kerja di Indonesia ≥ 15 tahun (standar internasional) sesuai konvensi International Labour Organization (ILO)</a:t>
            </a:r>
            <a:endParaRPr/>
          </a:p>
          <a:p>
            <a:pPr marL="269875" marR="0" lvl="0" indent="-269875" algn="l" rtl="0">
              <a:spcBef>
                <a:spcPts val="1200"/>
              </a:spcBef>
              <a:spcAft>
                <a:spcPts val="0"/>
              </a:spcAft>
              <a:buClr>
                <a:srgbClr val="000000"/>
              </a:buClr>
              <a:buSzPts val="2400"/>
              <a:buFont typeface="Arial"/>
              <a:buChar char="•"/>
            </a:pPr>
            <a:r>
              <a:rPr lang="en-US" sz="2400">
                <a:solidFill>
                  <a:srgbClr val="000000"/>
                </a:solidFill>
                <a:latin typeface="Cambria"/>
                <a:ea typeface="Cambria"/>
                <a:cs typeface="Cambria"/>
                <a:sym typeface="Cambria"/>
              </a:rPr>
              <a:t>Kelemahan: tak menggambarkan situasi ketenagakerjaan yang sebenarnya banyak anak &lt; 15 tahun bekerja (</a:t>
            </a:r>
            <a:r>
              <a:rPr lang="en-US" sz="2400" i="1">
                <a:solidFill>
                  <a:srgbClr val="000000"/>
                </a:solidFill>
                <a:latin typeface="Cambria"/>
                <a:ea typeface="Cambria"/>
                <a:cs typeface="Cambria"/>
                <a:sym typeface="Cambria"/>
              </a:rPr>
              <a:t>child labour</a:t>
            </a:r>
            <a:r>
              <a:rPr lang="en-US" sz="2400">
                <a:solidFill>
                  <a:srgbClr val="000000"/>
                </a:solidFill>
                <a:latin typeface="Cambria"/>
                <a:ea typeface="Cambria"/>
                <a:cs typeface="Cambria"/>
                <a:sym typeface="Cambria"/>
              </a:rPr>
              <a:t>) tidak dicakup dalam statistik resmi</a:t>
            </a:r>
            <a:endParaRPr/>
          </a:p>
          <a:p>
            <a:pPr marL="269875" marR="0" lvl="0" indent="-269875" algn="l" rtl="0">
              <a:spcBef>
                <a:spcPts val="1200"/>
              </a:spcBef>
              <a:spcAft>
                <a:spcPts val="0"/>
              </a:spcAft>
              <a:buClr>
                <a:srgbClr val="000000"/>
              </a:buClr>
              <a:buSzPts val="2400"/>
              <a:buFont typeface="Arial"/>
              <a:buChar char="•"/>
            </a:pPr>
            <a:r>
              <a:rPr lang="en-US" sz="2400">
                <a:solidFill>
                  <a:srgbClr val="000000"/>
                </a:solidFill>
                <a:latin typeface="Cambria"/>
                <a:ea typeface="Cambria"/>
                <a:cs typeface="Cambria"/>
                <a:sym typeface="Cambria"/>
              </a:rPr>
              <a:t>Jumlah penduduk naik =&gt; AK (</a:t>
            </a:r>
            <a:r>
              <a:rPr lang="en-US" sz="2400" i="1">
                <a:solidFill>
                  <a:srgbClr val="0000FF"/>
                </a:solidFill>
                <a:latin typeface="Cambria"/>
                <a:ea typeface="Cambria"/>
                <a:cs typeface="Cambria"/>
                <a:sym typeface="Cambria"/>
              </a:rPr>
              <a:t>labour supply</a:t>
            </a:r>
            <a:r>
              <a:rPr lang="en-US" sz="2400">
                <a:solidFill>
                  <a:srgbClr val="000000"/>
                </a:solidFill>
                <a:latin typeface="Cambria"/>
                <a:ea typeface="Cambria"/>
                <a:cs typeface="Cambria"/>
                <a:sym typeface="Cambria"/>
              </a:rPr>
              <a:t>) naik, perlunya perluasan kesempatan kerja (</a:t>
            </a:r>
            <a:r>
              <a:rPr lang="en-US" sz="2400" i="1">
                <a:solidFill>
                  <a:srgbClr val="0000FF"/>
                </a:solidFill>
                <a:latin typeface="Cambria"/>
                <a:ea typeface="Cambria"/>
                <a:cs typeface="Cambria"/>
                <a:sym typeface="Cambria"/>
              </a:rPr>
              <a:t>labour demand</a:t>
            </a:r>
            <a:r>
              <a:rPr lang="en-US" sz="2400">
                <a:solidFill>
                  <a:srgbClr val="000000"/>
                </a:solidFill>
                <a:latin typeface="Cambria"/>
                <a:ea typeface="Cambria"/>
                <a:cs typeface="Cambria"/>
                <a:sym typeface="Cambria"/>
              </a:rPr>
              <a:t>)</a:t>
            </a:r>
            <a:endParaRPr/>
          </a:p>
          <a:p>
            <a:pPr marL="269875" marR="0" lvl="0" indent="-269875" algn="l" rtl="0">
              <a:spcBef>
                <a:spcPts val="1200"/>
              </a:spcBef>
              <a:spcAft>
                <a:spcPts val="0"/>
              </a:spcAft>
              <a:buClr>
                <a:srgbClr val="000000"/>
              </a:buClr>
              <a:buSzPts val="2400"/>
              <a:buFont typeface="Arial"/>
              <a:buChar char="•"/>
            </a:pPr>
            <a:r>
              <a:rPr lang="en-US" sz="2400">
                <a:solidFill>
                  <a:srgbClr val="000000"/>
                </a:solidFill>
                <a:latin typeface="Cambria"/>
                <a:ea typeface="Cambria"/>
                <a:cs typeface="Cambria"/>
                <a:sym typeface="Cambria"/>
              </a:rPr>
              <a:t>AK</a:t>
            </a:r>
            <a:r>
              <a:rPr lang="en-US" sz="2400" i="1">
                <a:solidFill>
                  <a:srgbClr val="000000"/>
                </a:solidFill>
                <a:latin typeface="Cambria"/>
                <a:ea typeface="Cambria"/>
                <a:cs typeface="Cambria"/>
                <a:sym typeface="Cambria"/>
              </a:rPr>
              <a:t> </a:t>
            </a:r>
            <a:r>
              <a:rPr lang="en-US" sz="2400">
                <a:solidFill>
                  <a:srgbClr val="000000"/>
                </a:solidFill>
                <a:latin typeface="Cambria"/>
                <a:ea typeface="Cambria"/>
                <a:cs typeface="Cambria"/>
                <a:sym typeface="Cambria"/>
              </a:rPr>
              <a:t> &gt; Kesempatan Kerja =&gt; </a:t>
            </a:r>
            <a:r>
              <a:rPr lang="en-US" sz="2400" i="1">
                <a:solidFill>
                  <a:srgbClr val="000000"/>
                </a:solidFill>
                <a:latin typeface="Cambria"/>
                <a:ea typeface="Cambria"/>
                <a:cs typeface="Cambria"/>
                <a:sym typeface="Cambria"/>
              </a:rPr>
              <a:t>surplus</a:t>
            </a:r>
            <a:r>
              <a:rPr lang="en-US" sz="2400">
                <a:solidFill>
                  <a:srgbClr val="000000"/>
                </a:solidFill>
                <a:latin typeface="Cambria"/>
                <a:ea typeface="Cambria"/>
                <a:cs typeface="Cambria"/>
                <a:sym typeface="Cambria"/>
              </a:rPr>
              <a:t> tenaga kerja, akan terjadi pengangguran, setengah pengangguran, dan ketidaksesuaian antara pendidikan dan pekerjaan</a:t>
            </a:r>
            <a:endParaRPr/>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334" name="Google Shape;334;p9"/>
          <p:cNvSpPr/>
          <p:nvPr/>
        </p:nvSpPr>
        <p:spPr>
          <a:xfrm>
            <a:off x="921442" y="517404"/>
            <a:ext cx="10349115" cy="546303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600" b="1" u="sng">
                <a:solidFill>
                  <a:schemeClr val="dk1"/>
                </a:solidFill>
                <a:latin typeface="Cambria"/>
                <a:ea typeface="Cambria"/>
                <a:cs typeface="Cambria"/>
                <a:sym typeface="Cambria"/>
              </a:rPr>
              <a:t>Labor force</a:t>
            </a:r>
            <a:r>
              <a:rPr lang="en-US" sz="2200" b="1">
                <a:solidFill>
                  <a:schemeClr val="dk1"/>
                </a:solidFill>
                <a:latin typeface="Cambria"/>
                <a:ea typeface="Cambria"/>
                <a:cs typeface="Cambria"/>
                <a:sym typeface="Cambria"/>
              </a:rPr>
              <a:t> </a:t>
            </a:r>
            <a:r>
              <a:rPr lang="en-US" sz="2200">
                <a:solidFill>
                  <a:schemeClr val="dk1"/>
                </a:solidFill>
                <a:latin typeface="Cambria"/>
                <a:ea typeface="Cambria"/>
                <a:cs typeface="Cambria"/>
                <a:sym typeface="Cambria"/>
              </a:rPr>
              <a:t>[berbeda antar negara, tergantung umur minimum bekerja]</a:t>
            </a:r>
            <a:endParaRPr/>
          </a:p>
          <a:p>
            <a:pPr marL="0" marR="0" lvl="0" indent="0" algn="just" rtl="0">
              <a:spcBef>
                <a:spcPts val="0"/>
              </a:spcBef>
              <a:spcAft>
                <a:spcPts val="0"/>
              </a:spcAft>
              <a:buNone/>
            </a:pPr>
            <a:endParaRPr sz="2200">
              <a:solidFill>
                <a:schemeClr val="dk1"/>
              </a:solidFill>
              <a:latin typeface="Cambria"/>
              <a:ea typeface="Cambria"/>
              <a:cs typeface="Cambria"/>
              <a:sym typeface="Cambria"/>
            </a:endParaRPr>
          </a:p>
          <a:p>
            <a:pPr marL="0" marR="0" lvl="0" indent="0" algn="just" rtl="0">
              <a:spcBef>
                <a:spcPts val="0"/>
              </a:spcBef>
              <a:spcAft>
                <a:spcPts val="0"/>
              </a:spcAft>
              <a:buNone/>
            </a:pPr>
            <a:r>
              <a:rPr lang="en-US" sz="2200">
                <a:solidFill>
                  <a:schemeClr val="dk1"/>
                </a:solidFill>
                <a:latin typeface="Cambria"/>
                <a:ea typeface="Cambria"/>
                <a:cs typeface="Cambria"/>
                <a:sym typeface="Cambria"/>
              </a:rPr>
              <a:t>Labor force is the </a:t>
            </a:r>
            <a:r>
              <a:rPr lang="en-US" sz="2200" u="sng">
                <a:solidFill>
                  <a:srgbClr val="0000FF"/>
                </a:solidFill>
                <a:latin typeface="Cambria"/>
                <a:ea typeface="Cambria"/>
                <a:cs typeface="Cambria"/>
                <a:sym typeface="Cambria"/>
              </a:rPr>
              <a:t>total number of persons available to supply the labor for the production of economic goods and services</a:t>
            </a:r>
            <a:r>
              <a:rPr lang="en-US" sz="2200">
                <a:solidFill>
                  <a:schemeClr val="dk1"/>
                </a:solidFill>
                <a:latin typeface="Cambria"/>
                <a:ea typeface="Cambria"/>
                <a:cs typeface="Cambria"/>
                <a:sym typeface="Cambria"/>
              </a:rPr>
              <a:t>. In other words, it is the total number of people of working age in a country who are able and willing by law to work. It is the active or working population and it comprises all persons who have jobs and those who are seeking for jobs in the labor market. They are </a:t>
            </a:r>
            <a:r>
              <a:rPr lang="en-US" sz="2200" u="sng">
                <a:solidFill>
                  <a:srgbClr val="0000FF"/>
                </a:solidFill>
                <a:latin typeface="Cambria"/>
                <a:ea typeface="Cambria"/>
                <a:cs typeface="Cambria"/>
                <a:sym typeface="Cambria"/>
              </a:rPr>
              <a:t>normally found </a:t>
            </a:r>
            <a:r>
              <a:rPr lang="en-US" sz="2200">
                <a:solidFill>
                  <a:schemeClr val="dk1"/>
                </a:solidFill>
                <a:latin typeface="Cambria"/>
                <a:ea typeface="Cambria"/>
                <a:cs typeface="Cambria"/>
                <a:sym typeface="Cambria"/>
              </a:rPr>
              <a:t>between the </a:t>
            </a:r>
            <a:r>
              <a:rPr lang="en-US" sz="2200" u="sng">
                <a:solidFill>
                  <a:srgbClr val="0000FF"/>
                </a:solidFill>
                <a:latin typeface="Cambria"/>
                <a:ea typeface="Cambria"/>
                <a:cs typeface="Cambria"/>
                <a:sym typeface="Cambria"/>
              </a:rPr>
              <a:t>age bracket of 18 to 65 years</a:t>
            </a:r>
            <a:r>
              <a:rPr lang="en-US" sz="2200">
                <a:solidFill>
                  <a:schemeClr val="dk1"/>
                </a:solidFill>
                <a:latin typeface="Cambria"/>
                <a:ea typeface="Cambria"/>
                <a:cs typeface="Cambria"/>
                <a:sym typeface="Cambria"/>
              </a:rPr>
              <a:t>. Working population varies from one country to another. To be a member of the labor force, one must be of working age (18-65 years), be able-bodied, i.e., not handicapped either. Mentally or physically, and must be willing to work. Persons that are not members of the labor force include:</a:t>
            </a:r>
            <a:endParaRPr/>
          </a:p>
          <a:p>
            <a:pPr marL="446088" marR="0" lvl="0" indent="-269875" algn="just" rtl="0">
              <a:spcBef>
                <a:spcPts val="0"/>
              </a:spcBef>
              <a:spcAft>
                <a:spcPts val="0"/>
              </a:spcAft>
              <a:buNone/>
            </a:pPr>
            <a:r>
              <a:rPr lang="en-US" sz="2200">
                <a:solidFill>
                  <a:schemeClr val="dk1"/>
                </a:solidFill>
                <a:latin typeface="Cambria"/>
                <a:ea typeface="Cambria"/>
                <a:cs typeface="Cambria"/>
                <a:sym typeface="Cambria"/>
              </a:rPr>
              <a:t>• 	Children of school age (0-17 years)</a:t>
            </a:r>
            <a:endParaRPr/>
          </a:p>
          <a:p>
            <a:pPr marL="446088" marR="0" lvl="0" indent="-269875" algn="just" rtl="0">
              <a:spcBef>
                <a:spcPts val="600"/>
              </a:spcBef>
              <a:spcAft>
                <a:spcPts val="0"/>
              </a:spcAft>
              <a:buNone/>
            </a:pPr>
            <a:r>
              <a:rPr lang="en-US" sz="2200">
                <a:solidFill>
                  <a:schemeClr val="dk1"/>
                </a:solidFill>
                <a:latin typeface="Cambria"/>
                <a:ea typeface="Cambria"/>
                <a:cs typeface="Cambria"/>
                <a:sym typeface="Cambria"/>
              </a:rPr>
              <a:t>• 	Elderly (above 65 years)</a:t>
            </a:r>
            <a:endParaRPr/>
          </a:p>
          <a:p>
            <a:pPr marL="446088" marR="0" lvl="0" indent="-269875" algn="just" rtl="0">
              <a:spcBef>
                <a:spcPts val="600"/>
              </a:spcBef>
              <a:spcAft>
                <a:spcPts val="0"/>
              </a:spcAft>
              <a:buNone/>
            </a:pPr>
            <a:r>
              <a:rPr lang="en-US" sz="2200">
                <a:solidFill>
                  <a:schemeClr val="dk1"/>
                </a:solidFill>
                <a:latin typeface="Cambria"/>
                <a:ea typeface="Cambria"/>
                <a:cs typeface="Cambria"/>
                <a:sym typeface="Cambria"/>
              </a:rPr>
              <a:t>• 	The handicapped (either physically or mental)</a:t>
            </a:r>
            <a:endParaRPr/>
          </a:p>
          <a:p>
            <a:pPr marL="446088" marR="0" lvl="0" indent="-269875" algn="just" rtl="0">
              <a:spcBef>
                <a:spcPts val="600"/>
              </a:spcBef>
              <a:spcAft>
                <a:spcPts val="0"/>
              </a:spcAft>
              <a:buNone/>
            </a:pPr>
            <a:r>
              <a:rPr lang="en-US" sz="2200">
                <a:solidFill>
                  <a:schemeClr val="dk1"/>
                </a:solidFill>
                <a:latin typeface="Cambria"/>
                <a:ea typeface="Cambria"/>
                <a:cs typeface="Cambria"/>
                <a:sym typeface="Cambria"/>
              </a:rPr>
              <a:t>• 	Persons even though they are able-bodied but are unwilling to work.</a:t>
            </a:r>
            <a:endParaRP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39"/>
        <p:cNvGrpSpPr/>
        <p:nvPr/>
      </p:nvGrpSpPr>
      <p:grpSpPr>
        <a:xfrm>
          <a:off x="0" y="0"/>
          <a:ext cx="0" cy="0"/>
          <a:chOff x="0" y="0"/>
          <a:chExt cx="0" cy="0"/>
        </a:xfrm>
      </p:grpSpPr>
      <p:sp>
        <p:nvSpPr>
          <p:cNvPr id="340" name="Google Shape;340;p10"/>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A6B727"/>
              </a:buClr>
              <a:buSzPts val="1200"/>
              <a:buFont typeface="Corbel"/>
              <a:buNone/>
            </a:pPr>
            <a:fld id="{00000000-1234-1234-1234-123412341234}" type="slidenum">
              <a:rPr lang="en-US" sz="1200" b="0" i="0" u="none" strike="noStrike" cap="none">
                <a:solidFill>
                  <a:srgbClr val="A6B727"/>
                </a:solidFill>
                <a:latin typeface="Corbel"/>
                <a:ea typeface="Corbel"/>
                <a:cs typeface="Corbel"/>
                <a:sym typeface="Corbel"/>
              </a:rPr>
              <a:t>10</a:t>
            </a:fld>
            <a:endParaRPr sz="1200" b="0" i="0" u="none" strike="noStrike" cap="none">
              <a:solidFill>
                <a:srgbClr val="A6B727"/>
              </a:solidFill>
              <a:latin typeface="Corbel"/>
              <a:ea typeface="Corbel"/>
              <a:cs typeface="Corbel"/>
              <a:sym typeface="Corbel"/>
            </a:endParaRPr>
          </a:p>
        </p:txBody>
      </p:sp>
      <p:sp>
        <p:nvSpPr>
          <p:cNvPr id="341" name="Google Shape;341;p10"/>
          <p:cNvSpPr txBox="1"/>
          <p:nvPr/>
        </p:nvSpPr>
        <p:spPr>
          <a:xfrm>
            <a:off x="1864426" y="2576936"/>
            <a:ext cx="8621486" cy="150810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600"/>
              <a:buFont typeface="Corbel"/>
              <a:buNone/>
            </a:pPr>
            <a:r>
              <a:rPr lang="en-US" sz="4600" b="1">
                <a:solidFill>
                  <a:srgbClr val="000000"/>
                </a:solidFill>
                <a:latin typeface="Corbel"/>
                <a:ea typeface="Corbel"/>
                <a:cs typeface="Corbel"/>
                <a:sym typeface="Corbel"/>
              </a:rPr>
              <a:t>Konsep Statistik</a:t>
            </a:r>
            <a:r>
              <a:rPr lang="en-US" sz="4600" b="1" i="0" u="none" strike="noStrike" cap="none">
                <a:solidFill>
                  <a:srgbClr val="000000"/>
                </a:solidFill>
                <a:latin typeface="Corbel"/>
                <a:ea typeface="Corbel"/>
                <a:cs typeface="Corbel"/>
                <a:sym typeface="Corbel"/>
              </a:rPr>
              <a:t> Ketenagakerjaan di Indonesia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347" name="Google Shape;347;p11"/>
          <p:cNvPicPr preferRelativeResize="0"/>
          <p:nvPr/>
        </p:nvPicPr>
        <p:blipFill rotWithShape="1">
          <a:blip r:embed="rId3">
            <a:alphaModFix/>
          </a:blip>
          <a:srcRect/>
          <a:stretch/>
        </p:blipFill>
        <p:spPr>
          <a:xfrm>
            <a:off x="1051967" y="1311275"/>
            <a:ext cx="9564573" cy="5410200"/>
          </a:xfrm>
          <a:prstGeom prst="rect">
            <a:avLst/>
          </a:prstGeom>
          <a:noFill/>
          <a:ln>
            <a:noFill/>
          </a:ln>
        </p:spPr>
      </p:pic>
      <p:sp>
        <p:nvSpPr>
          <p:cNvPr id="348" name="Google Shape;348;p11"/>
          <p:cNvSpPr txBox="1"/>
          <p:nvPr/>
        </p:nvSpPr>
        <p:spPr>
          <a:xfrm>
            <a:off x="876456" y="191540"/>
            <a:ext cx="10278505" cy="848342"/>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rmAutofit fontScale="90000" lnSpcReduction="20000"/>
          </a:bodyPr>
          <a:lstStyle/>
          <a:p>
            <a:pPr marL="182880" marR="0" lvl="0" indent="0" algn="ctr" rtl="0">
              <a:spcBef>
                <a:spcPts val="0"/>
              </a:spcBef>
              <a:spcAft>
                <a:spcPts val="0"/>
              </a:spcAft>
              <a:buClr>
                <a:srgbClr val="000000"/>
              </a:buClr>
              <a:buSzPct val="100000"/>
              <a:buFont typeface="Georgia"/>
              <a:buNone/>
            </a:pPr>
            <a:r>
              <a:rPr lang="en-US" sz="3200" b="1">
                <a:solidFill>
                  <a:srgbClr val="000000"/>
                </a:solidFill>
                <a:latin typeface="Georgia"/>
                <a:ea typeface="Georgia"/>
                <a:cs typeface="Georgia"/>
                <a:sym typeface="Georgia"/>
              </a:rPr>
              <a:t>Kerangka Ketenagakerjaan</a:t>
            </a:r>
            <a:endParaRPr sz="3200" b="1">
              <a:solidFill>
                <a:srgbClr val="000000"/>
              </a:solidFill>
              <a:latin typeface="Georgia"/>
              <a:ea typeface="Georgia"/>
              <a:cs typeface="Georgia"/>
              <a:sym typeface="Georgia"/>
            </a:endParaRPr>
          </a:p>
          <a:p>
            <a:pPr marL="182880" marR="0" lvl="0" indent="0" algn="ctr" rtl="0">
              <a:spcBef>
                <a:spcPts val="0"/>
              </a:spcBef>
              <a:spcAft>
                <a:spcPts val="0"/>
              </a:spcAft>
              <a:buClr>
                <a:srgbClr val="000000"/>
              </a:buClr>
              <a:buSzPct val="100000"/>
              <a:buFont typeface="Georgia"/>
              <a:buNone/>
            </a:pPr>
            <a:r>
              <a:rPr lang="en-US" sz="3200" b="1">
                <a:solidFill>
                  <a:srgbClr val="000000"/>
                </a:solidFill>
                <a:latin typeface="Georgia"/>
                <a:ea typeface="Georgia"/>
                <a:cs typeface="Georgia"/>
                <a:sym typeface="Georgia"/>
              </a:rPr>
              <a:t>(ICLS 13)</a:t>
            </a:r>
            <a:endParaRPr sz="2600" b="1">
              <a:solidFill>
                <a:srgbClr val="000000"/>
              </a:solidFill>
              <a:latin typeface="Georgia"/>
              <a:ea typeface="Georgia"/>
              <a:cs typeface="Georgia"/>
              <a:sym typeface="Georgia"/>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54" name="Google Shape;354;p12"/>
          <p:cNvPicPr preferRelativeResize="0"/>
          <p:nvPr/>
        </p:nvPicPr>
        <p:blipFill rotWithShape="1">
          <a:blip r:embed="rId3">
            <a:alphaModFix/>
          </a:blip>
          <a:srcRect/>
          <a:stretch/>
        </p:blipFill>
        <p:spPr>
          <a:xfrm>
            <a:off x="1052804" y="1056904"/>
            <a:ext cx="10086392" cy="5510151"/>
          </a:xfrm>
          <a:prstGeom prst="rect">
            <a:avLst/>
          </a:prstGeom>
          <a:noFill/>
          <a:ln>
            <a:noFill/>
          </a:ln>
        </p:spPr>
      </p:pic>
      <p:sp>
        <p:nvSpPr>
          <p:cNvPr id="355" name="Google Shape;355;p12"/>
          <p:cNvSpPr/>
          <p:nvPr/>
        </p:nvSpPr>
        <p:spPr>
          <a:xfrm>
            <a:off x="1290438" y="351149"/>
            <a:ext cx="9680705"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a:solidFill>
                  <a:schemeClr val="dk1"/>
                </a:solidFill>
                <a:latin typeface="Calibri"/>
                <a:ea typeface="Calibri"/>
                <a:cs typeface="Calibri"/>
                <a:sym typeface="Calibri"/>
              </a:rPr>
              <a:t>Konsep dan Definisi</a:t>
            </a:r>
            <a:endParaRPr sz="30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13"/>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Tingkat Partisipasi Angkatan Kerja (TPAK)</a:t>
            </a:r>
            <a:endParaRPr sz="3800"/>
          </a:p>
        </p:txBody>
      </p:sp>
      <p:sp>
        <p:nvSpPr>
          <p:cNvPr id="362" name="Google Shape;362;p1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363" name="Google Shape;363;p13"/>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64" name="Google Shape;364;p13"/>
          <p:cNvSpPr txBox="1"/>
          <p:nvPr/>
        </p:nvSpPr>
        <p:spPr>
          <a:xfrm>
            <a:off x="1965366" y="3474135"/>
            <a:ext cx="611579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a = Jumlah Angkatan Kerja</a:t>
            </a:r>
            <a:endParaRPr sz="2400" b="0" i="0">
              <a:solidFill>
                <a:srgbClr val="000000"/>
              </a:solidFill>
              <a:latin typeface="Arial"/>
              <a:ea typeface="Arial"/>
              <a:cs typeface="Arial"/>
              <a:sym typeface="Arial"/>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b = Jumlah penduduk 15thn keatas</a:t>
            </a:r>
            <a:endParaRPr sz="2400" b="0" i="0">
              <a:solidFill>
                <a:srgbClr val="000000"/>
              </a:solidFill>
              <a:latin typeface="Arial"/>
              <a:ea typeface="Arial"/>
              <a:cs typeface="Arial"/>
              <a:sym typeface="Arial"/>
            </a:endParaRPr>
          </a:p>
        </p:txBody>
      </p:sp>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4"/>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Tingkat Partisipasi Angkatan Kerja (TPAK)</a:t>
            </a:r>
            <a:endParaRPr sz="3800"/>
          </a:p>
        </p:txBody>
      </p:sp>
      <p:sp>
        <p:nvSpPr>
          <p:cNvPr id="371" name="Google Shape;371;p1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14</a:t>
            </a:fld>
            <a:endParaRPr/>
          </a:p>
        </p:txBody>
      </p:sp>
      <p:graphicFrame>
        <p:nvGraphicFramePr>
          <p:cNvPr id="372" name="Google Shape;372;p14"/>
          <p:cNvGraphicFramePr/>
          <p:nvPr/>
        </p:nvGraphicFramePr>
        <p:xfrm>
          <a:off x="922317" y="2051460"/>
          <a:ext cx="10846400" cy="3236998"/>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Kondef</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Persentase penduduk usia 15 tahun keatas yang merupakan angkatan kerja. </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Kegunaan</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Mengindikasikan besarnya persentase penduduk usia kerja yang aktif secara ekonomi disuatu negara/wilayah.</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Interpretasi</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Semakin tinggi TPAK menunjukkan bahwa semakin tinggi pula pasokan tenaga kerja (labour supply) yang tersedia untuk memproduksi barang dan jasa dalam suatu perekonomian.</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SAKERNAS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5"/>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Tingkat Pengangguran Terbuka (TPT)</a:t>
            </a:r>
            <a:endParaRPr sz="3800"/>
          </a:p>
        </p:txBody>
      </p:sp>
      <p:sp>
        <p:nvSpPr>
          <p:cNvPr id="379" name="Google Shape;379;p1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380" name="Google Shape;380;p15"/>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81" name="Google Shape;381;p15"/>
          <p:cNvSpPr txBox="1"/>
          <p:nvPr/>
        </p:nvSpPr>
        <p:spPr>
          <a:xfrm>
            <a:off x="1965366" y="3474135"/>
            <a:ext cx="611579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TPT : Tingkat pengangguran terbuka (%)</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PP : Jumlah pengangguran (orang)</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PAK : Jumlah angkatan kerja (orang)</a:t>
            </a:r>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6"/>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Tingkat Pengangguran Terbuka (TPT)</a:t>
            </a:r>
            <a:endParaRPr sz="3800"/>
          </a:p>
        </p:txBody>
      </p:sp>
      <p:sp>
        <p:nvSpPr>
          <p:cNvPr id="388" name="Google Shape;388;p1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16</a:t>
            </a:fld>
            <a:endParaRPr/>
          </a:p>
        </p:txBody>
      </p:sp>
      <p:graphicFrame>
        <p:nvGraphicFramePr>
          <p:cNvPr id="389" name="Google Shape;389;p16"/>
          <p:cNvGraphicFramePr/>
          <p:nvPr/>
        </p:nvGraphicFramePr>
        <p:xfrm>
          <a:off x="922317" y="1445814"/>
          <a:ext cx="10846425" cy="4928571"/>
        </p:xfrm>
        <a:graphic>
          <a:graphicData uri="http://schemas.openxmlformats.org/drawingml/2006/table">
            <a:tbl>
              <a:tblPr>
                <a:noFill/>
                <a:tableStyleId>{5E4929FC-98BC-4A90-AF6C-45F87D23BB2C}</a:tableStyleId>
              </a:tblPr>
              <a:tblGrid>
                <a:gridCol w="1298375">
                  <a:extLst>
                    <a:ext uri="{9D8B030D-6E8A-4147-A177-3AD203B41FA5}">
                      <a16:colId xmlns:a16="http://schemas.microsoft.com/office/drawing/2014/main" val="20000"/>
                    </a:ext>
                  </a:extLst>
                </a:gridCol>
                <a:gridCol w="273125">
                  <a:extLst>
                    <a:ext uri="{9D8B030D-6E8A-4147-A177-3AD203B41FA5}">
                      <a16:colId xmlns:a16="http://schemas.microsoft.com/office/drawing/2014/main" val="20001"/>
                    </a:ext>
                  </a:extLst>
                </a:gridCol>
                <a:gridCol w="9274925">
                  <a:extLst>
                    <a:ext uri="{9D8B030D-6E8A-4147-A177-3AD203B41FA5}">
                      <a16:colId xmlns:a16="http://schemas.microsoft.com/office/drawing/2014/main" val="20002"/>
                    </a:ext>
                  </a:extLst>
                </a:gridCol>
              </a:tblGrid>
              <a:tr h="1858275">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Kondef</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Tingkat pengangguran terbuka adalah persentasejumlah pengangguran terhadap jumlah angkatankerja. Angkatan Kerja adalah penduduk usia kerja (15 tahun ke atas) yang bekerja atau punya pekerjaan namun sementara tidak bekerja, dan penggangguran.Pengangguran yaitu: (1) penduduk yang aktif mencari pekerjaan, (2) penduduk yang sedang mempersiapkan usaha/pekerjaan baru, (3) penduduk yang tidak mencari pekerjaan karena merasa tidak mungkin mendapat pekerjaan, (4) kelompok penduduk yang tidak aktif mencari pekerjaan dengan alasan sudah mempunyai pekerjaan tetapi belum mulai bekerja.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7220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Kegunaan</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Mengindikasikan besarnya persentase angkatan kerja yang termasuk dalam pengangguran.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858275">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Interpretasi</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Menunjukkan kemampuan ekonomi untuk menciptakan lapangan kerja yang mampu menyerap persediaan (supply) tenaga kerja yang ada. Semakin tinggi nilai indikator ini, semakin banyak persediaan tenaga kerja yang tidak termanfaatkan. Indikator ini dapat memberikan sinyal tentang kinerja pasar kerja dan berlangsungnya kondisi ekonomi tertentu, seperti resesi, perubahan siklus bisnis dan teknologi, dan lain-lain. Pembedaan menurut jenis kelamin, kelompok umur, dan tingkat pendidikan dapat menggambarkan kesenjangan keterserapan di lapangan kerja antar kelompok tersebut.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75225">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SAKERNAS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7"/>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Persentase Setengah Pengangguran</a:t>
            </a:r>
            <a:endParaRPr/>
          </a:p>
        </p:txBody>
      </p:sp>
      <p:sp>
        <p:nvSpPr>
          <p:cNvPr id="396" name="Google Shape;396;p1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397" name="Google Shape;397;p17"/>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398" name="Google Shape;398;p17"/>
          <p:cNvSpPr txBox="1"/>
          <p:nvPr/>
        </p:nvSpPr>
        <p:spPr>
          <a:xfrm>
            <a:off x="926275" y="3474135"/>
            <a:ext cx="10656126"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TSP		: Tingkat setengah pengangguran (%)</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PB</a:t>
            </a:r>
            <a:r>
              <a:rPr lang="en-US" sz="2400" b="0" i="0" baseline="-25000">
                <a:solidFill>
                  <a:srgbClr val="000000"/>
                </a:solidFill>
                <a:latin typeface="Arial"/>
                <a:ea typeface="Arial"/>
                <a:cs typeface="Arial"/>
                <a:sym typeface="Arial"/>
              </a:rPr>
              <a:t>JK&lt;35</a:t>
            </a:r>
            <a:r>
              <a:rPr lang="en-US" sz="2400" b="0" i="0">
                <a:solidFill>
                  <a:srgbClr val="000000"/>
                </a:solidFill>
                <a:latin typeface="Arial"/>
                <a:ea typeface="Arial"/>
                <a:cs typeface="Arial"/>
                <a:sym typeface="Arial"/>
              </a:rPr>
              <a:t>	: Jumlah pekerja yang tergolong setengah penganggur (orang)</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PB		: Jumlah penduduk yang bekerja (orang) </a:t>
            </a:r>
            <a:endParaRPr/>
          </a:p>
        </p:txBody>
      </p:sp>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18"/>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Persentase Setengah Pengangguran</a:t>
            </a:r>
            <a:endParaRPr/>
          </a:p>
        </p:txBody>
      </p:sp>
      <p:sp>
        <p:nvSpPr>
          <p:cNvPr id="405" name="Google Shape;405;p1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18</a:t>
            </a:fld>
            <a:endParaRPr/>
          </a:p>
        </p:txBody>
      </p:sp>
      <p:graphicFrame>
        <p:nvGraphicFramePr>
          <p:cNvPr id="406" name="Google Shape;406;p18"/>
          <p:cNvGraphicFramePr/>
          <p:nvPr/>
        </p:nvGraphicFramePr>
        <p:xfrm>
          <a:off x="922317" y="2051460"/>
          <a:ext cx="10846400" cy="4094376"/>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Kondef</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Pekerja setengah pengangguran adalah mereka yang bekerja di bawah jam kerja normal (kurang dari 35 jam seminggu) dan masih mencari pekerjaan atau masih bersedia menerima pekerjaan (dahulu disebut setengah pengangguran terpaksa).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Kegunaan</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Proporsi jumlah penduduk setengah pengangguran bermanfaat untuk dijadikan acuan pemerintah dalam rangka meningkatkan tingkat utilisasi, kegunaan, dan produktivitas pekerja.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Interpretasi</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Menggambarkan kemampuan ekonomi untuk menyediakan lapangan kerja yang mampu memanfaatkan keahlian, pengalaman  dan kesediaan bekerja yang dimiliki tenaga  kerjanya. Tingkat setengah pengangguran dapat memberikan gambaran tentang kualitas, produktivitas, dan tingkat utilisasi lapangan kerja yang tersedia, terutama di negara-negara dengan tingkat pengangguran terbuka rendah.</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SAKERNAS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19"/>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Persentase Pekerja Paruh Waktu</a:t>
            </a:r>
            <a:endParaRPr/>
          </a:p>
        </p:txBody>
      </p:sp>
      <p:sp>
        <p:nvSpPr>
          <p:cNvPr id="413" name="Google Shape;413;p1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414" name="Google Shape;414;p19"/>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415" name="Google Shape;415;p19"/>
          <p:cNvSpPr txBox="1"/>
          <p:nvPr/>
        </p:nvSpPr>
        <p:spPr>
          <a:xfrm>
            <a:off x="926275" y="3474135"/>
            <a:ext cx="10656126"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TPPW		: Tingkat pekerja paruh waktu (%)</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PB</a:t>
            </a:r>
            <a:r>
              <a:rPr lang="en-US" sz="2400" b="0" i="0" baseline="-25000">
                <a:solidFill>
                  <a:srgbClr val="000000"/>
                </a:solidFill>
                <a:latin typeface="Arial"/>
                <a:ea typeface="Arial"/>
                <a:cs typeface="Arial"/>
                <a:sym typeface="Arial"/>
              </a:rPr>
              <a:t>PW</a:t>
            </a:r>
            <a:r>
              <a:rPr lang="en-US" sz="2400" b="0" i="0">
                <a:solidFill>
                  <a:srgbClr val="000000"/>
                </a:solidFill>
                <a:latin typeface="Arial"/>
                <a:ea typeface="Arial"/>
                <a:cs typeface="Arial"/>
                <a:sym typeface="Arial"/>
              </a:rPr>
              <a:t>		: Jumlah pekerja yang tergolong paruh waktu (orang)</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PB		: Jumlah penduduk yang bekerja (orang) </a:t>
            </a:r>
            <a:endParaRPr/>
          </a:p>
        </p:txBody>
      </p:sp>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0"/>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Persentase Pekerja Paruh Waktu</a:t>
            </a:r>
            <a:endParaRPr/>
          </a:p>
        </p:txBody>
      </p:sp>
      <p:sp>
        <p:nvSpPr>
          <p:cNvPr id="422" name="Google Shape;422;p2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20</a:t>
            </a:fld>
            <a:endParaRPr/>
          </a:p>
        </p:txBody>
      </p:sp>
      <p:graphicFrame>
        <p:nvGraphicFramePr>
          <p:cNvPr id="423" name="Google Shape;423;p20"/>
          <p:cNvGraphicFramePr/>
          <p:nvPr/>
        </p:nvGraphicFramePr>
        <p:xfrm>
          <a:off x="922317" y="2051460"/>
          <a:ext cx="10846400" cy="3768240"/>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Kondef</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Pekerja paruh waktu adalah mereka yang bekerja di bawah jam kerja normal (kurang dari 35 jam seminggu), tetapi tidak mencari pekerjaan atau tidak bersedia menerima pekerjaan lain (dahulu disebut setengah pengangguran sukarela.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Kegunaan</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Proporsi pekerja paruh waktu bermanfaat untuk dijadikan acuan pemerintah dalam rangka meningkatkan tingkat utilisasi, kegunaan, dan produktivitas pekerja.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Interpretasi</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Menggambarkan kemampuan ekonomi untuk menyediakan lapangan kerja yang mampu memanfaatkan keahlian, pengalaman  dan kesediaan bekerja yang dimiliki tenaga  kerjanya. Tingkat pekerja paruh waktu dapat memberikan gambaran tentang kualitas, produktivitas, dan tingkat utilisasi lapangan kerja yang tersedia, terutama di negara-negara dengan tingkat pengangguran terbuka rendah.</a:t>
                      </a:r>
                      <a:endParaRPr sz="20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20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000">
                          <a:latin typeface="Calibri"/>
                          <a:ea typeface="Calibri"/>
                          <a:cs typeface="Calibri"/>
                          <a:sym typeface="Calibri"/>
                        </a:rPr>
                        <a:t>SAKERNAS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2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29" name="Google Shape;429;p21"/>
          <p:cNvPicPr preferRelativeResize="0"/>
          <p:nvPr/>
        </p:nvPicPr>
        <p:blipFill rotWithShape="1">
          <a:blip r:embed="rId3">
            <a:alphaModFix/>
          </a:blip>
          <a:srcRect/>
          <a:stretch/>
        </p:blipFill>
        <p:spPr>
          <a:xfrm>
            <a:off x="0" y="192747"/>
            <a:ext cx="12192000" cy="6472505"/>
          </a:xfrm>
          <a:prstGeom prst="rect">
            <a:avLst/>
          </a:prstGeom>
          <a:noFill/>
          <a:ln>
            <a:noFill/>
          </a:ln>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435" name="Google Shape;435;p22"/>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436" name="Google Shape;436;p22"/>
          <p:cNvSpPr txBox="1"/>
          <p:nvPr/>
        </p:nvSpPr>
        <p:spPr>
          <a:xfrm>
            <a:off x="7754584" y="89024"/>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2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442" name="Google Shape;442;p23"/>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443" name="Google Shape;443;p23"/>
          <p:cNvSpPr txBox="1"/>
          <p:nvPr/>
        </p:nvSpPr>
        <p:spPr>
          <a:xfrm>
            <a:off x="4940143" y="148399"/>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24"/>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solidFill>
                  <a:srgbClr val="000000"/>
                </a:solidFill>
              </a:rPr>
              <a:t>24</a:t>
            </a:fld>
            <a:endParaRPr>
              <a:solidFill>
                <a:srgbClr val="000000"/>
              </a:solidFill>
            </a:endParaRPr>
          </a:p>
        </p:txBody>
      </p:sp>
      <p:grpSp>
        <p:nvGrpSpPr>
          <p:cNvPr id="449" name="Google Shape;449;p24"/>
          <p:cNvGrpSpPr/>
          <p:nvPr/>
        </p:nvGrpSpPr>
        <p:grpSpPr>
          <a:xfrm>
            <a:off x="1878733" y="5135176"/>
            <a:ext cx="8424862" cy="1301750"/>
            <a:chOff x="912" y="2016"/>
            <a:chExt cx="3984" cy="912"/>
          </a:xfrm>
        </p:grpSpPr>
        <p:sp>
          <p:nvSpPr>
            <p:cNvPr id="450" name="Google Shape;450;p24"/>
            <p:cNvSpPr/>
            <p:nvPr/>
          </p:nvSpPr>
          <p:spPr>
            <a:xfrm>
              <a:off x="912" y="2016"/>
              <a:ext cx="3984" cy="912"/>
            </a:xfrm>
            <a:prstGeom prst="roundRect">
              <a:avLst>
                <a:gd name="adj" fmla="val 10889"/>
              </a:avLst>
            </a:prstGeom>
            <a:gradFill>
              <a:gsLst>
                <a:gs pos="0">
                  <a:srgbClr val="DDDDDD"/>
                </a:gs>
                <a:gs pos="50000">
                  <a:srgbClr val="F2F2F2"/>
                </a:gs>
                <a:gs pos="100000">
                  <a:srgbClr val="DDDDDD"/>
                </a:gs>
              </a:gsLst>
              <a:lin ang="2700000" scaled="0"/>
            </a:gradFill>
            <a:ln w="38100" cap="flat" cmpd="sng">
              <a:solidFill>
                <a:srgbClr val="FFFFFF"/>
              </a:solidFill>
              <a:prstDash val="solid"/>
              <a:round/>
              <a:headEnd type="none" w="sm" len="sm"/>
              <a:tailEnd type="none" w="sm" len="sm"/>
            </a:ln>
            <a:effectLst>
              <a:outerShdw dist="135003" dir="2928844" algn="ctr" rotWithShape="0">
                <a:srgbClr val="000000">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1" name="Google Shape;451;p24"/>
            <p:cNvGrpSpPr/>
            <p:nvPr/>
          </p:nvGrpSpPr>
          <p:grpSpPr>
            <a:xfrm>
              <a:off x="999" y="2101"/>
              <a:ext cx="526" cy="745"/>
              <a:chOff x="999" y="2101"/>
              <a:chExt cx="526" cy="745"/>
            </a:xfrm>
          </p:grpSpPr>
          <p:sp>
            <p:nvSpPr>
              <p:cNvPr id="452" name="Google Shape;452;p24"/>
              <p:cNvSpPr/>
              <p:nvPr/>
            </p:nvSpPr>
            <p:spPr>
              <a:xfrm>
                <a:off x="999" y="2101"/>
                <a:ext cx="526" cy="745"/>
              </a:xfrm>
              <a:prstGeom prst="roundRect">
                <a:avLst>
                  <a:gd name="adj" fmla="val 11921"/>
                </a:avLst>
              </a:prstGeom>
              <a:solidFill>
                <a:srgbClr val="92D050"/>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24"/>
              <p:cNvSpPr/>
              <p:nvPr/>
            </p:nvSpPr>
            <p:spPr>
              <a:xfrm>
                <a:off x="1048" y="2147"/>
                <a:ext cx="384" cy="374"/>
              </a:xfrm>
              <a:custGeom>
                <a:avLst/>
                <a:gdLst/>
                <a:ahLst/>
                <a:cxnLst/>
                <a:rect l="l" t="t" r="r" b="b"/>
                <a:pathLst>
                  <a:path w="596" h="598" extrusionOk="0">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D6E3BC"/>
                  </a:gs>
                  <a:gs pos="100000">
                    <a:srgbClr val="0000FF">
                      <a:alpha val="0"/>
                    </a:srgbClr>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4" name="Google Shape;454;p24"/>
            <p:cNvSpPr txBox="1"/>
            <p:nvPr/>
          </p:nvSpPr>
          <p:spPr>
            <a:xfrm>
              <a:off x="1645" y="2130"/>
              <a:ext cx="3135" cy="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a:solidFill>
                    <a:srgbClr val="000000"/>
                  </a:solidFill>
                  <a:latin typeface="Arial"/>
                  <a:ea typeface="Arial"/>
                  <a:cs typeface="Arial"/>
                  <a:sym typeface="Arial"/>
                </a:rPr>
                <a:t>BPS menyediakan </a:t>
              </a:r>
              <a:r>
                <a:rPr lang="en-US" sz="1800" b="1" i="1">
                  <a:solidFill>
                    <a:srgbClr val="000000"/>
                  </a:solidFill>
                  <a:latin typeface="Arial"/>
                  <a:ea typeface="Arial"/>
                  <a:cs typeface="Arial"/>
                  <a:sym typeface="Arial"/>
                </a:rPr>
                <a:t>dua proxy</a:t>
              </a:r>
              <a:r>
                <a:rPr lang="en-US" sz="1800" b="0">
                  <a:solidFill>
                    <a:srgbClr val="000000"/>
                  </a:solidFill>
                  <a:latin typeface="Arial"/>
                  <a:ea typeface="Arial"/>
                  <a:cs typeface="Arial"/>
                  <a:sym typeface="Arial"/>
                </a:rPr>
                <a:t> untuk penghitungan tenaga kerja formal informal tanpa membedakan lapangan pekerjaannya (formal atau informal)</a:t>
              </a:r>
              <a:endParaRPr sz="1800" b="0">
                <a:solidFill>
                  <a:srgbClr val="000000"/>
                </a:solidFill>
                <a:latin typeface="Arial"/>
                <a:ea typeface="Arial"/>
                <a:cs typeface="Arial"/>
                <a:sym typeface="Arial"/>
              </a:endParaRPr>
            </a:p>
          </p:txBody>
        </p:sp>
      </p:grpSp>
      <p:grpSp>
        <p:nvGrpSpPr>
          <p:cNvPr id="455" name="Google Shape;455;p24"/>
          <p:cNvGrpSpPr/>
          <p:nvPr/>
        </p:nvGrpSpPr>
        <p:grpSpPr>
          <a:xfrm>
            <a:off x="1878733" y="1700808"/>
            <a:ext cx="8424862" cy="2952328"/>
            <a:chOff x="467544" y="1267074"/>
            <a:chExt cx="8424936" cy="2722476"/>
          </a:xfrm>
        </p:grpSpPr>
        <p:sp>
          <p:nvSpPr>
            <p:cNvPr id="456" name="Google Shape;456;p24"/>
            <p:cNvSpPr/>
            <p:nvPr/>
          </p:nvSpPr>
          <p:spPr>
            <a:xfrm>
              <a:off x="467544" y="1267074"/>
              <a:ext cx="8424936" cy="2722476"/>
            </a:xfrm>
            <a:prstGeom prst="roundRect">
              <a:avLst>
                <a:gd name="adj" fmla="val 10889"/>
              </a:avLst>
            </a:prstGeom>
            <a:gradFill>
              <a:gsLst>
                <a:gs pos="0">
                  <a:srgbClr val="DDDDDD"/>
                </a:gs>
                <a:gs pos="50000">
                  <a:srgbClr val="F3F3F3"/>
                </a:gs>
                <a:gs pos="100000">
                  <a:srgbClr val="DDDDDD"/>
                </a:gs>
              </a:gsLst>
              <a:lin ang="2700000" scaled="0"/>
            </a:gradFill>
            <a:ln w="38100" cap="flat" cmpd="sng">
              <a:solidFill>
                <a:srgbClr val="FFFFFF"/>
              </a:solidFill>
              <a:prstDash val="solid"/>
              <a:round/>
              <a:headEnd type="none" w="sm" len="sm"/>
              <a:tailEnd type="none" w="sm" len="sm"/>
            </a:ln>
            <a:effectLst>
              <a:outerShdw dist="135003" dir="2928844" algn="ctr" rotWithShape="0">
                <a:srgbClr val="000000">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7" name="Google Shape;457;p24"/>
            <p:cNvGrpSpPr/>
            <p:nvPr/>
          </p:nvGrpSpPr>
          <p:grpSpPr>
            <a:xfrm>
              <a:off x="651522" y="1864404"/>
              <a:ext cx="1112328" cy="1659585"/>
              <a:chOff x="999" y="1315"/>
              <a:chExt cx="526" cy="774"/>
            </a:xfrm>
          </p:grpSpPr>
          <p:sp>
            <p:nvSpPr>
              <p:cNvPr id="458" name="Google Shape;458;p24"/>
              <p:cNvSpPr/>
              <p:nvPr/>
            </p:nvSpPr>
            <p:spPr>
              <a:xfrm>
                <a:off x="999" y="1344"/>
                <a:ext cx="526" cy="745"/>
              </a:xfrm>
              <a:prstGeom prst="roundRect">
                <a:avLst>
                  <a:gd name="adj" fmla="val 11921"/>
                </a:avLst>
              </a:prstGeom>
              <a:solidFill>
                <a:srgbClr val="00B0F0"/>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24"/>
              <p:cNvSpPr/>
              <p:nvPr/>
            </p:nvSpPr>
            <p:spPr>
              <a:xfrm>
                <a:off x="1033" y="1376"/>
                <a:ext cx="384" cy="373"/>
              </a:xfrm>
              <a:custGeom>
                <a:avLst/>
                <a:gdLst/>
                <a:ahLst/>
                <a:cxnLst/>
                <a:rect l="l" t="t" r="r" b="b"/>
                <a:pathLst>
                  <a:path w="596" h="598" extrusionOk="0">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9C7DE"/>
                  </a:gs>
                  <a:gs pos="50000">
                    <a:srgbClr val="4F81BD">
                      <a:alpha val="0"/>
                    </a:srgbClr>
                  </a:gs>
                  <a:gs pos="100000">
                    <a:srgbClr val="B9C7DE"/>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24"/>
              <p:cNvSpPr txBox="1"/>
              <p:nvPr/>
            </p:nvSpPr>
            <p:spPr>
              <a:xfrm>
                <a:off x="1083" y="1315"/>
                <a:ext cx="348" cy="2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800">
                  <a:solidFill>
                    <a:srgbClr val="FFFFFF"/>
                  </a:solidFill>
                  <a:latin typeface="Calibri"/>
                  <a:ea typeface="Calibri"/>
                  <a:cs typeface="Calibri"/>
                  <a:sym typeface="Calibri"/>
                </a:endParaRPr>
              </a:p>
            </p:txBody>
          </p:sp>
        </p:grpSp>
        <p:sp>
          <p:nvSpPr>
            <p:cNvPr id="461" name="Google Shape;461;p24"/>
            <p:cNvSpPr txBox="1"/>
            <p:nvPr/>
          </p:nvSpPr>
          <p:spPr>
            <a:xfrm>
              <a:off x="2059908" y="1418787"/>
              <a:ext cx="6629562" cy="23840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a:solidFill>
                    <a:srgbClr val="000000"/>
                  </a:solidFill>
                  <a:latin typeface="Arial"/>
                  <a:ea typeface="Arial"/>
                  <a:cs typeface="Arial"/>
                  <a:sym typeface="Arial"/>
                </a:rPr>
                <a:t>BPS membagi status pekerjaan menjadi 7, yaitu: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Berusaha sendiri;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Berusaha dibantu buruh tidak tetap/pekerja keluarga/tidak dibayar;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Berusaha dibantu buruh tetap/dibayar;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Buruh/karyawan/pegawai;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Pekerja bebas di pertanian;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Pekerja bebas di non-pertanian; </a:t>
              </a:r>
              <a:endParaRPr sz="1800" b="0">
                <a:solidFill>
                  <a:srgbClr val="000000"/>
                </a:solidFill>
                <a:latin typeface="Arial"/>
                <a:ea typeface="Arial"/>
                <a:cs typeface="Arial"/>
                <a:sym typeface="Arial"/>
              </a:endParaRPr>
            </a:p>
            <a:p>
              <a:pPr marL="342900" marR="0" lvl="0" indent="-342900" algn="l" rtl="0">
                <a:spcBef>
                  <a:spcPts val="0"/>
                </a:spcBef>
                <a:spcAft>
                  <a:spcPts val="0"/>
                </a:spcAft>
                <a:buClr>
                  <a:srgbClr val="000000"/>
                </a:buClr>
                <a:buSzPts val="1800"/>
                <a:buFont typeface="Arial"/>
                <a:buAutoNum type="arabicParenR"/>
              </a:pPr>
              <a:r>
                <a:rPr lang="en-US" sz="1800" b="0">
                  <a:solidFill>
                    <a:srgbClr val="000000"/>
                  </a:solidFill>
                  <a:latin typeface="Arial"/>
                  <a:ea typeface="Arial"/>
                  <a:cs typeface="Arial"/>
                  <a:sym typeface="Arial"/>
                </a:rPr>
                <a:t>Pekerja keluarga/tidak dibayar </a:t>
              </a:r>
              <a:endParaRPr/>
            </a:p>
          </p:txBody>
        </p:sp>
      </p:grpSp>
      <p:sp>
        <p:nvSpPr>
          <p:cNvPr id="462" name="Google Shape;462;p24"/>
          <p:cNvSpPr txBox="1"/>
          <p:nvPr/>
        </p:nvSpPr>
        <p:spPr>
          <a:xfrm>
            <a:off x="1631504" y="918046"/>
            <a:ext cx="8280920" cy="566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3200"/>
              <a:buFont typeface="Arial"/>
              <a:buNone/>
            </a:pPr>
            <a:r>
              <a:rPr lang="en-US" sz="3200" b="1" u="sng">
                <a:solidFill>
                  <a:srgbClr val="000000"/>
                </a:solidFill>
                <a:latin typeface="Arial"/>
                <a:ea typeface="Arial"/>
                <a:cs typeface="Arial"/>
                <a:sym typeface="Arial"/>
              </a:rPr>
              <a:t>Sektor Informal…</a:t>
            </a:r>
            <a:r>
              <a:rPr lang="en-US" sz="2000" b="1" u="sng">
                <a:solidFill>
                  <a:srgbClr val="000000"/>
                </a:solidFill>
                <a:latin typeface="Arial"/>
                <a:ea typeface="Arial"/>
                <a:cs typeface="Arial"/>
                <a:sym typeface="Arial"/>
              </a:rPr>
              <a:t>(1)</a:t>
            </a:r>
            <a:endParaRPr sz="3200" b="1" u="sng">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5"/>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solidFill>
                  <a:srgbClr val="000000"/>
                </a:solidFill>
              </a:rPr>
              <a:t>25</a:t>
            </a:fld>
            <a:endParaRPr>
              <a:solidFill>
                <a:srgbClr val="000000"/>
              </a:solidFill>
            </a:endParaRPr>
          </a:p>
        </p:txBody>
      </p:sp>
      <p:grpSp>
        <p:nvGrpSpPr>
          <p:cNvPr id="468" name="Google Shape;468;p25"/>
          <p:cNvGrpSpPr/>
          <p:nvPr/>
        </p:nvGrpSpPr>
        <p:grpSpPr>
          <a:xfrm>
            <a:off x="1847602" y="2204865"/>
            <a:ext cx="8424862" cy="1466771"/>
            <a:chOff x="912" y="2016"/>
            <a:chExt cx="3984" cy="912"/>
          </a:xfrm>
        </p:grpSpPr>
        <p:sp>
          <p:nvSpPr>
            <p:cNvPr id="469" name="Google Shape;469;p25"/>
            <p:cNvSpPr/>
            <p:nvPr/>
          </p:nvSpPr>
          <p:spPr>
            <a:xfrm>
              <a:off x="912" y="2016"/>
              <a:ext cx="3984" cy="912"/>
            </a:xfrm>
            <a:prstGeom prst="roundRect">
              <a:avLst>
                <a:gd name="adj" fmla="val 10889"/>
              </a:avLst>
            </a:prstGeom>
            <a:gradFill>
              <a:gsLst>
                <a:gs pos="0">
                  <a:srgbClr val="DDDDDD"/>
                </a:gs>
                <a:gs pos="50000">
                  <a:srgbClr val="F2F2F2"/>
                </a:gs>
                <a:gs pos="100000">
                  <a:srgbClr val="DDDDDD"/>
                </a:gs>
              </a:gsLst>
              <a:lin ang="2700000" scaled="0"/>
            </a:gradFill>
            <a:ln w="38100" cap="flat" cmpd="sng">
              <a:solidFill>
                <a:srgbClr val="FFFFFF"/>
              </a:solidFill>
              <a:prstDash val="solid"/>
              <a:round/>
              <a:headEnd type="none" w="sm" len="sm"/>
              <a:tailEnd type="none" w="sm" len="sm"/>
            </a:ln>
            <a:effectLst>
              <a:outerShdw dist="135003" dir="2928844" algn="ctr" rotWithShape="0">
                <a:srgbClr val="000000">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0" name="Google Shape;470;p25"/>
            <p:cNvGrpSpPr/>
            <p:nvPr/>
          </p:nvGrpSpPr>
          <p:grpSpPr>
            <a:xfrm>
              <a:off x="999" y="2101"/>
              <a:ext cx="526" cy="745"/>
              <a:chOff x="999" y="2101"/>
              <a:chExt cx="526" cy="745"/>
            </a:xfrm>
          </p:grpSpPr>
          <p:sp>
            <p:nvSpPr>
              <p:cNvPr id="471" name="Google Shape;471;p25"/>
              <p:cNvSpPr/>
              <p:nvPr/>
            </p:nvSpPr>
            <p:spPr>
              <a:xfrm>
                <a:off x="999" y="2101"/>
                <a:ext cx="526" cy="745"/>
              </a:xfrm>
              <a:prstGeom prst="roundRect">
                <a:avLst>
                  <a:gd name="adj" fmla="val 11921"/>
                </a:avLst>
              </a:prstGeom>
              <a:solidFill>
                <a:srgbClr val="D99593"/>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25"/>
              <p:cNvSpPr/>
              <p:nvPr/>
            </p:nvSpPr>
            <p:spPr>
              <a:xfrm>
                <a:off x="1048" y="2147"/>
                <a:ext cx="384" cy="374"/>
              </a:xfrm>
              <a:custGeom>
                <a:avLst/>
                <a:gdLst/>
                <a:ahLst/>
                <a:cxnLst/>
                <a:rect l="l" t="t" r="r" b="b"/>
                <a:pathLst>
                  <a:path w="596" h="598" extrusionOk="0">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D6E3BC"/>
                  </a:gs>
                  <a:gs pos="100000">
                    <a:srgbClr val="0000FF">
                      <a:alpha val="0"/>
                    </a:srgbClr>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3" name="Google Shape;473;p25"/>
            <p:cNvSpPr txBox="1"/>
            <p:nvPr/>
          </p:nvSpPr>
          <p:spPr>
            <a:xfrm>
              <a:off x="1654" y="2117"/>
              <a:ext cx="3242" cy="7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Arial"/>
                  <a:ea typeface="Arial"/>
                  <a:cs typeface="Arial"/>
                  <a:sym typeface="Arial"/>
                </a:rPr>
                <a:t>Proxy pertama: </a:t>
              </a:r>
              <a:r>
                <a:rPr lang="en-US" sz="1800" b="0">
                  <a:solidFill>
                    <a:srgbClr val="000000"/>
                  </a:solidFill>
                  <a:latin typeface="Arial"/>
                  <a:ea typeface="Arial"/>
                  <a:cs typeface="Arial"/>
                  <a:sym typeface="Arial"/>
                </a:rPr>
                <a:t>Tenaga kerja formal/infomal berdasarkan status pekerjaan. Jika </a:t>
              </a:r>
              <a:r>
                <a:rPr lang="en-US" sz="2000" b="1">
                  <a:solidFill>
                    <a:srgbClr val="000000"/>
                  </a:solidFill>
                  <a:latin typeface="Arial"/>
                  <a:ea typeface="Arial"/>
                  <a:cs typeface="Arial"/>
                  <a:sym typeface="Arial"/>
                </a:rPr>
                <a:t>status pekerjaan berkode 3 atau 4 dianggap tenaga kerja formal</a:t>
              </a:r>
              <a:r>
                <a:rPr lang="en-US" sz="1800" b="0">
                  <a:solidFill>
                    <a:srgbClr val="000000"/>
                  </a:solidFill>
                  <a:latin typeface="Arial"/>
                  <a:ea typeface="Arial"/>
                  <a:cs typeface="Arial"/>
                  <a:sym typeface="Arial"/>
                </a:rPr>
                <a:t>, sementara status pekerjaan kode yg lainnya (1/2/5/6/7) dianggap tenaga kerja informal</a:t>
              </a:r>
              <a:endParaRPr sz="1800" b="0">
                <a:solidFill>
                  <a:srgbClr val="000000"/>
                </a:solidFill>
                <a:latin typeface="Arial"/>
                <a:ea typeface="Arial"/>
                <a:cs typeface="Arial"/>
                <a:sym typeface="Arial"/>
              </a:endParaRPr>
            </a:p>
          </p:txBody>
        </p:sp>
      </p:grpSp>
      <p:grpSp>
        <p:nvGrpSpPr>
          <p:cNvPr id="474" name="Google Shape;474;p25"/>
          <p:cNvGrpSpPr/>
          <p:nvPr/>
        </p:nvGrpSpPr>
        <p:grpSpPr>
          <a:xfrm>
            <a:off x="1847528" y="4077075"/>
            <a:ext cx="8424862" cy="1621477"/>
            <a:chOff x="912" y="2016"/>
            <a:chExt cx="3984" cy="1136"/>
          </a:xfrm>
        </p:grpSpPr>
        <p:sp>
          <p:nvSpPr>
            <p:cNvPr id="475" name="Google Shape;475;p25"/>
            <p:cNvSpPr/>
            <p:nvPr/>
          </p:nvSpPr>
          <p:spPr>
            <a:xfrm>
              <a:off x="912" y="2016"/>
              <a:ext cx="3984" cy="912"/>
            </a:xfrm>
            <a:prstGeom prst="roundRect">
              <a:avLst>
                <a:gd name="adj" fmla="val 10889"/>
              </a:avLst>
            </a:prstGeom>
            <a:gradFill>
              <a:gsLst>
                <a:gs pos="0">
                  <a:srgbClr val="DDDDDD"/>
                </a:gs>
                <a:gs pos="50000">
                  <a:srgbClr val="F2F2F2"/>
                </a:gs>
                <a:gs pos="100000">
                  <a:srgbClr val="DDDDDD"/>
                </a:gs>
              </a:gsLst>
              <a:lin ang="2700000" scaled="0"/>
            </a:gradFill>
            <a:ln w="38100" cap="flat" cmpd="sng">
              <a:solidFill>
                <a:srgbClr val="FFFFFF"/>
              </a:solidFill>
              <a:prstDash val="solid"/>
              <a:round/>
              <a:headEnd type="none" w="sm" len="sm"/>
              <a:tailEnd type="none" w="sm" len="sm"/>
            </a:ln>
            <a:effectLst>
              <a:outerShdw dist="135003" dir="2928844" algn="ctr" rotWithShape="0">
                <a:srgbClr val="000000">
                  <a:alpha val="4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6" name="Google Shape;476;p25"/>
            <p:cNvGrpSpPr/>
            <p:nvPr/>
          </p:nvGrpSpPr>
          <p:grpSpPr>
            <a:xfrm>
              <a:off x="999" y="2101"/>
              <a:ext cx="526" cy="745"/>
              <a:chOff x="999" y="2101"/>
              <a:chExt cx="526" cy="745"/>
            </a:xfrm>
          </p:grpSpPr>
          <p:sp>
            <p:nvSpPr>
              <p:cNvPr id="477" name="Google Shape;477;p25"/>
              <p:cNvSpPr/>
              <p:nvPr/>
            </p:nvSpPr>
            <p:spPr>
              <a:xfrm>
                <a:off x="999" y="2101"/>
                <a:ext cx="526" cy="745"/>
              </a:xfrm>
              <a:prstGeom prst="roundRect">
                <a:avLst>
                  <a:gd name="adj" fmla="val 11921"/>
                </a:avLst>
              </a:prstGeom>
              <a:solidFill>
                <a:srgbClr val="8CB3E3"/>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25"/>
              <p:cNvSpPr/>
              <p:nvPr/>
            </p:nvSpPr>
            <p:spPr>
              <a:xfrm>
                <a:off x="1048" y="2147"/>
                <a:ext cx="384" cy="374"/>
              </a:xfrm>
              <a:custGeom>
                <a:avLst/>
                <a:gdLst/>
                <a:ahLst/>
                <a:cxnLst/>
                <a:rect l="l" t="t" r="r" b="b"/>
                <a:pathLst>
                  <a:path w="596" h="598" extrusionOk="0">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D6E3BC"/>
                  </a:gs>
                  <a:gs pos="100000">
                    <a:srgbClr val="0000FF">
                      <a:alpha val="0"/>
                    </a:srgbClr>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9" name="Google Shape;479;p25"/>
            <p:cNvSpPr txBox="1"/>
            <p:nvPr/>
          </p:nvSpPr>
          <p:spPr>
            <a:xfrm>
              <a:off x="1654" y="2117"/>
              <a:ext cx="3242" cy="10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Arial"/>
                  <a:ea typeface="Arial"/>
                  <a:cs typeface="Arial"/>
                  <a:sym typeface="Arial"/>
                </a:rPr>
                <a:t>Proxy kedua:</a:t>
              </a:r>
              <a:r>
                <a:rPr lang="en-US" sz="1800" b="0">
                  <a:solidFill>
                    <a:srgbClr val="000000"/>
                  </a:solidFill>
                  <a:latin typeface="Arial"/>
                  <a:ea typeface="Arial"/>
                  <a:cs typeface="Arial"/>
                  <a:sym typeface="Arial"/>
                </a:rPr>
                <a:t> Penentuan tenaga kerja formal/informal ditarik dari tabulasi silang dua variabel: “status pekerjaan dan jenis pekerjaan utama”. Proxy ini digunakan dalam Publikasi Indikator Pasar Tenaga Kerja pada KILM 7. </a:t>
              </a:r>
              <a:endParaRPr sz="1800" b="0">
                <a:solidFill>
                  <a:srgbClr val="000000"/>
                </a:solidFill>
                <a:latin typeface="Arial"/>
                <a:ea typeface="Arial"/>
                <a:cs typeface="Arial"/>
                <a:sym typeface="Arial"/>
              </a:endParaRPr>
            </a:p>
            <a:p>
              <a:pPr marL="0" marR="0" lvl="0" indent="0" algn="l" rtl="0">
                <a:spcBef>
                  <a:spcPts val="0"/>
                </a:spcBef>
                <a:spcAft>
                  <a:spcPts val="0"/>
                </a:spcAft>
                <a:buNone/>
              </a:pPr>
              <a:endParaRPr sz="1800" b="0">
                <a:solidFill>
                  <a:srgbClr val="000000"/>
                </a:solidFill>
                <a:latin typeface="Arial"/>
                <a:ea typeface="Arial"/>
                <a:cs typeface="Arial"/>
                <a:sym typeface="Arial"/>
              </a:endParaRPr>
            </a:p>
          </p:txBody>
        </p:sp>
      </p:grpSp>
      <p:sp>
        <p:nvSpPr>
          <p:cNvPr id="480" name="Google Shape;480;p25"/>
          <p:cNvSpPr txBox="1"/>
          <p:nvPr/>
        </p:nvSpPr>
        <p:spPr>
          <a:xfrm>
            <a:off x="1631504" y="918046"/>
            <a:ext cx="8280920" cy="566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3200"/>
              <a:buFont typeface="Arial"/>
              <a:buNone/>
            </a:pPr>
            <a:r>
              <a:rPr lang="en-US" sz="3200" b="1" u="sng">
                <a:solidFill>
                  <a:srgbClr val="000000"/>
                </a:solidFill>
                <a:latin typeface="Arial"/>
                <a:ea typeface="Arial"/>
                <a:cs typeface="Arial"/>
                <a:sym typeface="Arial"/>
              </a:rPr>
              <a:t>Sektor Informal…</a:t>
            </a:r>
            <a:r>
              <a:rPr lang="en-US" sz="2000" b="1" u="sng">
                <a:solidFill>
                  <a:srgbClr val="000000"/>
                </a:solidFill>
                <a:latin typeface="Arial"/>
                <a:ea typeface="Arial"/>
                <a:cs typeface="Arial"/>
                <a:sym typeface="Arial"/>
              </a:rPr>
              <a:t>(2)</a:t>
            </a:r>
            <a:endParaRPr sz="3200" b="1" u="sng">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6"/>
          <p:cNvSpPr txBox="1">
            <a:spLocks noGrp="1"/>
          </p:cNvSpPr>
          <p:nvPr>
            <p:ph type="sldNum" idx="12"/>
          </p:nvPr>
        </p:nvSpPr>
        <p:spPr>
          <a:xfrm>
            <a:off x="9395883" y="6570754"/>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solidFill>
                  <a:srgbClr val="000000"/>
                </a:solidFill>
              </a:rPr>
              <a:t>26</a:t>
            </a:fld>
            <a:endParaRPr>
              <a:solidFill>
                <a:srgbClr val="000000"/>
              </a:solidFill>
            </a:endParaRPr>
          </a:p>
        </p:txBody>
      </p:sp>
      <p:graphicFrame>
        <p:nvGraphicFramePr>
          <p:cNvPr id="486" name="Google Shape;486;p26"/>
          <p:cNvGraphicFramePr/>
          <p:nvPr/>
        </p:nvGraphicFramePr>
        <p:xfrm>
          <a:off x="1559499" y="1413382"/>
          <a:ext cx="9036050" cy="5400000"/>
        </p:xfrm>
        <a:graphic>
          <a:graphicData uri="http://schemas.openxmlformats.org/drawingml/2006/table">
            <a:tbl>
              <a:tblPr firstRow="1" bandRow="1">
                <a:noFill/>
                <a:tableStyleId>{5BDFE0BF-3721-438C-8B7B-D8BF3B89A407}</a:tableStyleId>
              </a:tblPr>
              <a:tblGrid>
                <a:gridCol w="2376150">
                  <a:extLst>
                    <a:ext uri="{9D8B030D-6E8A-4147-A177-3AD203B41FA5}">
                      <a16:colId xmlns:a16="http://schemas.microsoft.com/office/drawing/2014/main" val="20000"/>
                    </a:ext>
                  </a:extLst>
                </a:gridCol>
                <a:gridCol w="720050">
                  <a:extLst>
                    <a:ext uri="{9D8B030D-6E8A-4147-A177-3AD203B41FA5}">
                      <a16:colId xmlns:a16="http://schemas.microsoft.com/office/drawing/2014/main" val="20001"/>
                    </a:ext>
                  </a:extLst>
                </a:gridCol>
                <a:gridCol w="1182775">
                  <a:extLst>
                    <a:ext uri="{9D8B030D-6E8A-4147-A177-3AD203B41FA5}">
                      <a16:colId xmlns:a16="http://schemas.microsoft.com/office/drawing/2014/main" val="20002"/>
                    </a:ext>
                  </a:extLst>
                </a:gridCol>
                <a:gridCol w="1121350">
                  <a:extLst>
                    <a:ext uri="{9D8B030D-6E8A-4147-A177-3AD203B41FA5}">
                      <a16:colId xmlns:a16="http://schemas.microsoft.com/office/drawing/2014/main" val="20003"/>
                    </a:ext>
                  </a:extLst>
                </a:gridCol>
                <a:gridCol w="936050">
                  <a:extLst>
                    <a:ext uri="{9D8B030D-6E8A-4147-A177-3AD203B41FA5}">
                      <a16:colId xmlns:a16="http://schemas.microsoft.com/office/drawing/2014/main" val="20004"/>
                    </a:ext>
                  </a:extLst>
                </a:gridCol>
                <a:gridCol w="796825">
                  <a:extLst>
                    <a:ext uri="{9D8B030D-6E8A-4147-A177-3AD203B41FA5}">
                      <a16:colId xmlns:a16="http://schemas.microsoft.com/office/drawing/2014/main" val="20005"/>
                    </a:ext>
                  </a:extLst>
                </a:gridCol>
                <a:gridCol w="951425">
                  <a:extLst>
                    <a:ext uri="{9D8B030D-6E8A-4147-A177-3AD203B41FA5}">
                      <a16:colId xmlns:a16="http://schemas.microsoft.com/office/drawing/2014/main" val="20006"/>
                    </a:ext>
                  </a:extLst>
                </a:gridCol>
                <a:gridCol w="951425">
                  <a:extLst>
                    <a:ext uri="{9D8B030D-6E8A-4147-A177-3AD203B41FA5}">
                      <a16:colId xmlns:a16="http://schemas.microsoft.com/office/drawing/2014/main" val="20007"/>
                    </a:ext>
                  </a:extLst>
                </a:gridCol>
              </a:tblGrid>
              <a:tr h="370800">
                <a:tc rowSpan="2">
                  <a:txBody>
                    <a:bodyPr/>
                    <a:lstStyle/>
                    <a:p>
                      <a:pPr marL="0" marR="0" lvl="0" indent="0" algn="ctr" rtl="0">
                        <a:spcBef>
                          <a:spcPts val="0"/>
                        </a:spcBef>
                        <a:spcAft>
                          <a:spcPts val="0"/>
                        </a:spcAft>
                        <a:buNone/>
                      </a:pPr>
                      <a:r>
                        <a:rPr lang="en-US" sz="1400" b="1" u="none" strike="noStrike">
                          <a:latin typeface="Times New Roman"/>
                          <a:ea typeface="Times New Roman"/>
                          <a:cs typeface="Times New Roman"/>
                          <a:sym typeface="Times New Roman"/>
                        </a:rPr>
                        <a:t>Jenis pekerjaan</a:t>
                      </a:r>
                      <a:endParaRPr/>
                    </a:p>
                    <a:p>
                      <a:pPr marL="0" marR="0" lvl="0" indent="0" algn="ctr" rtl="0">
                        <a:spcBef>
                          <a:spcPts val="0"/>
                        </a:spcBef>
                        <a:spcAft>
                          <a:spcPts val="0"/>
                        </a:spcAft>
                        <a:buNone/>
                      </a:pPr>
                      <a:r>
                        <a:rPr lang="en-US" sz="1400" b="1" u="none" strike="noStrike">
                          <a:latin typeface="Times New Roman"/>
                          <a:ea typeface="Times New Roman"/>
                          <a:cs typeface="Times New Roman"/>
                          <a:sym typeface="Times New Roman"/>
                        </a:rPr>
                        <a:t>umum</a:t>
                      </a:r>
                      <a:endParaRPr sz="1400" b="1">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7">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Status Pekerjaan</a:t>
                      </a:r>
                      <a:endParaRPr sz="1600">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66675">
                <a:tc vMerge="1">
                  <a:txBody>
                    <a:bodyPr/>
                    <a:lstStyle/>
                    <a:p>
                      <a:endParaRPr lang="id-ID"/>
                    </a:p>
                  </a:txBody>
                  <a:tcPr/>
                </a:tc>
                <a:tc>
                  <a:txBody>
                    <a:bodyPr/>
                    <a:lstStyle/>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Berusa-ha sendiri</a:t>
                      </a:r>
                      <a:endParaRPr sz="1400" b="1">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Berusaha dibantu</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pekerja</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tidak tetap/</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Tak dibayar</a:t>
                      </a:r>
                      <a:endParaRPr sz="1400" b="1" i="0" u="none" strike="noStrike">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Berusaha</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Dibantu pekerja</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tetap</a:t>
                      </a:r>
                      <a:endParaRPr/>
                    </a:p>
                    <a:p>
                      <a:pPr marL="0" marR="0" lvl="0" indent="0" algn="ctr" rtl="0">
                        <a:spcBef>
                          <a:spcPts val="0"/>
                        </a:spcBef>
                        <a:spcAft>
                          <a:spcPts val="0"/>
                        </a:spcAft>
                        <a:buNone/>
                      </a:pPr>
                      <a:r>
                        <a:rPr lang="en-US" sz="1400" b="1" u="none" strike="noStrike">
                          <a:solidFill>
                            <a:schemeClr val="lt1"/>
                          </a:solidFill>
                          <a:latin typeface="Times New Roman"/>
                          <a:ea typeface="Times New Roman"/>
                          <a:cs typeface="Times New Roman"/>
                          <a:sym typeface="Times New Roman"/>
                        </a:rPr>
                        <a:t>/dibayar</a:t>
                      </a:r>
                      <a:endParaRPr sz="1400" b="1" i="0" u="none" strike="noStrike">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a:solidFill>
                            <a:schemeClr val="lt1"/>
                          </a:solidFill>
                          <a:latin typeface="Times New Roman"/>
                          <a:ea typeface="Times New Roman"/>
                          <a:cs typeface="Times New Roman"/>
                          <a:sym typeface="Times New Roman"/>
                        </a:rPr>
                        <a:t>Buruh/ Karyawan/ Pegawai</a:t>
                      </a:r>
                      <a:endParaRPr sz="1400" b="1">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a:solidFill>
                            <a:schemeClr val="lt1"/>
                          </a:solidFill>
                          <a:latin typeface="Times New Roman"/>
                          <a:ea typeface="Times New Roman"/>
                          <a:cs typeface="Times New Roman"/>
                          <a:sym typeface="Times New Roman"/>
                        </a:rPr>
                        <a:t>Pekerja Bebas  Pertanian</a:t>
                      </a:r>
                      <a:endParaRPr sz="1400" b="1">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a:solidFill>
                            <a:schemeClr val="lt1"/>
                          </a:solidFill>
                          <a:latin typeface="Times New Roman"/>
                          <a:ea typeface="Times New Roman"/>
                          <a:cs typeface="Times New Roman"/>
                          <a:sym typeface="Times New Roman"/>
                        </a:rPr>
                        <a:t>Pekerja Bebas Non Pertanian</a:t>
                      </a:r>
                      <a:endParaRPr sz="1400" b="1">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US" sz="1400" b="1">
                          <a:solidFill>
                            <a:schemeClr val="lt1"/>
                          </a:solidFill>
                          <a:latin typeface="Times New Roman"/>
                          <a:ea typeface="Times New Roman"/>
                          <a:cs typeface="Times New Roman"/>
                          <a:sym typeface="Times New Roman"/>
                        </a:rPr>
                        <a:t>Pekerja Keluarga/Tak dibayar</a:t>
                      </a:r>
                      <a:endParaRPr sz="1400" b="1">
                        <a:solidFill>
                          <a:schemeClr val="lt1"/>
                        </a:solidFill>
                        <a:latin typeface="Times New Roman"/>
                        <a:ea typeface="Times New Roman"/>
                        <a:cs typeface="Times New Roman"/>
                        <a:sym typeface="Times New Roman"/>
                      </a:endParaRPr>
                    </a:p>
                  </a:txBody>
                  <a:tcPr marL="45725" marR="45725"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640000">
                <a:tc>
                  <a:txBody>
                    <a:bodyPr/>
                    <a:lstStyle/>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Pekerja</a:t>
                      </a:r>
                      <a:endParaRPr/>
                    </a:p>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profesional, teknik, dan</a:t>
                      </a:r>
                      <a:endParaRPr/>
                    </a:p>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pekerja terkait lainnya</a:t>
                      </a:r>
                      <a:endParaRPr sz="1500">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extLst>
                  <a:ext uri="{0D108BD9-81ED-4DB2-BD59-A6C34878D82A}">
                    <a16:rowId xmlns:a16="http://schemas.microsoft.com/office/drawing/2014/main" val="10002"/>
                  </a:ext>
                </a:extLst>
              </a:tr>
              <a:tr h="426675">
                <a:tc>
                  <a:txBody>
                    <a:bodyPr/>
                    <a:lstStyle/>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Pekerja administrasi</a:t>
                      </a:r>
                      <a:endParaRPr/>
                    </a:p>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dan manajerial</a:t>
                      </a:r>
                      <a:endParaRPr sz="1500">
                        <a:solidFill>
                          <a:schemeClr val="dk1"/>
                        </a:solidFill>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extLst>
                  <a:ext uri="{0D108BD9-81ED-4DB2-BD59-A6C34878D82A}">
                    <a16:rowId xmlns:a16="http://schemas.microsoft.com/office/drawing/2014/main" val="10003"/>
                  </a:ext>
                </a:extLst>
              </a:tr>
              <a:tr h="426675">
                <a:tc>
                  <a:txBody>
                    <a:bodyPr/>
                    <a:lstStyle/>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Pekerja juru tulis dan</a:t>
                      </a:r>
                      <a:endParaRPr/>
                    </a:p>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terkait</a:t>
                      </a:r>
                      <a:endParaRPr sz="1500">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extLst>
                  <a:ext uri="{0D108BD9-81ED-4DB2-BD59-A6C34878D82A}">
                    <a16:rowId xmlns:a16="http://schemas.microsoft.com/office/drawing/2014/main" val="10004"/>
                  </a:ext>
                </a:extLst>
              </a:tr>
              <a:tr h="213325">
                <a:tc>
                  <a:txBody>
                    <a:bodyPr/>
                    <a:lstStyle/>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Pekerja bidang penjualan</a:t>
                      </a:r>
                      <a:endParaRPr sz="1500">
                        <a:solidFill>
                          <a:schemeClr val="dk1"/>
                        </a:solidFill>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extLst>
                  <a:ext uri="{0D108BD9-81ED-4DB2-BD59-A6C34878D82A}">
                    <a16:rowId xmlns:a16="http://schemas.microsoft.com/office/drawing/2014/main" val="10005"/>
                  </a:ext>
                </a:extLst>
              </a:tr>
              <a:tr h="213325">
                <a:tc>
                  <a:txBody>
                    <a:bodyPr/>
                    <a:lstStyle/>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Pekerja bdg jasa</a:t>
                      </a:r>
                      <a:endParaRPr sz="1500">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extLst>
                  <a:ext uri="{0D108BD9-81ED-4DB2-BD59-A6C34878D82A}">
                    <a16:rowId xmlns:a16="http://schemas.microsoft.com/office/drawing/2014/main" val="10006"/>
                  </a:ext>
                </a:extLst>
              </a:tr>
              <a:tr h="640000">
                <a:tc>
                  <a:txBody>
                    <a:bodyPr/>
                    <a:lstStyle/>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Pertanian, peternakan,</a:t>
                      </a:r>
                      <a:endParaRPr/>
                    </a:p>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kehutanan, nelayan dan</a:t>
                      </a:r>
                      <a:endParaRPr/>
                    </a:p>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pemburu</a:t>
                      </a:r>
                      <a:endParaRPr sz="1500">
                        <a:solidFill>
                          <a:schemeClr val="dk1"/>
                        </a:solidFill>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extLst>
                  <a:ext uri="{0D108BD9-81ED-4DB2-BD59-A6C34878D82A}">
                    <a16:rowId xmlns:a16="http://schemas.microsoft.com/office/drawing/2014/main" val="10007"/>
                  </a:ext>
                </a:extLst>
              </a:tr>
              <a:tr h="213325">
                <a:tc>
                  <a:txBody>
                    <a:bodyPr/>
                    <a:lstStyle/>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Pekerja produksi dan terkait</a:t>
                      </a:r>
                      <a:endParaRPr sz="1500">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extLst>
                  <a:ext uri="{0D108BD9-81ED-4DB2-BD59-A6C34878D82A}">
                    <a16:rowId xmlns:a16="http://schemas.microsoft.com/office/drawing/2014/main" val="10008"/>
                  </a:ext>
                </a:extLst>
              </a:tr>
              <a:tr h="426675">
                <a:tc>
                  <a:txBody>
                    <a:bodyPr/>
                    <a:lstStyle/>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Operator peralatan</a:t>
                      </a:r>
                      <a:endParaRPr/>
                    </a:p>
                    <a:p>
                      <a:pPr marL="0" marR="0" lvl="0" indent="0" algn="l" rtl="0">
                        <a:spcBef>
                          <a:spcPts val="0"/>
                        </a:spcBef>
                        <a:spcAft>
                          <a:spcPts val="0"/>
                        </a:spcAft>
                        <a:buNone/>
                      </a:pPr>
                      <a:r>
                        <a:rPr lang="en-US" sz="1500" u="none" strike="noStrike">
                          <a:solidFill>
                            <a:schemeClr val="dk1"/>
                          </a:solidFill>
                          <a:latin typeface="Times New Roman"/>
                          <a:ea typeface="Times New Roman"/>
                          <a:cs typeface="Times New Roman"/>
                          <a:sym typeface="Times New Roman"/>
                        </a:rPr>
                        <a:t>pengangkutan</a:t>
                      </a:r>
                      <a:endParaRPr sz="1500">
                        <a:solidFill>
                          <a:schemeClr val="dk1"/>
                        </a:solidFill>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extLst>
                  <a:ext uri="{0D108BD9-81ED-4DB2-BD59-A6C34878D82A}">
                    <a16:rowId xmlns:a16="http://schemas.microsoft.com/office/drawing/2014/main" val="10009"/>
                  </a:ext>
                </a:extLst>
              </a:tr>
              <a:tr h="213325">
                <a:tc>
                  <a:txBody>
                    <a:bodyPr/>
                    <a:lstStyle/>
                    <a:p>
                      <a:pPr marL="0" marR="0" lvl="0" indent="0" algn="l" rtl="0">
                        <a:spcBef>
                          <a:spcPts val="0"/>
                        </a:spcBef>
                        <a:spcAft>
                          <a:spcPts val="0"/>
                        </a:spcAft>
                        <a:buNone/>
                      </a:pPr>
                      <a:r>
                        <a:rPr lang="en-US" sz="1500" u="none" strike="noStrike">
                          <a:latin typeface="Times New Roman"/>
                          <a:ea typeface="Times New Roman"/>
                          <a:cs typeface="Times New Roman"/>
                          <a:sym typeface="Times New Roman"/>
                        </a:rPr>
                        <a:t>Buruh</a:t>
                      </a:r>
                      <a:endParaRPr sz="1500">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tc>
                  <a:txBody>
                    <a:bodyPr/>
                    <a:lstStyle/>
                    <a:p>
                      <a:pPr marL="0" marR="0" lvl="0" indent="0" algn="ctr" rtl="0">
                        <a:spcBef>
                          <a:spcPts val="0"/>
                        </a:spcBef>
                        <a:spcAft>
                          <a:spcPts val="0"/>
                        </a:spcAft>
                        <a:buNone/>
                      </a:pPr>
                      <a:r>
                        <a:rPr lang="en-US" sz="1600">
                          <a:latin typeface="Times New Roman"/>
                          <a:ea typeface="Times New Roman"/>
                          <a:cs typeface="Times New Roman"/>
                          <a:sym typeface="Times New Roman"/>
                        </a:rPr>
                        <a:t>INF</a:t>
                      </a:r>
                      <a:endParaRPr sz="1600">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DADA"/>
                    </a:solidFill>
                  </a:tcPr>
                </a:tc>
                <a:extLst>
                  <a:ext uri="{0D108BD9-81ED-4DB2-BD59-A6C34878D82A}">
                    <a16:rowId xmlns:a16="http://schemas.microsoft.com/office/drawing/2014/main" val="10010"/>
                  </a:ext>
                </a:extLst>
              </a:tr>
              <a:tr h="213325">
                <a:tc>
                  <a:txBody>
                    <a:bodyPr/>
                    <a:lstStyle/>
                    <a:p>
                      <a:pPr marL="0" marR="0" lvl="0" indent="0" algn="l" rtl="0">
                        <a:spcBef>
                          <a:spcPts val="0"/>
                        </a:spcBef>
                        <a:spcAft>
                          <a:spcPts val="0"/>
                        </a:spcAft>
                        <a:buNone/>
                      </a:pPr>
                      <a:r>
                        <a:rPr lang="en-US" sz="1500">
                          <a:solidFill>
                            <a:schemeClr val="dk1"/>
                          </a:solidFill>
                          <a:latin typeface="Times New Roman"/>
                          <a:ea typeface="Times New Roman"/>
                          <a:cs typeface="Times New Roman"/>
                          <a:sym typeface="Times New Roman"/>
                        </a:rPr>
                        <a:t>Lain-lain</a:t>
                      </a:r>
                      <a:endParaRPr sz="1500">
                        <a:solidFill>
                          <a:schemeClr val="dk1"/>
                        </a:solidFill>
                        <a:latin typeface="Times New Roman"/>
                        <a:ea typeface="Times New Roman"/>
                        <a:cs typeface="Times New Roman"/>
                        <a:sym typeface="Times New Roman"/>
                      </a:endParaRPr>
                    </a:p>
                  </a:txBody>
                  <a:tcPr marL="45725" marR="4572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tc>
                  <a:txBody>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INF</a:t>
                      </a:r>
                      <a:endParaRPr sz="1600">
                        <a:solidFill>
                          <a:schemeClr val="dk1"/>
                        </a:solidFill>
                        <a:latin typeface="Times New Roman"/>
                        <a:ea typeface="Times New Roman"/>
                        <a:cs typeface="Times New Roman"/>
                        <a:sym typeface="Times New Roman"/>
                      </a:endParaRPr>
                    </a:p>
                  </a:txBody>
                  <a:tcPr marL="0" marR="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9593"/>
                    </a:solidFill>
                  </a:tcPr>
                </a:tc>
                <a:extLst>
                  <a:ext uri="{0D108BD9-81ED-4DB2-BD59-A6C34878D82A}">
                    <a16:rowId xmlns:a16="http://schemas.microsoft.com/office/drawing/2014/main" val="10011"/>
                  </a:ext>
                </a:extLst>
              </a:tr>
            </a:tbl>
          </a:graphicData>
        </a:graphic>
      </p:graphicFrame>
      <p:sp>
        <p:nvSpPr>
          <p:cNvPr id="487" name="Google Shape;487;p26"/>
          <p:cNvSpPr txBox="1"/>
          <p:nvPr/>
        </p:nvSpPr>
        <p:spPr>
          <a:xfrm>
            <a:off x="1991544" y="908720"/>
            <a:ext cx="8280920" cy="566738"/>
          </a:xfrm>
          <a:prstGeom prst="rect">
            <a:avLst/>
          </a:prstGeom>
          <a:noFill/>
          <a:ln>
            <a:noFill/>
          </a:ln>
        </p:spPr>
        <p:txBody>
          <a:bodyPr spcFirstLastPara="1" wrap="square" lIns="91425" tIns="45700" rIns="91425" bIns="45700" anchor="ctr" anchorCtr="0">
            <a:normAutofit fontScale="60000" lnSpcReduction="20000"/>
          </a:bodyPr>
          <a:lstStyle/>
          <a:p>
            <a:pPr marL="0" marR="0" lvl="0" indent="0" algn="ctr" rtl="0">
              <a:spcBef>
                <a:spcPts val="0"/>
              </a:spcBef>
              <a:spcAft>
                <a:spcPts val="0"/>
              </a:spcAft>
              <a:buClr>
                <a:srgbClr val="000000"/>
              </a:buClr>
              <a:buSzPct val="100000"/>
              <a:buFont typeface="Calibri"/>
              <a:buNone/>
            </a:pPr>
            <a:r>
              <a:rPr lang="en-US" sz="3600" b="1">
                <a:solidFill>
                  <a:srgbClr val="000000"/>
                </a:solidFill>
                <a:latin typeface="Calibri"/>
                <a:ea typeface="Calibri"/>
                <a:cs typeface="Calibri"/>
                <a:sym typeface="Calibri"/>
              </a:rPr>
              <a:t>Tabel Penentuan Tenaga Kerja Formal Informal menurut Proxy 2</a:t>
            </a:r>
            <a:endParaRPr sz="3600" b="1">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27"/>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Proporsi Lapangan Kerja Informal</a:t>
            </a:r>
            <a:endParaRPr/>
          </a:p>
        </p:txBody>
      </p:sp>
      <p:sp>
        <p:nvSpPr>
          <p:cNvPr id="494" name="Google Shape;494;p2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495" name="Google Shape;495;p27"/>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496" name="Google Shape;496;p27"/>
          <p:cNvSpPr txBox="1"/>
          <p:nvPr/>
        </p:nvSpPr>
        <p:spPr>
          <a:xfrm>
            <a:off x="926275" y="3474135"/>
            <a:ext cx="10656126"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200" b="0" i="0">
                <a:solidFill>
                  <a:srgbClr val="000000"/>
                </a:solidFill>
                <a:latin typeface="Arial"/>
                <a:ea typeface="Arial"/>
                <a:cs typeface="Arial"/>
                <a:sym typeface="Arial"/>
              </a:rPr>
              <a:t>Pr PB INF 	: Proporsi pekerja informal (%)</a:t>
            </a:r>
            <a:endParaRPr/>
          </a:p>
          <a:p>
            <a:pPr marL="0" marR="0" lvl="0" indent="0" algn="l" rtl="0">
              <a:spcBef>
                <a:spcPts val="0"/>
              </a:spcBef>
              <a:spcAft>
                <a:spcPts val="0"/>
              </a:spcAft>
              <a:buNone/>
            </a:pPr>
            <a:r>
              <a:rPr lang="en-US" sz="2200" b="0" i="0">
                <a:solidFill>
                  <a:srgbClr val="000000"/>
                </a:solidFill>
                <a:latin typeface="Arial"/>
                <a:ea typeface="Arial"/>
                <a:cs typeface="Arial"/>
                <a:sym typeface="Arial"/>
              </a:rPr>
              <a:t>PB INF 	: Jumlah penduduk yang bekerja dengan status informal (orang)</a:t>
            </a:r>
            <a:endParaRPr/>
          </a:p>
          <a:p>
            <a:pPr marL="0" marR="0" lvl="0" indent="0" algn="l" rtl="0">
              <a:spcBef>
                <a:spcPts val="0"/>
              </a:spcBef>
              <a:spcAft>
                <a:spcPts val="0"/>
              </a:spcAft>
              <a:buNone/>
            </a:pPr>
            <a:r>
              <a:rPr lang="en-US" sz="2200" b="0" i="0">
                <a:solidFill>
                  <a:srgbClr val="000000"/>
                </a:solidFill>
                <a:latin typeface="Arial"/>
                <a:ea typeface="Arial"/>
                <a:cs typeface="Arial"/>
                <a:sym typeface="Arial"/>
              </a:rPr>
              <a:t>PB 		: Jumlah penduduk yang bekerja (orang)</a:t>
            </a:r>
            <a:endParaRPr/>
          </a:p>
        </p:txBody>
      </p:sp>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8"/>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3800"/>
              <a:buFont typeface="Calibri"/>
              <a:buNone/>
            </a:pPr>
            <a:r>
              <a:rPr lang="en-US" sz="3800" b="1"/>
              <a:t>Proporsi Lapangan Kerja Informal</a:t>
            </a:r>
            <a:endParaRPr/>
          </a:p>
        </p:txBody>
      </p:sp>
      <p:sp>
        <p:nvSpPr>
          <p:cNvPr id="503" name="Google Shape;503;p2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28</a:t>
            </a:fld>
            <a:endParaRPr/>
          </a:p>
        </p:txBody>
      </p:sp>
      <p:graphicFrame>
        <p:nvGraphicFramePr>
          <p:cNvPr id="504" name="Google Shape;504;p28"/>
          <p:cNvGraphicFramePr/>
          <p:nvPr/>
        </p:nvGraphicFramePr>
        <p:xfrm>
          <a:off x="922317" y="1707074"/>
          <a:ext cx="10846400" cy="4637952"/>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Kondef</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Pekerja informal adalah penduduk yang bekerja dengan status pekerjaan berusaha sendiri, berusaha dibantu buruh tidak tetap/buruh tak dibayar, pekerja bebas, dan pekerja keluarga/tak dibayar.</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Kegunaan</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Menggambarkan kondisi pasar kerja secara lebih komprehensif, sebagai pelengkap indikator tingkat pengangguran terbuka, sehingga dapat memberikan tinjauan (assessment) atas kualitas lapangan kerja yang tersedia di suatu negara. Kondisi lapangan kerja informal memberikan gambaran untuk menetapkan kebijakan perlindungan pekerja, yaitu peningkatan kondisi kerja, upah, dan perlindungan sosial. Selain itu, kondisi ini dapat menjadi dasar pengambilan kebijakan untuk meningkatkan produktivitas kegiatan ekonomi informal, merencanakan pengembangan keahlian dan pelatihan, serta menetapkan kerangka regulasi, reformasi kelembagaan, dan kebijakan pengembangan wilayah.</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Interpretasi</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Penurunan proporsi ini menunjukkan bahwa ekonomi yang didukung oleh tumbuh dan berkembangnya usaha mikro, kecil dan menengah telah mampu menciptakan lapangan kerja yang layak dan produktif dengan perlindungan yang memadai.</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SAKERNAS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510" name="Google Shape;510;p29"/>
          <p:cNvPicPr preferRelativeResize="0"/>
          <p:nvPr/>
        </p:nvPicPr>
        <p:blipFill rotWithShape="1">
          <a:blip r:embed="rId3">
            <a:alphaModFix/>
          </a:blip>
          <a:srcRect/>
          <a:stretch/>
        </p:blipFill>
        <p:spPr>
          <a:xfrm>
            <a:off x="154379" y="0"/>
            <a:ext cx="11827824" cy="6858000"/>
          </a:xfrm>
          <a:prstGeom prst="rect">
            <a:avLst/>
          </a:prstGeom>
          <a:noFill/>
          <a:ln>
            <a:noFill/>
          </a:ln>
        </p:spPr>
      </p:pic>
      <p:sp>
        <p:nvSpPr>
          <p:cNvPr id="511" name="Google Shape;511;p29"/>
          <p:cNvSpPr txBox="1"/>
          <p:nvPr/>
        </p:nvSpPr>
        <p:spPr>
          <a:xfrm>
            <a:off x="7303325" y="89024"/>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517" name="Google Shape;517;p30"/>
          <p:cNvSpPr txBox="1"/>
          <p:nvPr/>
        </p:nvSpPr>
        <p:spPr>
          <a:xfrm>
            <a:off x="641267" y="1387807"/>
            <a:ext cx="10830297" cy="1034759"/>
          </a:xfrm>
          <a:prstGeom prst="rect">
            <a:avLst/>
          </a:prstGeom>
          <a:solidFill>
            <a:schemeClr val="lt1"/>
          </a:solidFill>
          <a:ln>
            <a:noFill/>
          </a:ln>
        </p:spPr>
        <p:txBody>
          <a:bodyPr spcFirstLastPara="1" wrap="square" lIns="104925" tIns="52450" rIns="104925" bIns="52450" anchor="t" anchorCtr="0">
            <a:normAutofit/>
          </a:bodyPr>
          <a:lstStyle/>
          <a:p>
            <a:pPr marL="0" marR="0" lvl="0" indent="0" algn="just" rtl="0">
              <a:spcBef>
                <a:spcPts val="0"/>
              </a:spcBef>
              <a:spcAft>
                <a:spcPts val="0"/>
              </a:spcAft>
              <a:buClr>
                <a:srgbClr val="FF0000"/>
              </a:buClr>
              <a:buSzPts val="2000"/>
              <a:buFont typeface="Arial"/>
              <a:buNone/>
            </a:pPr>
            <a:r>
              <a:rPr lang="en-US" sz="2000">
                <a:solidFill>
                  <a:srgbClr val="000000"/>
                </a:solidFill>
                <a:latin typeface="Cambria"/>
                <a:ea typeface="Cambria"/>
                <a:cs typeface="Cambria"/>
                <a:sym typeface="Cambria"/>
              </a:rPr>
              <a:t>Klasifikasi lapangan pekerjaan disajikan dalam 17 kategori yang mengacu pada Klasifikasi Baku Lapangan Usaha Indonesia (KBLI) 2020 yang berdasarkan International Standard Industrial Classsification (ISIC) revisi 4. </a:t>
            </a:r>
            <a:endParaRPr/>
          </a:p>
        </p:txBody>
      </p:sp>
      <p:sp>
        <p:nvSpPr>
          <p:cNvPr id="518" name="Google Shape;518;p30"/>
          <p:cNvSpPr txBox="1"/>
          <p:nvPr/>
        </p:nvSpPr>
        <p:spPr>
          <a:xfrm>
            <a:off x="434089" y="377982"/>
            <a:ext cx="11133436" cy="857120"/>
          </a:xfrm>
          <a:prstGeom prst="rect">
            <a:avLst/>
          </a:prstGeom>
          <a:solidFill>
            <a:schemeClr val="lt1"/>
          </a:solidFill>
          <a:ln>
            <a:noFill/>
          </a:ln>
        </p:spPr>
        <p:txBody>
          <a:bodyPr spcFirstLastPara="1" wrap="square" lIns="104925" tIns="52450" rIns="104925" bIns="52450" anchor="ctr" anchorCtr="0">
            <a:normAutofit fontScale="97500"/>
          </a:bodyPr>
          <a:lstStyle/>
          <a:p>
            <a:pPr marL="182880" marR="0" lvl="0" indent="0" algn="ctr" rtl="0">
              <a:spcBef>
                <a:spcPts val="0"/>
              </a:spcBef>
              <a:spcAft>
                <a:spcPts val="0"/>
              </a:spcAft>
              <a:buClr>
                <a:srgbClr val="000000"/>
              </a:buClr>
              <a:buSzPct val="100000"/>
              <a:buFont typeface="Georgia"/>
              <a:buNone/>
            </a:pPr>
            <a:r>
              <a:rPr lang="en-US" sz="3200" b="1">
                <a:solidFill>
                  <a:srgbClr val="000000"/>
                </a:solidFill>
                <a:latin typeface="Georgia"/>
                <a:ea typeface="Georgia"/>
                <a:cs typeface="Georgia"/>
                <a:sym typeface="Georgia"/>
              </a:rPr>
              <a:t>Lapangan Usaha/Pekerjaan</a:t>
            </a:r>
            <a:endParaRPr sz="2600" b="1">
              <a:solidFill>
                <a:srgbClr val="000000"/>
              </a:solidFill>
              <a:latin typeface="Georgia"/>
              <a:ea typeface="Georgia"/>
              <a:cs typeface="Georgia"/>
              <a:sym typeface="Georgia"/>
            </a:endParaRPr>
          </a:p>
        </p:txBody>
      </p:sp>
      <p:sp>
        <p:nvSpPr>
          <p:cNvPr id="519" name="Google Shape;519;p30"/>
          <p:cNvSpPr txBox="1"/>
          <p:nvPr/>
        </p:nvSpPr>
        <p:spPr>
          <a:xfrm>
            <a:off x="838200" y="2422565"/>
            <a:ext cx="5181600" cy="3754397"/>
          </a:xfrm>
          <a:prstGeom prst="rect">
            <a:avLst/>
          </a:prstGeom>
          <a:noFill/>
          <a:ln>
            <a:noFill/>
          </a:ln>
        </p:spPr>
        <p:txBody>
          <a:bodyPr spcFirstLastPara="1" wrap="square" lIns="104925" tIns="52450" rIns="104925" bIns="52450" anchor="t" anchorCtr="0">
            <a:noAutofit/>
          </a:bodyPr>
          <a:lstStyle/>
          <a:p>
            <a:pPr marL="0" marR="0" lvl="0" indent="0" algn="l" rtl="0">
              <a:lnSpc>
                <a:spcPct val="107000"/>
              </a:lnSpc>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A. Pertanian, kehutanan, dan perikanan;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B. Pertambangan dan penggalian;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C. Industri pengolahan;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D. Pengadaan listrik dan gas;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E. Treatment air, treatment air limbah, treatment dan pemulihan material sampah, dan aktivitas remediasi;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F. Konstruksi;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G. Perdagangan besar dan eceran; Reparasi mobil dan sepeda motor;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H. Pengangkutan dan pergudangan; </a:t>
            </a:r>
            <a:endParaRPr sz="1800">
              <a:solidFill>
                <a:schemeClr val="dk1"/>
              </a:solidFill>
              <a:latin typeface="Calibri"/>
              <a:ea typeface="Calibri"/>
              <a:cs typeface="Calibri"/>
              <a:sym typeface="Calibri"/>
            </a:endParaRPr>
          </a:p>
        </p:txBody>
      </p:sp>
      <p:sp>
        <p:nvSpPr>
          <p:cNvPr id="520" name="Google Shape;520;p30"/>
          <p:cNvSpPr txBox="1"/>
          <p:nvPr/>
        </p:nvSpPr>
        <p:spPr>
          <a:xfrm>
            <a:off x="6172200" y="2422565"/>
            <a:ext cx="5181600" cy="3754397"/>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7000"/>
              </a:lnSpc>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I. Penyediaan akomodasi dan makan minum;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J. Informasi dan komunikasi;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K. Aktivitas keuangan dan asuransi;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L. Real estat;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M,N. Jasa perusahaan;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O. Administrasi pemerintahan, pertahanan, dan jaminan sosial wajib;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P. Pendidikan;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Q. Aktivitas kesehatan manusia dan aktivitas sosial; </a:t>
            </a:r>
            <a:endParaRPr/>
          </a:p>
          <a:p>
            <a:pPr marL="0" marR="0" lvl="0" indent="0" algn="l" rtl="0">
              <a:lnSpc>
                <a:spcPct val="107000"/>
              </a:lnSpc>
              <a:spcBef>
                <a:spcPts val="800"/>
              </a:spcBef>
              <a:spcAft>
                <a:spcPts val="0"/>
              </a:spcAft>
              <a:buClr>
                <a:schemeClr val="dk1"/>
              </a:buClr>
              <a:buSzPts val="1800"/>
              <a:buFont typeface="Arial"/>
              <a:buNone/>
            </a:pPr>
            <a:r>
              <a:rPr lang="en-US" sz="1800">
                <a:solidFill>
                  <a:schemeClr val="dk1"/>
                </a:solidFill>
                <a:latin typeface="Calibri"/>
                <a:ea typeface="Calibri"/>
                <a:cs typeface="Calibri"/>
                <a:sym typeface="Calibri"/>
              </a:rPr>
              <a:t>R,S,T,U.Jasa lainnya.</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3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31</a:t>
            </a:fld>
            <a:endParaRPr/>
          </a:p>
        </p:txBody>
      </p:sp>
      <p:pic>
        <p:nvPicPr>
          <p:cNvPr id="526" name="Google Shape;526;p31"/>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527" name="Google Shape;527;p31"/>
          <p:cNvSpPr txBox="1"/>
          <p:nvPr/>
        </p:nvSpPr>
        <p:spPr>
          <a:xfrm>
            <a:off x="7303325" y="89024"/>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3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533" name="Google Shape;533;p32"/>
          <p:cNvSpPr txBox="1"/>
          <p:nvPr/>
        </p:nvSpPr>
        <p:spPr>
          <a:xfrm>
            <a:off x="448965" y="1138424"/>
            <a:ext cx="11133435" cy="4870489"/>
          </a:xfrm>
          <a:prstGeom prst="rect">
            <a:avLst/>
          </a:prstGeom>
          <a:solidFill>
            <a:schemeClr val="lt1"/>
          </a:solidFill>
          <a:ln>
            <a:noFill/>
          </a:ln>
        </p:spPr>
        <p:txBody>
          <a:bodyPr spcFirstLastPara="1" wrap="square" lIns="104925" tIns="52450" rIns="104925" bIns="52450" anchor="t" anchorCtr="0">
            <a:normAutofit/>
          </a:bodyPr>
          <a:lstStyle/>
          <a:p>
            <a:pPr marL="0" marR="0" lvl="0" indent="0" algn="l" rtl="0">
              <a:spcBef>
                <a:spcPts val="0"/>
              </a:spcBef>
              <a:spcAft>
                <a:spcPts val="0"/>
              </a:spcAft>
              <a:buClr>
                <a:srgbClr val="FF0000"/>
              </a:buClr>
              <a:buSzPts val="2400"/>
              <a:buFont typeface="Arial"/>
              <a:buNone/>
            </a:pPr>
            <a:r>
              <a:rPr lang="en-US" sz="2400">
                <a:solidFill>
                  <a:srgbClr val="000000"/>
                </a:solidFill>
                <a:latin typeface="Cambria"/>
                <a:ea typeface="Cambria"/>
                <a:cs typeface="Cambria"/>
                <a:sym typeface="Cambria"/>
              </a:rPr>
              <a:t>Jenis/jabatan pekerjaan adalah macam pekerjaan dari mereka yang sedang atau pernah bekerja (Klasifikasi Jabatan Indonesia (KJI), 1982</a:t>
            </a:r>
            <a:r>
              <a:rPr lang="en-US" sz="2400">
                <a:solidFill>
                  <a:srgbClr val="000000"/>
                </a:solidFill>
                <a:latin typeface="Arial Narrow"/>
                <a:ea typeface="Arial Narrow"/>
                <a:cs typeface="Arial Narrow"/>
                <a:sym typeface="Arial Narrow"/>
              </a:rPr>
              <a:t>):</a:t>
            </a:r>
            <a:endParaRPr sz="2400">
              <a:solidFill>
                <a:srgbClr val="000000"/>
              </a:solidFill>
              <a:latin typeface="Arial Narrow"/>
              <a:ea typeface="Arial Narrow"/>
              <a:cs typeface="Arial Narrow"/>
              <a:sym typeface="Arial Narrow"/>
            </a:endParaRPr>
          </a:p>
          <a:p>
            <a:pPr marL="457200" marR="0" lvl="0" indent="-457200" algn="l" rtl="0">
              <a:spcBef>
                <a:spcPts val="120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profesional, teknisi dan yang sejenis</a:t>
            </a:r>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kepemimpinan dan ketatalaksanaan</a:t>
            </a:r>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tata usaha dan tenaga yang sejenis</a:t>
            </a:r>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usaha penjualan</a:t>
            </a:r>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usaha jasa</a:t>
            </a:r>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usaha pertanian, kehutanan, perburuan &amp; perikanan</a:t>
            </a:r>
            <a:endParaRPr sz="2400">
              <a:solidFill>
                <a:srgbClr val="000000"/>
              </a:solidFill>
              <a:latin typeface="Cambria"/>
              <a:ea typeface="Cambria"/>
              <a:cs typeface="Cambria"/>
              <a:sym typeface="Cambria"/>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produksi, operator alat angkutan, dan pekerja kasar</a:t>
            </a:r>
            <a:endParaRPr sz="2400">
              <a:solidFill>
                <a:srgbClr val="000000"/>
              </a:solidFill>
              <a:latin typeface="Cambria"/>
              <a:ea typeface="Cambria"/>
              <a:cs typeface="Cambria"/>
              <a:sym typeface="Cambria"/>
            </a:endParaRPr>
          </a:p>
          <a:p>
            <a:pPr marL="457200" marR="0" lvl="0" indent="-457200" algn="l" rtl="0">
              <a:spcBef>
                <a:spcPts val="480"/>
              </a:spcBef>
              <a:spcAft>
                <a:spcPts val="0"/>
              </a:spcAft>
              <a:buClr>
                <a:srgbClr val="000000"/>
              </a:buClr>
              <a:buSzPts val="2400"/>
              <a:buFont typeface="Arial"/>
              <a:buAutoNum type="arabicPeriod"/>
            </a:pPr>
            <a:r>
              <a:rPr lang="en-US" sz="2400">
                <a:solidFill>
                  <a:srgbClr val="000000"/>
                </a:solidFill>
                <a:latin typeface="Cambria"/>
                <a:ea typeface="Cambria"/>
                <a:cs typeface="Cambria"/>
                <a:sym typeface="Cambria"/>
              </a:rPr>
              <a:t>Tenaga lainnya</a:t>
            </a:r>
            <a:endParaRPr/>
          </a:p>
        </p:txBody>
      </p:sp>
      <p:sp>
        <p:nvSpPr>
          <p:cNvPr id="534" name="Google Shape;534;p32"/>
          <p:cNvSpPr txBox="1"/>
          <p:nvPr/>
        </p:nvSpPr>
        <p:spPr>
          <a:xfrm>
            <a:off x="434089" y="128599"/>
            <a:ext cx="11195418" cy="952465"/>
          </a:xfrm>
          <a:prstGeom prst="rect">
            <a:avLst/>
          </a:prstGeom>
          <a:solidFill>
            <a:schemeClr val="lt1"/>
          </a:solidFill>
          <a:ln>
            <a:noFill/>
          </a:ln>
        </p:spPr>
        <p:txBody>
          <a:bodyPr spcFirstLastPara="1" wrap="square" lIns="104925" tIns="52450" rIns="104925" bIns="52450" anchor="ctr" anchorCtr="0">
            <a:normAutofit fontScale="97500" lnSpcReduction="10000"/>
          </a:bodyPr>
          <a:lstStyle/>
          <a:p>
            <a:pPr marL="182880" marR="0" lvl="0" indent="0" algn="ctr" rtl="0">
              <a:spcBef>
                <a:spcPts val="0"/>
              </a:spcBef>
              <a:spcAft>
                <a:spcPts val="0"/>
              </a:spcAft>
              <a:buClr>
                <a:srgbClr val="000000"/>
              </a:buClr>
              <a:buSzPct val="100000"/>
              <a:buFont typeface="Georgia"/>
              <a:buNone/>
            </a:pPr>
            <a:r>
              <a:rPr lang="en-US" sz="3200" b="1">
                <a:solidFill>
                  <a:srgbClr val="000000"/>
                </a:solidFill>
                <a:latin typeface="Georgia"/>
                <a:ea typeface="Georgia"/>
                <a:cs typeface="Georgia"/>
                <a:sym typeface="Georgia"/>
              </a:rPr>
              <a:t>Jenis Pekerjaan: </a:t>
            </a:r>
            <a:br>
              <a:rPr lang="en-US" sz="3200" b="1">
                <a:solidFill>
                  <a:srgbClr val="000000"/>
                </a:solidFill>
                <a:latin typeface="Georgia"/>
                <a:ea typeface="Georgia"/>
                <a:cs typeface="Georgia"/>
                <a:sym typeface="Georgia"/>
              </a:rPr>
            </a:br>
            <a:r>
              <a:rPr lang="en-US" sz="2600" b="1" i="1">
                <a:solidFill>
                  <a:srgbClr val="000000"/>
                </a:solidFill>
                <a:latin typeface="Georgia"/>
                <a:ea typeface="Georgia"/>
                <a:cs typeface="Georgia"/>
                <a:sym typeface="Georgia"/>
              </a:rPr>
              <a:t>dibedakan atas  8 golongan besar</a:t>
            </a:r>
            <a:endParaRPr sz="2600" b="1">
              <a:solidFill>
                <a:srgbClr val="000000"/>
              </a:solidFill>
              <a:latin typeface="Georgia"/>
              <a:ea typeface="Georgia"/>
              <a:cs typeface="Georgia"/>
              <a:sym typeface="Georgia"/>
            </a:endParaRPr>
          </a:p>
        </p:txBody>
      </p:sp>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33</a:t>
            </a:fld>
            <a:endParaRPr/>
          </a:p>
        </p:txBody>
      </p:sp>
      <p:pic>
        <p:nvPicPr>
          <p:cNvPr id="540" name="Google Shape;540;p33"/>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541" name="Google Shape;541;p33"/>
          <p:cNvSpPr txBox="1"/>
          <p:nvPr/>
        </p:nvSpPr>
        <p:spPr>
          <a:xfrm>
            <a:off x="7730828" y="243399"/>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3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34</a:t>
            </a:fld>
            <a:endParaRPr/>
          </a:p>
        </p:txBody>
      </p:sp>
      <p:pic>
        <p:nvPicPr>
          <p:cNvPr id="547" name="Google Shape;547;p34"/>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548" name="Google Shape;548;p34"/>
          <p:cNvSpPr txBox="1"/>
          <p:nvPr/>
        </p:nvSpPr>
        <p:spPr>
          <a:xfrm>
            <a:off x="4346370" y="0"/>
            <a:ext cx="32063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35</a:t>
            </a:fld>
            <a:endParaRPr/>
          </a:p>
        </p:txBody>
      </p:sp>
      <p:pic>
        <p:nvPicPr>
          <p:cNvPr id="554" name="Google Shape;554;p35"/>
          <p:cNvPicPr preferRelativeResize="0"/>
          <p:nvPr/>
        </p:nvPicPr>
        <p:blipFill rotWithShape="1">
          <a:blip r:embed="rId3">
            <a:alphaModFix/>
          </a:blip>
          <a:srcRect/>
          <a:stretch/>
        </p:blipFill>
        <p:spPr>
          <a:xfrm>
            <a:off x="609599" y="0"/>
            <a:ext cx="10972802" cy="6858000"/>
          </a:xfrm>
          <a:prstGeom prst="rect">
            <a:avLst/>
          </a:prstGeom>
          <a:noFill/>
          <a:ln>
            <a:noFill/>
          </a:ln>
        </p:spPr>
      </p:pic>
      <p:sp>
        <p:nvSpPr>
          <p:cNvPr id="555" name="Google Shape;555;p35"/>
          <p:cNvSpPr txBox="1"/>
          <p:nvPr/>
        </p:nvSpPr>
        <p:spPr>
          <a:xfrm>
            <a:off x="8752113" y="124649"/>
            <a:ext cx="271945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Agustus 2021</a:t>
            </a:r>
            <a:endParaRPr/>
          </a:p>
        </p:txBody>
      </p:sp>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60"/>
        <p:cNvGrpSpPr/>
        <p:nvPr/>
      </p:nvGrpSpPr>
      <p:grpSpPr>
        <a:xfrm>
          <a:off x="0" y="0"/>
          <a:ext cx="0" cy="0"/>
          <a:chOff x="0" y="0"/>
          <a:chExt cx="0" cy="0"/>
        </a:xfrm>
      </p:grpSpPr>
      <p:sp>
        <p:nvSpPr>
          <p:cNvPr id="561" name="Google Shape;561;p36"/>
          <p:cNvSpPr txBox="1">
            <a:spLocks noGrp="1"/>
          </p:cNvSpPr>
          <p:nvPr>
            <p:ph type="sldNum" idx="12"/>
          </p:nvPr>
        </p:nvSpPr>
        <p:spPr>
          <a:xfrm>
            <a:off x="9329531" y="6223829"/>
            <a:ext cx="170621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A6B727"/>
              </a:buClr>
              <a:buSzPts val="1200"/>
              <a:buFont typeface="Corbel"/>
              <a:buNone/>
            </a:pPr>
            <a:fld id="{00000000-1234-1234-1234-123412341234}" type="slidenum">
              <a:rPr lang="en-US" sz="1200" b="0" i="0" u="none" strike="noStrike" cap="none">
                <a:solidFill>
                  <a:srgbClr val="A6B727"/>
                </a:solidFill>
                <a:latin typeface="Corbel"/>
                <a:ea typeface="Corbel"/>
                <a:cs typeface="Corbel"/>
                <a:sym typeface="Corbel"/>
              </a:rPr>
              <a:t>36</a:t>
            </a:fld>
            <a:endParaRPr sz="1200" b="0" i="0" u="none" strike="noStrike" cap="none">
              <a:solidFill>
                <a:srgbClr val="A6B727"/>
              </a:solidFill>
              <a:latin typeface="Corbel"/>
              <a:ea typeface="Corbel"/>
              <a:cs typeface="Corbel"/>
              <a:sym typeface="Corbel"/>
            </a:endParaRPr>
          </a:p>
        </p:txBody>
      </p:sp>
      <p:sp>
        <p:nvSpPr>
          <p:cNvPr id="562" name="Google Shape;562;p36"/>
          <p:cNvSpPr txBox="1"/>
          <p:nvPr/>
        </p:nvSpPr>
        <p:spPr>
          <a:xfrm>
            <a:off x="1864426" y="2576936"/>
            <a:ext cx="8621486" cy="80021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600"/>
              <a:buFont typeface="Corbel"/>
              <a:buNone/>
            </a:pPr>
            <a:r>
              <a:rPr lang="en-US" sz="4600" b="1" i="0" u="none" strike="noStrike" cap="none">
                <a:solidFill>
                  <a:srgbClr val="000000"/>
                </a:solidFill>
                <a:latin typeface="Corbel"/>
                <a:ea typeface="Corbel"/>
                <a:cs typeface="Corbel"/>
                <a:sym typeface="Corbel"/>
              </a:rPr>
              <a:t>Indikator Pendidikan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37</a:t>
            </a:fld>
            <a:endParaRPr/>
          </a:p>
        </p:txBody>
      </p:sp>
      <p:pic>
        <p:nvPicPr>
          <p:cNvPr id="568" name="Google Shape;568;p37"/>
          <p:cNvPicPr preferRelativeResize="0"/>
          <p:nvPr/>
        </p:nvPicPr>
        <p:blipFill rotWithShape="1">
          <a:blip r:embed="rId3">
            <a:alphaModFix/>
          </a:blip>
          <a:srcRect/>
          <a:stretch/>
        </p:blipFill>
        <p:spPr>
          <a:xfrm>
            <a:off x="867065" y="800100"/>
            <a:ext cx="10497622" cy="5257800"/>
          </a:xfrm>
          <a:prstGeom prst="rect">
            <a:avLst/>
          </a:prstGeom>
          <a:noFill/>
          <a:ln>
            <a:noFill/>
          </a:ln>
        </p:spPr>
      </p:pic>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38</a:t>
            </a:fld>
            <a:endParaRPr/>
          </a:p>
        </p:txBody>
      </p:sp>
      <p:pic>
        <p:nvPicPr>
          <p:cNvPr id="574" name="Google Shape;574;p38"/>
          <p:cNvPicPr preferRelativeResize="0">
            <a:picLocks noGrp="1"/>
          </p:cNvPicPr>
          <p:nvPr>
            <p:ph type="body" idx="1"/>
          </p:nvPr>
        </p:nvPicPr>
        <p:blipFill rotWithShape="1">
          <a:blip r:embed="rId3">
            <a:alphaModFix/>
          </a:blip>
          <a:srcRect/>
          <a:stretch/>
        </p:blipFill>
        <p:spPr>
          <a:xfrm>
            <a:off x="712520" y="546266"/>
            <a:ext cx="10869882" cy="5579898"/>
          </a:xfrm>
          <a:prstGeom prst="rect">
            <a:avLst/>
          </a:prstGeom>
          <a:noFill/>
          <a:ln>
            <a:noFill/>
          </a:ln>
        </p:spPr>
      </p:pic>
      <p:pic>
        <p:nvPicPr>
          <p:cNvPr id="4" name="Picture 3" descr="Diagram&#10;&#10;Description automatically generated">
            <a:extLst>
              <a:ext uri="{FF2B5EF4-FFF2-40B4-BE49-F238E27FC236}">
                <a16:creationId xmlns:a16="http://schemas.microsoft.com/office/drawing/2014/main" id="{7DB1DC75-EA0D-4479-9C6E-81949B0D72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64702" y="665584"/>
            <a:ext cx="7590764" cy="53581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5000"/>
                                        <p:tgtEl>
                                          <p:spTgt spid="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44B850-6823-4983-B1C3-5C36975F03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pic>
        <p:nvPicPr>
          <p:cNvPr id="3" name="Picture 2" descr="Diagram&#10;&#10;Description automatically generated">
            <a:extLst>
              <a:ext uri="{FF2B5EF4-FFF2-40B4-BE49-F238E27FC236}">
                <a16:creationId xmlns:a16="http://schemas.microsoft.com/office/drawing/2014/main" id="{3B5D2991-6156-4075-815F-31210AFB82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89908" y="368710"/>
            <a:ext cx="8502974" cy="6002099"/>
          </a:xfrm>
          <a:prstGeom prst="rect">
            <a:avLst/>
          </a:prstGeom>
          <a:ln>
            <a:solidFill>
              <a:schemeClr val="tx1"/>
            </a:solidFill>
          </a:ln>
        </p:spPr>
      </p:pic>
    </p:spTree>
    <p:extLst>
      <p:ext uri="{BB962C8B-B14F-4D97-AF65-F5344CB8AC3E}">
        <p14:creationId xmlns:p14="http://schemas.microsoft.com/office/powerpoint/2010/main" val="4748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EC3C6F-D5EE-4C50-BAAF-17CEEB3597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pic>
        <p:nvPicPr>
          <p:cNvPr id="4" name="Picture 3" descr="Chart, line chart&#10;&#10;Description automatically generated">
            <a:extLst>
              <a:ext uri="{FF2B5EF4-FFF2-40B4-BE49-F238E27FC236}">
                <a16:creationId xmlns:a16="http://schemas.microsoft.com/office/drawing/2014/main" id="{96307B26-FAB8-4BD2-A7CF-B1FD43DC47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3177" y="393751"/>
            <a:ext cx="8705646" cy="6145162"/>
          </a:xfrm>
          <a:prstGeom prst="rect">
            <a:avLst/>
          </a:prstGeom>
          <a:ln>
            <a:solidFill>
              <a:schemeClr val="tx1"/>
            </a:solidFill>
          </a:ln>
        </p:spPr>
      </p:pic>
    </p:spTree>
    <p:extLst>
      <p:ext uri="{BB962C8B-B14F-4D97-AF65-F5344CB8AC3E}">
        <p14:creationId xmlns:p14="http://schemas.microsoft.com/office/powerpoint/2010/main" val="1072009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9"/>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rgbClr val="000000"/>
              </a:buClr>
              <a:buSzPts val="3400"/>
              <a:buFont typeface="Georgia"/>
              <a:buNone/>
            </a:pPr>
            <a:r>
              <a:rPr lang="en-US" sz="3400" b="1">
                <a:solidFill>
                  <a:srgbClr val="000000"/>
                </a:solidFill>
                <a:latin typeface="Georgia"/>
                <a:ea typeface="Georgia"/>
                <a:cs typeface="Georgia"/>
                <a:sym typeface="Georgia"/>
              </a:rPr>
              <a:t>Kenapa perlu informasi pendidikan?</a:t>
            </a:r>
            <a:endParaRPr sz="3400"/>
          </a:p>
        </p:txBody>
      </p:sp>
      <p:sp>
        <p:nvSpPr>
          <p:cNvPr id="580" name="Google Shape;580;p3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581" name="Google Shape;581;p39"/>
          <p:cNvSpPr txBox="1"/>
          <p:nvPr/>
        </p:nvSpPr>
        <p:spPr>
          <a:xfrm>
            <a:off x="522514" y="1511607"/>
            <a:ext cx="11059887" cy="4347344"/>
          </a:xfrm>
          <a:prstGeom prst="rect">
            <a:avLst/>
          </a:prstGeom>
          <a:noFill/>
          <a:ln>
            <a:noFill/>
          </a:ln>
        </p:spPr>
        <p:txBody>
          <a:bodyPr spcFirstLastPara="1" wrap="square" lIns="91425" tIns="45700" rIns="91425" bIns="45700" anchor="t" anchorCtr="0">
            <a:spAutoFit/>
          </a:bodyPr>
          <a:lstStyle/>
          <a:p>
            <a:pPr marL="571500" marR="0" lvl="0" indent="-571500" algn="l" rtl="0">
              <a:lnSpc>
                <a:spcPct val="95000"/>
              </a:lnSpc>
              <a:spcBef>
                <a:spcPts val="0"/>
              </a:spcBef>
              <a:spcAft>
                <a:spcPts val="0"/>
              </a:spcAft>
              <a:buClr>
                <a:srgbClr val="000000"/>
              </a:buClr>
              <a:buSzPts val="3000"/>
              <a:buFont typeface="Arial"/>
              <a:buChar char="•"/>
            </a:pPr>
            <a:r>
              <a:rPr lang="en-US" sz="3000">
                <a:solidFill>
                  <a:srgbClr val="000000"/>
                </a:solidFill>
                <a:latin typeface="Calibri"/>
                <a:ea typeface="Calibri"/>
                <a:cs typeface="Calibri"/>
                <a:sym typeface="Calibri"/>
              </a:rPr>
              <a:t>Pendidikan kunci kemajuan suatu bangsa</a:t>
            </a:r>
            <a:endParaRPr/>
          </a:p>
          <a:p>
            <a:pPr marL="571500" marR="0" lvl="0" indent="-571500" algn="l" rtl="0">
              <a:lnSpc>
                <a:spcPct val="95000"/>
              </a:lnSpc>
              <a:spcBef>
                <a:spcPts val="600"/>
              </a:spcBef>
              <a:spcAft>
                <a:spcPts val="0"/>
              </a:spcAft>
              <a:buClr>
                <a:srgbClr val="000000"/>
              </a:buClr>
              <a:buSzPts val="3000"/>
              <a:buFont typeface="Arial"/>
              <a:buChar char="•"/>
            </a:pPr>
            <a:r>
              <a:rPr lang="en-US" sz="3000">
                <a:solidFill>
                  <a:srgbClr val="000000"/>
                </a:solidFill>
                <a:latin typeface="Calibri"/>
                <a:ea typeface="Calibri"/>
                <a:cs typeface="Calibri"/>
                <a:sym typeface="Calibri"/>
              </a:rPr>
              <a:t>Peningkatan pendidikan =&gt;peningkatan kualitas SDM</a:t>
            </a:r>
            <a:endParaRPr/>
          </a:p>
          <a:p>
            <a:pPr marL="571500" marR="0" lvl="0" indent="-571500" algn="l" rtl="0">
              <a:lnSpc>
                <a:spcPct val="95000"/>
              </a:lnSpc>
              <a:spcBef>
                <a:spcPts val="600"/>
              </a:spcBef>
              <a:spcAft>
                <a:spcPts val="0"/>
              </a:spcAft>
              <a:buClr>
                <a:srgbClr val="000000"/>
              </a:buClr>
              <a:buSzPts val="3000"/>
              <a:buFont typeface="Arial"/>
              <a:buChar char="•"/>
            </a:pPr>
            <a:r>
              <a:rPr lang="en-US" sz="3000">
                <a:solidFill>
                  <a:srgbClr val="000000"/>
                </a:solidFill>
                <a:latin typeface="Calibri"/>
                <a:ea typeface="Calibri"/>
                <a:cs typeface="Calibri"/>
                <a:sym typeface="Calibri"/>
              </a:rPr>
              <a:t>Peningkatan kualitas SDM</a:t>
            </a:r>
            <a:r>
              <a:rPr lang="en-US" sz="3000">
                <a:solidFill>
                  <a:srgbClr val="000000"/>
                </a:solidFill>
                <a:latin typeface="Arial"/>
                <a:ea typeface="Arial"/>
                <a:cs typeface="Arial"/>
                <a:sym typeface="Arial"/>
              </a:rPr>
              <a:t> </a:t>
            </a:r>
            <a:r>
              <a:rPr lang="en-US" sz="3000">
                <a:solidFill>
                  <a:srgbClr val="000000"/>
                </a:solidFill>
                <a:latin typeface="Calibri"/>
                <a:ea typeface="Calibri"/>
                <a:cs typeface="Calibri"/>
                <a:sym typeface="Calibri"/>
              </a:rPr>
              <a:t>mendorong percepatan pembangunan suatu bangsa</a:t>
            </a:r>
            <a:endParaRPr/>
          </a:p>
          <a:p>
            <a:pPr marL="571500" marR="0" lvl="0" indent="-571500" algn="l" rtl="0">
              <a:lnSpc>
                <a:spcPct val="95000"/>
              </a:lnSpc>
              <a:spcBef>
                <a:spcPts val="600"/>
              </a:spcBef>
              <a:spcAft>
                <a:spcPts val="0"/>
              </a:spcAft>
              <a:buClr>
                <a:srgbClr val="000000"/>
              </a:buClr>
              <a:buSzPts val="3000"/>
              <a:buFont typeface="Arial"/>
              <a:buChar char="•"/>
            </a:pPr>
            <a:r>
              <a:rPr lang="en-US" sz="3000" i="1">
                <a:solidFill>
                  <a:srgbClr val="000000"/>
                </a:solidFill>
                <a:latin typeface="Calibri"/>
                <a:ea typeface="Calibri"/>
                <a:cs typeface="Calibri"/>
                <a:sym typeface="Calibri"/>
              </a:rPr>
              <a:t>Education is one of the most powerful instruments for reducing poverty and inequality and lays a foundation for sustained economic growth</a:t>
            </a:r>
            <a:r>
              <a:rPr lang="en-US" sz="3000">
                <a:solidFill>
                  <a:srgbClr val="000000"/>
                </a:solidFill>
                <a:latin typeface="Calibri"/>
                <a:ea typeface="Calibri"/>
                <a:cs typeface="Calibri"/>
                <a:sym typeface="Calibri"/>
              </a:rPr>
              <a:t> (worldbank.org)</a:t>
            </a:r>
            <a:endParaRPr/>
          </a:p>
          <a:p>
            <a:pPr marL="571500" marR="0" lvl="0" indent="-571500" algn="l" rtl="0">
              <a:lnSpc>
                <a:spcPct val="95000"/>
              </a:lnSpc>
              <a:spcBef>
                <a:spcPts val="600"/>
              </a:spcBef>
              <a:spcAft>
                <a:spcPts val="0"/>
              </a:spcAft>
              <a:buClr>
                <a:srgbClr val="000000"/>
              </a:buClr>
              <a:buSzPts val="3000"/>
              <a:buFont typeface="Arial"/>
              <a:buChar char="•"/>
            </a:pPr>
            <a:r>
              <a:rPr lang="en-US" sz="3000">
                <a:solidFill>
                  <a:srgbClr val="000000"/>
                </a:solidFill>
                <a:latin typeface="Calibri"/>
                <a:ea typeface="Calibri"/>
                <a:cs typeface="Calibri"/>
                <a:sym typeface="Calibri"/>
              </a:rPr>
              <a:t>Untuk perencanaan dan evaluasi pembangunan pendidikan perlu adanya indikator pendidikan</a:t>
            </a:r>
            <a:endParaRPr/>
          </a:p>
        </p:txBody>
      </p:sp>
    </p:spTree>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587" name="Google Shape;587;p40"/>
          <p:cNvSpPr txBox="1">
            <a:spLocks noGrp="1"/>
          </p:cNvSpPr>
          <p:nvPr>
            <p:ph type="title"/>
          </p:nvPr>
        </p:nvSpPr>
        <p:spPr>
          <a:xfrm>
            <a:off x="813456" y="274638"/>
            <a:ext cx="10373096" cy="1143000"/>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4500"/>
              <a:buFont typeface="Calibri"/>
              <a:buNone/>
            </a:pPr>
            <a:r>
              <a:rPr lang="en-US"/>
              <a:t>Sistem Pendidikan di Indonesia</a:t>
            </a:r>
            <a:endParaRPr/>
          </a:p>
        </p:txBody>
      </p:sp>
      <p:sp>
        <p:nvSpPr>
          <p:cNvPr id="588" name="Google Shape;588;p40"/>
          <p:cNvSpPr txBox="1"/>
          <p:nvPr/>
        </p:nvSpPr>
        <p:spPr>
          <a:xfrm>
            <a:off x="813456" y="1600200"/>
            <a:ext cx="10373096" cy="4525963"/>
          </a:xfrm>
          <a:prstGeom prst="rect">
            <a:avLst/>
          </a:prstGeom>
          <a:noFill/>
          <a:ln>
            <a:noFill/>
          </a:ln>
        </p:spPr>
        <p:txBody>
          <a:bodyPr spcFirstLastPara="1" wrap="square" lIns="104925" tIns="52450" rIns="104925" bIns="52450" anchor="t" anchorCtr="0">
            <a:normAutofit/>
          </a:bodyPr>
          <a:lstStyle/>
          <a:p>
            <a:pPr marL="356885" marR="0" lvl="0" indent="-356885" algn="l" rtl="0">
              <a:spcBef>
                <a:spcPts val="0"/>
              </a:spcBef>
              <a:spcAft>
                <a:spcPts val="0"/>
              </a:spcAft>
              <a:buClr>
                <a:schemeClr val="dk1"/>
              </a:buClr>
              <a:buSzPts val="3356"/>
              <a:buFont typeface="Arial"/>
              <a:buChar char="•"/>
            </a:pPr>
            <a:r>
              <a:rPr lang="en-US" sz="3356" b="1">
                <a:solidFill>
                  <a:schemeClr val="dk1"/>
                </a:solidFill>
                <a:latin typeface="Cambria"/>
                <a:ea typeface="Cambria"/>
                <a:cs typeface="Cambria"/>
                <a:sym typeface="Cambria"/>
              </a:rPr>
              <a:t>UU Nomor 20 Tahun 2003 tentang Sistem Pendidikan Nasional</a:t>
            </a:r>
            <a:endParaRPr/>
          </a:p>
          <a:p>
            <a:pPr marL="773249" marR="0" lvl="1" indent="-297403" algn="l" rtl="0">
              <a:spcBef>
                <a:spcPts val="580"/>
              </a:spcBef>
              <a:spcAft>
                <a:spcPts val="0"/>
              </a:spcAft>
              <a:buClr>
                <a:schemeClr val="dk1"/>
              </a:buClr>
              <a:buSzPts val="2902"/>
              <a:buFont typeface="Arial"/>
              <a:buChar char="–"/>
            </a:pPr>
            <a:r>
              <a:rPr lang="en-US" sz="2902" b="0" i="0" u="none" strike="noStrike" cap="none">
                <a:solidFill>
                  <a:schemeClr val="dk1"/>
                </a:solidFill>
                <a:latin typeface="Calibri"/>
                <a:ea typeface="Calibri"/>
                <a:cs typeface="Calibri"/>
                <a:sym typeface="Calibri"/>
              </a:rPr>
              <a:t>Pasal 1</a:t>
            </a:r>
            <a:endParaRPr/>
          </a:p>
          <a:p>
            <a:pPr marL="1257300" marR="0" lvl="2" indent="-342900" algn="l" rtl="0">
              <a:spcBef>
                <a:spcPts val="508"/>
              </a:spcBef>
              <a:spcAft>
                <a:spcPts val="0"/>
              </a:spcAft>
              <a:buClr>
                <a:schemeClr val="dk1"/>
              </a:buClr>
              <a:buSzPts val="2540"/>
              <a:buFont typeface="Arial"/>
              <a:buNone/>
            </a:pPr>
            <a:r>
              <a:rPr lang="en-US" sz="2540" b="0" i="0" u="none" strike="noStrike" cap="none">
                <a:solidFill>
                  <a:schemeClr val="dk1"/>
                </a:solidFill>
                <a:latin typeface="Calibri"/>
                <a:ea typeface="Calibri"/>
                <a:cs typeface="Calibri"/>
                <a:sym typeface="Calibri"/>
              </a:rPr>
              <a:t>8. </a:t>
            </a:r>
            <a:r>
              <a:rPr lang="en-US" sz="2540" b="0" i="0" u="none" strike="noStrike" cap="none">
                <a:solidFill>
                  <a:schemeClr val="dk1"/>
                </a:solidFill>
                <a:latin typeface="Cambria"/>
                <a:ea typeface="Cambria"/>
                <a:cs typeface="Cambria"/>
                <a:sym typeface="Cambria"/>
              </a:rPr>
              <a:t>Jenjang pendidikan adalah tahapan pendidikan yang ditetapkan berdasarkan tingkat perkembangan peserta didik, tujuan yang akan dicapai, dan kemampuan yang dikembangkan.</a:t>
            </a:r>
            <a:endParaRPr/>
          </a:p>
          <a:p>
            <a:pPr marL="1257300" marR="0" lvl="2" indent="-342900" algn="l" rtl="0">
              <a:spcBef>
                <a:spcPts val="508"/>
              </a:spcBef>
              <a:spcAft>
                <a:spcPts val="0"/>
              </a:spcAft>
              <a:buClr>
                <a:schemeClr val="dk1"/>
              </a:buClr>
              <a:buSzPts val="2540"/>
              <a:buFont typeface="Arial"/>
              <a:buNone/>
            </a:pPr>
            <a:r>
              <a:rPr lang="en-US" sz="2540" b="0" i="0" u="none" strike="noStrike" cap="none">
                <a:solidFill>
                  <a:schemeClr val="dk1"/>
                </a:solidFill>
                <a:latin typeface="Calibri"/>
                <a:ea typeface="Calibri"/>
                <a:cs typeface="Calibri"/>
                <a:sym typeface="Calibri"/>
              </a:rPr>
              <a:t>10. </a:t>
            </a:r>
            <a:r>
              <a:rPr lang="en-US" sz="2540" b="0" i="0" u="none" strike="noStrike" cap="none">
                <a:solidFill>
                  <a:schemeClr val="dk1"/>
                </a:solidFill>
                <a:latin typeface="Cambria"/>
                <a:ea typeface="Cambria"/>
                <a:cs typeface="Cambria"/>
                <a:sym typeface="Cambria"/>
              </a:rPr>
              <a:t>Satuan pendidikan adalah kelompok layanan pendidikan yang menyeleng-garakan pendidikan pada jalur formal, nonformal, dan informal pada setiap jenjang dan jenis pendidikan.</a:t>
            </a:r>
            <a:endParaRPr sz="254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594" name="Google Shape;594;p41"/>
          <p:cNvSpPr txBox="1">
            <a:spLocks noGrp="1"/>
          </p:cNvSpPr>
          <p:nvPr>
            <p:ph type="title"/>
          </p:nvPr>
        </p:nvSpPr>
        <p:spPr>
          <a:xfrm>
            <a:off x="813456" y="274638"/>
            <a:ext cx="10373096" cy="1143000"/>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4500"/>
              <a:buFont typeface="Calibri"/>
              <a:buNone/>
            </a:pPr>
            <a:r>
              <a:rPr lang="en-US"/>
              <a:t>Sistem Pendidikan di Indonesia</a:t>
            </a:r>
            <a:endParaRPr/>
          </a:p>
        </p:txBody>
      </p:sp>
      <p:sp>
        <p:nvSpPr>
          <p:cNvPr id="595" name="Google Shape;595;p41"/>
          <p:cNvSpPr txBox="1"/>
          <p:nvPr/>
        </p:nvSpPr>
        <p:spPr>
          <a:xfrm>
            <a:off x="813456" y="1600200"/>
            <a:ext cx="10373096" cy="4525963"/>
          </a:xfrm>
          <a:prstGeom prst="rect">
            <a:avLst/>
          </a:prstGeom>
          <a:noFill/>
          <a:ln>
            <a:noFill/>
          </a:ln>
        </p:spPr>
        <p:txBody>
          <a:bodyPr spcFirstLastPara="1" wrap="square" lIns="104925" tIns="52450" rIns="104925" bIns="52450" anchor="t" anchorCtr="0">
            <a:normAutofit/>
          </a:bodyPr>
          <a:lstStyle/>
          <a:p>
            <a:pPr marL="356885" marR="0" lvl="0" indent="-356885" algn="l" rtl="0">
              <a:spcBef>
                <a:spcPts val="0"/>
              </a:spcBef>
              <a:spcAft>
                <a:spcPts val="0"/>
              </a:spcAft>
              <a:buClr>
                <a:schemeClr val="dk1"/>
              </a:buClr>
              <a:buSzPts val="3356"/>
              <a:buFont typeface="Arial"/>
              <a:buChar char="•"/>
            </a:pPr>
            <a:r>
              <a:rPr lang="en-US" sz="3356" b="1">
                <a:solidFill>
                  <a:schemeClr val="dk1"/>
                </a:solidFill>
                <a:latin typeface="Cambria"/>
                <a:ea typeface="Cambria"/>
                <a:cs typeface="Cambria"/>
                <a:sym typeface="Cambria"/>
              </a:rPr>
              <a:t>UU Nomor 20 Tahun 2003 tentang Sistem Pendidikan Nasional</a:t>
            </a:r>
            <a:endParaRPr/>
          </a:p>
          <a:p>
            <a:pPr marL="773249" marR="0" lvl="1" indent="-297403" algn="l" rtl="0">
              <a:spcBef>
                <a:spcPts val="580"/>
              </a:spcBef>
              <a:spcAft>
                <a:spcPts val="0"/>
              </a:spcAft>
              <a:buClr>
                <a:schemeClr val="dk1"/>
              </a:buClr>
              <a:buSzPts val="2902"/>
              <a:buFont typeface="Arial"/>
              <a:buChar char="–"/>
            </a:pPr>
            <a:r>
              <a:rPr lang="en-US" sz="2902" b="0" i="0" u="none" strike="noStrike" cap="none">
                <a:solidFill>
                  <a:schemeClr val="dk1"/>
                </a:solidFill>
                <a:latin typeface="Calibri"/>
                <a:ea typeface="Calibri"/>
                <a:cs typeface="Calibri"/>
                <a:sym typeface="Calibri"/>
              </a:rPr>
              <a:t>Pasal 3</a:t>
            </a:r>
            <a:endParaRPr/>
          </a:p>
          <a:p>
            <a:pPr marL="1257300" marR="0" lvl="2" indent="-342900" algn="l" rtl="0">
              <a:spcBef>
                <a:spcPts val="508"/>
              </a:spcBef>
              <a:spcAft>
                <a:spcPts val="0"/>
              </a:spcAft>
              <a:buClr>
                <a:schemeClr val="dk1"/>
              </a:buClr>
              <a:buSzPts val="2540"/>
              <a:buFont typeface="Arial"/>
              <a:buNone/>
            </a:pPr>
            <a:r>
              <a:rPr lang="en-US" sz="2540" b="0" i="0" u="none" strike="noStrike" cap="none">
                <a:solidFill>
                  <a:schemeClr val="dk1"/>
                </a:solidFill>
                <a:latin typeface="Calibri"/>
                <a:ea typeface="Calibri"/>
                <a:cs typeface="Calibri"/>
                <a:sym typeface="Calibri"/>
              </a:rPr>
              <a:t>Pendidikan nasional berfungsi mengembangkan kemampuan dan membentuk watak serta peradaban bangsa yang bermartabat dalam rangka mencerdaskan kehidupan bangsa, bertujuan untuk berkembangnya potensi peserta didik agar menjadi manusia yang beriman dan bertakwa kepada Tuhan Yang Maha Esa, berakhlak mulia, sehat, berilmu, cakap, kreatif, mandiri, dan menjadi warga negara yang demokratis serta bertanggung jawab.</a:t>
            </a:r>
            <a:endParaRPr/>
          </a:p>
        </p:txBody>
      </p:sp>
    </p:spTree>
  </p:cSld>
  <p:clrMapOvr>
    <a:masterClrMapping/>
  </p:clrMapOvr>
  <p:transition spd="slow">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44</a:t>
            </a:fld>
            <a:endParaRPr/>
          </a:p>
        </p:txBody>
      </p:sp>
      <p:pic>
        <p:nvPicPr>
          <p:cNvPr id="601" name="Google Shape;601;p42"/>
          <p:cNvPicPr preferRelativeResize="0"/>
          <p:nvPr/>
        </p:nvPicPr>
        <p:blipFill rotWithShape="1">
          <a:blip r:embed="rId3">
            <a:alphaModFix/>
          </a:blip>
          <a:srcRect/>
          <a:stretch/>
        </p:blipFill>
        <p:spPr>
          <a:xfrm>
            <a:off x="1078352" y="1071984"/>
            <a:ext cx="10215082" cy="5649491"/>
          </a:xfrm>
          <a:prstGeom prst="rect">
            <a:avLst/>
          </a:prstGeom>
          <a:noFill/>
          <a:ln>
            <a:noFill/>
          </a:ln>
        </p:spPr>
      </p:pic>
      <p:sp>
        <p:nvSpPr>
          <p:cNvPr id="602" name="Google Shape;602;p42"/>
          <p:cNvSpPr txBox="1"/>
          <p:nvPr/>
        </p:nvSpPr>
        <p:spPr>
          <a:xfrm>
            <a:off x="1231057" y="374900"/>
            <a:ext cx="968719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dk1"/>
                </a:solidFill>
                <a:latin typeface="Calibri"/>
                <a:ea typeface="Calibri"/>
                <a:cs typeface="Calibri"/>
                <a:sym typeface="Calibri"/>
              </a:rPr>
              <a:t>Educational system: Indonesia </a:t>
            </a:r>
            <a:endParaRPr/>
          </a:p>
        </p:txBody>
      </p:sp>
    </p:spTree>
  </p:cSld>
  <p:clrMapOvr>
    <a:masterClrMapping/>
  </p:clrMapOvr>
  <p:transition spd="slow">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4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608" name="Google Shape;608;p43"/>
          <p:cNvSpPr txBox="1">
            <a:spLocks noGrp="1"/>
          </p:cNvSpPr>
          <p:nvPr>
            <p:ph type="title"/>
          </p:nvPr>
        </p:nvSpPr>
        <p:spPr>
          <a:xfrm>
            <a:off x="860959" y="69490"/>
            <a:ext cx="10601118" cy="863787"/>
          </a:xfrm>
          <a:prstGeom prst="rect">
            <a:avLst/>
          </a:prstGeom>
          <a:noFill/>
          <a:ln>
            <a:noFill/>
          </a:ln>
        </p:spPr>
        <p:txBody>
          <a:bodyPr spcFirstLastPara="1" wrap="square" lIns="104925" tIns="52450" rIns="104925" bIns="52450" anchor="ctr" anchorCtr="0">
            <a:normAutofit/>
          </a:bodyPr>
          <a:lstStyle/>
          <a:p>
            <a:pPr marL="0" lvl="0" indent="0" algn="just" rtl="0">
              <a:spcBef>
                <a:spcPts val="0"/>
              </a:spcBef>
              <a:spcAft>
                <a:spcPts val="0"/>
              </a:spcAft>
              <a:buClr>
                <a:srgbClr val="000000"/>
              </a:buClr>
              <a:buSzPts val="3200"/>
              <a:buFont typeface="Cambria"/>
              <a:buNone/>
            </a:pPr>
            <a:r>
              <a:rPr lang="en-US" sz="3200" b="1">
                <a:solidFill>
                  <a:srgbClr val="000000"/>
                </a:solidFill>
                <a:latin typeface="Cambria"/>
                <a:ea typeface="Cambria"/>
                <a:cs typeface="Cambria"/>
                <a:sym typeface="Cambria"/>
              </a:rPr>
              <a:t>Issu utama bidang pendidikan </a:t>
            </a:r>
            <a:r>
              <a:rPr lang="en-US" sz="2400">
                <a:solidFill>
                  <a:srgbClr val="000000"/>
                </a:solidFill>
                <a:latin typeface="Cambria"/>
                <a:ea typeface="Cambria"/>
                <a:cs typeface="Cambria"/>
                <a:sym typeface="Cambria"/>
              </a:rPr>
              <a:t>[1]</a:t>
            </a:r>
            <a:endParaRPr sz="2400" baseline="-25000">
              <a:solidFill>
                <a:srgbClr val="000000"/>
              </a:solidFill>
              <a:latin typeface="Cambria"/>
              <a:ea typeface="Cambria"/>
              <a:cs typeface="Cambria"/>
              <a:sym typeface="Cambria"/>
            </a:endParaRPr>
          </a:p>
        </p:txBody>
      </p:sp>
      <p:sp>
        <p:nvSpPr>
          <p:cNvPr id="609" name="Google Shape;609;p43"/>
          <p:cNvSpPr txBox="1"/>
          <p:nvPr/>
        </p:nvSpPr>
        <p:spPr>
          <a:xfrm>
            <a:off x="700019" y="985720"/>
            <a:ext cx="10819044" cy="4733855"/>
          </a:xfrm>
          <a:prstGeom prst="rect">
            <a:avLst/>
          </a:prstGeom>
          <a:noFill/>
          <a:ln>
            <a:noFill/>
          </a:ln>
        </p:spPr>
        <p:txBody>
          <a:bodyPr spcFirstLastPara="1" wrap="square" lIns="104925" tIns="52450" rIns="104925" bIns="52450" anchor="t" anchorCtr="0">
            <a:normAutofit/>
          </a:bodyPr>
          <a:lstStyle/>
          <a:p>
            <a:pPr marL="263525" marR="0" lvl="0" indent="-263525" algn="l" rtl="0">
              <a:spcBef>
                <a:spcPts val="0"/>
              </a:spcBef>
              <a:spcAft>
                <a:spcPts val="0"/>
              </a:spcAft>
              <a:buClr>
                <a:srgbClr val="000000"/>
              </a:buClr>
              <a:buSzPts val="3356"/>
              <a:buFont typeface="Arial"/>
              <a:buChar char="•"/>
            </a:pPr>
            <a:r>
              <a:rPr lang="en-US" sz="3356">
                <a:solidFill>
                  <a:srgbClr val="000000"/>
                </a:solidFill>
                <a:latin typeface="Calibri"/>
                <a:ea typeface="Calibri"/>
                <a:cs typeface="Calibri"/>
                <a:sym typeface="Calibri"/>
              </a:rPr>
              <a:t>Perluasan akses ==&gt; peningkatan kualitas</a:t>
            </a:r>
            <a:endParaRPr/>
          </a:p>
          <a:p>
            <a:pPr marL="663575" marR="0" lvl="1" indent="-263525" algn="l" rtl="0">
              <a:spcBef>
                <a:spcPts val="60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Ujian akhir untuk pemetaan kualitas lulusan</a:t>
            </a:r>
            <a:endParaRPr/>
          </a:p>
          <a:p>
            <a:pPr marL="663575" marR="0" lvl="1" indent="-263525" algn="l" rtl="0">
              <a:spcBef>
                <a:spcPts val="60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Sertifikasi guru untuk peningkatan kualitas proses belajar-mengajar</a:t>
            </a:r>
            <a:endParaRPr/>
          </a:p>
          <a:p>
            <a:pPr marL="263525" marR="0" lvl="0" indent="-263525" algn="l" rtl="0">
              <a:spcBef>
                <a:spcPts val="1200"/>
              </a:spcBef>
              <a:spcAft>
                <a:spcPts val="0"/>
              </a:spcAft>
              <a:buClr>
                <a:srgbClr val="000000"/>
              </a:buClr>
              <a:buSzPts val="3356"/>
              <a:buFont typeface="Arial"/>
              <a:buChar char="•"/>
            </a:pPr>
            <a:r>
              <a:rPr lang="en-US" sz="3356">
                <a:solidFill>
                  <a:srgbClr val="000000"/>
                </a:solidFill>
                <a:latin typeface="Calibri"/>
                <a:ea typeface="Calibri"/>
                <a:cs typeface="Calibri"/>
                <a:sym typeface="Calibri"/>
              </a:rPr>
              <a:t>Pergeseran prioritas</a:t>
            </a:r>
            <a:endParaRPr/>
          </a:p>
          <a:p>
            <a:pPr marL="808038" marR="0" lvl="1" indent="-361950" algn="l" rtl="0">
              <a:spcBef>
                <a:spcPts val="60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Pendidikan Dasar ==&gt; Pendidikan Menengah [wajar 9 thn =&gt; wajar 12 thn]</a:t>
            </a:r>
            <a:endParaRPr/>
          </a:p>
          <a:p>
            <a:pPr marL="808038" marR="0" lvl="1" indent="-361950" algn="l" rtl="0">
              <a:spcBef>
                <a:spcPts val="60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Pendidikan Menengah ==&gt; Pendidikan Tinggi [kualitas SDM]</a:t>
            </a:r>
            <a:endParaRPr sz="2400" b="0" i="0" u="none" strike="noStrike" cap="none">
              <a:solidFill>
                <a:srgbClr val="000000"/>
              </a:solidFill>
              <a:latin typeface="Calibri"/>
              <a:ea typeface="Calibri"/>
              <a:cs typeface="Calibri"/>
              <a:sym typeface="Calibri"/>
            </a:endParaRPr>
          </a:p>
          <a:p>
            <a:pPr marL="808038" marR="0" lvl="1" indent="-361950" algn="l" rtl="0">
              <a:spcBef>
                <a:spcPts val="60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Pendidikan ketrampilan ==&gt; pendidikan ketrampilan hidup (</a:t>
            </a:r>
            <a:r>
              <a:rPr lang="en-US" sz="2400" b="0" i="1" u="none" strike="noStrike" cap="none">
                <a:solidFill>
                  <a:srgbClr val="000000"/>
                </a:solidFill>
                <a:latin typeface="Calibri"/>
                <a:ea typeface="Calibri"/>
                <a:cs typeface="Calibri"/>
                <a:sym typeface="Calibri"/>
              </a:rPr>
              <a:t>lifeskill</a:t>
            </a:r>
            <a:r>
              <a:rPr lang="en-US" sz="2400" b="0" i="0" u="none" strike="noStrike" cap="none">
                <a:solidFill>
                  <a:srgbClr val="000000"/>
                </a:solidFill>
                <a:latin typeface="Calibri"/>
                <a:ea typeface="Calibri"/>
                <a:cs typeface="Calibri"/>
                <a:sym typeface="Calibri"/>
              </a:rPr>
              <a:t> </a:t>
            </a:r>
            <a:r>
              <a:rPr lang="en-US" sz="2400" b="0" i="1" u="none" strike="noStrike" cap="none">
                <a:solidFill>
                  <a:srgbClr val="000000"/>
                </a:solidFill>
                <a:latin typeface="Calibri"/>
                <a:ea typeface="Calibri"/>
                <a:cs typeface="Calibri"/>
                <a:sym typeface="Calibri"/>
              </a:rPr>
              <a:t>training</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a:p>
            <a:pPr marL="263525" marR="0" lvl="0" indent="-263525" algn="l" rtl="0">
              <a:spcBef>
                <a:spcPts val="1200"/>
              </a:spcBef>
              <a:spcAft>
                <a:spcPts val="0"/>
              </a:spcAft>
              <a:buClr>
                <a:srgbClr val="000000"/>
              </a:buClr>
              <a:buSzPts val="3356"/>
              <a:buFont typeface="Arial"/>
              <a:buChar char="•"/>
            </a:pPr>
            <a:r>
              <a:rPr lang="en-US" sz="3356">
                <a:solidFill>
                  <a:srgbClr val="000000"/>
                </a:solidFill>
                <a:latin typeface="Calibri"/>
                <a:ea typeface="Calibri"/>
                <a:cs typeface="Calibri"/>
                <a:sym typeface="Calibri"/>
              </a:rPr>
              <a:t>Perluasan kesempatan kerja</a:t>
            </a:r>
            <a:r>
              <a:rPr lang="en-US" sz="2400">
                <a:solidFill>
                  <a:srgbClr val="000000"/>
                </a:solidFill>
                <a:latin typeface="Calibri"/>
                <a:ea typeface="Calibri"/>
                <a:cs typeface="Calibri"/>
                <a:sym typeface="Calibri"/>
              </a:rPr>
              <a:t>:  pekerja ==&gt; pengusaha [penciptaan kesempatan kerja yang lebih luas]</a:t>
            </a:r>
            <a:endParaRPr/>
          </a:p>
        </p:txBody>
      </p:sp>
    </p:spTree>
  </p:cSld>
  <p:clrMapOvr>
    <a:masterClrMapping/>
  </p:clrMapOvr>
  <p:transition spd="slow">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4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46</a:t>
            </a:fld>
            <a:endParaRPr/>
          </a:p>
        </p:txBody>
      </p:sp>
      <p:sp>
        <p:nvSpPr>
          <p:cNvPr id="615" name="Google Shape;615;p44"/>
          <p:cNvSpPr txBox="1">
            <a:spLocks noGrp="1"/>
          </p:cNvSpPr>
          <p:nvPr>
            <p:ph type="title"/>
          </p:nvPr>
        </p:nvSpPr>
        <p:spPr>
          <a:xfrm>
            <a:off x="860959" y="69490"/>
            <a:ext cx="10601118" cy="863787"/>
          </a:xfrm>
          <a:prstGeom prst="rect">
            <a:avLst/>
          </a:prstGeom>
          <a:noFill/>
          <a:ln>
            <a:noFill/>
          </a:ln>
        </p:spPr>
        <p:txBody>
          <a:bodyPr spcFirstLastPara="1" wrap="square" lIns="104925" tIns="52450" rIns="104925" bIns="52450" anchor="ctr" anchorCtr="0">
            <a:normAutofit/>
          </a:bodyPr>
          <a:lstStyle/>
          <a:p>
            <a:pPr marL="0" lvl="0" indent="0" algn="just" rtl="0">
              <a:spcBef>
                <a:spcPts val="0"/>
              </a:spcBef>
              <a:spcAft>
                <a:spcPts val="0"/>
              </a:spcAft>
              <a:buClr>
                <a:srgbClr val="000000"/>
              </a:buClr>
              <a:buSzPts val="3200"/>
              <a:buFont typeface="Cambria"/>
              <a:buNone/>
            </a:pPr>
            <a:r>
              <a:rPr lang="en-US" sz="3200" b="1">
                <a:solidFill>
                  <a:srgbClr val="000000"/>
                </a:solidFill>
                <a:latin typeface="Cambria"/>
                <a:ea typeface="Cambria"/>
                <a:cs typeface="Cambria"/>
                <a:sym typeface="Cambria"/>
              </a:rPr>
              <a:t>Issu utama bidang pendidikan </a:t>
            </a:r>
            <a:r>
              <a:rPr lang="en-US" sz="2400">
                <a:solidFill>
                  <a:srgbClr val="000000"/>
                </a:solidFill>
                <a:latin typeface="Cambria"/>
                <a:ea typeface="Cambria"/>
                <a:cs typeface="Cambria"/>
                <a:sym typeface="Cambria"/>
              </a:rPr>
              <a:t>[2]</a:t>
            </a:r>
            <a:endParaRPr sz="2400" baseline="-25000">
              <a:solidFill>
                <a:srgbClr val="000000"/>
              </a:solidFill>
              <a:latin typeface="Cambria"/>
              <a:ea typeface="Cambria"/>
              <a:cs typeface="Cambria"/>
              <a:sym typeface="Cambria"/>
            </a:endParaRPr>
          </a:p>
        </p:txBody>
      </p:sp>
      <p:sp>
        <p:nvSpPr>
          <p:cNvPr id="616" name="Google Shape;616;p44"/>
          <p:cNvSpPr txBox="1"/>
          <p:nvPr/>
        </p:nvSpPr>
        <p:spPr>
          <a:xfrm>
            <a:off x="700019" y="985720"/>
            <a:ext cx="10819044" cy="5130072"/>
          </a:xfrm>
          <a:prstGeom prst="rect">
            <a:avLst/>
          </a:prstGeom>
          <a:noFill/>
          <a:ln>
            <a:noFill/>
          </a:ln>
        </p:spPr>
        <p:txBody>
          <a:bodyPr spcFirstLastPara="1" wrap="square" lIns="104925" tIns="52450" rIns="104925" bIns="52450" anchor="t" anchorCtr="0">
            <a:normAutofit fontScale="70000" lnSpcReduction="20000"/>
          </a:bodyPr>
          <a:lstStyle/>
          <a:p>
            <a:pPr marL="263525" marR="0" lvl="0" indent="-263525" algn="l" rtl="0">
              <a:spcBef>
                <a:spcPts val="0"/>
              </a:spcBef>
              <a:spcAft>
                <a:spcPts val="0"/>
              </a:spcAft>
              <a:buClr>
                <a:srgbClr val="000000"/>
              </a:buClr>
              <a:buSzPct val="100000"/>
              <a:buFont typeface="Arial"/>
              <a:buChar char="•"/>
            </a:pPr>
            <a:r>
              <a:rPr lang="en-US" sz="3700">
                <a:solidFill>
                  <a:srgbClr val="000000"/>
                </a:solidFill>
                <a:latin typeface="Calibri"/>
                <a:ea typeface="Calibri"/>
                <a:cs typeface="Calibri"/>
                <a:sym typeface="Calibri"/>
              </a:rPr>
              <a:t>Akses pada pendidikan dasar dan menengah</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Program kesetaraan, Paket A, Paket B, Paket C</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Pendirian sekolah umum dan kejuruan</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Pendirian sekolah umum berbasis agama islam, madrasah</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Program khusus untuk daerah terluar, perbatasan</a:t>
            </a:r>
            <a:endParaRPr/>
          </a:p>
          <a:p>
            <a:pPr marL="263525" marR="0" lvl="0" indent="-263525" algn="l" rtl="0">
              <a:spcBef>
                <a:spcPts val="1200"/>
              </a:spcBef>
              <a:spcAft>
                <a:spcPts val="0"/>
              </a:spcAft>
              <a:buClr>
                <a:srgbClr val="000000"/>
              </a:buClr>
              <a:buSzPct val="100000"/>
              <a:buFont typeface="Arial"/>
              <a:buChar char="•"/>
            </a:pPr>
            <a:r>
              <a:rPr lang="en-US" sz="3700">
                <a:solidFill>
                  <a:srgbClr val="000000"/>
                </a:solidFill>
                <a:latin typeface="Calibri"/>
                <a:ea typeface="Calibri"/>
                <a:cs typeface="Calibri"/>
                <a:sym typeface="Calibri"/>
              </a:rPr>
              <a:t>Peningkatan kualitas SDM</a:t>
            </a:r>
            <a:r>
              <a:rPr lang="en-US" sz="3700">
                <a:solidFill>
                  <a:srgbClr val="000000"/>
                </a:solidFill>
                <a:latin typeface="Arial"/>
                <a:ea typeface="Arial"/>
                <a:cs typeface="Arial"/>
                <a:sym typeface="Arial"/>
              </a:rPr>
              <a:t> </a:t>
            </a:r>
            <a:r>
              <a:rPr lang="en-US" sz="3700">
                <a:solidFill>
                  <a:srgbClr val="000000"/>
                </a:solidFill>
                <a:latin typeface="Calibri"/>
                <a:ea typeface="Calibri"/>
                <a:cs typeface="Calibri"/>
                <a:sym typeface="Calibri"/>
              </a:rPr>
              <a:t>melalui perluasan akses pada pendidikan tinggi</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Pendirian baru universitas negeri</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Pendirian fakultas/jurusan/prodi baru</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Pendirian politeknik untuk umum maupun oleh K/L</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Perluasan program pada Universitas Terbuka</a:t>
            </a:r>
            <a:r>
              <a:rPr lang="en-US" sz="3100" b="0" i="1" u="none" strike="noStrike" cap="none">
                <a:solidFill>
                  <a:srgbClr val="000000"/>
                </a:solidFill>
                <a:latin typeface="Calibri"/>
                <a:ea typeface="Calibri"/>
                <a:cs typeface="Calibri"/>
                <a:sym typeface="Calibri"/>
              </a:rPr>
              <a:t> </a:t>
            </a:r>
            <a:endParaRPr sz="3100" b="0" i="0" u="none" strike="noStrike" cap="none">
              <a:solidFill>
                <a:srgbClr val="000000"/>
              </a:solidFill>
              <a:latin typeface="Calibri"/>
              <a:ea typeface="Calibri"/>
              <a:cs typeface="Calibri"/>
              <a:sym typeface="Calibri"/>
            </a:endParaRPr>
          </a:p>
          <a:p>
            <a:pPr marL="263525" marR="0" lvl="0" indent="-263525" algn="l" rtl="0">
              <a:spcBef>
                <a:spcPts val="1200"/>
              </a:spcBef>
              <a:spcAft>
                <a:spcPts val="0"/>
              </a:spcAft>
              <a:buClr>
                <a:srgbClr val="000000"/>
              </a:buClr>
              <a:buSzPct val="100000"/>
              <a:buFont typeface="Arial"/>
              <a:buChar char="•"/>
            </a:pPr>
            <a:r>
              <a:rPr lang="en-US" sz="3700">
                <a:solidFill>
                  <a:srgbClr val="000000"/>
                </a:solidFill>
                <a:latin typeface="Calibri"/>
                <a:ea typeface="Calibri"/>
                <a:cs typeface="Calibri"/>
                <a:sym typeface="Calibri"/>
              </a:rPr>
              <a:t>Peningkatan mutu tenaga kependidikan dan lembaga pendidikan</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Sertifikasi tenaga kependidikan</a:t>
            </a:r>
            <a:endParaRPr/>
          </a:p>
          <a:p>
            <a:pPr marL="725488" marR="0" lvl="1" indent="-279400" algn="l" rtl="0">
              <a:spcBef>
                <a:spcPts val="600"/>
              </a:spcBef>
              <a:spcAft>
                <a:spcPts val="0"/>
              </a:spcAft>
              <a:buClr>
                <a:srgbClr val="000000"/>
              </a:buClr>
              <a:buSzPct val="100000"/>
              <a:buFont typeface="Arial"/>
              <a:buChar char="–"/>
            </a:pPr>
            <a:r>
              <a:rPr lang="en-US" sz="3100" b="0" i="0" u="none" strike="noStrike" cap="none">
                <a:solidFill>
                  <a:srgbClr val="000000"/>
                </a:solidFill>
                <a:latin typeface="Calibri"/>
                <a:ea typeface="Calibri"/>
                <a:cs typeface="Calibri"/>
                <a:sym typeface="Calibri"/>
              </a:rPr>
              <a:t>Akreditasi lembaga pendidikan</a:t>
            </a:r>
            <a:endParaRPr/>
          </a:p>
        </p:txBody>
      </p:sp>
    </p:spTree>
  </p:cSld>
  <p:clrMapOvr>
    <a:masterClrMapping/>
  </p:clrMapOvr>
  <p:transition spd="slow">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622" name="Google Shape;622;p45"/>
          <p:cNvGrpSpPr/>
          <p:nvPr/>
        </p:nvGrpSpPr>
        <p:grpSpPr>
          <a:xfrm>
            <a:off x="950025" y="1646635"/>
            <a:ext cx="10307778" cy="4592358"/>
            <a:chOff x="492126" y="1646635"/>
            <a:chExt cx="8651874" cy="4592358"/>
          </a:xfrm>
        </p:grpSpPr>
        <p:sp>
          <p:nvSpPr>
            <p:cNvPr id="623" name="Google Shape;623;p45"/>
            <p:cNvSpPr txBox="1"/>
            <p:nvPr/>
          </p:nvSpPr>
          <p:spPr>
            <a:xfrm>
              <a:off x="544286" y="1657350"/>
              <a:ext cx="1376589"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RUJUKAN</a:t>
              </a:r>
              <a:endParaRPr/>
            </a:p>
          </p:txBody>
        </p:sp>
        <p:sp>
          <p:nvSpPr>
            <p:cNvPr id="624" name="Google Shape;624;p45"/>
            <p:cNvSpPr txBox="1"/>
            <p:nvPr/>
          </p:nvSpPr>
          <p:spPr>
            <a:xfrm>
              <a:off x="3150522" y="1667337"/>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INPUT</a:t>
              </a:r>
              <a:endParaRPr/>
            </a:p>
          </p:txBody>
        </p:sp>
        <p:sp>
          <p:nvSpPr>
            <p:cNvPr id="625" name="Google Shape;625;p45"/>
            <p:cNvSpPr txBox="1"/>
            <p:nvPr/>
          </p:nvSpPr>
          <p:spPr>
            <a:xfrm>
              <a:off x="6501946" y="1646635"/>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PROSES</a:t>
              </a:r>
              <a:endParaRPr/>
            </a:p>
          </p:txBody>
        </p:sp>
        <p:sp>
          <p:nvSpPr>
            <p:cNvPr id="626" name="Google Shape;626;p45"/>
            <p:cNvSpPr txBox="1"/>
            <p:nvPr/>
          </p:nvSpPr>
          <p:spPr>
            <a:xfrm>
              <a:off x="492126" y="2069029"/>
              <a:ext cx="1477509" cy="1015653"/>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Penduduk usia 3-6, 7-18 tahun</a:t>
              </a:r>
              <a:endParaRPr/>
            </a:p>
          </p:txBody>
        </p:sp>
        <p:sp>
          <p:nvSpPr>
            <p:cNvPr id="627" name="Google Shape;627;p45"/>
            <p:cNvSpPr txBox="1"/>
            <p:nvPr/>
          </p:nvSpPr>
          <p:spPr>
            <a:xfrm>
              <a:off x="3024188" y="2125266"/>
              <a:ext cx="1606776" cy="994172"/>
            </a:xfrm>
            <a:prstGeom prst="rect">
              <a:avLst/>
            </a:prstGeom>
            <a:noFill/>
            <a:ln w="9525" cap="flat" cmpd="sng">
              <a:solidFill>
                <a:schemeClr val="dk1"/>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Rasio murid thd: guru, kelas, sekolah</a:t>
              </a:r>
              <a:endParaRPr/>
            </a:p>
          </p:txBody>
        </p:sp>
        <p:sp>
          <p:nvSpPr>
            <p:cNvPr id="628" name="Google Shape;628;p45"/>
            <p:cNvSpPr txBox="1"/>
            <p:nvPr/>
          </p:nvSpPr>
          <p:spPr>
            <a:xfrm>
              <a:off x="5697991" y="2133600"/>
              <a:ext cx="1620000" cy="952500"/>
            </a:xfrm>
            <a:prstGeom prst="rect">
              <a:avLst/>
            </a:prstGeom>
            <a:noFill/>
            <a:ln w="9525" cap="flat" cmpd="sng">
              <a:solidFill>
                <a:schemeClr val="dk1"/>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Angka Penyerapan SD, SMP, SMA</a:t>
              </a:r>
              <a:endParaRPr sz="2000">
                <a:solidFill>
                  <a:schemeClr val="dk1"/>
                </a:solidFill>
                <a:latin typeface="Arial"/>
                <a:ea typeface="Arial"/>
                <a:cs typeface="Arial"/>
                <a:sym typeface="Arial"/>
              </a:endParaRPr>
            </a:p>
          </p:txBody>
        </p:sp>
        <p:sp>
          <p:nvSpPr>
            <p:cNvPr id="629" name="Google Shape;629;p45"/>
            <p:cNvSpPr txBox="1"/>
            <p:nvPr/>
          </p:nvSpPr>
          <p:spPr>
            <a:xfrm>
              <a:off x="7324747" y="2133600"/>
              <a:ext cx="1260000" cy="952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APK</a:t>
              </a:r>
              <a:endParaRPr/>
            </a:p>
            <a:p>
              <a:pPr marL="0" marR="0" lvl="0" indent="0" algn="ctr" rtl="0">
                <a:spcBef>
                  <a:spcPts val="0"/>
                </a:spcBef>
                <a:spcAft>
                  <a:spcPts val="0"/>
                </a:spcAft>
                <a:buNone/>
              </a:pPr>
              <a:r>
                <a:rPr lang="en-US" sz="2000">
                  <a:solidFill>
                    <a:schemeClr val="dk1"/>
                  </a:solidFill>
                  <a:latin typeface="Arial"/>
                  <a:ea typeface="Arial"/>
                  <a:cs typeface="Arial"/>
                  <a:sym typeface="Arial"/>
                </a:rPr>
                <a:t>APM</a:t>
              </a:r>
              <a:endParaRPr/>
            </a:p>
          </p:txBody>
        </p:sp>
        <p:sp>
          <p:nvSpPr>
            <p:cNvPr id="630" name="Google Shape;630;p45"/>
            <p:cNvSpPr txBox="1"/>
            <p:nvPr/>
          </p:nvSpPr>
          <p:spPr>
            <a:xfrm>
              <a:off x="2193354" y="4497935"/>
              <a:ext cx="2893786" cy="1234800"/>
            </a:xfrm>
            <a:prstGeom prst="rect">
              <a:avLst/>
            </a:prstGeom>
            <a:noFill/>
            <a:ln w="9525" cap="flat" cmpd="sng">
              <a:solidFill>
                <a:schemeClr val="dk1"/>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 RATA</a:t>
              </a:r>
              <a:r>
                <a:rPr lang="en-US" sz="2000" baseline="30000">
                  <a:solidFill>
                    <a:schemeClr val="dk1"/>
                  </a:solidFill>
                  <a:latin typeface="Arial"/>
                  <a:ea typeface="Arial"/>
                  <a:cs typeface="Arial"/>
                  <a:sym typeface="Arial"/>
                </a:rPr>
                <a:t>2</a:t>
              </a:r>
              <a:r>
                <a:rPr lang="en-US" sz="2000">
                  <a:solidFill>
                    <a:schemeClr val="dk1"/>
                  </a:solidFill>
                  <a:latin typeface="Arial"/>
                  <a:ea typeface="Arial"/>
                  <a:cs typeface="Arial"/>
                  <a:sym typeface="Arial"/>
                </a:rPr>
                <a:t> LAMA SEKOLAH</a:t>
              </a:r>
              <a:endParaRPr/>
            </a:p>
            <a:p>
              <a:pPr marL="0" marR="0" lvl="0" indent="0" algn="ctr" rtl="0">
                <a:spcBef>
                  <a:spcPts val="1000"/>
                </a:spcBef>
                <a:spcAft>
                  <a:spcPts val="0"/>
                </a:spcAft>
                <a:buNone/>
              </a:pPr>
              <a:r>
                <a:rPr lang="en-US" sz="2000">
                  <a:solidFill>
                    <a:schemeClr val="dk1"/>
                  </a:solidFill>
                  <a:latin typeface="Arial"/>
                  <a:ea typeface="Arial"/>
                  <a:cs typeface="Arial"/>
                  <a:sym typeface="Arial"/>
                </a:rPr>
                <a:t>ANGKA PUTUS SEKOLAH</a:t>
              </a:r>
              <a:endParaRPr/>
            </a:p>
            <a:p>
              <a:pPr marL="0" marR="0" lvl="0" indent="0" algn="ctr" rtl="0">
                <a:spcBef>
                  <a:spcPts val="1000"/>
                </a:spcBef>
                <a:spcAft>
                  <a:spcPts val="0"/>
                </a:spcAft>
                <a:buNone/>
              </a:pPr>
              <a:r>
                <a:rPr lang="en-US" sz="2000">
                  <a:solidFill>
                    <a:schemeClr val="dk1"/>
                  </a:solidFill>
                  <a:latin typeface="Arial"/>
                  <a:ea typeface="Arial"/>
                  <a:cs typeface="Arial"/>
                  <a:sym typeface="Arial"/>
                </a:rPr>
                <a:t>ANGKA MELEK HURUF</a:t>
              </a:r>
              <a:endParaRPr/>
            </a:p>
          </p:txBody>
        </p:sp>
        <p:sp>
          <p:nvSpPr>
            <p:cNvPr id="631" name="Google Shape;631;p45"/>
            <p:cNvSpPr txBox="1"/>
            <p:nvPr/>
          </p:nvSpPr>
          <p:spPr>
            <a:xfrm>
              <a:off x="5978072" y="4650640"/>
              <a:ext cx="2661331" cy="922735"/>
            </a:xfrm>
            <a:prstGeom prst="rect">
              <a:avLst/>
            </a:prstGeom>
            <a:noFill/>
            <a:ln w="9525" cap="flat" cmpd="sng">
              <a:solidFill>
                <a:schemeClr val="dk1"/>
              </a:solidFill>
              <a:prstDash val="solid"/>
              <a:miter lim="800000"/>
              <a:headEnd type="none" w="sm" len="sm"/>
              <a:tailEnd type="none" w="sm" len="sm"/>
            </a:ln>
          </p:spPr>
          <p:txBody>
            <a:bodyPr spcFirstLastPara="1" wrap="square" lIns="0" tIns="137125"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ANGKA LULUSAN</a:t>
              </a:r>
              <a:endParaRPr/>
            </a:p>
            <a:p>
              <a:pPr marL="0" marR="0" lvl="0" indent="0" algn="ctr" rtl="0">
                <a:spcBef>
                  <a:spcPts val="1000"/>
                </a:spcBef>
                <a:spcAft>
                  <a:spcPts val="0"/>
                </a:spcAft>
                <a:buNone/>
              </a:pPr>
              <a:r>
                <a:rPr lang="en-US" sz="2000">
                  <a:solidFill>
                    <a:schemeClr val="dk1"/>
                  </a:solidFill>
                  <a:latin typeface="Arial"/>
                  <a:ea typeface="Arial"/>
                  <a:cs typeface="Arial"/>
                  <a:sym typeface="Arial"/>
                </a:rPr>
                <a:t> ANGKA MELANJUTKAN</a:t>
              </a:r>
              <a:endParaRPr/>
            </a:p>
          </p:txBody>
        </p:sp>
        <p:cxnSp>
          <p:nvCxnSpPr>
            <p:cNvPr id="632" name="Google Shape;632;p45"/>
            <p:cNvCxnSpPr/>
            <p:nvPr/>
          </p:nvCxnSpPr>
          <p:spPr>
            <a:xfrm>
              <a:off x="1969635" y="2514600"/>
              <a:ext cx="1044348" cy="0"/>
            </a:xfrm>
            <a:prstGeom prst="straightConnector1">
              <a:avLst/>
            </a:prstGeom>
            <a:noFill/>
            <a:ln w="28575" cap="flat" cmpd="sng">
              <a:solidFill>
                <a:schemeClr val="dk1"/>
              </a:solidFill>
              <a:prstDash val="solid"/>
              <a:round/>
              <a:headEnd type="none" w="med" len="med"/>
              <a:tailEnd type="triangle" w="med" len="med"/>
            </a:ln>
          </p:spPr>
        </p:cxnSp>
        <p:cxnSp>
          <p:nvCxnSpPr>
            <p:cNvPr id="633" name="Google Shape;633;p45"/>
            <p:cNvCxnSpPr/>
            <p:nvPr/>
          </p:nvCxnSpPr>
          <p:spPr>
            <a:xfrm>
              <a:off x="5091742" y="5108755"/>
              <a:ext cx="885600" cy="0"/>
            </a:xfrm>
            <a:prstGeom prst="straightConnector1">
              <a:avLst/>
            </a:prstGeom>
            <a:noFill/>
            <a:ln w="28575" cap="flat" cmpd="sng">
              <a:solidFill>
                <a:schemeClr val="dk1"/>
              </a:solidFill>
              <a:prstDash val="solid"/>
              <a:round/>
              <a:headEnd type="triangle" w="med" len="med"/>
              <a:tailEnd type="none" w="med" len="med"/>
            </a:ln>
          </p:spPr>
        </p:cxnSp>
        <p:cxnSp>
          <p:nvCxnSpPr>
            <p:cNvPr id="634" name="Google Shape;634;p45"/>
            <p:cNvCxnSpPr/>
            <p:nvPr/>
          </p:nvCxnSpPr>
          <p:spPr>
            <a:xfrm>
              <a:off x="7877402" y="3124200"/>
              <a:ext cx="0" cy="1555200"/>
            </a:xfrm>
            <a:prstGeom prst="straightConnector1">
              <a:avLst/>
            </a:prstGeom>
            <a:noFill/>
            <a:ln w="28575" cap="flat" cmpd="sng">
              <a:solidFill>
                <a:schemeClr val="dk1"/>
              </a:solidFill>
              <a:prstDash val="solid"/>
              <a:round/>
              <a:headEnd type="none" w="med" len="med"/>
              <a:tailEnd type="triangle" w="med" len="med"/>
            </a:ln>
          </p:spPr>
        </p:cxnSp>
        <p:sp>
          <p:nvSpPr>
            <p:cNvPr id="635" name="Google Shape;635;p45"/>
            <p:cNvSpPr txBox="1"/>
            <p:nvPr/>
          </p:nvSpPr>
          <p:spPr>
            <a:xfrm>
              <a:off x="2935867" y="4039820"/>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OUTCOME</a:t>
              </a:r>
              <a:endParaRPr/>
            </a:p>
          </p:txBody>
        </p:sp>
        <p:sp>
          <p:nvSpPr>
            <p:cNvPr id="636" name="Google Shape;636;p45"/>
            <p:cNvSpPr txBox="1"/>
            <p:nvPr/>
          </p:nvSpPr>
          <p:spPr>
            <a:xfrm>
              <a:off x="6642553" y="4192525"/>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OUTPUT</a:t>
              </a:r>
              <a:endParaRPr/>
            </a:p>
          </p:txBody>
        </p:sp>
        <p:sp>
          <p:nvSpPr>
            <p:cNvPr id="637" name="Google Shape;637;p45"/>
            <p:cNvSpPr txBox="1"/>
            <p:nvPr/>
          </p:nvSpPr>
          <p:spPr>
            <a:xfrm>
              <a:off x="508380" y="3105830"/>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BPS</a:t>
              </a:r>
              <a:endParaRPr/>
            </a:p>
          </p:txBody>
        </p:sp>
        <p:sp>
          <p:nvSpPr>
            <p:cNvPr id="638" name="Google Shape;638;p45"/>
            <p:cNvSpPr txBox="1"/>
            <p:nvPr/>
          </p:nvSpPr>
          <p:spPr>
            <a:xfrm>
              <a:off x="3138414" y="3187826"/>
              <a:ext cx="1376589" cy="304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DIKBUD</a:t>
              </a:r>
              <a:endParaRPr/>
            </a:p>
          </p:txBody>
        </p:sp>
        <p:sp>
          <p:nvSpPr>
            <p:cNvPr id="639" name="Google Shape;639;p45"/>
            <p:cNvSpPr txBox="1"/>
            <p:nvPr/>
          </p:nvSpPr>
          <p:spPr>
            <a:xfrm>
              <a:off x="7767411" y="3138487"/>
              <a:ext cx="1376589"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SUSENAS</a:t>
              </a:r>
              <a:endParaRPr/>
            </a:p>
          </p:txBody>
        </p:sp>
        <p:sp>
          <p:nvSpPr>
            <p:cNvPr id="640" name="Google Shape;640;p45"/>
            <p:cNvSpPr txBox="1"/>
            <p:nvPr/>
          </p:nvSpPr>
          <p:spPr>
            <a:xfrm>
              <a:off x="7191756" y="5658272"/>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DIKBUD</a:t>
              </a:r>
              <a:endParaRPr/>
            </a:p>
          </p:txBody>
        </p:sp>
        <p:sp>
          <p:nvSpPr>
            <p:cNvPr id="641" name="Google Shape;641;p45"/>
            <p:cNvSpPr txBox="1"/>
            <p:nvPr/>
          </p:nvSpPr>
          <p:spPr>
            <a:xfrm>
              <a:off x="2461760" y="5872280"/>
              <a:ext cx="1376589"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SUSENAS</a:t>
              </a:r>
              <a:endParaRPr/>
            </a:p>
          </p:txBody>
        </p:sp>
        <p:cxnSp>
          <p:nvCxnSpPr>
            <p:cNvPr id="642" name="Google Shape;642;p45"/>
            <p:cNvCxnSpPr/>
            <p:nvPr/>
          </p:nvCxnSpPr>
          <p:spPr>
            <a:xfrm>
              <a:off x="4650241" y="2514600"/>
              <a:ext cx="1064759" cy="0"/>
            </a:xfrm>
            <a:prstGeom prst="straightConnector1">
              <a:avLst/>
            </a:prstGeom>
            <a:noFill/>
            <a:ln w="28575" cap="flat" cmpd="sng">
              <a:solidFill>
                <a:schemeClr val="dk1"/>
              </a:solidFill>
              <a:prstDash val="solid"/>
              <a:round/>
              <a:headEnd type="none" w="med" len="med"/>
              <a:tailEnd type="triangle" w="med" len="med"/>
            </a:ln>
          </p:spPr>
        </p:cxnSp>
        <p:cxnSp>
          <p:nvCxnSpPr>
            <p:cNvPr id="643" name="Google Shape;643;p45"/>
            <p:cNvCxnSpPr/>
            <p:nvPr/>
          </p:nvCxnSpPr>
          <p:spPr>
            <a:xfrm>
              <a:off x="5978072" y="5108755"/>
              <a:ext cx="2673804" cy="0"/>
            </a:xfrm>
            <a:prstGeom prst="straightConnector1">
              <a:avLst/>
            </a:prstGeom>
            <a:noFill/>
            <a:ln w="9525" cap="flat" cmpd="sng">
              <a:solidFill>
                <a:schemeClr val="dk1"/>
              </a:solidFill>
              <a:prstDash val="solid"/>
              <a:round/>
              <a:headEnd type="none" w="med" len="med"/>
              <a:tailEnd type="none" w="med" len="med"/>
            </a:ln>
          </p:spPr>
        </p:cxnSp>
        <p:sp>
          <p:nvSpPr>
            <p:cNvPr id="644" name="Google Shape;644;p45"/>
            <p:cNvSpPr txBox="1"/>
            <p:nvPr/>
          </p:nvSpPr>
          <p:spPr>
            <a:xfrm>
              <a:off x="5727474" y="3124200"/>
              <a:ext cx="1376589"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DIKBUD</a:t>
              </a:r>
              <a:endParaRPr/>
            </a:p>
          </p:txBody>
        </p:sp>
      </p:grpSp>
      <p:sp>
        <p:nvSpPr>
          <p:cNvPr id="645" name="Google Shape;645;p45"/>
          <p:cNvSpPr txBox="1">
            <a:spLocks noGrp="1"/>
          </p:cNvSpPr>
          <p:nvPr>
            <p:ph type="title"/>
          </p:nvPr>
        </p:nvSpPr>
        <p:spPr>
          <a:xfrm>
            <a:off x="1032451" y="186690"/>
            <a:ext cx="9998499" cy="959599"/>
          </a:xfrm>
          <a:prstGeom prst="rect">
            <a:avLst/>
          </a:prstGeom>
          <a:noFill/>
          <a:ln>
            <a:noFill/>
          </a:ln>
        </p:spPr>
        <p:txBody>
          <a:bodyPr spcFirstLastPara="1" wrap="square" lIns="104925" tIns="52450" rIns="104925" bIns="52450" anchor="ctr" anchorCtr="0">
            <a:normAutofit/>
          </a:bodyPr>
          <a:lstStyle/>
          <a:p>
            <a:pPr marL="0" lvl="0" indent="0" algn="ctr" rtl="0">
              <a:lnSpc>
                <a:spcPct val="90000"/>
              </a:lnSpc>
              <a:spcBef>
                <a:spcPts val="0"/>
              </a:spcBef>
              <a:spcAft>
                <a:spcPts val="0"/>
              </a:spcAft>
              <a:buClr>
                <a:schemeClr val="dk1"/>
              </a:buClr>
              <a:buSzPts val="4500"/>
              <a:buFont typeface="Calibri"/>
              <a:buNone/>
            </a:pPr>
            <a:r>
              <a:rPr lang="en-US" b="1"/>
              <a:t>Hubungan antar Indikator Pendidikan</a:t>
            </a:r>
            <a:endParaRPr sz="4000"/>
          </a:p>
        </p:txBody>
      </p:sp>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4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651" name="Google Shape;651;p46"/>
          <p:cNvSpPr txBox="1">
            <a:spLocks noGrp="1"/>
          </p:cNvSpPr>
          <p:nvPr>
            <p:ph type="title"/>
          </p:nvPr>
        </p:nvSpPr>
        <p:spPr>
          <a:xfrm>
            <a:off x="1062840" y="155802"/>
            <a:ext cx="9952440" cy="959599"/>
          </a:xfrm>
          <a:prstGeom prst="rect">
            <a:avLst/>
          </a:prstGeom>
          <a:noFill/>
          <a:ln>
            <a:noFill/>
          </a:ln>
        </p:spPr>
        <p:txBody>
          <a:bodyPr spcFirstLastPara="1" wrap="square" lIns="104925" tIns="52450" rIns="104925" bIns="52450" anchor="ctr" anchorCtr="0">
            <a:normAutofit fontScale="90000"/>
          </a:bodyPr>
          <a:lstStyle/>
          <a:p>
            <a:pPr marL="0" lvl="0" indent="0" algn="ctr" rtl="0">
              <a:lnSpc>
                <a:spcPct val="90000"/>
              </a:lnSpc>
              <a:spcBef>
                <a:spcPts val="0"/>
              </a:spcBef>
              <a:spcAft>
                <a:spcPts val="0"/>
              </a:spcAft>
              <a:buClr>
                <a:schemeClr val="dk1"/>
              </a:buClr>
              <a:buSzPct val="112500"/>
              <a:buFont typeface="Calibri"/>
              <a:buNone/>
            </a:pPr>
            <a:r>
              <a:rPr lang="en-US" b="1"/>
              <a:t>pendidikan dan kualitas manusia:</a:t>
            </a:r>
            <a:br>
              <a:rPr lang="en-US" b="1"/>
            </a:br>
            <a:r>
              <a:rPr lang="en-US" sz="3600" b="1"/>
              <a:t>identifikasi determinan (contoh)</a:t>
            </a:r>
            <a:endParaRPr sz="4000"/>
          </a:p>
        </p:txBody>
      </p:sp>
      <p:grpSp>
        <p:nvGrpSpPr>
          <p:cNvPr id="652" name="Google Shape;652;p46"/>
          <p:cNvGrpSpPr/>
          <p:nvPr/>
        </p:nvGrpSpPr>
        <p:grpSpPr>
          <a:xfrm>
            <a:off x="774339" y="1337070"/>
            <a:ext cx="10673474" cy="5384406"/>
            <a:chOff x="168699" y="1337070"/>
            <a:chExt cx="8825818" cy="5273290"/>
          </a:xfrm>
        </p:grpSpPr>
        <p:sp>
          <p:nvSpPr>
            <p:cNvPr id="653" name="Google Shape;653;p46"/>
            <p:cNvSpPr txBox="1"/>
            <p:nvPr/>
          </p:nvSpPr>
          <p:spPr>
            <a:xfrm>
              <a:off x="544286" y="1337070"/>
              <a:ext cx="1376589"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RUJUKAN</a:t>
              </a:r>
              <a:endParaRPr/>
            </a:p>
          </p:txBody>
        </p:sp>
        <p:sp>
          <p:nvSpPr>
            <p:cNvPr id="654" name="Google Shape;654;p46"/>
            <p:cNvSpPr txBox="1"/>
            <p:nvPr/>
          </p:nvSpPr>
          <p:spPr>
            <a:xfrm>
              <a:off x="3150522" y="1383233"/>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INPUT</a:t>
              </a:r>
              <a:endParaRPr/>
            </a:p>
          </p:txBody>
        </p:sp>
        <p:sp>
          <p:nvSpPr>
            <p:cNvPr id="655" name="Google Shape;655;p46"/>
            <p:cNvSpPr txBox="1"/>
            <p:nvPr/>
          </p:nvSpPr>
          <p:spPr>
            <a:xfrm>
              <a:off x="6501946" y="1406043"/>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PROSES</a:t>
              </a:r>
              <a:endParaRPr/>
            </a:p>
          </p:txBody>
        </p:sp>
        <p:sp>
          <p:nvSpPr>
            <p:cNvPr id="656" name="Google Shape;656;p46"/>
            <p:cNvSpPr txBox="1"/>
            <p:nvPr/>
          </p:nvSpPr>
          <p:spPr>
            <a:xfrm>
              <a:off x="492126" y="1780305"/>
              <a:ext cx="1477509" cy="830997"/>
            </a:xfrm>
            <a:prstGeom prst="rect">
              <a:avLst/>
            </a:prstGeom>
            <a:noFill/>
            <a:ln w="9525" cap="flat" cmpd="sng">
              <a:solidFill>
                <a:schemeClr val="dk1"/>
              </a:solidFill>
              <a:prstDash val="solid"/>
              <a:miter lim="800000"/>
              <a:headEnd type="none" w="sm" len="sm"/>
              <a:tailEnd type="none" w="sm" len="sm"/>
            </a:ln>
          </p:spPr>
          <p:txBody>
            <a:bodyPr spcFirstLastPara="1" wrap="square" lIns="72000" tIns="0" rIns="36000" bIns="0" anchor="t" anchorCtr="0">
              <a:spAutoFit/>
            </a:bodyPr>
            <a:lstStyle/>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Penduduk usia 3-6, 7-18 tahun</a:t>
              </a:r>
              <a:endParaRPr/>
            </a:p>
          </p:txBody>
        </p:sp>
        <p:sp>
          <p:nvSpPr>
            <p:cNvPr id="657" name="Google Shape;657;p46"/>
            <p:cNvSpPr txBox="1"/>
            <p:nvPr/>
          </p:nvSpPr>
          <p:spPr>
            <a:xfrm>
              <a:off x="3024188" y="1786745"/>
              <a:ext cx="1606776" cy="770400"/>
            </a:xfrm>
            <a:prstGeom prst="rect">
              <a:avLst/>
            </a:prstGeom>
            <a:noFill/>
            <a:ln w="9525" cap="flat" cmpd="sng">
              <a:solidFill>
                <a:schemeClr val="dk1"/>
              </a:solidFill>
              <a:prstDash val="solid"/>
              <a:miter lim="800000"/>
              <a:headEnd type="none" w="sm" len="sm"/>
              <a:tailEnd type="none" w="sm" len="sm"/>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Rasio siswa terhadap: guru, kelas, sekolah</a:t>
              </a:r>
              <a:endParaRPr/>
            </a:p>
          </p:txBody>
        </p:sp>
        <p:sp>
          <p:nvSpPr>
            <p:cNvPr id="658" name="Google Shape;658;p46"/>
            <p:cNvSpPr txBox="1"/>
            <p:nvPr/>
          </p:nvSpPr>
          <p:spPr>
            <a:xfrm>
              <a:off x="5697991" y="1803232"/>
              <a:ext cx="1813430" cy="846000"/>
            </a:xfrm>
            <a:prstGeom prst="rect">
              <a:avLst/>
            </a:prstGeom>
            <a:noFill/>
            <a:ln w="9525" cap="flat" cmpd="sng">
              <a:solidFill>
                <a:schemeClr val="dk1"/>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Angka Penyerapan SD, SMP, SMA, SMK</a:t>
              </a:r>
              <a:endParaRPr sz="2000">
                <a:solidFill>
                  <a:schemeClr val="dk1"/>
                </a:solidFill>
                <a:latin typeface="Arial"/>
                <a:ea typeface="Arial"/>
                <a:cs typeface="Arial"/>
                <a:sym typeface="Arial"/>
              </a:endParaRPr>
            </a:p>
          </p:txBody>
        </p:sp>
        <p:sp>
          <p:nvSpPr>
            <p:cNvPr id="659" name="Google Shape;659;p46"/>
            <p:cNvSpPr txBox="1"/>
            <p:nvPr/>
          </p:nvSpPr>
          <p:spPr>
            <a:xfrm>
              <a:off x="7511421" y="1803232"/>
              <a:ext cx="1073326" cy="846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APK</a:t>
              </a:r>
              <a:endParaRPr/>
            </a:p>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APM</a:t>
              </a:r>
              <a:endParaRPr/>
            </a:p>
          </p:txBody>
        </p:sp>
        <p:sp>
          <p:nvSpPr>
            <p:cNvPr id="660" name="Google Shape;660;p46"/>
            <p:cNvSpPr txBox="1"/>
            <p:nvPr/>
          </p:nvSpPr>
          <p:spPr>
            <a:xfrm>
              <a:off x="2193354" y="4256465"/>
              <a:ext cx="2893786" cy="1054098"/>
            </a:xfrm>
            <a:prstGeom prst="rect">
              <a:avLst/>
            </a:prstGeom>
            <a:noFill/>
            <a:ln w="9525" cap="flat" cmpd="sng">
              <a:solidFill>
                <a:schemeClr val="dk1"/>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90000"/>
                </a:lnSpc>
                <a:spcBef>
                  <a:spcPts val="0"/>
                </a:spcBef>
                <a:spcAft>
                  <a:spcPts val="0"/>
                </a:spcAft>
                <a:buNone/>
              </a:pPr>
              <a:r>
                <a:rPr lang="en-US" sz="2000">
                  <a:solidFill>
                    <a:schemeClr val="dk1"/>
                  </a:solidFill>
                  <a:latin typeface="Arial"/>
                  <a:ea typeface="Arial"/>
                  <a:cs typeface="Arial"/>
                  <a:sym typeface="Arial"/>
                </a:rPr>
                <a:t> RATA</a:t>
              </a:r>
              <a:r>
                <a:rPr lang="en-US" sz="2000" baseline="30000">
                  <a:solidFill>
                    <a:schemeClr val="dk1"/>
                  </a:solidFill>
                  <a:latin typeface="Arial"/>
                  <a:ea typeface="Arial"/>
                  <a:cs typeface="Arial"/>
                  <a:sym typeface="Arial"/>
                </a:rPr>
                <a:t>2</a:t>
              </a:r>
              <a:r>
                <a:rPr lang="en-US" sz="2000">
                  <a:solidFill>
                    <a:schemeClr val="dk1"/>
                  </a:solidFill>
                  <a:latin typeface="Arial"/>
                  <a:ea typeface="Arial"/>
                  <a:cs typeface="Arial"/>
                  <a:sym typeface="Arial"/>
                </a:rPr>
                <a:t> LAMA SEKOLAH</a:t>
              </a:r>
              <a:endParaRPr/>
            </a:p>
            <a:p>
              <a:pPr marL="0" marR="0" lvl="0" indent="0" algn="ctr" rtl="0">
                <a:lnSpc>
                  <a:spcPct val="90000"/>
                </a:lnSpc>
                <a:spcBef>
                  <a:spcPts val="420"/>
                </a:spcBef>
                <a:spcAft>
                  <a:spcPts val="0"/>
                </a:spcAft>
                <a:buNone/>
              </a:pPr>
              <a:r>
                <a:rPr lang="en-US" sz="2000">
                  <a:solidFill>
                    <a:schemeClr val="dk1"/>
                  </a:solidFill>
                  <a:latin typeface="Arial"/>
                  <a:ea typeface="Arial"/>
                  <a:cs typeface="Arial"/>
                  <a:sym typeface="Arial"/>
                </a:rPr>
                <a:t>ANGKA PUTUS SEKOLAH</a:t>
              </a:r>
              <a:endParaRPr/>
            </a:p>
            <a:p>
              <a:pPr marL="0" marR="0" lvl="0" indent="0" algn="ctr" rtl="0">
                <a:lnSpc>
                  <a:spcPct val="90000"/>
                </a:lnSpc>
                <a:spcBef>
                  <a:spcPts val="420"/>
                </a:spcBef>
                <a:spcAft>
                  <a:spcPts val="0"/>
                </a:spcAft>
                <a:buNone/>
              </a:pPr>
              <a:r>
                <a:rPr lang="en-US" sz="2000">
                  <a:solidFill>
                    <a:schemeClr val="dk1"/>
                  </a:solidFill>
                  <a:latin typeface="Arial"/>
                  <a:ea typeface="Arial"/>
                  <a:cs typeface="Arial"/>
                  <a:sym typeface="Arial"/>
                </a:rPr>
                <a:t>ANGKA MELEK HURUF</a:t>
              </a:r>
              <a:endParaRPr/>
            </a:p>
          </p:txBody>
        </p:sp>
        <p:sp>
          <p:nvSpPr>
            <p:cNvPr id="661" name="Google Shape;661;p46"/>
            <p:cNvSpPr txBox="1"/>
            <p:nvPr/>
          </p:nvSpPr>
          <p:spPr>
            <a:xfrm>
              <a:off x="5978072" y="4108048"/>
              <a:ext cx="2661331" cy="922735"/>
            </a:xfrm>
            <a:prstGeom prst="rect">
              <a:avLst/>
            </a:prstGeom>
            <a:noFill/>
            <a:ln w="9525" cap="flat" cmpd="sng">
              <a:solidFill>
                <a:schemeClr val="dk1"/>
              </a:solidFill>
              <a:prstDash val="solid"/>
              <a:miter lim="800000"/>
              <a:headEnd type="none" w="sm" len="sm"/>
              <a:tailEnd type="none" w="sm" len="sm"/>
            </a:ln>
          </p:spPr>
          <p:txBody>
            <a:bodyPr spcFirstLastPara="1" wrap="square" lIns="0" tIns="137125"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ANGKA LULUSAN</a:t>
              </a:r>
              <a:endParaRPr/>
            </a:p>
            <a:p>
              <a:pPr marL="0" marR="0" lvl="0" indent="0" algn="ctr" rtl="0">
                <a:spcBef>
                  <a:spcPts val="1000"/>
                </a:spcBef>
                <a:spcAft>
                  <a:spcPts val="0"/>
                </a:spcAft>
                <a:buNone/>
              </a:pPr>
              <a:r>
                <a:rPr lang="en-US" sz="2000">
                  <a:solidFill>
                    <a:schemeClr val="dk1"/>
                  </a:solidFill>
                  <a:latin typeface="Arial"/>
                  <a:ea typeface="Arial"/>
                  <a:cs typeface="Arial"/>
                  <a:sym typeface="Arial"/>
                </a:rPr>
                <a:t> ANGKA MELANJUTKAN</a:t>
              </a:r>
              <a:endParaRPr/>
            </a:p>
          </p:txBody>
        </p:sp>
        <p:cxnSp>
          <p:nvCxnSpPr>
            <p:cNvPr id="662" name="Google Shape;662;p46"/>
            <p:cNvCxnSpPr/>
            <p:nvPr/>
          </p:nvCxnSpPr>
          <p:spPr>
            <a:xfrm>
              <a:off x="1969635" y="2186576"/>
              <a:ext cx="1044348" cy="0"/>
            </a:xfrm>
            <a:prstGeom prst="straightConnector1">
              <a:avLst/>
            </a:prstGeom>
            <a:noFill/>
            <a:ln w="28575" cap="flat" cmpd="sng">
              <a:solidFill>
                <a:schemeClr val="dk1"/>
              </a:solidFill>
              <a:prstDash val="solid"/>
              <a:round/>
              <a:headEnd type="none" w="med" len="med"/>
              <a:tailEnd type="triangle" w="med" len="med"/>
            </a:ln>
          </p:spPr>
        </p:cxnSp>
        <p:cxnSp>
          <p:nvCxnSpPr>
            <p:cNvPr id="663" name="Google Shape;663;p46"/>
            <p:cNvCxnSpPr/>
            <p:nvPr/>
          </p:nvCxnSpPr>
          <p:spPr>
            <a:xfrm>
              <a:off x="5091742" y="4577148"/>
              <a:ext cx="885600" cy="0"/>
            </a:xfrm>
            <a:prstGeom prst="straightConnector1">
              <a:avLst/>
            </a:prstGeom>
            <a:noFill/>
            <a:ln w="28575" cap="flat" cmpd="sng">
              <a:solidFill>
                <a:schemeClr val="dk1"/>
              </a:solidFill>
              <a:prstDash val="solid"/>
              <a:round/>
              <a:headEnd type="triangle" w="med" len="med"/>
              <a:tailEnd type="none" w="med" len="med"/>
            </a:ln>
          </p:spPr>
        </p:cxnSp>
        <p:cxnSp>
          <p:nvCxnSpPr>
            <p:cNvPr id="664" name="Google Shape;664;p46"/>
            <p:cNvCxnSpPr/>
            <p:nvPr/>
          </p:nvCxnSpPr>
          <p:spPr>
            <a:xfrm>
              <a:off x="7789353" y="2702584"/>
              <a:ext cx="0" cy="1375200"/>
            </a:xfrm>
            <a:prstGeom prst="straightConnector1">
              <a:avLst/>
            </a:prstGeom>
            <a:noFill/>
            <a:ln w="28575" cap="flat" cmpd="sng">
              <a:solidFill>
                <a:schemeClr val="dk1"/>
              </a:solidFill>
              <a:prstDash val="solid"/>
              <a:round/>
              <a:headEnd type="none" w="med" len="med"/>
              <a:tailEnd type="stealth" w="lg" len="lg"/>
            </a:ln>
          </p:spPr>
        </p:cxnSp>
        <p:sp>
          <p:nvSpPr>
            <p:cNvPr id="665" name="Google Shape;665;p46"/>
            <p:cNvSpPr txBox="1"/>
            <p:nvPr/>
          </p:nvSpPr>
          <p:spPr>
            <a:xfrm>
              <a:off x="2935867" y="3872705"/>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OUTCOME</a:t>
              </a:r>
              <a:endParaRPr/>
            </a:p>
          </p:txBody>
        </p:sp>
        <p:sp>
          <p:nvSpPr>
            <p:cNvPr id="666" name="Google Shape;666;p46"/>
            <p:cNvSpPr txBox="1"/>
            <p:nvPr/>
          </p:nvSpPr>
          <p:spPr>
            <a:xfrm>
              <a:off x="7619061" y="3225823"/>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OUTPUT</a:t>
              </a:r>
              <a:endParaRPr/>
            </a:p>
          </p:txBody>
        </p:sp>
        <p:cxnSp>
          <p:nvCxnSpPr>
            <p:cNvPr id="667" name="Google Shape;667;p46"/>
            <p:cNvCxnSpPr/>
            <p:nvPr/>
          </p:nvCxnSpPr>
          <p:spPr>
            <a:xfrm>
              <a:off x="4650241" y="2230496"/>
              <a:ext cx="1064759" cy="0"/>
            </a:xfrm>
            <a:prstGeom prst="straightConnector1">
              <a:avLst/>
            </a:prstGeom>
            <a:noFill/>
            <a:ln w="28575" cap="flat" cmpd="sng">
              <a:solidFill>
                <a:schemeClr val="dk1"/>
              </a:solidFill>
              <a:prstDash val="solid"/>
              <a:round/>
              <a:headEnd type="none" w="med" len="med"/>
              <a:tailEnd type="triangle" w="med" len="med"/>
            </a:ln>
          </p:spPr>
        </p:cxnSp>
        <p:cxnSp>
          <p:nvCxnSpPr>
            <p:cNvPr id="668" name="Google Shape;668;p46"/>
            <p:cNvCxnSpPr/>
            <p:nvPr/>
          </p:nvCxnSpPr>
          <p:spPr>
            <a:xfrm>
              <a:off x="5978072" y="4581960"/>
              <a:ext cx="2673804" cy="0"/>
            </a:xfrm>
            <a:prstGeom prst="straightConnector1">
              <a:avLst/>
            </a:prstGeom>
            <a:noFill/>
            <a:ln w="9525" cap="flat" cmpd="sng">
              <a:solidFill>
                <a:schemeClr val="dk1"/>
              </a:solidFill>
              <a:prstDash val="dash"/>
              <a:round/>
              <a:headEnd type="none" w="med" len="med"/>
              <a:tailEnd type="none" w="med" len="med"/>
            </a:ln>
          </p:spPr>
        </p:cxnSp>
        <p:cxnSp>
          <p:nvCxnSpPr>
            <p:cNvPr id="669" name="Google Shape;669;p46"/>
            <p:cNvCxnSpPr/>
            <p:nvPr/>
          </p:nvCxnSpPr>
          <p:spPr>
            <a:xfrm rot="10800000">
              <a:off x="1374267" y="4821964"/>
              <a:ext cx="824210" cy="0"/>
            </a:xfrm>
            <a:prstGeom prst="straightConnector1">
              <a:avLst/>
            </a:prstGeom>
            <a:noFill/>
            <a:ln w="25400" cap="flat" cmpd="sng">
              <a:solidFill>
                <a:schemeClr val="dk1"/>
              </a:solidFill>
              <a:prstDash val="solid"/>
              <a:round/>
              <a:headEnd type="none" w="sm" len="sm"/>
              <a:tailEnd type="stealth" w="med" len="med"/>
            </a:ln>
            <a:effectLst>
              <a:outerShdw blurRad="40000" dist="20000" dir="5400000" rotWithShape="0">
                <a:srgbClr val="000000">
                  <a:alpha val="37647"/>
                </a:srgbClr>
              </a:outerShdw>
            </a:effectLst>
          </p:spPr>
        </p:cxnSp>
        <p:sp>
          <p:nvSpPr>
            <p:cNvPr id="670" name="Google Shape;670;p46"/>
            <p:cNvSpPr/>
            <p:nvPr/>
          </p:nvSpPr>
          <p:spPr>
            <a:xfrm>
              <a:off x="298062" y="4581960"/>
              <a:ext cx="1106426" cy="1415564"/>
            </a:xfrm>
            <a:prstGeom prst="rect">
              <a:avLst/>
            </a:prstGeom>
            <a:solidFill>
              <a:srgbClr val="FFFF00"/>
            </a:solidFill>
            <a:ln w="9525"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0" rIns="91425" bIns="45700" anchor="ctr" anchorCtr="0">
              <a:noAutofit/>
            </a:bodyPr>
            <a:lstStyle/>
            <a:p>
              <a:pPr marL="0" marR="0" lvl="0" indent="0" algn="ctr" rtl="0">
                <a:spcBef>
                  <a:spcPts val="0"/>
                </a:spcBef>
                <a:spcAft>
                  <a:spcPts val="0"/>
                </a:spcAft>
                <a:buNone/>
              </a:pPr>
              <a:r>
                <a:rPr lang="en-US" sz="2000" b="1">
                  <a:solidFill>
                    <a:srgbClr val="FF0000"/>
                  </a:solidFill>
                  <a:latin typeface="Calibri"/>
                  <a:ea typeface="Calibri"/>
                  <a:cs typeface="Calibri"/>
                  <a:sym typeface="Calibri"/>
                </a:rPr>
                <a:t>IPM:</a:t>
              </a:r>
              <a:endParaRPr/>
            </a:p>
            <a:p>
              <a:pPr marL="0" marR="0" lvl="0" indent="0" algn="ctr" rtl="0">
                <a:spcBef>
                  <a:spcPts val="0"/>
                </a:spcBef>
                <a:spcAft>
                  <a:spcPts val="0"/>
                </a:spcAft>
                <a:buNone/>
              </a:pPr>
              <a:r>
                <a:rPr lang="en-US" sz="2000" b="1">
                  <a:solidFill>
                    <a:srgbClr val="FF0000"/>
                  </a:solidFill>
                  <a:latin typeface="Calibri"/>
                  <a:ea typeface="Calibri"/>
                  <a:cs typeface="Calibri"/>
                  <a:sym typeface="Calibri"/>
                </a:rPr>
                <a:t>Sehat, Ilmu, Produktif</a:t>
              </a:r>
              <a:endParaRPr/>
            </a:p>
          </p:txBody>
        </p:sp>
        <p:cxnSp>
          <p:nvCxnSpPr>
            <p:cNvPr id="671" name="Google Shape;671;p46"/>
            <p:cNvCxnSpPr/>
            <p:nvPr/>
          </p:nvCxnSpPr>
          <p:spPr>
            <a:xfrm rot="10800000" flipH="1">
              <a:off x="1688955" y="4355986"/>
              <a:ext cx="13511" cy="424800"/>
            </a:xfrm>
            <a:prstGeom prst="straightConnector1">
              <a:avLst/>
            </a:prstGeom>
            <a:noFill/>
            <a:ln w="25400" cap="flat" cmpd="sng">
              <a:solidFill>
                <a:srgbClr val="FF0000"/>
              </a:solidFill>
              <a:prstDash val="solid"/>
              <a:round/>
              <a:headEnd type="stealth" w="lg" len="lg"/>
              <a:tailEnd type="none" w="sm" len="sm"/>
            </a:ln>
            <a:effectLst>
              <a:outerShdw blurRad="40000" dist="20000" dir="5400000" rotWithShape="0">
                <a:srgbClr val="000000">
                  <a:alpha val="37647"/>
                </a:srgbClr>
              </a:outerShdw>
            </a:effectLst>
          </p:spPr>
        </p:cxnSp>
        <p:sp>
          <p:nvSpPr>
            <p:cNvPr id="672" name="Google Shape;672;p46"/>
            <p:cNvSpPr/>
            <p:nvPr/>
          </p:nvSpPr>
          <p:spPr>
            <a:xfrm>
              <a:off x="993556" y="3785364"/>
              <a:ext cx="1058400" cy="597600"/>
            </a:xfrm>
            <a:prstGeom prst="rect">
              <a:avLst/>
            </a:prstGeom>
            <a:noFill/>
            <a:ln w="9525" cap="flat" cmpd="sng">
              <a:solidFill>
                <a:schemeClr val="dk1"/>
              </a:solidFill>
              <a:prstDash val="dot"/>
              <a:round/>
              <a:headEnd type="none" w="sm" len="sm"/>
              <a:tailEnd type="none" w="sm" len="sm"/>
            </a:ln>
            <a:effectLst>
              <a:outerShdw blurRad="40000" dist="23000" dir="5400000" rotWithShape="0">
                <a:srgbClr val="000000">
                  <a:alpha val="34901"/>
                </a:srgbClr>
              </a:outerShdw>
            </a:effectLst>
          </p:spPr>
          <p:txBody>
            <a:bodyPr spcFirstLastPara="1" wrap="square" lIns="36000" tIns="0" rIns="36000" bIns="0" anchor="ctr" anchorCtr="0">
              <a:noAutofit/>
            </a:bodyPr>
            <a:lstStyle/>
            <a:p>
              <a:pPr marL="0" marR="0" lvl="0" indent="0" algn="ctr" rtl="0">
                <a:lnSpc>
                  <a:spcPct val="90000"/>
                </a:lnSpc>
                <a:spcBef>
                  <a:spcPts val="0"/>
                </a:spcBef>
                <a:spcAft>
                  <a:spcPts val="0"/>
                </a:spcAft>
                <a:buNone/>
              </a:pPr>
              <a:r>
                <a:rPr lang="en-US" sz="2000">
                  <a:solidFill>
                    <a:schemeClr val="dk1"/>
                  </a:solidFill>
                  <a:latin typeface="Calibri"/>
                  <a:ea typeface="Calibri"/>
                  <a:cs typeface="Calibri"/>
                  <a:sym typeface="Calibri"/>
                </a:rPr>
                <a:t>Share 1/3 pada IPM</a:t>
              </a:r>
              <a:endParaRPr/>
            </a:p>
          </p:txBody>
        </p:sp>
        <p:cxnSp>
          <p:nvCxnSpPr>
            <p:cNvPr id="673" name="Google Shape;673;p46"/>
            <p:cNvCxnSpPr/>
            <p:nvPr/>
          </p:nvCxnSpPr>
          <p:spPr>
            <a:xfrm>
              <a:off x="4274207" y="2610112"/>
              <a:ext cx="1882800" cy="1447800"/>
            </a:xfrm>
            <a:prstGeom prst="straightConnector1">
              <a:avLst/>
            </a:prstGeom>
            <a:noFill/>
            <a:ln w="25400" cap="flat" cmpd="sng">
              <a:solidFill>
                <a:srgbClr val="FF0000"/>
              </a:solidFill>
              <a:prstDash val="dash"/>
              <a:round/>
              <a:headEnd type="none" w="sm" len="sm"/>
              <a:tailEnd type="stealth" w="med" len="med"/>
            </a:ln>
            <a:effectLst>
              <a:outerShdw blurRad="40000" dist="20000" dir="5400000" rotWithShape="0">
                <a:srgbClr val="000000">
                  <a:alpha val="37647"/>
                </a:srgbClr>
              </a:outerShdw>
            </a:effectLst>
          </p:spPr>
        </p:cxnSp>
        <p:sp>
          <p:nvSpPr>
            <p:cNvPr id="674" name="Google Shape;674;p46"/>
            <p:cNvSpPr txBox="1"/>
            <p:nvPr/>
          </p:nvSpPr>
          <p:spPr>
            <a:xfrm>
              <a:off x="7370814" y="5423417"/>
              <a:ext cx="1158239" cy="642870"/>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Kualitas Lulusan</a:t>
              </a:r>
              <a:endParaRPr sz="2000">
                <a:solidFill>
                  <a:schemeClr val="dk1"/>
                </a:solidFill>
                <a:latin typeface="Arial"/>
                <a:ea typeface="Arial"/>
                <a:cs typeface="Arial"/>
                <a:sym typeface="Arial"/>
              </a:endParaRPr>
            </a:p>
          </p:txBody>
        </p:sp>
        <p:sp>
          <p:nvSpPr>
            <p:cNvPr id="675" name="Google Shape;675;p46"/>
            <p:cNvSpPr txBox="1"/>
            <p:nvPr/>
          </p:nvSpPr>
          <p:spPr>
            <a:xfrm>
              <a:off x="4267177" y="2996282"/>
              <a:ext cx="1641600" cy="683738"/>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Kualifikasi dan Sertifikasi Guru</a:t>
              </a:r>
              <a:endParaRPr/>
            </a:p>
          </p:txBody>
        </p:sp>
        <p:cxnSp>
          <p:nvCxnSpPr>
            <p:cNvPr id="676" name="Google Shape;676;p46"/>
            <p:cNvCxnSpPr/>
            <p:nvPr/>
          </p:nvCxnSpPr>
          <p:spPr>
            <a:xfrm>
              <a:off x="7912839" y="5064784"/>
              <a:ext cx="0" cy="331200"/>
            </a:xfrm>
            <a:prstGeom prst="straightConnector1">
              <a:avLst/>
            </a:prstGeom>
            <a:noFill/>
            <a:ln w="28575" cap="flat" cmpd="sng">
              <a:solidFill>
                <a:srgbClr val="FF0000"/>
              </a:solidFill>
              <a:prstDash val="dash"/>
              <a:round/>
              <a:headEnd type="none" w="med" len="med"/>
              <a:tailEnd type="triangle" w="med" len="med"/>
            </a:ln>
          </p:spPr>
        </p:cxnSp>
        <p:sp>
          <p:nvSpPr>
            <p:cNvPr id="677" name="Google Shape;677;p46"/>
            <p:cNvSpPr txBox="1"/>
            <p:nvPr/>
          </p:nvSpPr>
          <p:spPr>
            <a:xfrm>
              <a:off x="4489261" y="2655337"/>
              <a:ext cx="1374321"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FF0000"/>
                  </a:solidFill>
                  <a:latin typeface="Arial"/>
                  <a:ea typeface="Arial"/>
                  <a:cs typeface="Arial"/>
                  <a:sym typeface="Arial"/>
                </a:rPr>
                <a:t>INPUT</a:t>
              </a:r>
              <a:endParaRPr/>
            </a:p>
          </p:txBody>
        </p:sp>
        <p:sp>
          <p:nvSpPr>
            <p:cNvPr id="678" name="Google Shape;678;p46"/>
            <p:cNvSpPr txBox="1"/>
            <p:nvPr/>
          </p:nvSpPr>
          <p:spPr>
            <a:xfrm>
              <a:off x="7322255" y="6068156"/>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FF0000"/>
                  </a:solidFill>
                  <a:latin typeface="Arial"/>
                  <a:ea typeface="Arial"/>
                  <a:cs typeface="Arial"/>
                  <a:sym typeface="Arial"/>
                </a:rPr>
                <a:t>OUTPUT</a:t>
              </a:r>
              <a:endParaRPr/>
            </a:p>
          </p:txBody>
        </p:sp>
        <p:sp>
          <p:nvSpPr>
            <p:cNvPr id="679" name="Google Shape;679;p46"/>
            <p:cNvSpPr txBox="1"/>
            <p:nvPr/>
          </p:nvSpPr>
          <p:spPr>
            <a:xfrm>
              <a:off x="3802875" y="5595609"/>
              <a:ext cx="1530002" cy="642870"/>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0" tIns="45700" rIns="0" bIns="45700" anchor="t" anchorCtr="0">
              <a:noAutofit/>
            </a:bodyPr>
            <a:lstStyle/>
            <a:p>
              <a:pPr marL="0" marR="0" lvl="0" indent="0" algn="ctr" rtl="0">
                <a:spcBef>
                  <a:spcPts val="0"/>
                </a:spcBef>
                <a:spcAft>
                  <a:spcPts val="0"/>
                </a:spcAft>
                <a:buNone/>
              </a:pPr>
              <a:r>
                <a:rPr lang="en-US" sz="2000">
                  <a:solidFill>
                    <a:srgbClr val="FF0000"/>
                  </a:solidFill>
                  <a:latin typeface="Arial"/>
                  <a:ea typeface="Arial"/>
                  <a:cs typeface="Arial"/>
                  <a:sym typeface="Arial"/>
                </a:rPr>
                <a:t>Produktivitas Tenaga Kerja </a:t>
              </a:r>
              <a:endParaRPr sz="2000">
                <a:solidFill>
                  <a:srgbClr val="FF0000"/>
                </a:solidFill>
                <a:latin typeface="Arial"/>
                <a:ea typeface="Arial"/>
                <a:cs typeface="Arial"/>
                <a:sym typeface="Arial"/>
              </a:endParaRPr>
            </a:p>
          </p:txBody>
        </p:sp>
        <p:cxnSp>
          <p:nvCxnSpPr>
            <p:cNvPr id="680" name="Google Shape;680;p46"/>
            <p:cNvCxnSpPr/>
            <p:nvPr/>
          </p:nvCxnSpPr>
          <p:spPr>
            <a:xfrm rot="10800000">
              <a:off x="5334742" y="5763556"/>
              <a:ext cx="1994400" cy="0"/>
            </a:xfrm>
            <a:prstGeom prst="straightConnector1">
              <a:avLst/>
            </a:prstGeom>
            <a:noFill/>
            <a:ln w="31750" cap="flat" cmpd="sng">
              <a:solidFill>
                <a:srgbClr val="FF0000"/>
              </a:solidFill>
              <a:prstDash val="dash"/>
              <a:round/>
              <a:headEnd type="none" w="sm" len="sm"/>
              <a:tailEnd type="stealth" w="med" len="med"/>
            </a:ln>
            <a:effectLst>
              <a:outerShdw blurRad="40000" dist="20000" dir="5400000" rotWithShape="0">
                <a:srgbClr val="000000">
                  <a:alpha val="37647"/>
                </a:srgbClr>
              </a:outerShdw>
            </a:effectLst>
          </p:spPr>
        </p:cxnSp>
        <p:cxnSp>
          <p:nvCxnSpPr>
            <p:cNvPr id="681" name="Google Shape;681;p46"/>
            <p:cNvCxnSpPr/>
            <p:nvPr/>
          </p:nvCxnSpPr>
          <p:spPr>
            <a:xfrm rot="10800000">
              <a:off x="1448475" y="5763556"/>
              <a:ext cx="2354400" cy="0"/>
            </a:xfrm>
            <a:prstGeom prst="straightConnector1">
              <a:avLst/>
            </a:prstGeom>
            <a:noFill/>
            <a:ln w="31750" cap="flat" cmpd="sng">
              <a:solidFill>
                <a:srgbClr val="FF0000"/>
              </a:solidFill>
              <a:prstDash val="dash"/>
              <a:round/>
              <a:headEnd type="none" w="sm" len="sm"/>
              <a:tailEnd type="stealth" w="med" len="med"/>
            </a:ln>
            <a:effectLst>
              <a:outerShdw blurRad="40000" dist="20000" dir="5400000" rotWithShape="0">
                <a:srgbClr val="000000">
                  <a:alpha val="37647"/>
                </a:srgbClr>
              </a:outerShdw>
            </a:effectLst>
          </p:spPr>
        </p:cxnSp>
        <p:sp>
          <p:nvSpPr>
            <p:cNvPr id="682" name="Google Shape;682;p46"/>
            <p:cNvSpPr/>
            <p:nvPr/>
          </p:nvSpPr>
          <p:spPr>
            <a:xfrm>
              <a:off x="255793" y="2890232"/>
              <a:ext cx="1431816" cy="652617"/>
            </a:xfrm>
            <a:prstGeom prst="ellipse">
              <a:avLst/>
            </a:prstGeom>
            <a:solidFill>
              <a:srgbClr val="FFFF00"/>
            </a:solidFill>
            <a:ln w="9525"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FF0000"/>
                  </a:solidFill>
                  <a:latin typeface="Calibri"/>
                  <a:ea typeface="Calibri"/>
                  <a:cs typeface="Calibri"/>
                  <a:sym typeface="Calibri"/>
                </a:rPr>
                <a:t>kualitas keluarga</a:t>
              </a:r>
              <a:endParaRPr/>
            </a:p>
          </p:txBody>
        </p:sp>
        <p:cxnSp>
          <p:nvCxnSpPr>
            <p:cNvPr id="683" name="Google Shape;683;p46"/>
            <p:cNvCxnSpPr/>
            <p:nvPr/>
          </p:nvCxnSpPr>
          <p:spPr>
            <a:xfrm>
              <a:off x="1331512" y="2567064"/>
              <a:ext cx="0" cy="367200"/>
            </a:xfrm>
            <a:prstGeom prst="straightConnector1">
              <a:avLst/>
            </a:prstGeom>
            <a:noFill/>
            <a:ln w="28575" cap="flat" cmpd="sng">
              <a:solidFill>
                <a:srgbClr val="FF0000"/>
              </a:solidFill>
              <a:prstDash val="dash"/>
              <a:round/>
              <a:headEnd type="stealth" w="med" len="med"/>
              <a:tailEnd type="none" w="sm" len="sm"/>
            </a:ln>
          </p:spPr>
        </p:cxnSp>
        <p:cxnSp>
          <p:nvCxnSpPr>
            <p:cNvPr id="684" name="Google Shape;684;p46"/>
            <p:cNvCxnSpPr/>
            <p:nvPr/>
          </p:nvCxnSpPr>
          <p:spPr>
            <a:xfrm>
              <a:off x="698589" y="3531264"/>
              <a:ext cx="0" cy="1015200"/>
            </a:xfrm>
            <a:prstGeom prst="straightConnector1">
              <a:avLst/>
            </a:prstGeom>
            <a:noFill/>
            <a:ln w="44450" cap="flat" cmpd="sng">
              <a:solidFill>
                <a:srgbClr val="FF0000"/>
              </a:solidFill>
              <a:prstDash val="dash"/>
              <a:round/>
              <a:headEnd type="stealth" w="med" len="med"/>
              <a:tailEnd type="none" w="sm" len="sm"/>
            </a:ln>
          </p:spPr>
        </p:cxnSp>
        <p:sp>
          <p:nvSpPr>
            <p:cNvPr id="685" name="Google Shape;685;p46"/>
            <p:cNvSpPr/>
            <p:nvPr/>
          </p:nvSpPr>
          <p:spPr>
            <a:xfrm>
              <a:off x="6177697" y="3064156"/>
              <a:ext cx="1431816" cy="652617"/>
            </a:xfrm>
            <a:prstGeom prst="ellipse">
              <a:avLst/>
            </a:prstGeom>
            <a:solidFill>
              <a:srgbClr val="FFFF00"/>
            </a:solidFill>
            <a:ln w="9525"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0" tIns="45700" rIns="0" bIns="45700" anchor="ctr" anchorCtr="0">
              <a:noAutofit/>
            </a:bodyPr>
            <a:lstStyle/>
            <a:p>
              <a:pPr marL="0" marR="0" lvl="0" indent="0" algn="ctr" rtl="0">
                <a:spcBef>
                  <a:spcPts val="0"/>
                </a:spcBef>
                <a:spcAft>
                  <a:spcPts val="0"/>
                </a:spcAft>
                <a:buNone/>
              </a:pPr>
              <a:r>
                <a:rPr lang="en-US" sz="2000">
                  <a:solidFill>
                    <a:srgbClr val="FF0000"/>
                  </a:solidFill>
                  <a:latin typeface="Calibri"/>
                  <a:ea typeface="Calibri"/>
                  <a:cs typeface="Calibri"/>
                  <a:sym typeface="Calibri"/>
                </a:rPr>
                <a:t>lingkungan, keluarga</a:t>
              </a:r>
              <a:endParaRPr/>
            </a:p>
          </p:txBody>
        </p:sp>
        <p:cxnSp>
          <p:nvCxnSpPr>
            <p:cNvPr id="686" name="Google Shape;686;p46"/>
            <p:cNvCxnSpPr/>
            <p:nvPr/>
          </p:nvCxnSpPr>
          <p:spPr>
            <a:xfrm>
              <a:off x="7118007" y="3753552"/>
              <a:ext cx="0" cy="331200"/>
            </a:xfrm>
            <a:prstGeom prst="straightConnector1">
              <a:avLst/>
            </a:prstGeom>
            <a:noFill/>
            <a:ln w="28575" cap="flat" cmpd="sng">
              <a:solidFill>
                <a:srgbClr val="FF0000"/>
              </a:solidFill>
              <a:prstDash val="dash"/>
              <a:round/>
              <a:headEnd type="none" w="med" len="med"/>
              <a:tailEnd type="triangle" w="med" len="med"/>
            </a:ln>
          </p:spPr>
        </p:cxnSp>
        <p:sp>
          <p:nvSpPr>
            <p:cNvPr id="687" name="Google Shape;687;p46"/>
            <p:cNvSpPr txBox="1"/>
            <p:nvPr/>
          </p:nvSpPr>
          <p:spPr>
            <a:xfrm>
              <a:off x="3885919" y="6218751"/>
              <a:ext cx="1375456" cy="3667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FF0000"/>
                  </a:solidFill>
                  <a:latin typeface="Arial"/>
                  <a:ea typeface="Arial"/>
                  <a:cs typeface="Arial"/>
                  <a:sym typeface="Arial"/>
                </a:rPr>
                <a:t>OUTCOME</a:t>
              </a:r>
              <a:endParaRPr/>
            </a:p>
          </p:txBody>
        </p:sp>
        <p:sp>
          <p:nvSpPr>
            <p:cNvPr id="688" name="Google Shape;688;p46"/>
            <p:cNvSpPr txBox="1"/>
            <p:nvPr/>
          </p:nvSpPr>
          <p:spPr>
            <a:xfrm>
              <a:off x="168699" y="6037653"/>
              <a:ext cx="1375456" cy="4850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ULTIMATE OUTCOME</a:t>
              </a:r>
              <a:endParaRPr/>
            </a:p>
          </p:txBody>
        </p:sp>
        <p:sp>
          <p:nvSpPr>
            <p:cNvPr id="689" name="Google Shape;689;p46"/>
            <p:cNvSpPr/>
            <p:nvPr/>
          </p:nvSpPr>
          <p:spPr>
            <a:xfrm>
              <a:off x="5647981" y="6102339"/>
              <a:ext cx="1216800" cy="508021"/>
            </a:xfrm>
            <a:prstGeom prst="ellipse">
              <a:avLst/>
            </a:prstGeom>
            <a:solidFill>
              <a:srgbClr val="FFFF00"/>
            </a:solidFill>
            <a:ln w="9525"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0" tIns="0" rIns="0" bIns="72000" anchor="ctr" anchorCtr="0">
              <a:noAutofit/>
            </a:bodyPr>
            <a:lstStyle/>
            <a:p>
              <a:pPr marL="0" marR="0" lvl="0" indent="0" algn="ctr" rtl="0">
                <a:spcBef>
                  <a:spcPts val="0"/>
                </a:spcBef>
                <a:spcAft>
                  <a:spcPts val="0"/>
                </a:spcAft>
                <a:buNone/>
              </a:pPr>
              <a:r>
                <a:rPr lang="en-US" sz="2000">
                  <a:solidFill>
                    <a:srgbClr val="FF0000"/>
                  </a:solidFill>
                  <a:latin typeface="Calibri"/>
                  <a:ea typeface="Calibri"/>
                  <a:cs typeface="Calibri"/>
                  <a:sym typeface="Calibri"/>
                </a:rPr>
                <a:t>diklat lain </a:t>
              </a:r>
              <a:endParaRPr/>
            </a:p>
          </p:txBody>
        </p:sp>
        <p:cxnSp>
          <p:nvCxnSpPr>
            <p:cNvPr id="690" name="Google Shape;690;p46"/>
            <p:cNvCxnSpPr/>
            <p:nvPr/>
          </p:nvCxnSpPr>
          <p:spPr>
            <a:xfrm rot="10800000">
              <a:off x="5304431" y="5960463"/>
              <a:ext cx="386606" cy="309791"/>
            </a:xfrm>
            <a:prstGeom prst="straightConnector1">
              <a:avLst/>
            </a:prstGeom>
            <a:noFill/>
            <a:ln w="25400" cap="flat" cmpd="sng">
              <a:solidFill>
                <a:srgbClr val="FF0000"/>
              </a:solidFill>
              <a:prstDash val="solid"/>
              <a:round/>
              <a:headEnd type="none" w="sm" len="sm"/>
              <a:tailEnd type="stealth" w="med" len="med"/>
            </a:ln>
            <a:effectLst>
              <a:outerShdw blurRad="40000" dist="20000" dir="5400000" rotWithShape="0">
                <a:srgbClr val="000000">
                  <a:alpha val="37647"/>
                </a:srgbClr>
              </a:outerShdw>
            </a:effectLst>
          </p:spPr>
        </p:cxnSp>
      </p:grpSp>
    </p:spTree>
  </p:cSld>
  <p:clrMapOvr>
    <a:masterClrMapping/>
  </p:clrMapOvr>
  <p:transition spd="slow">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4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696" name="Google Shape;696;p47"/>
          <p:cNvSpPr txBox="1">
            <a:spLocks noGrp="1"/>
          </p:cNvSpPr>
          <p:nvPr>
            <p:ph type="title"/>
          </p:nvPr>
        </p:nvSpPr>
        <p:spPr>
          <a:xfrm>
            <a:off x="777832" y="337358"/>
            <a:ext cx="10558330" cy="854315"/>
          </a:xfrm>
          <a:prstGeom prst="rect">
            <a:avLst/>
          </a:prstGeom>
          <a:noFill/>
          <a:ln>
            <a:noFill/>
          </a:ln>
        </p:spPr>
        <p:txBody>
          <a:bodyPr spcFirstLastPara="1" wrap="square" lIns="104925" tIns="52450" rIns="104925" bIns="52450" anchor="ctr" anchorCtr="0">
            <a:normAutofit fontScale="90000"/>
          </a:bodyPr>
          <a:lstStyle/>
          <a:p>
            <a:pPr marL="0" lvl="0" indent="0" algn="ctr" rtl="0">
              <a:lnSpc>
                <a:spcPct val="80000"/>
              </a:lnSpc>
              <a:spcBef>
                <a:spcPts val="0"/>
              </a:spcBef>
              <a:spcAft>
                <a:spcPts val="0"/>
              </a:spcAft>
              <a:buClr>
                <a:srgbClr val="000000"/>
              </a:buClr>
              <a:buSzPct val="99228"/>
              <a:buFont typeface="Calibri"/>
              <a:buNone/>
            </a:pPr>
            <a:r>
              <a:rPr lang="en-US" b="1">
                <a:solidFill>
                  <a:srgbClr val="000000"/>
                </a:solidFill>
              </a:rPr>
              <a:t>Indikator dalam Neraca Pendidikan</a:t>
            </a:r>
            <a:br>
              <a:rPr lang="en-US">
                <a:solidFill>
                  <a:srgbClr val="000000"/>
                </a:solidFill>
              </a:rPr>
            </a:br>
            <a:r>
              <a:rPr lang="en-US">
                <a:solidFill>
                  <a:srgbClr val="000000"/>
                </a:solidFill>
              </a:rPr>
              <a:t>(</a:t>
            </a:r>
            <a:r>
              <a:rPr lang="en-US" sz="4000">
                <a:solidFill>
                  <a:srgbClr val="000000"/>
                </a:solidFill>
              </a:rPr>
              <a:t>contoh)</a:t>
            </a:r>
            <a:endParaRPr/>
          </a:p>
        </p:txBody>
      </p:sp>
      <p:graphicFrame>
        <p:nvGraphicFramePr>
          <p:cNvPr id="697" name="Google Shape;697;p47"/>
          <p:cNvGraphicFramePr/>
          <p:nvPr/>
        </p:nvGraphicFramePr>
        <p:xfrm>
          <a:off x="777831" y="1291130"/>
          <a:ext cx="10717500" cy="5091435"/>
        </p:xfrm>
        <a:graphic>
          <a:graphicData uri="http://schemas.openxmlformats.org/drawingml/2006/table">
            <a:tbl>
              <a:tblPr firstRow="1" bandRow="1">
                <a:noFill/>
                <a:tableStyleId>{5BDFE0BF-3721-438C-8B7B-D8BF3B89A407}</a:tableStyleId>
              </a:tblPr>
              <a:tblGrid>
                <a:gridCol w="1948600">
                  <a:extLst>
                    <a:ext uri="{9D8B030D-6E8A-4147-A177-3AD203B41FA5}">
                      <a16:colId xmlns:a16="http://schemas.microsoft.com/office/drawing/2014/main" val="20000"/>
                    </a:ext>
                  </a:extLst>
                </a:gridCol>
                <a:gridCol w="5093825">
                  <a:extLst>
                    <a:ext uri="{9D8B030D-6E8A-4147-A177-3AD203B41FA5}">
                      <a16:colId xmlns:a16="http://schemas.microsoft.com/office/drawing/2014/main" val="20001"/>
                    </a:ext>
                  </a:extLst>
                </a:gridCol>
                <a:gridCol w="3675075">
                  <a:extLst>
                    <a:ext uri="{9D8B030D-6E8A-4147-A177-3AD203B41FA5}">
                      <a16:colId xmlns:a16="http://schemas.microsoft.com/office/drawing/2014/main" val="20002"/>
                    </a:ext>
                  </a:extLst>
                </a:gridCol>
              </a:tblGrid>
              <a:tr h="610825">
                <a:tc>
                  <a:txBody>
                    <a:bodyPr/>
                    <a:lstStyle/>
                    <a:p>
                      <a:pPr marL="0" marR="0" lvl="0" indent="0" algn="ctr" rtl="0">
                        <a:lnSpc>
                          <a:spcPct val="90000"/>
                        </a:lnSpc>
                        <a:spcBef>
                          <a:spcPts val="0"/>
                        </a:spcBef>
                        <a:spcAft>
                          <a:spcPts val="0"/>
                        </a:spcAft>
                        <a:buNone/>
                      </a:pPr>
                      <a:r>
                        <a:rPr lang="en-US" sz="2400">
                          <a:solidFill>
                            <a:srgbClr val="000000"/>
                          </a:solidFill>
                        </a:rPr>
                        <a:t>JENIS</a:t>
                      </a:r>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a:solidFill>
                            <a:srgbClr val="000000"/>
                          </a:solidFill>
                        </a:rPr>
                        <a:t>DEFINISI</a:t>
                      </a:r>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a:solidFill>
                            <a:srgbClr val="000000"/>
                          </a:solidFill>
                        </a:rPr>
                        <a:t>CONTOH</a:t>
                      </a:r>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37125">
                <a:tc>
                  <a:txBody>
                    <a:bodyPr/>
                    <a:lstStyle/>
                    <a:p>
                      <a:pPr marL="0" marR="0" lvl="0" indent="0" algn="l" rtl="0">
                        <a:spcBef>
                          <a:spcPts val="0"/>
                        </a:spcBef>
                        <a:spcAft>
                          <a:spcPts val="0"/>
                        </a:spcAft>
                        <a:buNone/>
                      </a:pPr>
                      <a:r>
                        <a:rPr lang="en-US" sz="2400">
                          <a:solidFill>
                            <a:srgbClr val="000000"/>
                          </a:solidFill>
                        </a:rPr>
                        <a:t>Rujukan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Kelompok sasaran pendidikan PAUD, dasar, menengah, ….</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Penduduk usia sesuai jenjang pendidikan: 3-6, 7-12, 13-15, 16-18</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22850">
                <a:tc>
                  <a:txBody>
                    <a:bodyPr/>
                    <a:lstStyle/>
                    <a:p>
                      <a:pPr marL="0" marR="0" lvl="0" indent="0" algn="l" rtl="0">
                        <a:spcBef>
                          <a:spcPts val="0"/>
                        </a:spcBef>
                        <a:spcAft>
                          <a:spcPts val="0"/>
                        </a:spcAft>
                        <a:buNone/>
                      </a:pPr>
                      <a:r>
                        <a:rPr lang="en-US" sz="2400">
                          <a:solidFill>
                            <a:srgbClr val="000000"/>
                          </a:solidFill>
                        </a:rPr>
                        <a:t>Input</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Sumberdaya digunakan dalam penyelenggaraan pendidikan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Rasio murid/sekolah, rasio murid/guru, dll</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22850">
                <a:tc>
                  <a:txBody>
                    <a:bodyPr/>
                    <a:lstStyle/>
                    <a:p>
                      <a:pPr marL="0" marR="0" lvl="0" indent="0" algn="l" rtl="0">
                        <a:spcBef>
                          <a:spcPts val="0"/>
                        </a:spcBef>
                        <a:spcAft>
                          <a:spcPts val="0"/>
                        </a:spcAft>
                        <a:buNone/>
                      </a:pPr>
                      <a:r>
                        <a:rPr lang="en-US" sz="2400">
                          <a:solidFill>
                            <a:srgbClr val="000000"/>
                          </a:solidFill>
                        </a:rPr>
                        <a:t>Proses</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Partisipasi kelompok sasaran dalam program dan kegiatan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Angka partisipasi: APM, APK, APS</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2375">
                <a:tc>
                  <a:txBody>
                    <a:bodyPr/>
                    <a:lstStyle/>
                    <a:p>
                      <a:pPr marL="0" marR="0" lvl="0" indent="0" algn="l" rtl="0">
                        <a:spcBef>
                          <a:spcPts val="0"/>
                        </a:spcBef>
                        <a:spcAft>
                          <a:spcPts val="0"/>
                        </a:spcAft>
                        <a:buNone/>
                      </a:pPr>
                      <a:r>
                        <a:rPr lang="en-US" sz="2400">
                          <a:solidFill>
                            <a:srgbClr val="000000"/>
                          </a:solidFill>
                        </a:rPr>
                        <a:t>Output</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Hasil penyelenggaraan pendidikan</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 lulus, % melanjutkan,  </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942850">
                <a:tc>
                  <a:txBody>
                    <a:bodyPr/>
                    <a:lstStyle/>
                    <a:p>
                      <a:pPr marL="0" marR="0" lvl="0" indent="0" algn="l" rtl="0">
                        <a:spcBef>
                          <a:spcPts val="0"/>
                        </a:spcBef>
                        <a:spcAft>
                          <a:spcPts val="0"/>
                        </a:spcAft>
                        <a:buNone/>
                      </a:pPr>
                      <a:r>
                        <a:rPr lang="en-US" sz="2400">
                          <a:solidFill>
                            <a:srgbClr val="000000"/>
                          </a:solidFill>
                        </a:rPr>
                        <a:t>Outcome</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Dampak pada masyarakat dan kelompok sasaran</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Angka putus sekolah, % melek huruf, rata-rata lama sekolah</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ransition spd="slow">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4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703" name="Google Shape;703;p48"/>
          <p:cNvSpPr txBox="1">
            <a:spLocks noGrp="1"/>
          </p:cNvSpPr>
          <p:nvPr>
            <p:ph type="title"/>
          </p:nvPr>
        </p:nvSpPr>
        <p:spPr>
          <a:xfrm>
            <a:off x="670951" y="121933"/>
            <a:ext cx="10900542" cy="558377"/>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rgbClr val="000000"/>
              </a:buClr>
              <a:buSzPts val="4500"/>
              <a:buFont typeface="Calibri"/>
              <a:buNone/>
            </a:pPr>
            <a:r>
              <a:rPr lang="en-US" b="1">
                <a:solidFill>
                  <a:srgbClr val="000000"/>
                </a:solidFill>
              </a:rPr>
              <a:t>Indikator pokok pendidikan</a:t>
            </a:r>
            <a:endParaRPr/>
          </a:p>
        </p:txBody>
      </p:sp>
      <p:graphicFrame>
        <p:nvGraphicFramePr>
          <p:cNvPr id="704" name="Google Shape;704;p48"/>
          <p:cNvGraphicFramePr/>
          <p:nvPr/>
        </p:nvGraphicFramePr>
        <p:xfrm>
          <a:off x="670951" y="680310"/>
          <a:ext cx="10911450" cy="6035100"/>
        </p:xfrm>
        <a:graphic>
          <a:graphicData uri="http://schemas.openxmlformats.org/drawingml/2006/table">
            <a:tbl>
              <a:tblPr firstRow="1" bandRow="1">
                <a:noFill/>
                <a:tableStyleId>{5BDFE0BF-3721-438C-8B7B-D8BF3B89A407}</a:tableStyleId>
              </a:tblPr>
              <a:tblGrid>
                <a:gridCol w="1809475">
                  <a:extLst>
                    <a:ext uri="{9D8B030D-6E8A-4147-A177-3AD203B41FA5}">
                      <a16:colId xmlns:a16="http://schemas.microsoft.com/office/drawing/2014/main" val="20000"/>
                    </a:ext>
                  </a:extLst>
                </a:gridCol>
                <a:gridCol w="6067975">
                  <a:extLst>
                    <a:ext uri="{9D8B030D-6E8A-4147-A177-3AD203B41FA5}">
                      <a16:colId xmlns:a16="http://schemas.microsoft.com/office/drawing/2014/main" val="20001"/>
                    </a:ext>
                  </a:extLst>
                </a:gridCol>
                <a:gridCol w="3034000">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US" sz="2400">
                          <a:solidFill>
                            <a:srgbClr val="000000"/>
                          </a:solidFill>
                        </a:rPr>
                        <a:t>Jenis Indikator</a:t>
                      </a:r>
                      <a:endParaRPr sz="240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a:solidFill>
                            <a:srgbClr val="000000"/>
                          </a:solidFill>
                        </a:rPr>
                        <a:t>Indikator</a:t>
                      </a:r>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a:solidFill>
                            <a:srgbClr val="000000"/>
                          </a:solidFill>
                        </a:rPr>
                        <a:t>Relevansi</a:t>
                      </a:r>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a:solidFill>
                            <a:srgbClr val="000000"/>
                          </a:solidFill>
                        </a:rPr>
                        <a:t>Rujukan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Jumlah penduduk usia sekolah (PAUD, SD, SMP, SMA/K, Perti)</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Kelompok sasaran program</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400">
                          <a:solidFill>
                            <a:srgbClr val="000000"/>
                          </a:solidFill>
                        </a:rPr>
                        <a:t>Input</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Rasio murid/guru, Rasio murid/kelas, Rasio murid/sekolah, Rasio rombel/kelas semua menurut jenjang pendidikan</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Ketersediaan/ kecukupan sarana dan prasarana</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400">
                          <a:solidFill>
                            <a:srgbClr val="000000"/>
                          </a:solidFill>
                        </a:rPr>
                        <a:t>Proses</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Angka partisipasi Murni/Kasar/Sekolah menurut jenjang pendidikan</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Partisipasi program pendidikan </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2400">
                          <a:solidFill>
                            <a:srgbClr val="000000"/>
                          </a:solidFill>
                        </a:rPr>
                        <a:t>Output</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 penduduk yang lulus menurut jenjang pendidikan, % penduduk 13/16/19/24 tahun+ menurut tingkat pendidikan, % murid mengulang menurut jenjang</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Hasil program pendidikan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2400">
                          <a:solidFill>
                            <a:srgbClr val="000000"/>
                          </a:solidFill>
                        </a:rPr>
                        <a:t>Outcome</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 penduduk 10 tahun + melek huruf,</a:t>
                      </a:r>
                      <a:endParaRPr/>
                    </a:p>
                    <a:p>
                      <a:pPr marL="0" marR="0" lvl="0" indent="0" algn="l" rtl="0">
                        <a:spcBef>
                          <a:spcPts val="0"/>
                        </a:spcBef>
                        <a:spcAft>
                          <a:spcPts val="0"/>
                        </a:spcAft>
                        <a:buNone/>
                      </a:pPr>
                      <a:r>
                        <a:rPr lang="en-US" sz="2400">
                          <a:solidFill>
                            <a:srgbClr val="000000"/>
                          </a:solidFill>
                        </a:rPr>
                        <a:t>Angka putus sekolah, Rata</a:t>
                      </a:r>
                      <a:r>
                        <a:rPr lang="en-US" sz="2400" baseline="30000">
                          <a:solidFill>
                            <a:srgbClr val="000000"/>
                          </a:solidFill>
                        </a:rPr>
                        <a:t>2</a:t>
                      </a:r>
                      <a:r>
                        <a:rPr lang="en-US" sz="2400">
                          <a:solidFill>
                            <a:srgbClr val="000000"/>
                          </a:solidFill>
                        </a:rPr>
                        <a:t> lama sekolah</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2400">
                          <a:solidFill>
                            <a:srgbClr val="000000"/>
                          </a:solidFill>
                        </a:rPr>
                        <a:t>Kualitas penduduk, sdm secara umum</a:t>
                      </a:r>
                      <a:endParaRPr sz="2400">
                        <a:solidFill>
                          <a:srgbClr val="000000"/>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4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51</a:t>
            </a:fld>
            <a:endParaRPr/>
          </a:p>
        </p:txBody>
      </p:sp>
      <p:sp>
        <p:nvSpPr>
          <p:cNvPr id="710" name="Google Shape;710;p49"/>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graphicFrame>
        <p:nvGraphicFramePr>
          <p:cNvPr id="711" name="Google Shape;711;p49"/>
          <p:cNvGraphicFramePr/>
          <p:nvPr/>
        </p:nvGraphicFramePr>
        <p:xfrm>
          <a:off x="582880" y="3745786"/>
          <a:ext cx="10853075" cy="2311080"/>
        </p:xfrm>
        <a:graphic>
          <a:graphicData uri="http://schemas.openxmlformats.org/drawingml/2006/table">
            <a:tbl>
              <a:tblPr>
                <a:noFill/>
                <a:tableStyleId>{5BDFE0BF-3721-438C-8B7B-D8BF3B89A407}</a:tableStyleId>
              </a:tblPr>
              <a:tblGrid>
                <a:gridCol w="774075">
                  <a:extLst>
                    <a:ext uri="{9D8B030D-6E8A-4147-A177-3AD203B41FA5}">
                      <a16:colId xmlns:a16="http://schemas.microsoft.com/office/drawing/2014/main" val="20000"/>
                    </a:ext>
                  </a:extLst>
                </a:gridCol>
                <a:gridCol w="3418800">
                  <a:extLst>
                    <a:ext uri="{9D8B030D-6E8A-4147-A177-3AD203B41FA5}">
                      <a16:colId xmlns:a16="http://schemas.microsoft.com/office/drawing/2014/main" val="20001"/>
                    </a:ext>
                  </a:extLst>
                </a:gridCol>
                <a:gridCol w="6660200">
                  <a:extLst>
                    <a:ext uri="{9D8B030D-6E8A-4147-A177-3AD203B41FA5}">
                      <a16:colId xmlns:a16="http://schemas.microsoft.com/office/drawing/2014/main" val="20002"/>
                    </a:ext>
                  </a:extLst>
                </a:gridCol>
              </a:tblGrid>
              <a:tr h="313150">
                <a:tc>
                  <a:txBody>
                    <a:bodyPr/>
                    <a:lstStyle/>
                    <a:p>
                      <a:pPr marL="0" marR="0" lvl="0" indent="0" algn="ctr" rtl="0">
                        <a:spcBef>
                          <a:spcPts val="0"/>
                        </a:spcBef>
                        <a:spcAft>
                          <a:spcPts val="0"/>
                        </a:spcAft>
                        <a:buNone/>
                      </a:pPr>
                      <a:r>
                        <a:rPr lang="en-US" sz="2400" u="none" strike="noStrike"/>
                        <a:t>No</a:t>
                      </a:r>
                      <a:endParaRPr sz="2400" b="1" i="0" u="none" strike="noStrike">
                        <a:solidFill>
                          <a:srgbClr val="FFFFFF"/>
                        </a:solidFill>
                        <a:latin typeface="Quattrocento Sans"/>
                        <a:ea typeface="Quattrocento Sans"/>
                        <a:cs typeface="Quattrocento Sans"/>
                        <a:sym typeface="Quattrocento Sans"/>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t>Kode Indikator</a:t>
                      </a:r>
                      <a:endParaRPr sz="2400" b="1" i="0" u="none" strike="noStrike">
                        <a:solidFill>
                          <a:srgbClr val="FFFFFF"/>
                        </a:solidFill>
                        <a:latin typeface="Quattrocento Sans"/>
                        <a:ea typeface="Quattrocento Sans"/>
                        <a:cs typeface="Quattrocento Sans"/>
                        <a:sym typeface="Quattrocento Sans"/>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t>Nama Indikator</a:t>
                      </a:r>
                      <a:endParaRPr sz="2400" b="1" i="0" u="none" strike="noStrike">
                        <a:solidFill>
                          <a:srgbClr val="FFFFFF"/>
                        </a:solidFill>
                        <a:latin typeface="Quattrocento Sans"/>
                        <a:ea typeface="Quattrocento Sans"/>
                        <a:cs typeface="Quattrocento Sans"/>
                        <a:sym typeface="Quattrocento Sans"/>
                      </a:endParaRPr>
                    </a:p>
                  </a:txBody>
                  <a:tcPr marL="2850" marR="2850" marT="2850" marB="0" anchor="ctr">
                    <a:solidFill>
                      <a:srgbClr val="C5D8F1"/>
                    </a:solidFill>
                  </a:tcPr>
                </a:tc>
                <a:extLst>
                  <a:ext uri="{0D108BD9-81ED-4DB2-BD59-A6C34878D82A}">
                    <a16:rowId xmlns:a16="http://schemas.microsoft.com/office/drawing/2014/main" val="10000"/>
                  </a:ext>
                </a:extLst>
              </a:tr>
              <a:tr h="622650">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2850" marR="2850" marT="2850" marB="0"/>
                </a:tc>
                <a:tc>
                  <a:txBody>
                    <a:bodyPr/>
                    <a:lstStyle/>
                    <a:p>
                      <a:pPr marL="0" marR="0" lvl="0" indent="0" algn="l" rtl="0">
                        <a:spcBef>
                          <a:spcPts val="0"/>
                        </a:spcBef>
                        <a:spcAft>
                          <a:spcPts val="0"/>
                        </a:spcAft>
                        <a:buNone/>
                      </a:pPr>
                      <a:r>
                        <a:rPr lang="en-US" sz="2400" u="none" strike="noStrike"/>
                        <a:t>1.4.1.(g)</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tc>
                  <a:txBody>
                    <a:bodyPr/>
                    <a:lstStyle/>
                    <a:p>
                      <a:pPr marL="0" marR="0" lvl="0" indent="0" algn="l" rtl="0">
                        <a:spcBef>
                          <a:spcPts val="0"/>
                        </a:spcBef>
                        <a:spcAft>
                          <a:spcPts val="0"/>
                        </a:spcAft>
                        <a:buNone/>
                      </a:pPr>
                      <a:r>
                        <a:rPr lang="en-US" sz="2400" u="none" strike="noStrike"/>
                        <a:t>Rasio </a:t>
                      </a:r>
                      <a:r>
                        <a:rPr lang="en-US" sz="2400" b="1" u="none" strike="noStrike"/>
                        <a:t>Angka Partisipasi Murni (APM</a:t>
                      </a:r>
                      <a:r>
                        <a:rPr lang="en-US" sz="2400" u="none" strike="noStrike"/>
                        <a:t>) perempuan/laki-laki di SD/MI/sederajat</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extLst>
                  <a:ext uri="{0D108BD9-81ED-4DB2-BD59-A6C34878D82A}">
                    <a16:rowId xmlns:a16="http://schemas.microsoft.com/office/drawing/2014/main" val="10001"/>
                  </a:ext>
                </a:extLst>
              </a:tr>
              <a:tr h="604050">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2</a:t>
                      </a:r>
                      <a:endParaRPr/>
                    </a:p>
                  </a:txBody>
                  <a:tcPr marL="2850" marR="2850" marT="2850" marB="0"/>
                </a:tc>
                <a:tc>
                  <a:txBody>
                    <a:bodyPr/>
                    <a:lstStyle/>
                    <a:p>
                      <a:pPr marL="0" marR="0" lvl="0" indent="0" algn="l" rtl="0">
                        <a:spcBef>
                          <a:spcPts val="0"/>
                        </a:spcBef>
                        <a:spcAft>
                          <a:spcPts val="0"/>
                        </a:spcAft>
                        <a:buNone/>
                      </a:pPr>
                      <a:r>
                        <a:rPr lang="en-US" sz="2400" u="none" strike="noStrike"/>
                        <a:t>1.4.1.(h)</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tc>
                  <a:txBody>
                    <a:bodyPr/>
                    <a:lstStyle/>
                    <a:p>
                      <a:pPr marL="0" marR="0" lvl="0" indent="0" algn="l" rtl="0">
                        <a:spcBef>
                          <a:spcPts val="0"/>
                        </a:spcBef>
                        <a:spcAft>
                          <a:spcPts val="0"/>
                        </a:spcAft>
                        <a:buNone/>
                      </a:pPr>
                      <a:r>
                        <a:rPr lang="en-US" sz="2400" u="none" strike="noStrike"/>
                        <a:t>APMperempuan/laki-laki di SMP/MTs/sederajat</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extLst>
                  <a:ext uri="{0D108BD9-81ED-4DB2-BD59-A6C34878D82A}">
                    <a16:rowId xmlns:a16="http://schemas.microsoft.com/office/drawing/2014/main" val="10002"/>
                  </a:ext>
                </a:extLst>
              </a:tr>
              <a:tr h="604050">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3</a:t>
                      </a:r>
                      <a:endParaRPr/>
                    </a:p>
                  </a:txBody>
                  <a:tcPr marL="2850" marR="2850" marT="2850" marB="0"/>
                </a:tc>
                <a:tc>
                  <a:txBody>
                    <a:bodyPr/>
                    <a:lstStyle/>
                    <a:p>
                      <a:pPr marL="0" marR="0" lvl="0" indent="0" algn="l" rtl="0">
                        <a:spcBef>
                          <a:spcPts val="0"/>
                        </a:spcBef>
                        <a:spcAft>
                          <a:spcPts val="0"/>
                        </a:spcAft>
                        <a:buNone/>
                      </a:pPr>
                      <a:r>
                        <a:rPr lang="en-US" sz="2400" u="none" strike="noStrike"/>
                        <a:t>1.4.1.(i)</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tc>
                  <a:txBody>
                    <a:bodyPr/>
                    <a:lstStyle/>
                    <a:p>
                      <a:pPr marL="0" marR="0" lvl="0" indent="0" algn="l" rtl="0">
                        <a:spcBef>
                          <a:spcPts val="0"/>
                        </a:spcBef>
                        <a:spcAft>
                          <a:spcPts val="0"/>
                        </a:spcAft>
                        <a:buNone/>
                      </a:pPr>
                      <a:r>
                        <a:rPr lang="en-US" sz="2400" u="none" strike="noStrike"/>
                        <a:t>APM perempuan/laki-laki di SMA/MA/sederajat</a:t>
                      </a:r>
                      <a:endParaRPr sz="2400" b="0" i="0" u="none" strike="noStrike">
                        <a:solidFill>
                          <a:srgbClr val="000000"/>
                        </a:solidFill>
                        <a:latin typeface="Quattrocento Sans"/>
                        <a:ea typeface="Quattrocento Sans"/>
                        <a:cs typeface="Quattrocento Sans"/>
                        <a:sym typeface="Quattrocento Sans"/>
                      </a:endParaRPr>
                    </a:p>
                  </a:txBody>
                  <a:tcPr marL="2850" marR="2850" marT="2850" marB="0"/>
                </a:tc>
                <a:extLst>
                  <a:ext uri="{0D108BD9-81ED-4DB2-BD59-A6C34878D82A}">
                    <a16:rowId xmlns:a16="http://schemas.microsoft.com/office/drawing/2014/main" val="10003"/>
                  </a:ext>
                </a:extLst>
              </a:tr>
            </a:tbl>
          </a:graphicData>
        </a:graphic>
      </p:graphicFrame>
      <p:sp>
        <p:nvSpPr>
          <p:cNvPr id="712" name="Google Shape;712;p49"/>
          <p:cNvSpPr/>
          <p:nvPr/>
        </p:nvSpPr>
        <p:spPr>
          <a:xfrm>
            <a:off x="803549" y="1304679"/>
            <a:ext cx="10188982"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u="sng" cap="none">
                <a:solidFill>
                  <a:schemeClr val="dk1"/>
                </a:solidFill>
                <a:latin typeface="Oswald"/>
                <a:ea typeface="Oswald"/>
                <a:cs typeface="Oswald"/>
                <a:sym typeface="Oswald"/>
              </a:rPr>
              <a:t>TARGET 1.4</a:t>
            </a:r>
            <a:endParaRPr/>
          </a:p>
          <a:p>
            <a:pPr marL="0" marR="0" lvl="0" indent="0" algn="l" rtl="0">
              <a:spcBef>
                <a:spcPts val="0"/>
              </a:spcBef>
              <a:spcAft>
                <a:spcPts val="0"/>
              </a:spcAft>
              <a:buNone/>
            </a:pPr>
            <a:r>
              <a:rPr lang="en-US" sz="2200">
                <a:solidFill>
                  <a:schemeClr val="dk1"/>
                </a:solidFill>
                <a:latin typeface="Arial"/>
                <a:ea typeface="Arial"/>
                <a:cs typeface="Arial"/>
                <a:sym typeface="Arial"/>
              </a:rPr>
              <a:t>By 2030, ensure that all men and women, in particular the poor and the vulnerable, have equal rights to economic resources, as well as access to basic services, ownership and control over land and other forms of property, inheritance, natural resources, appropriate new technology and financial services, including microfinance </a:t>
            </a:r>
            <a:endParaRPr sz="2200" b="0" i="0">
              <a:solidFill>
                <a:schemeClr val="dk1"/>
              </a:solidFill>
              <a:latin typeface="Arial"/>
              <a:ea typeface="Arial"/>
              <a:cs typeface="Arial"/>
              <a:sym typeface="Arial"/>
            </a:endParaRPr>
          </a:p>
        </p:txBody>
      </p:sp>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5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718" name="Google Shape;718;p50"/>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sp>
        <p:nvSpPr>
          <p:cNvPr id="719" name="Google Shape;719;p50"/>
          <p:cNvSpPr/>
          <p:nvPr/>
        </p:nvSpPr>
        <p:spPr>
          <a:xfrm>
            <a:off x="803549" y="1304679"/>
            <a:ext cx="1018898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cap="none">
                <a:solidFill>
                  <a:schemeClr val="dk1"/>
                </a:solidFill>
                <a:latin typeface="Oswald"/>
                <a:ea typeface="Oswald"/>
                <a:cs typeface="Oswald"/>
                <a:sym typeface="Oswald"/>
              </a:rPr>
              <a:t>TARGET 4.1</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By 2030, ensure that all girls and boys complete free, equitable and quality primary and secondary education leading to relevant and effective learning outcomes </a:t>
            </a:r>
            <a:endParaRPr sz="2400" i="0">
              <a:solidFill>
                <a:schemeClr val="dk1"/>
              </a:solidFill>
              <a:latin typeface="Arial"/>
              <a:ea typeface="Arial"/>
              <a:cs typeface="Arial"/>
              <a:sym typeface="Arial"/>
            </a:endParaRPr>
          </a:p>
        </p:txBody>
      </p:sp>
      <p:graphicFrame>
        <p:nvGraphicFramePr>
          <p:cNvPr id="720" name="Google Shape;720;p50"/>
          <p:cNvGraphicFramePr/>
          <p:nvPr/>
        </p:nvGraphicFramePr>
        <p:xfrm>
          <a:off x="677882" y="3313215"/>
          <a:ext cx="10868900" cy="2641530"/>
        </p:xfrm>
        <a:graphic>
          <a:graphicData uri="http://schemas.openxmlformats.org/drawingml/2006/table">
            <a:tbl>
              <a:tblPr>
                <a:noFill/>
                <a:tableStyleId>{5BDFE0BF-3721-438C-8B7B-D8BF3B89A407}</a:tableStyleId>
              </a:tblPr>
              <a:tblGrid>
                <a:gridCol w="775200">
                  <a:extLst>
                    <a:ext uri="{9D8B030D-6E8A-4147-A177-3AD203B41FA5}">
                      <a16:colId xmlns:a16="http://schemas.microsoft.com/office/drawing/2014/main" val="20000"/>
                    </a:ext>
                  </a:extLst>
                </a:gridCol>
                <a:gridCol w="3087275">
                  <a:extLst>
                    <a:ext uri="{9D8B030D-6E8A-4147-A177-3AD203B41FA5}">
                      <a16:colId xmlns:a16="http://schemas.microsoft.com/office/drawing/2014/main" val="20001"/>
                    </a:ext>
                  </a:extLst>
                </a:gridCol>
                <a:gridCol w="7006425">
                  <a:extLst>
                    <a:ext uri="{9D8B030D-6E8A-4147-A177-3AD203B41FA5}">
                      <a16:colId xmlns:a16="http://schemas.microsoft.com/office/drawing/2014/main" val="20002"/>
                    </a:ext>
                  </a:extLst>
                </a:gridCol>
              </a:tblGrid>
              <a:tr h="263650">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No</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Kode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Nama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extLst>
                  <a:ext uri="{0D108BD9-81ED-4DB2-BD59-A6C34878D82A}">
                    <a16:rowId xmlns:a16="http://schemas.microsoft.com/office/drawing/2014/main" val="10000"/>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4.1.1(d)</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SD/MI/sederajat.</a:t>
                      </a:r>
                      <a:endParaRPr/>
                    </a:p>
                  </a:txBody>
                  <a:tcPr marL="6350" marR="6350" marT="6350" marB="0"/>
                </a:tc>
                <a:extLst>
                  <a:ext uri="{0D108BD9-81ED-4DB2-BD59-A6C34878D82A}">
                    <a16:rowId xmlns:a16="http://schemas.microsoft.com/office/drawing/2014/main" val="10001"/>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2</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4.1.1(e)</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SMP/MTs/sederajat.</a:t>
                      </a:r>
                      <a:endParaRPr/>
                    </a:p>
                  </a:txBody>
                  <a:tcPr marL="6350" marR="6350" marT="6350" marB="0"/>
                </a:tc>
                <a:extLst>
                  <a:ext uri="{0D108BD9-81ED-4DB2-BD59-A6C34878D82A}">
                    <a16:rowId xmlns:a16="http://schemas.microsoft.com/office/drawing/2014/main" val="10002"/>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3</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4.1.1(f)</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SMA/SMK/MA/sederajat.</a:t>
                      </a:r>
                      <a:endParaRPr/>
                    </a:p>
                  </a:txBody>
                  <a:tcPr marL="6350" marR="6350" marT="6350" marB="0"/>
                </a:tc>
                <a:extLst>
                  <a:ext uri="{0D108BD9-81ED-4DB2-BD59-A6C34878D82A}">
                    <a16:rowId xmlns:a16="http://schemas.microsoft.com/office/drawing/2014/main" val="10003"/>
                  </a:ext>
                </a:extLst>
              </a:tr>
              <a:tr h="501400">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4</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4.1.1(g)</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Rata-rata lama sekolah penduduk umur ≥15 tahun.</a:t>
                      </a:r>
                      <a:endParaRPr/>
                    </a:p>
                  </a:txBody>
                  <a:tcPr marL="6350" marR="6350" marT="6350" marB="0"/>
                </a:tc>
                <a:extLst>
                  <a:ext uri="{0D108BD9-81ED-4DB2-BD59-A6C34878D82A}">
                    <a16:rowId xmlns:a16="http://schemas.microsoft.com/office/drawing/2014/main" val="10004"/>
                  </a:ext>
                </a:extLst>
              </a:tr>
            </a:tbl>
          </a:graphicData>
        </a:graphic>
      </p:graphicFrame>
    </p:spTree>
  </p:cSld>
  <p:clrMapOvr>
    <a:masterClrMapping/>
  </p:clrMapOvr>
  <p:transition spd="slow">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5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53</a:t>
            </a:fld>
            <a:endParaRPr/>
          </a:p>
        </p:txBody>
      </p:sp>
      <p:sp>
        <p:nvSpPr>
          <p:cNvPr id="726" name="Google Shape;726;p51"/>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sp>
        <p:nvSpPr>
          <p:cNvPr id="727" name="Google Shape;727;p51"/>
          <p:cNvSpPr/>
          <p:nvPr/>
        </p:nvSpPr>
        <p:spPr>
          <a:xfrm>
            <a:off x="803549" y="1304679"/>
            <a:ext cx="1018898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cap="none">
                <a:solidFill>
                  <a:schemeClr val="dk1"/>
                </a:solidFill>
                <a:latin typeface="Oswald"/>
                <a:ea typeface="Oswald"/>
                <a:cs typeface="Oswald"/>
                <a:sym typeface="Oswald"/>
              </a:rPr>
              <a:t>TARGET 4.2</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By 2030, ensure that all girls and boys have access to quality early childhood development, care and pre-primary education so that they are ready for primary education</a:t>
            </a:r>
            <a:endParaRPr sz="2400" b="0" i="0">
              <a:solidFill>
                <a:schemeClr val="dk1"/>
              </a:solidFill>
              <a:latin typeface="Arial"/>
              <a:ea typeface="Arial"/>
              <a:cs typeface="Arial"/>
              <a:sym typeface="Arial"/>
            </a:endParaRPr>
          </a:p>
        </p:txBody>
      </p:sp>
      <p:graphicFrame>
        <p:nvGraphicFramePr>
          <p:cNvPr id="728" name="Google Shape;728;p51"/>
          <p:cNvGraphicFramePr/>
          <p:nvPr/>
        </p:nvGraphicFramePr>
        <p:xfrm>
          <a:off x="677882" y="3313215"/>
          <a:ext cx="10868900" cy="1106480"/>
        </p:xfrm>
        <a:graphic>
          <a:graphicData uri="http://schemas.openxmlformats.org/drawingml/2006/table">
            <a:tbl>
              <a:tblPr>
                <a:noFill/>
                <a:tableStyleId>{5BDFE0BF-3721-438C-8B7B-D8BF3B89A407}</a:tableStyleId>
              </a:tblPr>
              <a:tblGrid>
                <a:gridCol w="775200">
                  <a:extLst>
                    <a:ext uri="{9D8B030D-6E8A-4147-A177-3AD203B41FA5}">
                      <a16:colId xmlns:a16="http://schemas.microsoft.com/office/drawing/2014/main" val="20000"/>
                    </a:ext>
                  </a:extLst>
                </a:gridCol>
                <a:gridCol w="3087275">
                  <a:extLst>
                    <a:ext uri="{9D8B030D-6E8A-4147-A177-3AD203B41FA5}">
                      <a16:colId xmlns:a16="http://schemas.microsoft.com/office/drawing/2014/main" val="20001"/>
                    </a:ext>
                  </a:extLst>
                </a:gridCol>
                <a:gridCol w="7006425">
                  <a:extLst>
                    <a:ext uri="{9D8B030D-6E8A-4147-A177-3AD203B41FA5}">
                      <a16:colId xmlns:a16="http://schemas.microsoft.com/office/drawing/2014/main" val="20002"/>
                    </a:ext>
                  </a:extLst>
                </a:gridCol>
              </a:tblGrid>
              <a:tr h="263650">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No</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Kode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Nama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extLst>
                  <a:ext uri="{0D108BD9-81ED-4DB2-BD59-A6C34878D82A}">
                    <a16:rowId xmlns:a16="http://schemas.microsoft.com/office/drawing/2014/main" val="10000"/>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4.2.2(a)</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Pendidikan Anak Usia Dini (PAUD).</a:t>
                      </a:r>
                      <a:endParaRPr/>
                    </a:p>
                  </a:txBody>
                  <a:tcPr marL="6350" marR="6350" marT="6350" marB="0"/>
                </a:tc>
                <a:extLst>
                  <a:ext uri="{0D108BD9-81ED-4DB2-BD59-A6C34878D82A}">
                    <a16:rowId xmlns:a16="http://schemas.microsoft.com/office/drawing/2014/main" val="10001"/>
                  </a:ext>
                </a:extLst>
              </a:tr>
            </a:tbl>
          </a:graphicData>
        </a:graphic>
      </p:graphicFrame>
    </p:spTree>
  </p:cSld>
  <p:clrMapOvr>
    <a:masterClrMapping/>
  </p:clrMapOvr>
  <p:transition spd="slow">
    <p:fade thruBlk="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5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54</a:t>
            </a:fld>
            <a:endParaRPr/>
          </a:p>
        </p:txBody>
      </p:sp>
      <p:sp>
        <p:nvSpPr>
          <p:cNvPr id="734" name="Google Shape;734;p52"/>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sp>
        <p:nvSpPr>
          <p:cNvPr id="735" name="Google Shape;735;p52"/>
          <p:cNvSpPr/>
          <p:nvPr/>
        </p:nvSpPr>
        <p:spPr>
          <a:xfrm>
            <a:off x="803549" y="1304679"/>
            <a:ext cx="1018898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cap="none">
                <a:solidFill>
                  <a:schemeClr val="dk1"/>
                </a:solidFill>
                <a:latin typeface="Oswald"/>
                <a:ea typeface="Oswald"/>
                <a:cs typeface="Oswald"/>
                <a:sym typeface="Oswald"/>
              </a:rPr>
              <a:t>TARGET 4.3</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By 2030, ensure equal access for all women and men to affordable and quality technical, vocational and tertiary education, including university</a:t>
            </a:r>
            <a:endParaRPr sz="2400" b="0" i="0">
              <a:solidFill>
                <a:schemeClr val="dk1"/>
              </a:solidFill>
              <a:latin typeface="Arial"/>
              <a:ea typeface="Arial"/>
              <a:cs typeface="Arial"/>
              <a:sym typeface="Arial"/>
            </a:endParaRPr>
          </a:p>
        </p:txBody>
      </p:sp>
      <p:graphicFrame>
        <p:nvGraphicFramePr>
          <p:cNvPr id="736" name="Google Shape;736;p52"/>
          <p:cNvGraphicFramePr/>
          <p:nvPr/>
        </p:nvGraphicFramePr>
        <p:xfrm>
          <a:off x="677882" y="3313215"/>
          <a:ext cx="10868900" cy="1623305"/>
        </p:xfrm>
        <a:graphic>
          <a:graphicData uri="http://schemas.openxmlformats.org/drawingml/2006/table">
            <a:tbl>
              <a:tblPr>
                <a:noFill/>
                <a:tableStyleId>{5BDFE0BF-3721-438C-8B7B-D8BF3B89A407}</a:tableStyleId>
              </a:tblPr>
              <a:tblGrid>
                <a:gridCol w="775200">
                  <a:extLst>
                    <a:ext uri="{9D8B030D-6E8A-4147-A177-3AD203B41FA5}">
                      <a16:colId xmlns:a16="http://schemas.microsoft.com/office/drawing/2014/main" val="20000"/>
                    </a:ext>
                  </a:extLst>
                </a:gridCol>
                <a:gridCol w="3087275">
                  <a:extLst>
                    <a:ext uri="{9D8B030D-6E8A-4147-A177-3AD203B41FA5}">
                      <a16:colId xmlns:a16="http://schemas.microsoft.com/office/drawing/2014/main" val="20001"/>
                    </a:ext>
                  </a:extLst>
                </a:gridCol>
                <a:gridCol w="7006425">
                  <a:extLst>
                    <a:ext uri="{9D8B030D-6E8A-4147-A177-3AD203B41FA5}">
                      <a16:colId xmlns:a16="http://schemas.microsoft.com/office/drawing/2014/main" val="20002"/>
                    </a:ext>
                  </a:extLst>
                </a:gridCol>
              </a:tblGrid>
              <a:tr h="263650">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No</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Kode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Nama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extLst>
                  <a:ext uri="{0D108BD9-81ED-4DB2-BD59-A6C34878D82A}">
                    <a16:rowId xmlns:a16="http://schemas.microsoft.com/office/drawing/2014/main" val="10000"/>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4.3.1(a)</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SMA/SMK/MA/sederajat.</a:t>
                      </a:r>
                      <a:endParaRPr/>
                    </a:p>
                  </a:txBody>
                  <a:tcPr marL="6350" marR="6350" marT="6350" marB="0"/>
                </a:tc>
                <a:extLst>
                  <a:ext uri="{0D108BD9-81ED-4DB2-BD59-A6C34878D82A}">
                    <a16:rowId xmlns:a16="http://schemas.microsoft.com/office/drawing/2014/main" val="10001"/>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2</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4.3.1(b)</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Angka Partisipasi Kasar (APK) Perguruan Tinggi (PT).</a:t>
                      </a:r>
                      <a:endParaRPr/>
                    </a:p>
                  </a:txBody>
                  <a:tcPr marL="6350" marR="6350" marT="6350" marB="0"/>
                </a:tc>
                <a:extLst>
                  <a:ext uri="{0D108BD9-81ED-4DB2-BD59-A6C34878D82A}">
                    <a16:rowId xmlns:a16="http://schemas.microsoft.com/office/drawing/2014/main" val="10002"/>
                  </a:ext>
                </a:extLst>
              </a:tr>
            </a:tbl>
          </a:graphicData>
        </a:graphic>
      </p:graphicFrame>
    </p:spTree>
  </p:cSld>
  <p:clrMapOvr>
    <a:masterClrMapping/>
  </p:clrMapOvr>
  <p:transition spd="slow">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5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742" name="Google Shape;742;p53"/>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sp>
        <p:nvSpPr>
          <p:cNvPr id="743" name="Google Shape;743;p53"/>
          <p:cNvSpPr/>
          <p:nvPr/>
        </p:nvSpPr>
        <p:spPr>
          <a:xfrm>
            <a:off x="803549" y="1304679"/>
            <a:ext cx="10188982"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cap="none">
                <a:solidFill>
                  <a:schemeClr val="dk1"/>
                </a:solidFill>
                <a:latin typeface="Oswald"/>
                <a:ea typeface="Oswald"/>
                <a:cs typeface="Oswald"/>
                <a:sym typeface="Oswald"/>
              </a:rPr>
              <a:t>TARGET 4.5</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By 2030, eliminate gender disparities in education and ensure equal access to all levels of education and vocational training for the vulnerable, including persons with disabilities, indigenous peoples and children in vulnerable situations </a:t>
            </a:r>
            <a:endParaRPr sz="2400" b="0" i="0">
              <a:solidFill>
                <a:schemeClr val="dk1"/>
              </a:solidFill>
              <a:latin typeface="Arial"/>
              <a:ea typeface="Arial"/>
              <a:cs typeface="Arial"/>
              <a:sym typeface="Arial"/>
            </a:endParaRPr>
          </a:p>
        </p:txBody>
      </p:sp>
      <p:graphicFrame>
        <p:nvGraphicFramePr>
          <p:cNvPr id="744" name="Google Shape;744;p53"/>
          <p:cNvGraphicFramePr/>
          <p:nvPr/>
        </p:nvGraphicFramePr>
        <p:xfrm>
          <a:off x="677882" y="3313215"/>
          <a:ext cx="10868900" cy="1472240"/>
        </p:xfrm>
        <a:graphic>
          <a:graphicData uri="http://schemas.openxmlformats.org/drawingml/2006/table">
            <a:tbl>
              <a:tblPr>
                <a:noFill/>
                <a:tableStyleId>{5BDFE0BF-3721-438C-8B7B-D8BF3B89A407}</a:tableStyleId>
              </a:tblPr>
              <a:tblGrid>
                <a:gridCol w="775200">
                  <a:extLst>
                    <a:ext uri="{9D8B030D-6E8A-4147-A177-3AD203B41FA5}">
                      <a16:colId xmlns:a16="http://schemas.microsoft.com/office/drawing/2014/main" val="20000"/>
                    </a:ext>
                  </a:extLst>
                </a:gridCol>
                <a:gridCol w="3087275">
                  <a:extLst>
                    <a:ext uri="{9D8B030D-6E8A-4147-A177-3AD203B41FA5}">
                      <a16:colId xmlns:a16="http://schemas.microsoft.com/office/drawing/2014/main" val="20001"/>
                    </a:ext>
                  </a:extLst>
                </a:gridCol>
                <a:gridCol w="7006425">
                  <a:extLst>
                    <a:ext uri="{9D8B030D-6E8A-4147-A177-3AD203B41FA5}">
                      <a16:colId xmlns:a16="http://schemas.microsoft.com/office/drawing/2014/main" val="20002"/>
                    </a:ext>
                  </a:extLst>
                </a:gridCol>
              </a:tblGrid>
              <a:tr h="263650">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No</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Kode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Nama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extLst>
                  <a:ext uri="{0D108BD9-81ED-4DB2-BD59-A6C34878D82A}">
                    <a16:rowId xmlns:a16="http://schemas.microsoft.com/office/drawing/2014/main" val="10000"/>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4.5.1*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APM perempuan/laki-laki di (1) SD/MI/sederajat;  (2) SMP/MTs/sederajat; (3)  SMA/SMK/MA/sederajat; dan (4) Rasio APK  perempuan/laki-laki di PT.</a:t>
                      </a:r>
                      <a:endParaRPr/>
                    </a:p>
                  </a:txBody>
                  <a:tcPr marL="6350" marR="6350" marT="6350" marB="0"/>
                </a:tc>
                <a:extLst>
                  <a:ext uri="{0D108BD9-81ED-4DB2-BD59-A6C34878D82A}">
                    <a16:rowId xmlns:a16="http://schemas.microsoft.com/office/drawing/2014/main" val="10001"/>
                  </a:ext>
                </a:extLst>
              </a:tr>
            </a:tbl>
          </a:graphicData>
        </a:graphic>
      </p:graphicFrame>
    </p:spTree>
  </p:cSld>
  <p:clrMapOvr>
    <a:masterClrMapping/>
  </p:clrMapOvr>
  <p:transition spd="slow">
    <p:fade thruBlk="1"/>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5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56</a:t>
            </a:fld>
            <a:endParaRPr/>
          </a:p>
        </p:txBody>
      </p:sp>
      <p:sp>
        <p:nvSpPr>
          <p:cNvPr id="750" name="Google Shape;750;p54"/>
          <p:cNvSpPr txBox="1">
            <a:spLocks noGrp="1"/>
          </p:cNvSpPr>
          <p:nvPr>
            <p:ph type="title"/>
          </p:nvPr>
        </p:nvSpPr>
        <p:spPr>
          <a:xfrm>
            <a:off x="803549" y="31749"/>
            <a:ext cx="10472132" cy="971583"/>
          </a:xfrm>
          <a:prstGeom prst="rect">
            <a:avLst/>
          </a:prstGeom>
          <a:noFill/>
          <a:ln>
            <a:noFill/>
          </a:ln>
        </p:spPr>
        <p:txBody>
          <a:bodyPr spcFirstLastPara="1" wrap="square" lIns="104925" tIns="52450" rIns="104925" bIns="52450" anchor="ctr" anchorCtr="0">
            <a:noAutofit/>
          </a:bodyPr>
          <a:lstStyle/>
          <a:p>
            <a:pPr marL="0" lvl="0" indent="0" algn="ctr" rtl="0">
              <a:spcBef>
                <a:spcPts val="0"/>
              </a:spcBef>
              <a:spcAft>
                <a:spcPts val="0"/>
              </a:spcAft>
              <a:buClr>
                <a:schemeClr val="dk1"/>
              </a:buClr>
              <a:buSzPts val="3000"/>
              <a:buFont typeface="Calibri"/>
              <a:buNone/>
            </a:pPr>
            <a:r>
              <a:rPr lang="en-US" sz="3000">
                <a:latin typeface="Calibri"/>
                <a:ea typeface="Calibri"/>
                <a:cs typeface="Calibri"/>
                <a:sym typeface="Calibri"/>
              </a:rPr>
              <a:t>INDIKATOR PENDIDIKAN UNTUK SDGS DALAM SUSENAS</a:t>
            </a:r>
            <a:endParaRPr sz="3000">
              <a:latin typeface="Calibri"/>
              <a:ea typeface="Calibri"/>
              <a:cs typeface="Calibri"/>
              <a:sym typeface="Calibri"/>
            </a:endParaRPr>
          </a:p>
        </p:txBody>
      </p:sp>
      <p:sp>
        <p:nvSpPr>
          <p:cNvPr id="751" name="Google Shape;751;p54"/>
          <p:cNvSpPr/>
          <p:nvPr/>
        </p:nvSpPr>
        <p:spPr>
          <a:xfrm>
            <a:off x="803549" y="1304679"/>
            <a:ext cx="1018898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cap="none">
                <a:solidFill>
                  <a:schemeClr val="dk1"/>
                </a:solidFill>
                <a:latin typeface="Oswald"/>
                <a:ea typeface="Oswald"/>
                <a:cs typeface="Oswald"/>
                <a:sym typeface="Oswald"/>
              </a:rPr>
              <a:t>TARGET 4.6</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By 2030, ensure that all youth and a substantial proportion of adults, both men and women, achieve literacy and numeracy</a:t>
            </a:r>
            <a:endParaRPr sz="2400" b="0" i="0">
              <a:solidFill>
                <a:schemeClr val="dk1"/>
              </a:solidFill>
              <a:latin typeface="Arial"/>
              <a:ea typeface="Arial"/>
              <a:cs typeface="Arial"/>
              <a:sym typeface="Arial"/>
            </a:endParaRPr>
          </a:p>
        </p:txBody>
      </p:sp>
      <p:graphicFrame>
        <p:nvGraphicFramePr>
          <p:cNvPr id="752" name="Google Shape;752;p54"/>
          <p:cNvGraphicFramePr/>
          <p:nvPr/>
        </p:nvGraphicFramePr>
        <p:xfrm>
          <a:off x="677882" y="3313215"/>
          <a:ext cx="10868900" cy="1844350"/>
        </p:xfrm>
        <a:graphic>
          <a:graphicData uri="http://schemas.openxmlformats.org/drawingml/2006/table">
            <a:tbl>
              <a:tblPr>
                <a:noFill/>
                <a:tableStyleId>{5BDFE0BF-3721-438C-8B7B-D8BF3B89A407}</a:tableStyleId>
              </a:tblPr>
              <a:tblGrid>
                <a:gridCol w="775200">
                  <a:extLst>
                    <a:ext uri="{9D8B030D-6E8A-4147-A177-3AD203B41FA5}">
                      <a16:colId xmlns:a16="http://schemas.microsoft.com/office/drawing/2014/main" val="20000"/>
                    </a:ext>
                  </a:extLst>
                </a:gridCol>
                <a:gridCol w="3087275">
                  <a:extLst>
                    <a:ext uri="{9D8B030D-6E8A-4147-A177-3AD203B41FA5}">
                      <a16:colId xmlns:a16="http://schemas.microsoft.com/office/drawing/2014/main" val="20001"/>
                    </a:ext>
                  </a:extLst>
                </a:gridCol>
                <a:gridCol w="7006425">
                  <a:extLst>
                    <a:ext uri="{9D8B030D-6E8A-4147-A177-3AD203B41FA5}">
                      <a16:colId xmlns:a16="http://schemas.microsoft.com/office/drawing/2014/main" val="20002"/>
                    </a:ext>
                  </a:extLst>
                </a:gridCol>
              </a:tblGrid>
              <a:tr h="263650">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No</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Kode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tc>
                  <a:txBody>
                    <a:bodyPr/>
                    <a:lstStyle/>
                    <a:p>
                      <a:pPr marL="0" marR="0" lvl="0" indent="0" algn="ctr" rtl="0">
                        <a:spcBef>
                          <a:spcPts val="0"/>
                        </a:spcBef>
                        <a:spcAft>
                          <a:spcPts val="0"/>
                        </a:spcAft>
                        <a:buNone/>
                      </a:pPr>
                      <a:r>
                        <a:rPr lang="en-US" sz="2400" u="none" strike="noStrike">
                          <a:latin typeface="Calibri"/>
                          <a:ea typeface="Calibri"/>
                          <a:cs typeface="Calibri"/>
                          <a:sym typeface="Calibri"/>
                        </a:rPr>
                        <a:t>Nama Indikator</a:t>
                      </a:r>
                      <a:endParaRPr sz="2400" b="1" i="0" u="none" strike="noStrike">
                        <a:solidFill>
                          <a:srgbClr val="FFFFFF"/>
                        </a:solidFill>
                        <a:latin typeface="Calibri"/>
                        <a:ea typeface="Calibri"/>
                        <a:cs typeface="Calibri"/>
                        <a:sym typeface="Calibri"/>
                      </a:endParaRPr>
                    </a:p>
                  </a:txBody>
                  <a:tcPr marL="2850" marR="2850" marT="2850" marB="0" anchor="ctr">
                    <a:solidFill>
                      <a:srgbClr val="C5D8F1"/>
                    </a:solidFill>
                  </a:tcPr>
                </a:tc>
                <a:extLst>
                  <a:ext uri="{0D108BD9-81ED-4DB2-BD59-A6C34878D82A}">
                    <a16:rowId xmlns:a16="http://schemas.microsoft.com/office/drawing/2014/main" val="10000"/>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1</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4.6.1(a)</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Persentase angka melek aksara penduduk umur ≥15 tahun.</a:t>
                      </a:r>
                      <a:endParaRPr/>
                    </a:p>
                  </a:txBody>
                  <a:tcPr marL="6350" marR="6350" marT="6350" marB="0"/>
                </a:tc>
                <a:extLst>
                  <a:ext uri="{0D108BD9-81ED-4DB2-BD59-A6C34878D82A}">
                    <a16:rowId xmlns:a16="http://schemas.microsoft.com/office/drawing/2014/main" val="10001"/>
                  </a:ext>
                </a:extLst>
              </a:tr>
              <a:tr h="516825">
                <a:tc>
                  <a:txBody>
                    <a:bodyPr/>
                    <a:lstStyle/>
                    <a:p>
                      <a:pPr marL="0" marR="0" lvl="0" indent="0" algn="ctr" rtl="0">
                        <a:spcBef>
                          <a:spcPts val="0"/>
                        </a:spcBef>
                        <a:spcAft>
                          <a:spcPts val="0"/>
                        </a:spcAft>
                        <a:buNone/>
                      </a:pPr>
                      <a:r>
                        <a:rPr lang="en-US" sz="2400" b="0" i="0" u="none" strike="noStrike">
                          <a:solidFill>
                            <a:srgbClr val="000000"/>
                          </a:solidFill>
                          <a:latin typeface="Calibri"/>
                          <a:ea typeface="Calibri"/>
                          <a:cs typeface="Calibri"/>
                          <a:sym typeface="Calibri"/>
                        </a:rPr>
                        <a:t>2</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4.6.1(b)</a:t>
                      </a:r>
                      <a:endParaRPr/>
                    </a:p>
                  </a:txBody>
                  <a:tcPr marL="6350" marR="6350" marT="6350" marB="0"/>
                </a:tc>
                <a:tc>
                  <a:txBody>
                    <a:bodyPr/>
                    <a:lstStyle/>
                    <a:p>
                      <a:pPr marL="0" marR="0" lvl="0" indent="0" algn="l" rtl="0">
                        <a:spcBef>
                          <a:spcPts val="0"/>
                        </a:spcBef>
                        <a:spcAft>
                          <a:spcPts val="0"/>
                        </a:spcAft>
                        <a:buNone/>
                      </a:pPr>
                      <a:r>
                        <a:rPr lang="en-US" sz="2400" b="0" i="0" u="none" strike="noStrike">
                          <a:solidFill>
                            <a:srgbClr val="000000"/>
                          </a:solidFill>
                          <a:latin typeface="Quattrocento Sans"/>
                          <a:ea typeface="Quattrocento Sans"/>
                          <a:cs typeface="Quattrocento Sans"/>
                          <a:sym typeface="Quattrocento Sans"/>
                        </a:rPr>
                        <a:t>Persentase angka melek aksara penduduk umur 15-24 tahun dan umur 15-59 tahun.</a:t>
                      </a:r>
                      <a:endParaRPr/>
                    </a:p>
                  </a:txBody>
                  <a:tcPr marL="6350" marR="6350" marT="6350" marB="0"/>
                </a:tc>
                <a:extLst>
                  <a:ext uri="{0D108BD9-81ED-4DB2-BD59-A6C34878D82A}">
                    <a16:rowId xmlns:a16="http://schemas.microsoft.com/office/drawing/2014/main" val="10002"/>
                  </a:ext>
                </a:extLst>
              </a:tr>
            </a:tbl>
          </a:graphicData>
        </a:graphic>
      </p:graphicFrame>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5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57</a:t>
            </a:fld>
            <a:endParaRPr/>
          </a:p>
        </p:txBody>
      </p:sp>
      <p:sp>
        <p:nvSpPr>
          <p:cNvPr id="758" name="Google Shape;758;p55"/>
          <p:cNvSpPr txBox="1">
            <a:spLocks noGrp="1"/>
          </p:cNvSpPr>
          <p:nvPr>
            <p:ph type="title"/>
          </p:nvPr>
        </p:nvSpPr>
        <p:spPr>
          <a:xfrm>
            <a:off x="944088" y="69490"/>
            <a:ext cx="10266218" cy="863787"/>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500"/>
              <a:buFont typeface="Cambria"/>
              <a:buNone/>
            </a:pPr>
            <a:r>
              <a:rPr lang="en-US" b="1">
                <a:solidFill>
                  <a:srgbClr val="000000"/>
                </a:solidFill>
                <a:latin typeface="Cambria"/>
                <a:ea typeface="Cambria"/>
                <a:cs typeface="Cambria"/>
                <a:sym typeface="Cambria"/>
              </a:rPr>
              <a:t>Angka Melek Huruf</a:t>
            </a:r>
            <a:endParaRPr b="1" baseline="-25000">
              <a:solidFill>
                <a:srgbClr val="000000"/>
              </a:solidFill>
              <a:latin typeface="Cambria"/>
              <a:ea typeface="Cambria"/>
              <a:cs typeface="Cambria"/>
              <a:sym typeface="Cambria"/>
            </a:endParaRPr>
          </a:p>
        </p:txBody>
      </p:sp>
      <p:sp>
        <p:nvSpPr>
          <p:cNvPr id="759" name="Google Shape;759;p55"/>
          <p:cNvSpPr txBox="1"/>
          <p:nvPr/>
        </p:nvSpPr>
        <p:spPr>
          <a:xfrm>
            <a:off x="944088" y="985720"/>
            <a:ext cx="10266218" cy="4733855"/>
          </a:xfrm>
          <a:prstGeom prst="rect">
            <a:avLst/>
          </a:prstGeom>
          <a:noFill/>
          <a:ln>
            <a:noFill/>
          </a:ln>
        </p:spPr>
        <p:txBody>
          <a:bodyPr spcFirstLastPara="1" wrap="square" lIns="104925" tIns="52450" rIns="104925" bIns="52450" anchor="t" anchorCtr="0">
            <a:normAutofit fontScale="85000" lnSpcReduction="20000"/>
          </a:bodyPr>
          <a:lstStyle/>
          <a:p>
            <a:pPr marL="356885" marR="0" lvl="0" indent="-356885" algn="l" rtl="0">
              <a:lnSpc>
                <a:spcPct val="120000"/>
              </a:lnSpc>
              <a:spcBef>
                <a:spcPts val="0"/>
              </a:spcBef>
              <a:spcAft>
                <a:spcPts val="0"/>
              </a:spcAft>
              <a:buClr>
                <a:schemeClr val="dk1"/>
              </a:buClr>
              <a:buSzPct val="100000"/>
              <a:buFont typeface="Arial"/>
              <a:buChar char="•"/>
            </a:pPr>
            <a:r>
              <a:rPr lang="en-US" sz="3300" b="1">
                <a:solidFill>
                  <a:schemeClr val="dk1"/>
                </a:solidFill>
                <a:latin typeface="Calibri"/>
                <a:ea typeface="Calibri"/>
                <a:cs typeface="Calibri"/>
                <a:sym typeface="Calibri"/>
              </a:rPr>
              <a:t>Melek huruf</a:t>
            </a:r>
            <a:r>
              <a:rPr lang="en-US" sz="3300">
                <a:solidFill>
                  <a:schemeClr val="dk1"/>
                </a:solidFill>
                <a:latin typeface="Calibri"/>
                <a:ea typeface="Calibri"/>
                <a:cs typeface="Calibri"/>
                <a:sym typeface="Calibri"/>
              </a:rPr>
              <a:t>: </a:t>
            </a:r>
            <a:r>
              <a:rPr lang="en-US" sz="3356">
                <a:solidFill>
                  <a:schemeClr val="dk1"/>
                </a:solidFill>
                <a:latin typeface="Calibri"/>
                <a:ea typeface="Calibri"/>
                <a:cs typeface="Calibri"/>
                <a:sym typeface="Calibri"/>
              </a:rPr>
              <a:t>dapat membaca dan menulis kata-kata/kalimat sederhana dalam aksara tertentu.</a:t>
            </a:r>
            <a:endParaRPr/>
          </a:p>
          <a:p>
            <a:pPr marL="356885" marR="0" lvl="0" indent="-356923" algn="l" rtl="0">
              <a:lnSpc>
                <a:spcPct val="120000"/>
              </a:lnSpc>
              <a:spcBef>
                <a:spcPts val="1800"/>
              </a:spcBef>
              <a:spcAft>
                <a:spcPts val="0"/>
              </a:spcAft>
              <a:buClr>
                <a:schemeClr val="dk1"/>
              </a:buClr>
              <a:buSzPct val="100000"/>
              <a:buFont typeface="Arial"/>
              <a:buChar char="•"/>
            </a:pPr>
            <a:r>
              <a:rPr lang="en-US" sz="3356">
                <a:solidFill>
                  <a:schemeClr val="dk1"/>
                </a:solidFill>
                <a:latin typeface="Calibri"/>
                <a:ea typeface="Calibri"/>
                <a:cs typeface="Calibri"/>
                <a:sym typeface="Calibri"/>
              </a:rPr>
              <a:t>Beberapa catatan mengenai konsep melek huruf (BPS):</a:t>
            </a:r>
            <a:endParaRPr/>
          </a:p>
          <a:p>
            <a:pPr marL="773249" marR="0" lvl="1" indent="-297447" algn="l" rtl="0">
              <a:lnSpc>
                <a:spcPct val="120000"/>
              </a:lnSpc>
              <a:spcBef>
                <a:spcPts val="493"/>
              </a:spcBef>
              <a:spcAft>
                <a:spcPts val="0"/>
              </a:spcAft>
              <a:buClr>
                <a:schemeClr val="dk1"/>
              </a:buClr>
              <a:buSzPct val="100000"/>
              <a:buFont typeface="Arial"/>
              <a:buChar char="–"/>
            </a:pPr>
            <a:r>
              <a:rPr lang="en-US" sz="2902" b="0" i="0" u="none" strike="noStrike" cap="none">
                <a:solidFill>
                  <a:schemeClr val="dk1"/>
                </a:solidFill>
                <a:latin typeface="Calibri"/>
                <a:ea typeface="Calibri"/>
                <a:cs typeface="Calibri"/>
                <a:sym typeface="Calibri"/>
              </a:rPr>
              <a:t>Orang buta yang dapat membaca dan menulis huruf </a:t>
            </a:r>
            <a:r>
              <a:rPr lang="en-US" sz="2902" b="0" i="1" u="none" strike="noStrike" cap="none">
                <a:solidFill>
                  <a:schemeClr val="dk1"/>
                </a:solidFill>
                <a:latin typeface="Calibri"/>
                <a:ea typeface="Calibri"/>
                <a:cs typeface="Calibri"/>
                <a:sym typeface="Calibri"/>
              </a:rPr>
              <a:t>braille </a:t>
            </a:r>
            <a:r>
              <a:rPr lang="en-US" sz="2902" b="0" i="0" u="none" strike="noStrike" cap="none">
                <a:solidFill>
                  <a:schemeClr val="dk1"/>
                </a:solidFill>
                <a:latin typeface="Calibri"/>
                <a:ea typeface="Calibri"/>
                <a:cs typeface="Calibri"/>
                <a:sym typeface="Calibri"/>
              </a:rPr>
              <a:t>digolongkan dapat membaca dan menulis huruf latin.</a:t>
            </a:r>
            <a:endParaRPr/>
          </a:p>
          <a:p>
            <a:pPr marL="773249" marR="0" lvl="1" indent="-297447" algn="l" rtl="0">
              <a:lnSpc>
                <a:spcPct val="120000"/>
              </a:lnSpc>
              <a:spcBef>
                <a:spcPts val="493"/>
              </a:spcBef>
              <a:spcAft>
                <a:spcPts val="0"/>
              </a:spcAft>
              <a:buClr>
                <a:schemeClr val="dk1"/>
              </a:buClr>
              <a:buSzPct val="100000"/>
              <a:buFont typeface="Arial"/>
              <a:buChar char="–"/>
            </a:pPr>
            <a:r>
              <a:rPr lang="en-US" sz="2902" b="0" i="0" u="none" strike="noStrike" cap="none">
                <a:solidFill>
                  <a:schemeClr val="dk1"/>
                </a:solidFill>
                <a:latin typeface="Calibri"/>
                <a:ea typeface="Calibri"/>
                <a:cs typeface="Calibri"/>
                <a:sym typeface="Calibri"/>
              </a:rPr>
              <a:t>Orang cacat yang sebelumnya dapat membaca dan menulis, kemudian karena cacatnya tidak dapat membaca dan menulis digolongkan dapat membaca dan menulis.</a:t>
            </a:r>
            <a:endParaRPr/>
          </a:p>
          <a:p>
            <a:pPr marL="773249" marR="0" lvl="1" indent="-297447" algn="l" rtl="0">
              <a:lnSpc>
                <a:spcPct val="120000"/>
              </a:lnSpc>
              <a:spcBef>
                <a:spcPts val="493"/>
              </a:spcBef>
              <a:spcAft>
                <a:spcPts val="0"/>
              </a:spcAft>
              <a:buClr>
                <a:schemeClr val="dk1"/>
              </a:buClr>
              <a:buSzPct val="100000"/>
              <a:buFont typeface="Arial"/>
              <a:buChar char="–"/>
            </a:pPr>
            <a:r>
              <a:rPr lang="en-US" sz="2902" b="0" i="0" u="none" strike="noStrike" cap="none">
                <a:solidFill>
                  <a:schemeClr val="dk1"/>
                </a:solidFill>
                <a:latin typeface="Calibri"/>
                <a:ea typeface="Calibri"/>
                <a:cs typeface="Calibri"/>
                <a:sym typeface="Calibri"/>
              </a:rPr>
              <a:t>Orang yang hanya dapat membaca saja tetapi tidak dapat menulis atau sebaliknya, dianggap tidak dapat membaca dan menulis.</a:t>
            </a:r>
            <a:endParaRPr/>
          </a:p>
        </p:txBody>
      </p:sp>
    </p:spTree>
  </p:cSld>
  <p:clrMapOvr>
    <a:masterClrMapping/>
  </p:clrMapOvr>
  <p:transition spd="slow">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56"/>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Angka Melek Huruf</a:t>
            </a:r>
            <a:endParaRPr sz="3800"/>
          </a:p>
        </p:txBody>
      </p:sp>
      <p:sp>
        <p:nvSpPr>
          <p:cNvPr id="766" name="Google Shape;766;p5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58</a:t>
            </a:fld>
            <a:endParaRPr/>
          </a:p>
        </p:txBody>
      </p:sp>
      <p:sp>
        <p:nvSpPr>
          <p:cNvPr id="767" name="Google Shape;767;p56"/>
          <p:cNvSpPr txBox="1"/>
          <p:nvPr/>
        </p:nvSpPr>
        <p:spPr>
          <a:xfrm>
            <a:off x="469715" y="1923808"/>
            <a:ext cx="10835594" cy="121602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768" name="Google Shape;768;p56"/>
          <p:cNvSpPr txBox="1"/>
          <p:nvPr/>
        </p:nvSpPr>
        <p:spPr>
          <a:xfrm>
            <a:off x="1056902" y="3474135"/>
            <a:ext cx="1014152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000000"/>
                </a:solidFill>
                <a:latin typeface="Arial"/>
                <a:ea typeface="Arial"/>
                <a:cs typeface="Arial"/>
                <a:sym typeface="Arial"/>
              </a:rPr>
              <a:t>dimana:</a:t>
            </a:r>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AMH</a:t>
            </a:r>
            <a:r>
              <a:rPr lang="en-US" sz="2400" b="0" i="0" baseline="-25000">
                <a:solidFill>
                  <a:srgbClr val="000000"/>
                </a:solidFill>
                <a:latin typeface="Arial"/>
                <a:ea typeface="Arial"/>
                <a:cs typeface="Arial"/>
                <a:sym typeface="Arial"/>
              </a:rPr>
              <a:t>15+</a:t>
            </a:r>
            <a:r>
              <a:rPr lang="en-US" sz="2400" b="0" i="0">
                <a:solidFill>
                  <a:srgbClr val="000000"/>
                </a:solidFill>
                <a:latin typeface="Arial"/>
                <a:ea typeface="Arial"/>
                <a:cs typeface="Arial"/>
                <a:sym typeface="Arial"/>
              </a:rPr>
              <a:t> 	= Angka Melek Huruf usia 15 tahun keatas</a:t>
            </a:r>
            <a:endParaRPr sz="2400" b="0" i="0">
              <a:solidFill>
                <a:srgbClr val="000000"/>
              </a:solidFill>
              <a:latin typeface="Arial"/>
              <a:ea typeface="Arial"/>
              <a:cs typeface="Arial"/>
              <a:sym typeface="Arial"/>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MH</a:t>
            </a:r>
            <a:r>
              <a:rPr lang="en-US" sz="2400" b="0" i="0" baseline="-25000">
                <a:solidFill>
                  <a:srgbClr val="000000"/>
                </a:solidFill>
                <a:latin typeface="Arial"/>
                <a:ea typeface="Arial"/>
                <a:cs typeface="Arial"/>
                <a:sym typeface="Arial"/>
              </a:rPr>
              <a:t>15+</a:t>
            </a:r>
            <a:r>
              <a:rPr lang="en-US" sz="2400" b="0" i="0">
                <a:solidFill>
                  <a:srgbClr val="000000"/>
                </a:solidFill>
                <a:latin typeface="Arial"/>
                <a:ea typeface="Arial"/>
                <a:cs typeface="Arial"/>
                <a:sym typeface="Arial"/>
              </a:rPr>
              <a:t> 		= Jumlah penduduk usia 15 tahun ke atas yang melek huruf</a:t>
            </a:r>
            <a:endParaRPr sz="2400" b="0" i="0">
              <a:solidFill>
                <a:srgbClr val="000000"/>
              </a:solidFill>
              <a:latin typeface="Arial"/>
              <a:ea typeface="Arial"/>
              <a:cs typeface="Arial"/>
              <a:sym typeface="Arial"/>
            </a:endParaRPr>
          </a:p>
          <a:p>
            <a:pPr marL="0" marR="0" lvl="0" indent="0" algn="l" rtl="0">
              <a:spcBef>
                <a:spcPts val="0"/>
              </a:spcBef>
              <a:spcAft>
                <a:spcPts val="0"/>
              </a:spcAft>
              <a:buNone/>
            </a:pPr>
            <a:r>
              <a:rPr lang="en-US" sz="2400" b="0" i="0">
                <a:solidFill>
                  <a:srgbClr val="000000"/>
                </a:solidFill>
                <a:latin typeface="Arial"/>
                <a:ea typeface="Arial"/>
                <a:cs typeface="Arial"/>
                <a:sym typeface="Arial"/>
              </a:rPr>
              <a:t>P</a:t>
            </a:r>
            <a:r>
              <a:rPr lang="en-US" sz="2400" b="0" i="0" baseline="-25000">
                <a:solidFill>
                  <a:srgbClr val="000000"/>
                </a:solidFill>
                <a:latin typeface="Arial"/>
                <a:ea typeface="Arial"/>
                <a:cs typeface="Arial"/>
                <a:sym typeface="Arial"/>
              </a:rPr>
              <a:t>15+</a:t>
            </a:r>
            <a:r>
              <a:rPr lang="en-US" sz="2400" b="0" i="0">
                <a:solidFill>
                  <a:srgbClr val="000000"/>
                </a:solidFill>
                <a:latin typeface="Arial"/>
                <a:ea typeface="Arial"/>
                <a:cs typeface="Arial"/>
                <a:sym typeface="Arial"/>
              </a:rPr>
              <a:t> 		= Jumlah penduduk usia 15 tahun ke atas</a:t>
            </a:r>
            <a:endParaRPr sz="2400" b="0" i="0">
              <a:solidFill>
                <a:srgbClr val="000000"/>
              </a:solidFill>
              <a:latin typeface="Arial"/>
              <a:ea typeface="Arial"/>
              <a:cs typeface="Arial"/>
              <a:sym typeface="Arial"/>
            </a:endParaRPr>
          </a:p>
        </p:txBody>
      </p:sp>
    </p:spTree>
  </p:cSld>
  <p:clrMapOvr>
    <a:masterClrMapping/>
  </p:clrMapOvr>
  <p:transition spd="slow">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57"/>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Angka Melek Huruf</a:t>
            </a:r>
            <a:endParaRPr sz="3800"/>
          </a:p>
        </p:txBody>
      </p:sp>
      <p:sp>
        <p:nvSpPr>
          <p:cNvPr id="775" name="Google Shape;775;p5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59</a:t>
            </a:fld>
            <a:endParaRPr/>
          </a:p>
        </p:txBody>
      </p:sp>
      <p:graphicFrame>
        <p:nvGraphicFramePr>
          <p:cNvPr id="776" name="Google Shape;776;p57"/>
          <p:cNvGraphicFramePr/>
          <p:nvPr/>
        </p:nvGraphicFramePr>
        <p:xfrm>
          <a:off x="922317" y="1540822"/>
          <a:ext cx="10846400" cy="4846914"/>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1900">
                          <a:latin typeface="Calibri"/>
                          <a:ea typeface="Calibri"/>
                          <a:cs typeface="Calibri"/>
                          <a:sym typeface="Calibri"/>
                        </a:rPr>
                        <a:t>Kondef</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900">
                          <a:latin typeface="Calibri"/>
                          <a:ea typeface="Calibri"/>
                          <a:cs typeface="Calibri"/>
                          <a:sym typeface="Calibri"/>
                        </a:rPr>
                        <a:t>:</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900">
                          <a:latin typeface="Calibri"/>
                          <a:ea typeface="Calibri"/>
                          <a:cs typeface="Calibri"/>
                          <a:sym typeface="Calibri"/>
                        </a:rPr>
                        <a:t>Proporsi penduduk berusia 15 tahun ke atas yang memiliki kemampuan membaca dan menulis kalimat sederhana dalam huruf latin, huruf arab, dan huruf lainnya (seperti huruf jawa, kanji, dll) terhadap penduduk usia 15 tahun ke atas.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1900">
                          <a:latin typeface="Calibri"/>
                          <a:ea typeface="Calibri"/>
                          <a:cs typeface="Calibri"/>
                          <a:sym typeface="Calibri"/>
                        </a:rPr>
                        <a:t>Kegunaan</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900">
                          <a:latin typeface="Calibri"/>
                          <a:ea typeface="Calibri"/>
                          <a:cs typeface="Calibri"/>
                          <a:sym typeface="Calibri"/>
                        </a:rPr>
                        <a:t>:</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900">
                          <a:latin typeface="Calibri"/>
                          <a:ea typeface="Calibri"/>
                          <a:cs typeface="Calibri"/>
                          <a:sym typeface="Calibri"/>
                        </a:rPr>
                        <a:t>Melihat pencapaian indikator dasar yang telah dicapai oleh suatu daerah, karena membaca merupakan dasar utama dalam memperluas ilmu pengetahuan. AMH merupakan indikator penting untuk melihat sejauh mana penduduk suatu daerah terbuka terhadap pengetahuan.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1900">
                          <a:latin typeface="Calibri"/>
                          <a:ea typeface="Calibri"/>
                          <a:cs typeface="Calibri"/>
                          <a:sym typeface="Calibri"/>
                        </a:rPr>
                        <a:t>Interpretasi</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900">
                          <a:latin typeface="Calibri"/>
                          <a:ea typeface="Calibri"/>
                          <a:cs typeface="Calibri"/>
                          <a:sym typeface="Calibri"/>
                        </a:rPr>
                        <a:t>:</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900">
                          <a:latin typeface="Calibri"/>
                          <a:ea typeface="Calibri"/>
                          <a:cs typeface="Calibri"/>
                          <a:sym typeface="Calibri"/>
                        </a:rPr>
                        <a:t>Angka melek huruf berkisar antara 0-100. Tingkat melek huruf yang tinggi menunjukkan adanya sebuah sistem pendidikan dasar yang efektif dan atau program keaksaraan yang memungkinkan sebagian besar penduduk untuk memperoleh kemampuan menggunakan kata-kata tertulis dalam kehidupan sehari-hari dan melanjutkan pembelajaran. Contoh: AMH Kabupaten Jepara Tahun 2013 sebesar 92,93 persen, artinya sekitar 93 persen penduduk di Kabupaten Jepara yang berumur 15 tahun ke atas dapat membaca dan menulis huruf latin atau huruf lainnya.</a:t>
                      </a:r>
                      <a:endParaRPr sz="19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19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9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900">
                          <a:latin typeface="Calibri"/>
                          <a:ea typeface="Calibri"/>
                          <a:cs typeface="Calibri"/>
                          <a:sym typeface="Calibri"/>
                        </a:rPr>
                        <a:t>SUSENAS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5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60</a:t>
            </a:fld>
            <a:endParaRPr/>
          </a:p>
        </p:txBody>
      </p:sp>
      <p:pic>
        <p:nvPicPr>
          <p:cNvPr id="782" name="Google Shape;782;p58"/>
          <p:cNvPicPr preferRelativeResize="0"/>
          <p:nvPr/>
        </p:nvPicPr>
        <p:blipFill rotWithShape="1">
          <a:blip r:embed="rId3">
            <a:alphaModFix/>
          </a:blip>
          <a:srcRect/>
          <a:stretch/>
        </p:blipFill>
        <p:spPr>
          <a:xfrm>
            <a:off x="924242" y="581891"/>
            <a:ext cx="10268016" cy="5652654"/>
          </a:xfrm>
          <a:prstGeom prst="rect">
            <a:avLst/>
          </a:prstGeom>
          <a:noFill/>
          <a:ln>
            <a:noFill/>
          </a:ln>
        </p:spPr>
      </p:pic>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5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788" name="Google Shape;788;p59"/>
          <p:cNvSpPr txBox="1">
            <a:spLocks noGrp="1"/>
          </p:cNvSpPr>
          <p:nvPr>
            <p:ph type="title"/>
          </p:nvPr>
        </p:nvSpPr>
        <p:spPr>
          <a:xfrm>
            <a:off x="777829" y="222195"/>
            <a:ext cx="10539351" cy="558377"/>
          </a:xfrm>
          <a:prstGeom prst="rect">
            <a:avLst/>
          </a:prstGeom>
          <a:noFill/>
          <a:ln>
            <a:noFill/>
          </a:ln>
        </p:spPr>
        <p:txBody>
          <a:bodyPr spcFirstLastPara="1" wrap="square" lIns="104925" tIns="52450" rIns="104925" bIns="52450" anchor="ctr" anchorCtr="0">
            <a:normAutofit fontScale="90000"/>
          </a:bodyPr>
          <a:lstStyle/>
          <a:p>
            <a:pPr marL="0" lvl="0" indent="0" algn="ctr" rtl="0">
              <a:spcBef>
                <a:spcPts val="0"/>
              </a:spcBef>
              <a:spcAft>
                <a:spcPts val="0"/>
              </a:spcAft>
              <a:buClr>
                <a:srgbClr val="000000"/>
              </a:buClr>
              <a:buSzPct val="100000"/>
              <a:buFont typeface="Cambria"/>
              <a:buNone/>
            </a:pPr>
            <a:r>
              <a:rPr lang="en-US" sz="3200" b="1">
                <a:solidFill>
                  <a:srgbClr val="000000"/>
                </a:solidFill>
                <a:latin typeface="Cambria"/>
                <a:ea typeface="Cambria"/>
                <a:cs typeface="Cambria"/>
                <a:sym typeface="Cambria"/>
              </a:rPr>
              <a:t>Partisipasi Pendidikan</a:t>
            </a:r>
            <a:endParaRPr sz="3200" b="1" baseline="-25000">
              <a:solidFill>
                <a:srgbClr val="000000"/>
              </a:solidFill>
              <a:latin typeface="Cambria"/>
              <a:ea typeface="Cambria"/>
              <a:cs typeface="Cambria"/>
              <a:sym typeface="Cambria"/>
            </a:endParaRPr>
          </a:p>
        </p:txBody>
      </p:sp>
      <p:sp>
        <p:nvSpPr>
          <p:cNvPr id="789" name="Google Shape;789;p59"/>
          <p:cNvSpPr txBox="1"/>
          <p:nvPr/>
        </p:nvSpPr>
        <p:spPr>
          <a:xfrm>
            <a:off x="777829" y="1034894"/>
            <a:ext cx="10539351" cy="5191971"/>
          </a:xfrm>
          <a:prstGeom prst="rect">
            <a:avLst/>
          </a:prstGeom>
          <a:noFill/>
          <a:ln>
            <a:noFill/>
          </a:ln>
        </p:spPr>
        <p:txBody>
          <a:bodyPr spcFirstLastPara="1" wrap="square" lIns="104925" tIns="52450" rIns="104925" bIns="52450" anchor="t" anchorCtr="0">
            <a:normAutofit lnSpcReduction="10000"/>
          </a:bodyPr>
          <a:lstStyle/>
          <a:p>
            <a:pPr marL="0" marR="0" lvl="0" indent="0" algn="just" rtl="0">
              <a:spcBef>
                <a:spcPts val="0"/>
              </a:spcBef>
              <a:spcAft>
                <a:spcPts val="0"/>
              </a:spcAft>
              <a:buClr>
                <a:srgbClr val="000000"/>
              </a:buClr>
              <a:buSzPts val="2400"/>
              <a:buFont typeface="Arial"/>
              <a:buNone/>
            </a:pPr>
            <a:r>
              <a:rPr lang="en-US" sz="2400">
                <a:solidFill>
                  <a:srgbClr val="000000"/>
                </a:solidFill>
                <a:latin typeface="Calibri"/>
                <a:ea typeface="Calibri"/>
                <a:cs typeface="Calibri"/>
                <a:sym typeface="Calibri"/>
              </a:rPr>
              <a:t>Ditinjau dari kegiatan pendidikan formal, penduduk dapat dibedakan ke dalam: (1) Tidak/belum pernah sekolah, (2) Sedang bersekolah, (3) Tidak bersekolah lagi</a:t>
            </a:r>
            <a:endParaRPr/>
          </a:p>
          <a:p>
            <a:pPr marL="457200" marR="0" lvl="0" indent="-457200" algn="just" rtl="0">
              <a:spcBef>
                <a:spcPts val="480"/>
              </a:spcBef>
              <a:spcAft>
                <a:spcPts val="0"/>
              </a:spcAft>
              <a:buClr>
                <a:srgbClr val="000000"/>
              </a:buClr>
              <a:buSzPts val="2400"/>
              <a:buFont typeface="Arial"/>
              <a:buAutoNum type="arabicParenBoth"/>
            </a:pPr>
            <a:r>
              <a:rPr lang="en-US" sz="2400" u="sng">
                <a:solidFill>
                  <a:srgbClr val="000000"/>
                </a:solidFill>
                <a:latin typeface="Calibri"/>
                <a:ea typeface="Calibri"/>
                <a:cs typeface="Calibri"/>
                <a:sym typeface="Calibri"/>
              </a:rPr>
              <a:t>Tidak/belum pernah bersekolah</a:t>
            </a:r>
            <a:r>
              <a:rPr lang="en-US" sz="2400">
                <a:solidFill>
                  <a:srgbClr val="000000"/>
                </a:solidFill>
                <a:latin typeface="Calibri"/>
                <a:ea typeface="Calibri"/>
                <a:cs typeface="Calibri"/>
                <a:sym typeface="Calibri"/>
              </a:rPr>
              <a:t> adalah tidak pernah atau belum pernah terdaftar dan tidak/belum pernah aktif mengikuti pendidikan baik di suatu jenjang pendidikan formal maupun non formal (Paket A/B/C), termasuk juga yang tamat/belum tamat taman kanak-kanak tetapi tidak melanjutkan ke sekolah dasar.</a:t>
            </a:r>
            <a:endParaRPr/>
          </a:p>
          <a:p>
            <a:pPr marL="457200" marR="0" lvl="0" indent="-457200" algn="just" rtl="0">
              <a:spcBef>
                <a:spcPts val="480"/>
              </a:spcBef>
              <a:spcAft>
                <a:spcPts val="0"/>
              </a:spcAft>
              <a:buClr>
                <a:srgbClr val="000000"/>
              </a:buClr>
              <a:buSzPts val="2400"/>
              <a:buFont typeface="Arial"/>
              <a:buAutoNum type="arabicParenBoth"/>
            </a:pPr>
            <a:r>
              <a:rPr lang="en-US" sz="2400" u="sng">
                <a:solidFill>
                  <a:srgbClr val="000000"/>
                </a:solidFill>
                <a:latin typeface="Calibri"/>
                <a:ea typeface="Calibri"/>
                <a:cs typeface="Calibri"/>
                <a:sym typeface="Calibri"/>
              </a:rPr>
              <a:t>Masih bersekolah</a:t>
            </a:r>
            <a:r>
              <a:rPr lang="en-US" sz="2400">
                <a:solidFill>
                  <a:srgbClr val="000000"/>
                </a:solidFill>
                <a:latin typeface="Calibri"/>
                <a:ea typeface="Calibri"/>
                <a:cs typeface="Calibri"/>
                <a:sym typeface="Calibri"/>
              </a:rPr>
              <a:t> adalah mereka yang terdaftar dan aktif mengikuti pendidikan baik di suatujenjang pendidikan formal maupun non formal (Paket A/B/C), yang berada di bawah pengawasan Kemdikbud, Kementrian Agama (Kemenag), Instansi Negeri lain maupun Instansi Swasta.</a:t>
            </a:r>
            <a:endParaRPr/>
          </a:p>
          <a:p>
            <a:pPr marL="457200" marR="0" lvl="0" indent="-457200" algn="just" rtl="0">
              <a:spcBef>
                <a:spcPts val="480"/>
              </a:spcBef>
              <a:spcAft>
                <a:spcPts val="0"/>
              </a:spcAft>
              <a:buClr>
                <a:srgbClr val="000000"/>
              </a:buClr>
              <a:buSzPts val="2400"/>
              <a:buFont typeface="Arial"/>
              <a:buAutoNum type="arabicParenBoth"/>
            </a:pPr>
            <a:r>
              <a:rPr lang="en-US" sz="2400" u="sng">
                <a:solidFill>
                  <a:srgbClr val="000000"/>
                </a:solidFill>
                <a:latin typeface="Calibri"/>
                <a:ea typeface="Calibri"/>
                <a:cs typeface="Calibri"/>
                <a:sym typeface="Calibri"/>
              </a:rPr>
              <a:t>Tidak bersekolah lagi</a:t>
            </a:r>
            <a:r>
              <a:rPr lang="en-US" sz="2400">
                <a:solidFill>
                  <a:srgbClr val="000000"/>
                </a:solidFill>
                <a:latin typeface="Calibri"/>
                <a:ea typeface="Calibri"/>
                <a:cs typeface="Calibri"/>
                <a:sym typeface="Calibri"/>
              </a:rPr>
              <a:t> adalah pernah terdaftar dan aktif mengikuti pendidikan baik di suatu jenjang pendidikan formal maupun non formal (Paket A/B/C), tetapi pada saat pencacahan tidak lagi terdaftar dan tidak lagi aktif.</a:t>
            </a:r>
            <a:endParaRPr/>
          </a:p>
          <a:p>
            <a:pPr marL="0" marR="0" lvl="0" indent="0" algn="just" rtl="0">
              <a:spcBef>
                <a:spcPts val="480"/>
              </a:spcBef>
              <a:spcAft>
                <a:spcPts val="0"/>
              </a:spcAft>
              <a:buClr>
                <a:schemeClr val="dk1"/>
              </a:buClr>
              <a:buSzPts val="2400"/>
              <a:buFont typeface="Arial"/>
              <a:buNone/>
            </a:pPr>
            <a:endParaRPr sz="2400">
              <a:solidFill>
                <a:srgbClr val="000000"/>
              </a:solidFill>
              <a:latin typeface="Calibri"/>
              <a:ea typeface="Calibri"/>
              <a:cs typeface="Calibri"/>
              <a:sym typeface="Calibri"/>
            </a:endParaRPr>
          </a:p>
          <a:p>
            <a:pPr marL="0" marR="0" lvl="0" indent="0" algn="just" rtl="0">
              <a:spcBef>
                <a:spcPts val="480"/>
              </a:spcBef>
              <a:spcAft>
                <a:spcPts val="0"/>
              </a:spcAft>
              <a:buClr>
                <a:schemeClr val="dk1"/>
              </a:buClr>
              <a:buSzPts val="2400"/>
              <a:buFont typeface="Arial"/>
              <a:buNone/>
            </a:pPr>
            <a:endParaRPr sz="2400">
              <a:solidFill>
                <a:srgbClr val="000000"/>
              </a:solidFill>
              <a:latin typeface="Calibri"/>
              <a:ea typeface="Calibri"/>
              <a:cs typeface="Calibri"/>
              <a:sym typeface="Calibri"/>
            </a:endParaRPr>
          </a:p>
        </p:txBody>
      </p:sp>
    </p:spTree>
  </p:cSld>
  <p:clrMapOvr>
    <a:masterClrMapping/>
  </p:clrMapOvr>
  <p:transition spd="slow">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6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62</a:t>
            </a:fld>
            <a:endParaRPr/>
          </a:p>
        </p:txBody>
      </p:sp>
      <p:sp>
        <p:nvSpPr>
          <p:cNvPr id="795" name="Google Shape;795;p60"/>
          <p:cNvSpPr txBox="1">
            <a:spLocks noGrp="1"/>
          </p:cNvSpPr>
          <p:nvPr>
            <p:ph type="title"/>
          </p:nvPr>
        </p:nvSpPr>
        <p:spPr>
          <a:xfrm>
            <a:off x="635325" y="69490"/>
            <a:ext cx="10717481" cy="711082"/>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3200"/>
              <a:buFont typeface="Cambria"/>
              <a:buNone/>
            </a:pPr>
            <a:r>
              <a:rPr lang="en-US" sz="3200" b="1">
                <a:solidFill>
                  <a:srgbClr val="000000"/>
                </a:solidFill>
                <a:latin typeface="Cambria"/>
                <a:ea typeface="Cambria"/>
                <a:cs typeface="Cambria"/>
                <a:sym typeface="Cambria"/>
              </a:rPr>
              <a:t>Angka Partisipasi dalam Pendidikan</a:t>
            </a:r>
            <a:endParaRPr sz="3200" b="1" baseline="-25000">
              <a:solidFill>
                <a:srgbClr val="000000"/>
              </a:solidFill>
              <a:latin typeface="Cambria"/>
              <a:ea typeface="Cambria"/>
              <a:cs typeface="Cambria"/>
              <a:sym typeface="Cambria"/>
            </a:endParaRPr>
          </a:p>
        </p:txBody>
      </p:sp>
      <p:sp>
        <p:nvSpPr>
          <p:cNvPr id="796" name="Google Shape;796;p60"/>
          <p:cNvSpPr txBox="1"/>
          <p:nvPr/>
        </p:nvSpPr>
        <p:spPr>
          <a:xfrm>
            <a:off x="635325" y="985720"/>
            <a:ext cx="10717481" cy="4886560"/>
          </a:xfrm>
          <a:prstGeom prst="rect">
            <a:avLst/>
          </a:prstGeom>
          <a:noFill/>
          <a:ln>
            <a:noFill/>
          </a:ln>
        </p:spPr>
        <p:txBody>
          <a:bodyPr spcFirstLastPara="1" wrap="square" lIns="104925" tIns="52450" rIns="104925" bIns="52450" anchor="t" anchorCtr="0">
            <a:normAutofit fontScale="77500" lnSpcReduction="20000"/>
          </a:bodyPr>
          <a:lstStyle/>
          <a:p>
            <a:pPr marL="356885" marR="0" lvl="0" indent="-356942" algn="l" rtl="0">
              <a:spcBef>
                <a:spcPts val="0"/>
              </a:spcBef>
              <a:spcAft>
                <a:spcPts val="0"/>
              </a:spcAft>
              <a:buClr>
                <a:srgbClr val="000000"/>
              </a:buClr>
              <a:buSzPct val="100000"/>
              <a:buFont typeface="Arial"/>
              <a:buChar char="•"/>
            </a:pPr>
            <a:r>
              <a:rPr lang="en-US" sz="3356">
                <a:solidFill>
                  <a:srgbClr val="000000"/>
                </a:solidFill>
                <a:latin typeface="Calibri"/>
                <a:ea typeface="Calibri"/>
                <a:cs typeface="Calibri"/>
                <a:sym typeface="Calibri"/>
              </a:rPr>
              <a:t>3 jenjang pendidikan pendidikan formal</a:t>
            </a:r>
            <a:endParaRPr/>
          </a:p>
          <a:p>
            <a:pPr marL="773249" marR="0" lvl="1" indent="-297402" algn="l" rtl="0">
              <a:spcBef>
                <a:spcPts val="434"/>
              </a:spcBef>
              <a:spcAft>
                <a:spcPts val="0"/>
              </a:spcAft>
              <a:buClr>
                <a:srgbClr val="000000"/>
              </a:buClr>
              <a:buSzPct val="100000"/>
              <a:buFont typeface="Arial"/>
              <a:buChar char="–"/>
            </a:pPr>
            <a:r>
              <a:rPr lang="en-US" sz="2800" b="0" i="0" u="none" strike="noStrike" cap="none">
                <a:solidFill>
                  <a:srgbClr val="000000"/>
                </a:solidFill>
                <a:latin typeface="Calibri"/>
                <a:ea typeface="Calibri"/>
                <a:cs typeface="Calibri"/>
                <a:sym typeface="Calibri"/>
              </a:rPr>
              <a:t>Pendidikan dasar: SD dan SMP (7-12 tahun) dan (13-15 tahun)</a:t>
            </a:r>
            <a:endParaRPr/>
          </a:p>
          <a:p>
            <a:pPr marL="773249" marR="0" lvl="1" indent="-297402" algn="l" rtl="0">
              <a:spcBef>
                <a:spcPts val="434"/>
              </a:spcBef>
              <a:spcAft>
                <a:spcPts val="0"/>
              </a:spcAft>
              <a:buClr>
                <a:srgbClr val="000000"/>
              </a:buClr>
              <a:buSzPct val="100000"/>
              <a:buFont typeface="Arial"/>
              <a:buChar char="–"/>
            </a:pPr>
            <a:r>
              <a:rPr lang="en-US" sz="2800" b="0" i="0" u="none" strike="noStrike" cap="none">
                <a:solidFill>
                  <a:srgbClr val="000000"/>
                </a:solidFill>
                <a:latin typeface="Calibri"/>
                <a:ea typeface="Calibri"/>
                <a:cs typeface="Calibri"/>
                <a:sym typeface="Calibri"/>
              </a:rPr>
              <a:t>Pendidikan menengah: SMA/K (16-18) </a:t>
            </a:r>
            <a:endParaRPr/>
          </a:p>
          <a:p>
            <a:pPr marL="773249" marR="0" lvl="1" indent="-297402" algn="l" rtl="0">
              <a:spcBef>
                <a:spcPts val="434"/>
              </a:spcBef>
              <a:spcAft>
                <a:spcPts val="0"/>
              </a:spcAft>
              <a:buClr>
                <a:srgbClr val="000000"/>
              </a:buClr>
              <a:buSzPct val="100000"/>
              <a:buFont typeface="Arial"/>
              <a:buChar char="–"/>
            </a:pPr>
            <a:r>
              <a:rPr lang="en-US" sz="2800" b="0" i="0" u="none" strike="noStrike" cap="none">
                <a:solidFill>
                  <a:srgbClr val="000000"/>
                </a:solidFill>
                <a:latin typeface="Calibri"/>
                <a:ea typeface="Calibri"/>
                <a:cs typeface="Calibri"/>
                <a:sym typeface="Calibri"/>
              </a:rPr>
              <a:t>Pendidikan tinggi (19-24 tahun</a:t>
            </a:r>
            <a:r>
              <a:rPr lang="en-US" sz="2400" b="0" i="0" u="none" strike="noStrike" cap="none">
                <a:solidFill>
                  <a:srgbClr val="000000"/>
                </a:solidFill>
                <a:latin typeface="Calibri"/>
                <a:ea typeface="Calibri"/>
                <a:cs typeface="Calibri"/>
                <a:sym typeface="Calibri"/>
              </a:rPr>
              <a:t>) </a:t>
            </a:r>
            <a:endParaRPr/>
          </a:p>
          <a:p>
            <a:pPr marL="356885" marR="0" lvl="0" indent="-356942" algn="l" rtl="0">
              <a:spcBef>
                <a:spcPts val="520"/>
              </a:spcBef>
              <a:spcAft>
                <a:spcPts val="0"/>
              </a:spcAft>
              <a:buClr>
                <a:srgbClr val="000000"/>
              </a:buClr>
              <a:buSzPct val="100000"/>
              <a:buFont typeface="Arial"/>
              <a:buChar char="•"/>
            </a:pPr>
            <a:r>
              <a:rPr lang="en-US" sz="3356">
                <a:solidFill>
                  <a:srgbClr val="000000"/>
                </a:solidFill>
                <a:latin typeface="Calibri"/>
                <a:ea typeface="Calibri"/>
                <a:cs typeface="Calibri"/>
                <a:sym typeface="Calibri"/>
              </a:rPr>
              <a:t>Angka Partisipasi Murni [APM] </a:t>
            </a:r>
            <a:endParaRPr/>
          </a:p>
          <a:p>
            <a:pPr marL="773249" marR="0" lvl="1" indent="-297406" algn="l" rtl="0">
              <a:spcBef>
                <a:spcPts val="450"/>
              </a:spcBef>
              <a:spcAft>
                <a:spcPts val="0"/>
              </a:spcAft>
              <a:buClr>
                <a:srgbClr val="000000"/>
              </a:buClr>
              <a:buSzPct val="100000"/>
              <a:buFont typeface="Arial"/>
              <a:buChar char="–"/>
            </a:pPr>
            <a:r>
              <a:rPr lang="en-US" sz="2902" b="0" i="0" u="none" strike="noStrike" cap="none">
                <a:solidFill>
                  <a:srgbClr val="000000"/>
                </a:solidFill>
                <a:latin typeface="Calibri"/>
                <a:ea typeface="Calibri"/>
                <a:cs typeface="Calibri"/>
                <a:sym typeface="Calibri"/>
              </a:rPr>
              <a:t>kesesuaian umur dan jenjang pendidikan</a:t>
            </a:r>
            <a:endParaRPr/>
          </a:p>
          <a:p>
            <a:pPr marL="356885" marR="0" lvl="0" indent="-356942" algn="l" rtl="0">
              <a:spcBef>
                <a:spcPts val="520"/>
              </a:spcBef>
              <a:spcAft>
                <a:spcPts val="0"/>
              </a:spcAft>
              <a:buClr>
                <a:srgbClr val="000000"/>
              </a:buClr>
              <a:buSzPct val="100000"/>
              <a:buFont typeface="Arial"/>
              <a:buChar char="•"/>
            </a:pPr>
            <a:r>
              <a:rPr lang="en-US" sz="3356">
                <a:solidFill>
                  <a:srgbClr val="000000"/>
                </a:solidFill>
                <a:latin typeface="Calibri"/>
                <a:ea typeface="Calibri"/>
                <a:cs typeface="Calibri"/>
                <a:sym typeface="Calibri"/>
              </a:rPr>
              <a:t>Angka Partisipasi Kasar [APK] </a:t>
            </a:r>
            <a:endParaRPr/>
          </a:p>
          <a:p>
            <a:pPr marL="773249" marR="0" lvl="1" indent="-297406" algn="l" rtl="0">
              <a:spcBef>
                <a:spcPts val="450"/>
              </a:spcBef>
              <a:spcAft>
                <a:spcPts val="0"/>
              </a:spcAft>
              <a:buClr>
                <a:srgbClr val="000000"/>
              </a:buClr>
              <a:buSzPct val="100000"/>
              <a:buFont typeface="Arial"/>
              <a:buChar char="–"/>
            </a:pPr>
            <a:r>
              <a:rPr lang="en-US" sz="2902" b="0" i="0" u="none" strike="noStrike" cap="none">
                <a:solidFill>
                  <a:srgbClr val="000000"/>
                </a:solidFill>
                <a:latin typeface="Calibri"/>
                <a:ea typeface="Calibri"/>
                <a:cs typeface="Calibri"/>
                <a:sym typeface="Calibri"/>
              </a:rPr>
              <a:t>Jumlah anak sekolah pada setiap jenjang dibagi jumlah anak pada jenjang usia pendidikan yang sama</a:t>
            </a:r>
            <a:endParaRPr/>
          </a:p>
          <a:p>
            <a:pPr marL="356885" marR="0" lvl="0" indent="-356942" algn="l" rtl="0">
              <a:spcBef>
                <a:spcPts val="520"/>
              </a:spcBef>
              <a:spcAft>
                <a:spcPts val="0"/>
              </a:spcAft>
              <a:buClr>
                <a:srgbClr val="000000"/>
              </a:buClr>
              <a:buSzPct val="100000"/>
              <a:buFont typeface="Arial"/>
              <a:buChar char="•"/>
            </a:pPr>
            <a:r>
              <a:rPr lang="en-US" sz="3356">
                <a:solidFill>
                  <a:srgbClr val="000000"/>
                </a:solidFill>
                <a:latin typeface="Calibri"/>
                <a:ea typeface="Calibri"/>
                <a:cs typeface="Calibri"/>
                <a:sym typeface="Calibri"/>
              </a:rPr>
              <a:t>Angka Partisipasi Sekolah (APS) </a:t>
            </a:r>
            <a:endParaRPr/>
          </a:p>
          <a:p>
            <a:pPr marL="773249" marR="0" lvl="1" indent="-297406" algn="l" rtl="0">
              <a:spcBef>
                <a:spcPts val="450"/>
              </a:spcBef>
              <a:spcAft>
                <a:spcPts val="0"/>
              </a:spcAft>
              <a:buClr>
                <a:srgbClr val="000000"/>
              </a:buClr>
              <a:buSzPct val="100000"/>
              <a:buFont typeface="Arial"/>
              <a:buChar char="–"/>
            </a:pPr>
            <a:r>
              <a:rPr lang="en-US" sz="2902" b="0" i="0" u="none" strike="noStrike" cap="none">
                <a:solidFill>
                  <a:srgbClr val="000000"/>
                </a:solidFill>
                <a:latin typeface="Calibri"/>
                <a:ea typeface="Calibri"/>
                <a:cs typeface="Calibri"/>
                <a:sym typeface="Calibri"/>
              </a:rPr>
              <a:t>kesesuaian jenjang pendidikan tidak diperhatikan =&gt; tujuan untuk melihat partisipasi sekolah</a:t>
            </a:r>
            <a:endParaRPr/>
          </a:p>
          <a:p>
            <a:pPr marL="773249" marR="0" lvl="1" indent="-297406" algn="l" rtl="0">
              <a:spcBef>
                <a:spcPts val="450"/>
              </a:spcBef>
              <a:spcAft>
                <a:spcPts val="0"/>
              </a:spcAft>
              <a:buClr>
                <a:srgbClr val="000000"/>
              </a:buClr>
              <a:buSzPct val="100000"/>
              <a:buFont typeface="Arial"/>
              <a:buChar char="–"/>
            </a:pPr>
            <a:r>
              <a:rPr lang="en-US" sz="2902" b="0" i="0" u="none" strike="noStrike" cap="none">
                <a:solidFill>
                  <a:srgbClr val="000000"/>
                </a:solidFill>
                <a:latin typeface="Calibri"/>
                <a:ea typeface="Calibri"/>
                <a:cs typeface="Calibri"/>
                <a:sym typeface="Calibri"/>
              </a:rPr>
              <a:t>adalah proporsi anak pada kelompok usia tertentu yang masih sekolah dibandingkan dengan anak pada kelompok usia yang sama </a:t>
            </a:r>
            <a:endParaRPr/>
          </a:p>
        </p:txBody>
      </p:sp>
    </p:spTree>
  </p:cSld>
  <p:clrMapOvr>
    <a:masterClrMapping/>
  </p:clrMapOvr>
  <p:transition spd="slow">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6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63</a:t>
            </a:fld>
            <a:endParaRPr/>
          </a:p>
        </p:txBody>
      </p:sp>
      <p:sp>
        <p:nvSpPr>
          <p:cNvPr id="802" name="Google Shape;802;p61"/>
          <p:cNvSpPr/>
          <p:nvPr/>
        </p:nvSpPr>
        <p:spPr>
          <a:xfrm>
            <a:off x="1654522" y="838200"/>
            <a:ext cx="8800082"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APS 7-12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03" name="Google Shape;803;p61"/>
          <p:cNvSpPr txBox="1"/>
          <p:nvPr/>
        </p:nvSpPr>
        <p:spPr>
          <a:xfrm>
            <a:off x="777832" y="228600"/>
            <a:ext cx="10782636" cy="381000"/>
          </a:xfrm>
          <a:prstGeom prst="rect">
            <a:avLst/>
          </a:prstGeom>
          <a:noFill/>
          <a:ln>
            <a:noFill/>
          </a:ln>
        </p:spPr>
        <p:txBody>
          <a:bodyPr spcFirstLastPara="1" wrap="square" lIns="104925" tIns="52450" rIns="104925" bIns="52450" anchor="ctr" anchorCtr="0">
            <a:noAutofit/>
          </a:bodyPr>
          <a:lstStyle/>
          <a:p>
            <a:pPr marL="0" marR="0" lvl="0" indent="0" algn="ctr" rtl="0">
              <a:lnSpc>
                <a:spcPct val="85000"/>
              </a:lnSpc>
              <a:spcBef>
                <a:spcPts val="0"/>
              </a:spcBef>
              <a:spcAft>
                <a:spcPts val="0"/>
              </a:spcAft>
              <a:buClr>
                <a:srgbClr val="000000"/>
              </a:buClr>
              <a:buSzPts val="3200"/>
              <a:buFont typeface="Calibri"/>
              <a:buNone/>
            </a:pPr>
            <a:r>
              <a:rPr lang="en-US" sz="3200" b="1">
                <a:solidFill>
                  <a:srgbClr val="000000"/>
                </a:solidFill>
                <a:latin typeface="Calibri"/>
                <a:ea typeface="Calibri"/>
                <a:cs typeface="Calibri"/>
                <a:sym typeface="Calibri"/>
              </a:rPr>
              <a:t>ANGKA PARTISIPASI SEKOLAH (APS)</a:t>
            </a:r>
            <a:endParaRPr/>
          </a:p>
        </p:txBody>
      </p:sp>
      <p:sp>
        <p:nvSpPr>
          <p:cNvPr id="804" name="Google Shape;804;p61"/>
          <p:cNvSpPr txBox="1"/>
          <p:nvPr/>
        </p:nvSpPr>
        <p:spPr>
          <a:xfrm>
            <a:off x="2754761" y="985720"/>
            <a:ext cx="5840117"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7-12 tahun bersekolah</a:t>
            </a:r>
            <a:endParaRPr/>
          </a:p>
        </p:txBody>
      </p:sp>
      <p:sp>
        <p:nvSpPr>
          <p:cNvPr id="805" name="Google Shape;805;p61"/>
          <p:cNvSpPr txBox="1"/>
          <p:nvPr/>
        </p:nvSpPr>
        <p:spPr>
          <a:xfrm>
            <a:off x="3212876" y="1379913"/>
            <a:ext cx="4672095"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7-12 tahun</a:t>
            </a:r>
            <a:endParaRPr/>
          </a:p>
        </p:txBody>
      </p:sp>
      <p:sp>
        <p:nvSpPr>
          <p:cNvPr id="806" name="Google Shape;806;p61"/>
          <p:cNvSpPr/>
          <p:nvPr/>
        </p:nvSpPr>
        <p:spPr>
          <a:xfrm>
            <a:off x="1654521" y="2132990"/>
            <a:ext cx="8800083"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APS 13-15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07" name="Google Shape;807;p61"/>
          <p:cNvSpPr txBox="1"/>
          <p:nvPr/>
        </p:nvSpPr>
        <p:spPr>
          <a:xfrm>
            <a:off x="3060171" y="2296143"/>
            <a:ext cx="5840117"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13-15 tahun bersekolah</a:t>
            </a:r>
            <a:endParaRPr/>
          </a:p>
        </p:txBody>
      </p:sp>
      <p:sp>
        <p:nvSpPr>
          <p:cNvPr id="808" name="Google Shape;808;p61"/>
          <p:cNvSpPr txBox="1"/>
          <p:nvPr/>
        </p:nvSpPr>
        <p:spPr>
          <a:xfrm>
            <a:off x="3365581" y="2665475"/>
            <a:ext cx="4866765"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13-15 tahun</a:t>
            </a:r>
            <a:endParaRPr/>
          </a:p>
        </p:txBody>
      </p:sp>
      <p:sp>
        <p:nvSpPr>
          <p:cNvPr id="809" name="Google Shape;809;p61"/>
          <p:cNvSpPr/>
          <p:nvPr/>
        </p:nvSpPr>
        <p:spPr>
          <a:xfrm>
            <a:off x="1685826" y="3354630"/>
            <a:ext cx="8800083"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APS 16-18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10" name="Google Shape;810;p61"/>
          <p:cNvSpPr txBox="1"/>
          <p:nvPr/>
        </p:nvSpPr>
        <p:spPr>
          <a:xfrm>
            <a:off x="2945031" y="3517783"/>
            <a:ext cx="5840117"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16-18 tahun bersekolah</a:t>
            </a:r>
            <a:endParaRPr/>
          </a:p>
        </p:txBody>
      </p:sp>
      <p:sp>
        <p:nvSpPr>
          <p:cNvPr id="811" name="Google Shape;811;p61"/>
          <p:cNvSpPr txBox="1"/>
          <p:nvPr/>
        </p:nvSpPr>
        <p:spPr>
          <a:xfrm>
            <a:off x="3212876" y="3887115"/>
            <a:ext cx="4866765"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16-18 tahun</a:t>
            </a:r>
            <a:endParaRPr/>
          </a:p>
        </p:txBody>
      </p:sp>
      <p:sp>
        <p:nvSpPr>
          <p:cNvPr id="812" name="Google Shape;812;p61"/>
          <p:cNvSpPr/>
          <p:nvPr/>
        </p:nvSpPr>
        <p:spPr>
          <a:xfrm>
            <a:off x="1685826" y="4576270"/>
            <a:ext cx="8800083"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APS 19-24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13" name="Google Shape;813;p61"/>
          <p:cNvSpPr txBox="1"/>
          <p:nvPr/>
        </p:nvSpPr>
        <p:spPr>
          <a:xfrm>
            <a:off x="3097431" y="4739423"/>
            <a:ext cx="5840117"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19-24 tahun bersekolah</a:t>
            </a:r>
            <a:endParaRPr/>
          </a:p>
        </p:txBody>
      </p:sp>
      <p:sp>
        <p:nvSpPr>
          <p:cNvPr id="814" name="Google Shape;814;p61"/>
          <p:cNvSpPr txBox="1"/>
          <p:nvPr/>
        </p:nvSpPr>
        <p:spPr>
          <a:xfrm>
            <a:off x="3365581" y="5108755"/>
            <a:ext cx="4866765"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19-24 tahun</a:t>
            </a:r>
            <a:endParaRPr/>
          </a:p>
        </p:txBody>
      </p:sp>
    </p:spTree>
  </p:cSld>
  <p:clrMapOvr>
    <a:masterClrMapping/>
  </p:clrMapOvr>
  <p:transition spd="slow">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62"/>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ANGKA PARTISIPASI SEKOLAH (APS)</a:t>
            </a:r>
            <a:endParaRPr/>
          </a:p>
        </p:txBody>
      </p:sp>
      <p:sp>
        <p:nvSpPr>
          <p:cNvPr id="821" name="Google Shape;821;p6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64</a:t>
            </a:fld>
            <a:endParaRPr/>
          </a:p>
        </p:txBody>
      </p:sp>
      <p:graphicFrame>
        <p:nvGraphicFramePr>
          <p:cNvPr id="822" name="Google Shape;822;p62"/>
          <p:cNvGraphicFramePr/>
          <p:nvPr/>
        </p:nvGraphicFramePr>
        <p:xfrm>
          <a:off x="922317" y="1540822"/>
          <a:ext cx="10846400" cy="3747808"/>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Kondef</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Proporsi dari semua anak yang masih sekolah pada suatu kelompok umur tertentu terhadap penduduk dengan kelompok umur yang sesuai. Sejak Tahun 2009, Pendidikan Non Formal (Paket A, Paket B, dan Paket C) turut diperhitungkan.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Kegunaan</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Untuk mengetahui seberapa banyak penduduk usia sekolah yang sudah memanfaatkan fasilitas pendidikan.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Interpretasi</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Menggambarkan seberapa banyak penduduk usia sekolah yang sudah memanfaatkan fasilitas pendidikan.</a:t>
                      </a:r>
                      <a:endParaRPr sz="24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24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4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400">
                          <a:latin typeface="Calibri"/>
                          <a:ea typeface="Calibri"/>
                          <a:cs typeface="Calibri"/>
                          <a:sym typeface="Calibri"/>
                        </a:rPr>
                        <a:t>SUSENAS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6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65</a:t>
            </a:fld>
            <a:endParaRPr/>
          </a:p>
        </p:txBody>
      </p:sp>
      <p:pic>
        <p:nvPicPr>
          <p:cNvPr id="828" name="Google Shape;828;p63"/>
          <p:cNvPicPr preferRelativeResize="0"/>
          <p:nvPr/>
        </p:nvPicPr>
        <p:blipFill rotWithShape="1">
          <a:blip r:embed="rId3">
            <a:alphaModFix/>
          </a:blip>
          <a:srcRect/>
          <a:stretch/>
        </p:blipFill>
        <p:spPr>
          <a:xfrm>
            <a:off x="609599" y="4762"/>
            <a:ext cx="10972801" cy="6848475"/>
          </a:xfrm>
          <a:prstGeom prst="rect">
            <a:avLst/>
          </a:prstGeom>
          <a:noFill/>
          <a:ln>
            <a:noFill/>
          </a:ln>
        </p:spPr>
      </p:pic>
    </p:spTree>
  </p:cSld>
  <p:clrMapOvr>
    <a:masterClrMapping/>
  </p:clrMapOvr>
  <p:transition spd="slow">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64"/>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66</a:t>
            </a:fld>
            <a:endParaRPr/>
          </a:p>
        </p:txBody>
      </p:sp>
      <p:sp>
        <p:nvSpPr>
          <p:cNvPr id="834" name="Google Shape;834;p64"/>
          <p:cNvSpPr/>
          <p:nvPr/>
        </p:nvSpPr>
        <p:spPr>
          <a:xfrm>
            <a:off x="1808899" y="933202"/>
            <a:ext cx="7998054"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APK SD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35" name="Google Shape;835;p64"/>
          <p:cNvSpPr txBox="1"/>
          <p:nvPr/>
        </p:nvSpPr>
        <p:spPr>
          <a:xfrm>
            <a:off x="457199" y="228600"/>
            <a:ext cx="10895153" cy="381000"/>
          </a:xfrm>
          <a:prstGeom prst="rect">
            <a:avLst/>
          </a:prstGeom>
          <a:noFill/>
          <a:ln>
            <a:noFill/>
          </a:ln>
        </p:spPr>
        <p:txBody>
          <a:bodyPr spcFirstLastPara="1" wrap="square" lIns="104925" tIns="52450" rIns="104925" bIns="52450" anchor="ctr" anchorCtr="0">
            <a:noAutofit/>
          </a:bodyPr>
          <a:lstStyle/>
          <a:p>
            <a:pPr marL="0" marR="0" lvl="0" indent="0" algn="ctr" rtl="0">
              <a:lnSpc>
                <a:spcPct val="85000"/>
              </a:lnSpc>
              <a:spcBef>
                <a:spcPts val="0"/>
              </a:spcBef>
              <a:spcAft>
                <a:spcPts val="0"/>
              </a:spcAft>
              <a:buClr>
                <a:schemeClr val="dk1"/>
              </a:buClr>
              <a:buSzPts val="3200"/>
              <a:buFont typeface="Calibri"/>
              <a:buNone/>
            </a:pPr>
            <a:r>
              <a:rPr lang="en-US" sz="3200" b="1">
                <a:solidFill>
                  <a:schemeClr val="dk1"/>
                </a:solidFill>
                <a:latin typeface="Calibri"/>
                <a:ea typeface="Calibri"/>
                <a:cs typeface="Calibri"/>
                <a:sym typeface="Calibri"/>
              </a:rPr>
              <a:t>ANGKA PARTISIPASI KASAR (APK)</a:t>
            </a:r>
            <a:endParaRPr sz="3200" b="1">
              <a:solidFill>
                <a:schemeClr val="dk1"/>
              </a:solidFill>
              <a:latin typeface="Calibri"/>
              <a:ea typeface="Calibri"/>
              <a:cs typeface="Calibri"/>
              <a:sym typeface="Calibri"/>
            </a:endParaRPr>
          </a:p>
        </p:txBody>
      </p:sp>
      <p:sp>
        <p:nvSpPr>
          <p:cNvPr id="836" name="Google Shape;836;p64"/>
          <p:cNvSpPr txBox="1"/>
          <p:nvPr/>
        </p:nvSpPr>
        <p:spPr>
          <a:xfrm>
            <a:off x="2980670" y="1080722"/>
            <a:ext cx="5022112"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SD</a:t>
            </a:r>
            <a:endParaRPr/>
          </a:p>
        </p:txBody>
      </p:sp>
      <p:sp>
        <p:nvSpPr>
          <p:cNvPr id="837" name="Google Shape;837;p64"/>
          <p:cNvSpPr txBox="1"/>
          <p:nvPr/>
        </p:nvSpPr>
        <p:spPr>
          <a:xfrm>
            <a:off x="3061845" y="1474915"/>
            <a:ext cx="472084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7-12 tahun</a:t>
            </a:r>
            <a:endParaRPr/>
          </a:p>
        </p:txBody>
      </p:sp>
      <p:sp>
        <p:nvSpPr>
          <p:cNvPr id="838" name="Google Shape;838;p64"/>
          <p:cNvSpPr/>
          <p:nvPr/>
        </p:nvSpPr>
        <p:spPr>
          <a:xfrm>
            <a:off x="1808900" y="2227992"/>
            <a:ext cx="8059492"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APK SMP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39" name="Google Shape;839;p64"/>
          <p:cNvSpPr txBox="1"/>
          <p:nvPr/>
        </p:nvSpPr>
        <p:spPr>
          <a:xfrm>
            <a:off x="3214549" y="2391145"/>
            <a:ext cx="5253973"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SMP</a:t>
            </a:r>
            <a:endParaRPr/>
          </a:p>
        </p:txBody>
      </p:sp>
      <p:sp>
        <p:nvSpPr>
          <p:cNvPr id="840" name="Google Shape;840;p64"/>
          <p:cNvSpPr txBox="1"/>
          <p:nvPr/>
        </p:nvSpPr>
        <p:spPr>
          <a:xfrm>
            <a:off x="3367255" y="2760477"/>
            <a:ext cx="4917550"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13-15 tahun</a:t>
            </a:r>
            <a:endParaRPr/>
          </a:p>
        </p:txBody>
      </p:sp>
      <p:sp>
        <p:nvSpPr>
          <p:cNvPr id="841" name="Google Shape;841;p64"/>
          <p:cNvSpPr/>
          <p:nvPr/>
        </p:nvSpPr>
        <p:spPr>
          <a:xfrm>
            <a:off x="1840205" y="3449632"/>
            <a:ext cx="7966748"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APK SM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42" name="Google Shape;842;p64"/>
          <p:cNvSpPr txBox="1"/>
          <p:nvPr/>
        </p:nvSpPr>
        <p:spPr>
          <a:xfrm>
            <a:off x="2909140" y="3612785"/>
            <a:ext cx="590105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SMA</a:t>
            </a:r>
            <a:endParaRPr/>
          </a:p>
        </p:txBody>
      </p:sp>
      <p:sp>
        <p:nvSpPr>
          <p:cNvPr id="843" name="Google Shape;843;p64"/>
          <p:cNvSpPr txBox="1"/>
          <p:nvPr/>
        </p:nvSpPr>
        <p:spPr>
          <a:xfrm>
            <a:off x="3214550" y="3982117"/>
            <a:ext cx="4917550"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16-18 tahun</a:t>
            </a:r>
            <a:endParaRPr/>
          </a:p>
        </p:txBody>
      </p:sp>
      <p:sp>
        <p:nvSpPr>
          <p:cNvPr id="844" name="Google Shape;844;p64"/>
          <p:cNvSpPr/>
          <p:nvPr/>
        </p:nvSpPr>
        <p:spPr>
          <a:xfrm>
            <a:off x="1840205" y="4671272"/>
            <a:ext cx="8013120"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APK Perti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45" name="Google Shape;845;p64"/>
          <p:cNvSpPr txBox="1"/>
          <p:nvPr/>
        </p:nvSpPr>
        <p:spPr>
          <a:xfrm>
            <a:off x="2909139" y="4834425"/>
            <a:ext cx="5300345"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mahasiswa</a:t>
            </a:r>
            <a:endParaRPr/>
          </a:p>
        </p:txBody>
      </p:sp>
      <p:sp>
        <p:nvSpPr>
          <p:cNvPr id="846" name="Google Shape;846;p64"/>
          <p:cNvSpPr txBox="1"/>
          <p:nvPr/>
        </p:nvSpPr>
        <p:spPr>
          <a:xfrm>
            <a:off x="3214550" y="5203757"/>
            <a:ext cx="4917550"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19-24 tahun</a:t>
            </a:r>
            <a:endParaRPr/>
          </a:p>
        </p:txBody>
      </p:sp>
    </p:spTree>
  </p:cSld>
  <p:clrMapOvr>
    <a:masterClrMapping/>
  </p:clrMapOvr>
  <p:transition spd="slow">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65"/>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ANGKA PARTISIPASI KASAR (APK)</a:t>
            </a:r>
            <a:endParaRPr/>
          </a:p>
        </p:txBody>
      </p:sp>
      <p:sp>
        <p:nvSpPr>
          <p:cNvPr id="853" name="Google Shape;853;p65"/>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67</a:t>
            </a:fld>
            <a:endParaRPr/>
          </a:p>
        </p:txBody>
      </p:sp>
      <p:graphicFrame>
        <p:nvGraphicFramePr>
          <p:cNvPr id="854" name="Google Shape;854;p65"/>
          <p:cNvGraphicFramePr/>
          <p:nvPr/>
        </p:nvGraphicFramePr>
        <p:xfrm>
          <a:off x="922317" y="1540822"/>
          <a:ext cx="10846400" cy="5212801"/>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1600">
                          <a:latin typeface="Calibri"/>
                          <a:ea typeface="Calibri"/>
                          <a:cs typeface="Calibri"/>
                          <a:sym typeface="Calibri"/>
                        </a:rPr>
                        <a:t>Kondef</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600">
                          <a:latin typeface="Calibri"/>
                          <a:ea typeface="Calibri"/>
                          <a:cs typeface="Calibri"/>
                          <a:sym typeface="Calibri"/>
                        </a:rPr>
                        <a:t>:</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600">
                          <a:latin typeface="Calibri"/>
                          <a:ea typeface="Calibri"/>
                          <a:cs typeface="Calibri"/>
                          <a:sym typeface="Calibri"/>
                        </a:rPr>
                        <a:t>Perbandingan antara jumlah penduduk yang masih bersekolah di jenjang pendidikan tertentu (tanpa memandang usia penduduk tersebut) dengan jumlah penduduk yang memenuhi syarat resmi penduduk usia sekolah di jenjang pendidikan yang sama. Sejak tahun2007, Pendidikan Non Formal (Paket A, Paket B, dan Paket C) turut diperhitungkan.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1600">
                          <a:latin typeface="Calibri"/>
                          <a:ea typeface="Calibri"/>
                          <a:cs typeface="Calibri"/>
                          <a:sym typeface="Calibri"/>
                        </a:rPr>
                        <a:t>Kegunaan</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600">
                          <a:latin typeface="Calibri"/>
                          <a:ea typeface="Calibri"/>
                          <a:cs typeface="Calibri"/>
                          <a:sym typeface="Calibri"/>
                        </a:rPr>
                        <a:t>:</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342900" marR="0" lvl="0" indent="-342900" algn="just" rtl="0">
                        <a:lnSpc>
                          <a:spcPct val="107000"/>
                        </a:lnSpc>
                        <a:spcBef>
                          <a:spcPts val="0"/>
                        </a:spcBef>
                        <a:spcAft>
                          <a:spcPts val="0"/>
                        </a:spcAft>
                        <a:buClr>
                          <a:schemeClr val="dk1"/>
                        </a:buClr>
                        <a:buSzPts val="1600"/>
                        <a:buFont typeface="Calibri"/>
                        <a:buChar char="-"/>
                      </a:pPr>
                      <a:r>
                        <a:rPr lang="en-US" sz="1600">
                          <a:latin typeface="Calibri"/>
                          <a:ea typeface="Calibri"/>
                          <a:cs typeface="Calibri"/>
                          <a:sym typeface="Calibri"/>
                        </a:rPr>
                        <a:t>Untuk menunjukkan berapa besar umumnya tingkat partisipasi penduduk pada suatu tingkat pendidikan.</a:t>
                      </a:r>
                      <a:endParaRPr/>
                    </a:p>
                    <a:p>
                      <a:pPr marL="342900" marR="0" lvl="0" indent="-342900" algn="just" rtl="0">
                        <a:lnSpc>
                          <a:spcPct val="107000"/>
                        </a:lnSpc>
                        <a:spcBef>
                          <a:spcPts val="0"/>
                        </a:spcBef>
                        <a:spcAft>
                          <a:spcPts val="0"/>
                        </a:spcAft>
                        <a:buClr>
                          <a:schemeClr val="dk1"/>
                        </a:buClr>
                        <a:buSzPts val="1600"/>
                        <a:buFont typeface="Calibri"/>
                        <a:buChar char="-"/>
                      </a:pPr>
                      <a:r>
                        <a:rPr lang="en-US" sz="1600">
                          <a:latin typeface="Calibri"/>
                          <a:ea typeface="Calibri"/>
                          <a:cs typeface="Calibri"/>
                          <a:sym typeface="Calibri"/>
                        </a:rPr>
                        <a:t>Untuk menunjukkan berapa besar kapasitas sistem pendidikan dapat menampung siswa dari kelompok usia sekolah tertentu. - Sebagai indikator pelengkap dari indikator Angka Partisipasi Murni (APM), sehingga dapat ditunjukkan besarnya penduduk yang bersekolah pada suatu jenjang namun usianya belum mencukupi atau bahkan melebihi dari usia sekolah yang seharusnya.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1600">
                          <a:latin typeface="Calibri"/>
                          <a:ea typeface="Calibri"/>
                          <a:cs typeface="Calibri"/>
                          <a:sym typeface="Calibri"/>
                        </a:rPr>
                        <a:t>Interpretasi</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600">
                          <a:latin typeface="Calibri"/>
                          <a:ea typeface="Calibri"/>
                          <a:cs typeface="Calibri"/>
                          <a:sym typeface="Calibri"/>
                        </a:rPr>
                        <a:t>:</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600">
                          <a:latin typeface="Calibri"/>
                          <a:ea typeface="Calibri"/>
                          <a:cs typeface="Calibri"/>
                          <a:sym typeface="Calibri"/>
                        </a:rPr>
                        <a:t>Nilai APK bisa lebih dari 100 persen karena populasi murid yang bersekolah pada suatu jenjang pendidikan tertentu mencakup anak di luar batas usia sekolah pada jenjang pendidikan tersebut. Penyebabnya adalah adanya pendaftaran siswa usia dini, pendaftaran siswa yang telat bersekolah, atau pengulangan kelas. Hal ini juga dapat menunjukkan bahwa wilayah tersebut mampu menampung penduduk usia sekolah lebih dari target yang sesungguhnya. APK yang tinggi menunjukkan tingginya tingkat partisipasi sekolah, tanpa memperhatikan ketepatan usia sekolah pada jenjang pendidikannya. Contoh: APK SM Kota Banda Aceh Tahun 2013 sebesar 61,32 persen, artinya persentase penduduk berusia 16-18 tahun di Kota Banda Aceh yang bersekolah di tingkat SM sekitar 61 persen.</a:t>
                      </a:r>
                      <a:endParaRPr sz="16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16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6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600">
                          <a:latin typeface="Calibri"/>
                          <a:ea typeface="Calibri"/>
                          <a:cs typeface="Calibri"/>
                          <a:sym typeface="Calibri"/>
                        </a:rPr>
                        <a:t>SUSENAS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66"/>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68</a:t>
            </a:fld>
            <a:endParaRPr/>
          </a:p>
        </p:txBody>
      </p:sp>
      <p:pic>
        <p:nvPicPr>
          <p:cNvPr id="860" name="Google Shape;860;p66"/>
          <p:cNvPicPr preferRelativeResize="0"/>
          <p:nvPr/>
        </p:nvPicPr>
        <p:blipFill rotWithShape="1">
          <a:blip r:embed="rId3">
            <a:alphaModFix/>
          </a:blip>
          <a:srcRect/>
          <a:stretch/>
        </p:blipFill>
        <p:spPr>
          <a:xfrm>
            <a:off x="609599" y="0"/>
            <a:ext cx="10972801" cy="6858000"/>
          </a:xfrm>
          <a:prstGeom prst="rect">
            <a:avLst/>
          </a:prstGeom>
          <a:noFill/>
          <a:ln>
            <a:noFill/>
          </a:ln>
        </p:spPr>
      </p:pic>
    </p:spTree>
  </p:cSld>
  <p:clrMapOvr>
    <a:masterClrMapping/>
  </p:clrMapOvr>
  <p:transition spd="slow">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67"/>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69</a:t>
            </a:fld>
            <a:endParaRPr/>
          </a:p>
        </p:txBody>
      </p:sp>
      <p:sp>
        <p:nvSpPr>
          <p:cNvPr id="866" name="Google Shape;866;p67"/>
          <p:cNvSpPr/>
          <p:nvPr/>
        </p:nvSpPr>
        <p:spPr>
          <a:xfrm>
            <a:off x="1773275" y="1063831"/>
            <a:ext cx="7811111"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APM SD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67" name="Google Shape;867;p67"/>
          <p:cNvSpPr txBox="1"/>
          <p:nvPr/>
        </p:nvSpPr>
        <p:spPr>
          <a:xfrm>
            <a:off x="896585" y="228600"/>
            <a:ext cx="10380207" cy="381000"/>
          </a:xfrm>
          <a:prstGeom prst="rect">
            <a:avLst/>
          </a:prstGeom>
          <a:noFill/>
          <a:ln>
            <a:noFill/>
          </a:ln>
        </p:spPr>
        <p:txBody>
          <a:bodyPr spcFirstLastPara="1" wrap="square" lIns="104925" tIns="52450" rIns="104925" bIns="52450" anchor="ctr" anchorCtr="0">
            <a:noAutofit/>
          </a:bodyPr>
          <a:lstStyle/>
          <a:p>
            <a:pPr marL="0" marR="0" lvl="0" indent="0" algn="ctr" rtl="0">
              <a:lnSpc>
                <a:spcPct val="85000"/>
              </a:lnSpc>
              <a:spcBef>
                <a:spcPts val="0"/>
              </a:spcBef>
              <a:spcAft>
                <a:spcPts val="0"/>
              </a:spcAft>
              <a:buClr>
                <a:srgbClr val="000000"/>
              </a:buClr>
              <a:buSzPts val="3200"/>
              <a:buFont typeface="Calibri"/>
              <a:buNone/>
            </a:pPr>
            <a:r>
              <a:rPr lang="en-US" sz="3200" b="1">
                <a:solidFill>
                  <a:srgbClr val="000000"/>
                </a:solidFill>
                <a:latin typeface="Calibri"/>
                <a:ea typeface="Calibri"/>
                <a:cs typeface="Calibri"/>
                <a:sym typeface="Calibri"/>
              </a:rPr>
              <a:t>ANGKA PARTISIPASI MURNI (APM)</a:t>
            </a:r>
            <a:endParaRPr/>
          </a:p>
        </p:txBody>
      </p:sp>
      <p:sp>
        <p:nvSpPr>
          <p:cNvPr id="868" name="Google Shape;868;p67"/>
          <p:cNvSpPr txBox="1"/>
          <p:nvPr/>
        </p:nvSpPr>
        <p:spPr>
          <a:xfrm>
            <a:off x="2945046" y="1211351"/>
            <a:ext cx="478474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SD umur  7-12 tahun</a:t>
            </a:r>
            <a:endParaRPr/>
          </a:p>
        </p:txBody>
      </p:sp>
      <p:sp>
        <p:nvSpPr>
          <p:cNvPr id="869" name="Google Shape;869;p67"/>
          <p:cNvSpPr txBox="1"/>
          <p:nvPr/>
        </p:nvSpPr>
        <p:spPr>
          <a:xfrm>
            <a:off x="3026221" y="1605544"/>
            <a:ext cx="4497723"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7-12 tahun</a:t>
            </a:r>
            <a:endParaRPr/>
          </a:p>
        </p:txBody>
      </p:sp>
      <p:sp>
        <p:nvSpPr>
          <p:cNvPr id="870" name="Google Shape;870;p67"/>
          <p:cNvSpPr/>
          <p:nvPr/>
        </p:nvSpPr>
        <p:spPr>
          <a:xfrm>
            <a:off x="1773275" y="2358621"/>
            <a:ext cx="7811111"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APM SMP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71" name="Google Shape;871;p67"/>
          <p:cNvSpPr txBox="1"/>
          <p:nvPr/>
        </p:nvSpPr>
        <p:spPr>
          <a:xfrm>
            <a:off x="3178926" y="2521774"/>
            <a:ext cx="5005650"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SMP umur 13-15 tahun</a:t>
            </a:r>
            <a:endParaRPr/>
          </a:p>
        </p:txBody>
      </p:sp>
      <p:sp>
        <p:nvSpPr>
          <p:cNvPr id="872" name="Google Shape;872;p67"/>
          <p:cNvSpPr txBox="1"/>
          <p:nvPr/>
        </p:nvSpPr>
        <p:spPr>
          <a:xfrm>
            <a:off x="3331631" y="2891106"/>
            <a:ext cx="468512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13-15 tahun</a:t>
            </a:r>
            <a:endParaRPr/>
          </a:p>
        </p:txBody>
      </p:sp>
      <p:sp>
        <p:nvSpPr>
          <p:cNvPr id="873" name="Google Shape;873;p67"/>
          <p:cNvSpPr/>
          <p:nvPr/>
        </p:nvSpPr>
        <p:spPr>
          <a:xfrm>
            <a:off x="1804580" y="3580261"/>
            <a:ext cx="7766931"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APM SM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74" name="Google Shape;874;p67"/>
          <p:cNvSpPr txBox="1"/>
          <p:nvPr/>
        </p:nvSpPr>
        <p:spPr>
          <a:xfrm>
            <a:off x="2873516" y="3743414"/>
            <a:ext cx="5622152"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murid SMA umur 16-18 tahun</a:t>
            </a:r>
            <a:endParaRPr/>
          </a:p>
        </p:txBody>
      </p:sp>
      <p:sp>
        <p:nvSpPr>
          <p:cNvPr id="875" name="Google Shape;875;p67"/>
          <p:cNvSpPr txBox="1"/>
          <p:nvPr/>
        </p:nvSpPr>
        <p:spPr>
          <a:xfrm>
            <a:off x="3178926" y="4112746"/>
            <a:ext cx="468512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16-18 tahun</a:t>
            </a:r>
            <a:endParaRPr/>
          </a:p>
        </p:txBody>
      </p:sp>
      <p:sp>
        <p:nvSpPr>
          <p:cNvPr id="876" name="Google Shape;876;p67"/>
          <p:cNvSpPr/>
          <p:nvPr/>
        </p:nvSpPr>
        <p:spPr>
          <a:xfrm>
            <a:off x="1804581" y="4801901"/>
            <a:ext cx="7899472" cy="9906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endParaRPr sz="2000">
              <a:solidFill>
                <a:schemeClr val="dk1"/>
              </a:solidFill>
              <a:latin typeface="Arial"/>
              <a:ea typeface="Arial"/>
              <a:cs typeface="Arial"/>
              <a:sym typeface="Arial"/>
            </a:endParaRPr>
          </a:p>
          <a:p>
            <a:pPr marL="0" marR="0" lvl="0" indent="0" algn="just" rtl="0">
              <a:spcBef>
                <a:spcPts val="0"/>
              </a:spcBef>
              <a:spcAft>
                <a:spcPts val="0"/>
              </a:spcAft>
              <a:buNone/>
            </a:pPr>
            <a:r>
              <a:rPr lang="en-US" sz="2000">
                <a:solidFill>
                  <a:schemeClr val="dk1"/>
                </a:solidFill>
                <a:latin typeface="Arial"/>
                <a:ea typeface="Arial"/>
                <a:cs typeface="Arial"/>
                <a:sym typeface="Arial"/>
              </a:rPr>
              <a:t>APM Perti  =  ---------------------------------------------------  x 100</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p:txBody>
      </p:sp>
      <p:sp>
        <p:nvSpPr>
          <p:cNvPr id="877" name="Google Shape;877;p67"/>
          <p:cNvSpPr txBox="1"/>
          <p:nvPr/>
        </p:nvSpPr>
        <p:spPr>
          <a:xfrm>
            <a:off x="3250985" y="4965054"/>
            <a:ext cx="5049831"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mahasiswa umur 19-24 tahun</a:t>
            </a:r>
            <a:endParaRPr/>
          </a:p>
        </p:txBody>
      </p:sp>
      <p:sp>
        <p:nvSpPr>
          <p:cNvPr id="878" name="Google Shape;878;p67"/>
          <p:cNvSpPr txBox="1"/>
          <p:nvPr/>
        </p:nvSpPr>
        <p:spPr>
          <a:xfrm>
            <a:off x="3412986" y="5334386"/>
            <a:ext cx="4685128" cy="400110"/>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2000" b="0" i="0" u="none" strike="noStrike" cap="none">
                <a:solidFill>
                  <a:schemeClr val="dk1"/>
                </a:solidFill>
                <a:latin typeface="Arial"/>
                <a:ea typeface="Arial"/>
                <a:cs typeface="Arial"/>
                <a:sym typeface="Arial"/>
              </a:rPr>
              <a:t>Jumlah penduduk usia 19-24 tahun</a:t>
            </a:r>
            <a:endParaRPr/>
          </a:p>
        </p:txBody>
      </p:sp>
    </p:spTree>
  </p:cSld>
  <p:clrMapOvr>
    <a:masterClrMapping/>
  </p:clrMapOvr>
  <p:transition spd="slow">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68"/>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ANGKA PARTISIPASI MURNI (APM)</a:t>
            </a:r>
            <a:endParaRPr/>
          </a:p>
        </p:txBody>
      </p:sp>
      <p:sp>
        <p:nvSpPr>
          <p:cNvPr id="885" name="Google Shape;885;p68"/>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70</a:t>
            </a:fld>
            <a:endParaRPr/>
          </a:p>
        </p:txBody>
      </p:sp>
      <p:graphicFrame>
        <p:nvGraphicFramePr>
          <p:cNvPr id="886" name="Google Shape;886;p68"/>
          <p:cNvGraphicFramePr/>
          <p:nvPr/>
        </p:nvGraphicFramePr>
        <p:xfrm>
          <a:off x="922317" y="1540822"/>
          <a:ext cx="10846400" cy="4914098"/>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Kondef</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Proporsi dari penduduk kelompok usia sekolah tertentu yang sedang bersekolah tepat di jenjang pendidikan yang seharusnya (sesuai antara umur penduduk dengan ketentuan usia bersekolah di jenjang tersebut) terhadap penduduk kelompok usia sekolah yang bersesuain. Sejak tahun 2007, Pendidikan Non Formal (Paket A, Paket B, Paket C) turut diperhitungkan.</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Kegunaan</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Untuk menunjukkan seberapa besar penduduk yang bersekolah tepat waktu, atau menunjukkan seberapa besar penduduk yang bersekolah dengan umur yang sesuai dengan ketentuan kelompok usia sekolah di jenjang pendidikan yang sedang ditempuh.</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Interpretasi</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Nilai APM berkisar antara 0-100. APM menunjukkan seberapa banyak penduduk usia sekolah yang sudah dapat memanfaatkan fasilitas pendidikan sesuai pada jenjang pendidikannya. Bila seluruh anak usia sekolah dapat bersekolah tepat waktu, maka APM akan mencapai 100 persen. Secara umum, APM akan selalu lebih rendah dari APK karena APK memperhitungkan jumlah penduduk di luar usia sekolah pada jenjang pendidikan yang bersangkutan Contoh: APM SMP Kabupaten Deli Serdang Tahun 2013 sebesar 64,71 persen, artinya sekitar 65 persen penduduk di Kabupaten Deli Serdang yang berusia 13-15 tahun bersekolah tepat waktu dijenjang SMP/sederajad.</a:t>
                      </a:r>
                      <a:endParaRPr sz="18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18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18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1800">
                          <a:latin typeface="Calibri"/>
                          <a:ea typeface="Calibri"/>
                          <a:cs typeface="Calibri"/>
                          <a:sym typeface="Calibri"/>
                        </a:rPr>
                        <a:t>SUSENAS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69"/>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71</a:t>
            </a:fld>
            <a:endParaRPr/>
          </a:p>
        </p:txBody>
      </p:sp>
      <p:pic>
        <p:nvPicPr>
          <p:cNvPr id="892" name="Google Shape;892;p69"/>
          <p:cNvPicPr preferRelativeResize="0"/>
          <p:nvPr/>
        </p:nvPicPr>
        <p:blipFill rotWithShape="1">
          <a:blip r:embed="rId3">
            <a:alphaModFix/>
          </a:blip>
          <a:srcRect/>
          <a:stretch/>
        </p:blipFill>
        <p:spPr>
          <a:xfrm>
            <a:off x="609599" y="0"/>
            <a:ext cx="10972802" cy="6858000"/>
          </a:xfrm>
          <a:prstGeom prst="rect">
            <a:avLst/>
          </a:prstGeom>
          <a:noFill/>
          <a:ln>
            <a:noFill/>
          </a:ln>
        </p:spPr>
      </p:pic>
    </p:spTree>
  </p:cSld>
  <p:clrMapOvr>
    <a:masterClrMapping/>
  </p:clrMapOvr>
  <p:transition spd="slow">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70"/>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72</a:t>
            </a:fld>
            <a:endParaRPr/>
          </a:p>
        </p:txBody>
      </p:sp>
      <p:sp>
        <p:nvSpPr>
          <p:cNvPr id="898" name="Google Shape;898;p70"/>
          <p:cNvSpPr txBox="1">
            <a:spLocks noGrp="1"/>
          </p:cNvSpPr>
          <p:nvPr>
            <p:ph type="title"/>
          </p:nvPr>
        </p:nvSpPr>
        <p:spPr>
          <a:xfrm>
            <a:off x="694704" y="274638"/>
            <a:ext cx="10518771" cy="1143000"/>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chemeClr val="dk1"/>
              </a:buClr>
              <a:buSzPts val="4500"/>
              <a:buFont typeface="Calibri"/>
              <a:buNone/>
            </a:pPr>
            <a:r>
              <a:rPr lang="en-US"/>
              <a:t>Rata-rata Lama Sekolah (MYS)</a:t>
            </a:r>
            <a:endParaRPr/>
          </a:p>
        </p:txBody>
      </p:sp>
      <p:pic>
        <p:nvPicPr>
          <p:cNvPr id="899" name="Google Shape;899;p70" descr="https://sirusa.bps.go.id/webadmin/indikator/Rata-rata_Lama_Sekolah_(MYS).jpg"/>
          <p:cNvPicPr preferRelativeResize="0"/>
          <p:nvPr/>
        </p:nvPicPr>
        <p:blipFill rotWithShape="1">
          <a:blip r:embed="rId3">
            <a:alphaModFix/>
          </a:blip>
          <a:srcRect/>
          <a:stretch/>
        </p:blipFill>
        <p:spPr>
          <a:xfrm>
            <a:off x="1755404" y="1596540"/>
            <a:ext cx="8588003" cy="4722443"/>
          </a:xfrm>
          <a:prstGeom prst="rect">
            <a:avLst/>
          </a:prstGeom>
          <a:noFill/>
          <a:ln>
            <a:noFill/>
          </a:ln>
        </p:spPr>
      </p:pic>
    </p:spTree>
  </p:cSld>
  <p:clrMapOvr>
    <a:masterClrMapping/>
  </p:clrMapOvr>
  <p:transition spd="slow">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71"/>
          <p:cNvSpPr txBox="1">
            <a:spLocks noGrp="1"/>
          </p:cNvSpPr>
          <p:nvPr>
            <p:ph type="title"/>
          </p:nvPr>
        </p:nvSpPr>
        <p:spPr>
          <a:xfrm>
            <a:off x="766236" y="304808"/>
            <a:ext cx="10668000" cy="1216025"/>
          </a:xfrm>
          <a:prstGeom prst="rect">
            <a:avLst/>
          </a:prstGeom>
          <a:noFill/>
          <a:ln>
            <a:noFill/>
          </a:ln>
        </p:spPr>
        <p:txBody>
          <a:bodyPr spcFirstLastPara="1" wrap="square" lIns="104925" tIns="52450" rIns="104925" bIns="52450" anchor="ctr" anchorCtr="0">
            <a:normAutofit/>
          </a:bodyPr>
          <a:lstStyle/>
          <a:p>
            <a:pPr marL="0" lvl="0" indent="0" algn="ctr" rtl="0">
              <a:spcBef>
                <a:spcPts val="0"/>
              </a:spcBef>
              <a:spcAft>
                <a:spcPts val="0"/>
              </a:spcAft>
              <a:buClr>
                <a:srgbClr val="000000"/>
              </a:buClr>
              <a:buSzPts val="4000"/>
              <a:buFont typeface="Cambria"/>
              <a:buNone/>
            </a:pPr>
            <a:r>
              <a:rPr lang="en-US" sz="4000" b="1">
                <a:solidFill>
                  <a:srgbClr val="000000"/>
                </a:solidFill>
                <a:latin typeface="Cambria"/>
                <a:ea typeface="Cambria"/>
                <a:cs typeface="Cambria"/>
                <a:sym typeface="Cambria"/>
              </a:rPr>
              <a:t>Rata-rata Lama Sekolah (MYS)</a:t>
            </a:r>
            <a:endParaRPr/>
          </a:p>
        </p:txBody>
      </p:sp>
      <p:sp>
        <p:nvSpPr>
          <p:cNvPr id="906" name="Google Shape;906;p71"/>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73</a:t>
            </a:fld>
            <a:endParaRPr/>
          </a:p>
        </p:txBody>
      </p:sp>
      <p:graphicFrame>
        <p:nvGraphicFramePr>
          <p:cNvPr id="907" name="Google Shape;907;p71"/>
          <p:cNvGraphicFramePr/>
          <p:nvPr/>
        </p:nvGraphicFramePr>
        <p:xfrm>
          <a:off x="922317" y="1540822"/>
          <a:ext cx="10846400" cy="4693541"/>
        </p:xfrm>
        <a:graphic>
          <a:graphicData uri="http://schemas.openxmlformats.org/drawingml/2006/table">
            <a:tbl>
              <a:tblPr>
                <a:noFill/>
                <a:tableStyleId>{5E4929FC-98BC-4A90-AF6C-45F87D23BB2C}</a:tableStyleId>
              </a:tblPr>
              <a:tblGrid>
                <a:gridCol w="1745950">
                  <a:extLst>
                    <a:ext uri="{9D8B030D-6E8A-4147-A177-3AD203B41FA5}">
                      <a16:colId xmlns:a16="http://schemas.microsoft.com/office/drawing/2014/main" val="20000"/>
                    </a:ext>
                  </a:extLst>
                </a:gridCol>
                <a:gridCol w="324300">
                  <a:extLst>
                    <a:ext uri="{9D8B030D-6E8A-4147-A177-3AD203B41FA5}">
                      <a16:colId xmlns:a16="http://schemas.microsoft.com/office/drawing/2014/main" val="20001"/>
                    </a:ext>
                  </a:extLst>
                </a:gridCol>
                <a:gridCol w="8776150">
                  <a:extLst>
                    <a:ext uri="{9D8B030D-6E8A-4147-A177-3AD203B41FA5}">
                      <a16:colId xmlns:a16="http://schemas.microsoft.com/office/drawing/2014/main" val="20002"/>
                    </a:ext>
                  </a:extLst>
                </a:gridCol>
              </a:tblGrid>
              <a:tr h="329750">
                <a:tc>
                  <a:txBody>
                    <a:bodyPr/>
                    <a:lstStyle/>
                    <a:p>
                      <a:pPr marL="0" marR="0" lvl="0" indent="0" algn="l" rtl="0">
                        <a:lnSpc>
                          <a:spcPct val="107000"/>
                        </a:lnSpc>
                        <a:spcBef>
                          <a:spcPts val="0"/>
                        </a:spcBef>
                        <a:spcAft>
                          <a:spcPts val="0"/>
                        </a:spcAft>
                        <a:buNone/>
                      </a:pPr>
                      <a:r>
                        <a:rPr lang="en-US" sz="2200">
                          <a:latin typeface="Calibri"/>
                          <a:ea typeface="Calibri"/>
                          <a:cs typeface="Calibri"/>
                          <a:sym typeface="Calibri"/>
                        </a:rPr>
                        <a:t>Kondef</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200">
                          <a:latin typeface="Calibri"/>
                          <a:ea typeface="Calibri"/>
                          <a:cs typeface="Calibri"/>
                          <a:sym typeface="Calibri"/>
                        </a:rPr>
                        <a:t>:</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200">
                          <a:latin typeface="Calibri"/>
                          <a:ea typeface="Calibri"/>
                          <a:cs typeface="Calibri"/>
                          <a:sym typeface="Calibri"/>
                        </a:rPr>
                        <a:t>Jumlah tahun belajar penduduk usia 15 tahun ke atas yang telah diselesaikan dalam pendidikan formal (tidak termasuk tahun yang mengulang). Untuk menghitung Rata-rata Lama Sekolah dibutuhkan informasi: a. Partsipasi sekolah b. Jenjang dan jenis pendidikan yang pernah/sedang diduduki c. Ijasah tertinggi yang dimiliki d. Tingkat/kelas tertinggi yang pernah/sedang diduduki.</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5450">
                <a:tc>
                  <a:txBody>
                    <a:bodyPr/>
                    <a:lstStyle/>
                    <a:p>
                      <a:pPr marL="0" marR="0" lvl="0" indent="0" algn="l" rtl="0">
                        <a:lnSpc>
                          <a:spcPct val="107000"/>
                        </a:lnSpc>
                        <a:spcBef>
                          <a:spcPts val="0"/>
                        </a:spcBef>
                        <a:spcAft>
                          <a:spcPts val="0"/>
                        </a:spcAft>
                        <a:buNone/>
                      </a:pPr>
                      <a:r>
                        <a:rPr lang="en-US" sz="2200">
                          <a:latin typeface="Calibri"/>
                          <a:ea typeface="Calibri"/>
                          <a:cs typeface="Calibri"/>
                          <a:sym typeface="Calibri"/>
                        </a:rPr>
                        <a:t>Kegunaan</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200">
                          <a:latin typeface="Calibri"/>
                          <a:ea typeface="Calibri"/>
                          <a:cs typeface="Calibri"/>
                          <a:sym typeface="Calibri"/>
                        </a:rPr>
                        <a:t>:</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200">
                          <a:latin typeface="Calibri"/>
                          <a:ea typeface="Calibri"/>
                          <a:cs typeface="Calibri"/>
                          <a:sym typeface="Calibri"/>
                        </a:rPr>
                        <a:t>Untuk melihat kualitas penduduk dalam hal mengenyam pendidikan formal.</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84825">
                <a:tc>
                  <a:txBody>
                    <a:bodyPr/>
                    <a:lstStyle/>
                    <a:p>
                      <a:pPr marL="0" marR="0" lvl="0" indent="0" algn="l" rtl="0">
                        <a:lnSpc>
                          <a:spcPct val="107000"/>
                        </a:lnSpc>
                        <a:spcBef>
                          <a:spcPts val="0"/>
                        </a:spcBef>
                        <a:spcAft>
                          <a:spcPts val="0"/>
                        </a:spcAft>
                        <a:buNone/>
                      </a:pPr>
                      <a:r>
                        <a:rPr lang="en-US" sz="2200">
                          <a:latin typeface="Calibri"/>
                          <a:ea typeface="Calibri"/>
                          <a:cs typeface="Calibri"/>
                          <a:sym typeface="Calibri"/>
                        </a:rPr>
                        <a:t>Interpretasi</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200">
                          <a:latin typeface="Calibri"/>
                          <a:ea typeface="Calibri"/>
                          <a:cs typeface="Calibri"/>
                          <a:sym typeface="Calibri"/>
                        </a:rPr>
                        <a:t>:</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200">
                          <a:latin typeface="Calibri"/>
                          <a:ea typeface="Calibri"/>
                          <a:cs typeface="Calibri"/>
                          <a:sym typeface="Calibri"/>
                        </a:rPr>
                        <a:t>Tingginya angka Rata-rata Lama Sekolah (MYS) menunjukkan jenjang pendidikan yang pernah/sedang diduduki oleh seseorang. Semakin tinggi angka MYS maka semakin lama/tinggi jenjang pendidikan yang ditamatkannya.</a:t>
                      </a:r>
                      <a:endParaRPr sz="2200">
                        <a:latin typeface="Calibri"/>
                        <a:ea typeface="Calibri"/>
                        <a:cs typeface="Calibri"/>
                        <a:sym typeface="Calibri"/>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54250">
                <a:tc>
                  <a:txBody>
                    <a:bodyPr/>
                    <a:lstStyle/>
                    <a:p>
                      <a:pPr marL="0" marR="0" lvl="0" indent="0" algn="l" rtl="0">
                        <a:lnSpc>
                          <a:spcPct val="107000"/>
                        </a:lnSpc>
                        <a:spcBef>
                          <a:spcPts val="0"/>
                        </a:spcBef>
                        <a:spcAft>
                          <a:spcPts val="0"/>
                        </a:spcAft>
                        <a:buNone/>
                      </a:pPr>
                      <a:r>
                        <a:rPr lang="en-US" sz="2200">
                          <a:latin typeface="Calibri"/>
                          <a:ea typeface="Calibri"/>
                          <a:cs typeface="Calibri"/>
                          <a:sym typeface="Calibri"/>
                        </a:rPr>
                        <a:t>Sumber data</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200">
                          <a:latin typeface="Calibri"/>
                          <a:ea typeface="Calibri"/>
                          <a:cs typeface="Calibri"/>
                          <a:sym typeface="Calibri"/>
                        </a:rPr>
                        <a:t>:</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7000"/>
                        </a:lnSpc>
                        <a:spcBef>
                          <a:spcPts val="0"/>
                        </a:spcBef>
                        <a:spcAft>
                          <a:spcPts val="0"/>
                        </a:spcAft>
                        <a:buNone/>
                      </a:pPr>
                      <a:r>
                        <a:rPr lang="en-US" sz="2200">
                          <a:latin typeface="Calibri"/>
                          <a:ea typeface="Calibri"/>
                          <a:cs typeface="Calibri"/>
                          <a:sym typeface="Calibri"/>
                        </a:rPr>
                        <a:t>SUSENAS</a:t>
                      </a:r>
                      <a:endParaRPr/>
                    </a:p>
                  </a:txBody>
                  <a:tcPr marL="49975" marR="49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72"/>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74</a:t>
            </a:fld>
            <a:endParaRPr/>
          </a:p>
        </p:txBody>
      </p:sp>
      <p:pic>
        <p:nvPicPr>
          <p:cNvPr id="913" name="Google Shape;913;p72"/>
          <p:cNvPicPr preferRelativeResize="0"/>
          <p:nvPr/>
        </p:nvPicPr>
        <p:blipFill rotWithShape="1">
          <a:blip r:embed="rId3">
            <a:alphaModFix/>
          </a:blip>
          <a:srcRect/>
          <a:stretch/>
        </p:blipFill>
        <p:spPr>
          <a:xfrm>
            <a:off x="1187532" y="0"/>
            <a:ext cx="9785268" cy="6858000"/>
          </a:xfrm>
          <a:prstGeom prst="rect">
            <a:avLst/>
          </a:prstGeom>
          <a:noFill/>
          <a:ln>
            <a:noFill/>
          </a:ln>
        </p:spPr>
      </p:pic>
    </p:spTree>
  </p:cSld>
  <p:clrMapOvr>
    <a:masterClrMapping/>
  </p:clrMapOvr>
  <p:transition spd="slow">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73"/>
          <p:cNvSpPr txBox="1">
            <a:spLocks noGrp="1"/>
          </p:cNvSpPr>
          <p:nvPr>
            <p:ph type="sldNum" idx="12"/>
          </p:nvPr>
        </p:nvSpPr>
        <p:spPr>
          <a:xfrm>
            <a:off x="8737601" y="6356351"/>
            <a:ext cx="2844800" cy="365125"/>
          </a:xfrm>
          <a:prstGeom prst="rect">
            <a:avLst/>
          </a:prstGeom>
          <a:noFill/>
          <a:ln>
            <a:noFill/>
          </a:ln>
        </p:spPr>
        <p:txBody>
          <a:bodyPr spcFirstLastPara="1" wrap="square" lIns="104925" tIns="52450" rIns="104925" bIns="52450" anchor="ctr" anchorCtr="0">
            <a:noAutofit/>
          </a:bodyPr>
          <a:lstStyle/>
          <a:p>
            <a:pPr marL="0" lvl="0" indent="0" algn="r" rtl="0">
              <a:spcBef>
                <a:spcPts val="0"/>
              </a:spcBef>
              <a:spcAft>
                <a:spcPts val="0"/>
              </a:spcAft>
              <a:buNone/>
            </a:pPr>
            <a:fld id="{00000000-1234-1234-1234-123412341234}" type="slidenum">
              <a:rPr lang="en-US"/>
              <a:t>75</a:t>
            </a:fld>
            <a:endParaRPr/>
          </a:p>
        </p:txBody>
      </p:sp>
      <p:pic>
        <p:nvPicPr>
          <p:cNvPr id="919" name="Google Shape;919;p73"/>
          <p:cNvPicPr preferRelativeResize="0"/>
          <p:nvPr/>
        </p:nvPicPr>
        <p:blipFill rotWithShape="1">
          <a:blip r:embed="rId3">
            <a:alphaModFix/>
          </a:blip>
          <a:srcRect/>
          <a:stretch/>
        </p:blipFill>
        <p:spPr>
          <a:xfrm>
            <a:off x="0" y="720728"/>
            <a:ext cx="12192000" cy="4920628"/>
          </a:xfrm>
          <a:prstGeom prst="rect">
            <a:avLst/>
          </a:prstGeom>
          <a:noFill/>
          <a:ln>
            <a:noFill/>
          </a:ln>
        </p:spPr>
      </p:pic>
    </p:spTree>
  </p:cSld>
  <p:clrMapOvr>
    <a:masterClrMapping/>
  </p:clrMapOvr>
  <p:transition spd="slow">
    <p:fade thruBlk="1"/>
  </p:transition>
</p:sld>
</file>

<file path=ppt/theme/theme1.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5235</Words>
  <Application>Microsoft Office PowerPoint</Application>
  <PresentationFormat>Widescreen</PresentationFormat>
  <Paragraphs>770</Paragraphs>
  <Slides>75</Slides>
  <Notes>73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75</vt:i4>
      </vt:variant>
    </vt:vector>
  </HeadingPairs>
  <TitlesOfParts>
    <vt:vector size="88" baseType="lpstr">
      <vt:lpstr>Georgia</vt:lpstr>
      <vt:lpstr>Times New Roman</vt:lpstr>
      <vt:lpstr>Oswald</vt:lpstr>
      <vt:lpstr>Quattrocento Sans</vt:lpstr>
      <vt:lpstr>Arial Narrow</vt:lpstr>
      <vt:lpstr>Calibri</vt:lpstr>
      <vt:lpstr>Noto Sans Symbols</vt:lpstr>
      <vt:lpstr>Cambria</vt:lpstr>
      <vt:lpstr>Corbel</vt:lpstr>
      <vt:lpstr>Arial</vt:lpstr>
      <vt:lpstr>2_Office Theme</vt:lpstr>
      <vt:lpstr>Basis</vt:lpstr>
      <vt:lpstr>Office Theme</vt:lpstr>
      <vt:lpstr>PowerPoint Presentation</vt:lpstr>
      <vt:lpstr>PowerPoint Presentation</vt:lpstr>
      <vt:lpstr>Kenapa perlu informasi ketenagakerjaan? [1]</vt:lpstr>
      <vt:lpstr>Kenapa perlu informasi ketenagakerjaan? [2]</vt:lpstr>
      <vt:lpstr>PowerPoint Presentation</vt:lpstr>
      <vt:lpstr>PowerPoint Presentation</vt:lpstr>
      <vt:lpstr>PowerPoint Presentation</vt:lpstr>
      <vt:lpstr>Statistik ketenagakerjaan: catatan</vt:lpstr>
      <vt:lpstr>PowerPoint Presentation</vt:lpstr>
      <vt:lpstr>PowerPoint Presentation</vt:lpstr>
      <vt:lpstr>PowerPoint Presentation</vt:lpstr>
      <vt:lpstr>PowerPoint Presentation</vt:lpstr>
      <vt:lpstr>Tingkat Partisipasi Angkatan Kerja (TPAK)</vt:lpstr>
      <vt:lpstr>Tingkat Partisipasi Angkatan Kerja (TPAK)</vt:lpstr>
      <vt:lpstr>Tingkat Pengangguran Terbuka (TPT)</vt:lpstr>
      <vt:lpstr>Tingkat Pengangguran Terbuka (TPT)</vt:lpstr>
      <vt:lpstr>Persentase Setengah Pengangguran</vt:lpstr>
      <vt:lpstr>Persentase Setengah Pengangguran</vt:lpstr>
      <vt:lpstr>Persentase Pekerja Paruh Waktu</vt:lpstr>
      <vt:lpstr>Persentase Pekerja Paruh Waktu</vt:lpstr>
      <vt:lpstr>PowerPoint Presentation</vt:lpstr>
      <vt:lpstr>PowerPoint Presentation</vt:lpstr>
      <vt:lpstr>PowerPoint Presentation</vt:lpstr>
      <vt:lpstr>PowerPoint Presentation</vt:lpstr>
      <vt:lpstr>PowerPoint Presentation</vt:lpstr>
      <vt:lpstr>PowerPoint Presentation</vt:lpstr>
      <vt:lpstr>Proporsi Lapangan Kerja Informal</vt:lpstr>
      <vt:lpstr>Proporsi Lapangan Kerja Informal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Kenapa perlu informasi pendidikan?</vt:lpstr>
      <vt:lpstr>Sistem Pendidikan di Indonesia</vt:lpstr>
      <vt:lpstr>Sistem Pendidikan di Indonesia</vt:lpstr>
      <vt:lpstr>PowerPoint Presentation</vt:lpstr>
      <vt:lpstr>Issu utama bidang pendidikan [1]</vt:lpstr>
      <vt:lpstr>Issu utama bidang pendidikan [2]</vt:lpstr>
      <vt:lpstr>Hubungan antar Indikator Pendidikan</vt:lpstr>
      <vt:lpstr>pendidikan dan kualitas manusia: identifikasi determinan (contoh)</vt:lpstr>
      <vt:lpstr>Indikator dalam Neraca Pendidikan (contoh)</vt:lpstr>
      <vt:lpstr>Indikator pokok pendidikan</vt:lpstr>
      <vt:lpstr>INDIKATOR PENDIDIKAN UNTUK SDGS DALAM SUSENAS</vt:lpstr>
      <vt:lpstr>INDIKATOR PENDIDIKAN UNTUK SDGS DALAM SUSENAS</vt:lpstr>
      <vt:lpstr>INDIKATOR PENDIDIKAN UNTUK SDGS DALAM SUSENAS</vt:lpstr>
      <vt:lpstr>INDIKATOR PENDIDIKAN UNTUK SDGS DALAM SUSENAS</vt:lpstr>
      <vt:lpstr>INDIKATOR PENDIDIKAN UNTUK SDGS DALAM SUSENAS</vt:lpstr>
      <vt:lpstr>INDIKATOR PENDIDIKAN UNTUK SDGS DALAM SUSENAS</vt:lpstr>
      <vt:lpstr>Angka Melek Huruf</vt:lpstr>
      <vt:lpstr>Angka Melek Huruf</vt:lpstr>
      <vt:lpstr>Angka Melek Huruf</vt:lpstr>
      <vt:lpstr>PowerPoint Presentation</vt:lpstr>
      <vt:lpstr>Partisipasi Pendidikan</vt:lpstr>
      <vt:lpstr>Angka Partisipasi dalam Pendidikan</vt:lpstr>
      <vt:lpstr>PowerPoint Presentation</vt:lpstr>
      <vt:lpstr>ANGKA PARTISIPASI SEKOLAH (APS)</vt:lpstr>
      <vt:lpstr>PowerPoint Presentation</vt:lpstr>
      <vt:lpstr>PowerPoint Presentation</vt:lpstr>
      <vt:lpstr>ANGKA PARTISIPASI KASAR (APK)</vt:lpstr>
      <vt:lpstr>PowerPoint Presentation</vt:lpstr>
      <vt:lpstr>PowerPoint Presentation</vt:lpstr>
      <vt:lpstr>ANGKA PARTISIPASI MURNI (APM)</vt:lpstr>
      <vt:lpstr>PowerPoint Presentation</vt:lpstr>
      <vt:lpstr>Rata-rata Lama Sekolah (MYS)</vt:lpstr>
      <vt:lpstr>Rata-rata Lama Sekolah (MYS)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Tio</cp:lastModifiedBy>
  <cp:revision>2</cp:revision>
  <dcterms:created xsi:type="dcterms:W3CDTF">2022-02-03T05:49:29Z</dcterms:created>
  <dcterms:modified xsi:type="dcterms:W3CDTF">2026-05-24T16:55:44Z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