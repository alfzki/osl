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81" r:id="rId3"/>
    <p:sldId id="284" r:id="rId4"/>
    <p:sldId id="257" r:id="rId5"/>
    <p:sldId id="258" r:id="rId6"/>
    <p:sldId id="259" r:id="rId7"/>
    <p:sldId id="260" r:id="rId8"/>
    <p:sldId id="261" r:id="rId9"/>
    <p:sldId id="262" r:id="rId10"/>
    <p:sldId id="263" r:id="rId11"/>
    <p:sldId id="264" r:id="rId12"/>
    <p:sldId id="265" r:id="rId13"/>
    <p:sldId id="266" r:id="rId14"/>
    <p:sldId id="267" r:id="rId15"/>
    <p:sldId id="268" r:id="rId16"/>
    <p:sldId id="280" r:id="rId17"/>
    <p:sldId id="269" r:id="rId18"/>
    <p:sldId id="270" r:id="rId19"/>
    <p:sldId id="271" r:id="rId20"/>
    <p:sldId id="272" r:id="rId21"/>
    <p:sldId id="273" r:id="rId22"/>
    <p:sldId id="274" r:id="rId23"/>
    <p:sldId id="275" r:id="rId24"/>
    <p:sldId id="276" r:id="rId25"/>
    <p:sldId id="277" r:id="rId26"/>
    <p:sldId id="278" r:id="rId27"/>
    <p:sldId id="279"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jsYk0+pExFoZeMuP/c3+9O6jox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E7D8076-AC5C-4AA6-9025-8190D0D164E4}">
  <a:tblStyle styleId="{5E7D8076-AC5C-4AA6-9025-8190D0D164E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32" y="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Title</a:t>
            </a: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3a6ff8e639_9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g33a6ff8e639_9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Outlines</a:t>
            </a:r>
            <a:endParaRPr/>
          </a:p>
        </p:txBody>
      </p:sp>
      <p:sp>
        <p:nvSpPr>
          <p:cNvPr id="103" name="Google Shape;103;g33a6ff8e639_9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3abfdfa987_8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g33abfdfa987_8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Outlines</a:t>
            </a:r>
            <a:endParaRPr/>
          </a:p>
        </p:txBody>
      </p:sp>
      <p:sp>
        <p:nvSpPr>
          <p:cNvPr id="157" name="Google Shape;157;g33abfdfa987_8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103" name="Google Shape;10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122" name="Google Shape;12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162" name="Google Shape;16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180" name="Google Shape;18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198" name="Google Shape;19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216" name="Google Shape;21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234" name="Google Shape;23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 name="Google Shape;25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252" name="Google Shape;25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270" name="Google Shape;27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288" name="Google Shape;288;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306" name="Google Shape;306;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Outlines</a:t>
            </a:r>
            <a:endParaRPr dirty="0"/>
          </a:p>
        </p:txBody>
      </p:sp>
      <p:sp>
        <p:nvSpPr>
          <p:cNvPr id="324" name="Google Shape;324;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a:extLst>
            <a:ext uri="{FF2B5EF4-FFF2-40B4-BE49-F238E27FC236}">
              <a16:creationId xmlns:a16="http://schemas.microsoft.com/office/drawing/2014/main" id="{B3E819A6-33B1-1B75-DBCB-C63A08E762AD}"/>
            </a:ext>
          </a:extLst>
        </p:cNvPr>
        <p:cNvGrpSpPr/>
        <p:nvPr/>
      </p:nvGrpSpPr>
      <p:grpSpPr>
        <a:xfrm>
          <a:off x="0" y="0"/>
          <a:ext cx="0" cy="0"/>
          <a:chOff x="0" y="0"/>
          <a:chExt cx="0" cy="0"/>
        </a:xfrm>
      </p:grpSpPr>
      <p:sp>
        <p:nvSpPr>
          <p:cNvPr id="322" name="Google Shape;322;p13:notes">
            <a:extLst>
              <a:ext uri="{FF2B5EF4-FFF2-40B4-BE49-F238E27FC236}">
                <a16:creationId xmlns:a16="http://schemas.microsoft.com/office/drawing/2014/main" id="{A423897D-6C72-D67C-4C5E-12F16FDFDC8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13:notes">
            <a:extLst>
              <a:ext uri="{FF2B5EF4-FFF2-40B4-BE49-F238E27FC236}">
                <a16:creationId xmlns:a16="http://schemas.microsoft.com/office/drawing/2014/main" id="{6B8F57CC-280E-9C77-23A7-84EED8AB9A7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Outlines</a:t>
            </a:r>
            <a:endParaRPr dirty="0"/>
          </a:p>
        </p:txBody>
      </p:sp>
      <p:sp>
        <p:nvSpPr>
          <p:cNvPr id="324" name="Google Shape;324;p13:notes">
            <a:extLst>
              <a:ext uri="{FF2B5EF4-FFF2-40B4-BE49-F238E27FC236}">
                <a16:creationId xmlns:a16="http://schemas.microsoft.com/office/drawing/2014/main" id="{C1035EAB-5BF7-862E-E2C5-679CD0F1CB4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6616101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Google Shape;34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342" name="Google Shape;34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360" name="Google Shape;360;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7" name="Google Shape;377;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378" name="Google Shape;378;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396" name="Google Shape;396;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414" name="Google Shape;414;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432" name="Google Shape;432;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0" name="Google Shape;450;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451" name="Google Shape;451;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8" name="Google Shape;46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469" name="Google Shape;469;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6" name="Google Shape;486;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487" name="Google Shape;487;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Outlines</a:t>
            </a:r>
            <a:endParaRPr/>
          </a:p>
        </p:txBody>
      </p:sp>
      <p:sp>
        <p:nvSpPr>
          <p:cNvPr id="505" name="Google Shape;505;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8" name="Google Shape;18;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2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1"/>
        <p:cNvGrpSpPr/>
        <p:nvPr/>
      </p:nvGrpSpPr>
      <p:grpSpPr>
        <a:xfrm>
          <a:off x="0" y="0"/>
          <a:ext cx="0" cy="0"/>
          <a:chOff x="0" y="0"/>
          <a:chExt cx="0" cy="0"/>
        </a:xfrm>
      </p:grpSpPr>
      <p:sp>
        <p:nvSpPr>
          <p:cNvPr id="32" name="Google Shape;32;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3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3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3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3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4"/>
          <p:cNvSpPr>
            <a:spLocks noGrp="1"/>
          </p:cNvSpPr>
          <p:nvPr>
            <p:ph type="pic" idx="2"/>
          </p:nvPr>
        </p:nvSpPr>
        <p:spPr>
          <a:xfrm>
            <a:off x="5183188" y="987425"/>
            <a:ext cx="6172200" cy="4873625"/>
          </a:xfrm>
          <a:prstGeom prst="rect">
            <a:avLst/>
          </a:prstGeom>
          <a:noFill/>
          <a:ln>
            <a:noFill/>
          </a:ln>
        </p:spPr>
      </p:sp>
      <p:sp>
        <p:nvSpPr>
          <p:cNvPr id="68" name="Google Shape;68;p3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hyperlink" Target="https://sig.bps.go.id/" TargetMode="External"/><Relationship Id="rId13" Type="http://schemas.openxmlformats.org/officeDocument/2006/relationships/image" Target="../media/image3.png"/><Relationship Id="rId3" Type="http://schemas.openxmlformats.org/officeDocument/2006/relationships/image" Target="../media/image1.jpg"/><Relationship Id="rId7" Type="http://schemas.openxmlformats.org/officeDocument/2006/relationships/hyperlink" Target="http://sdgsindonesia.or.id/" TargetMode="External"/><Relationship Id="rId12" Type="http://schemas.openxmlformats.org/officeDocument/2006/relationships/hyperlink" Target="https://bps.go.id/"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dgs.bappenas.go.id/sekilas-sdgs/" TargetMode="External"/><Relationship Id="rId11" Type="http://schemas.openxmlformats.org/officeDocument/2006/relationships/hyperlink" Target="https://data.go.id/" TargetMode="External"/><Relationship Id="rId5" Type="http://schemas.openxmlformats.org/officeDocument/2006/relationships/hyperlink" Target="https://www.sdg2030indonesia.org/" TargetMode="External"/><Relationship Id="rId10" Type="http://schemas.openxmlformats.org/officeDocument/2006/relationships/hyperlink" Target="https://unstats.un.org/wiki/plugins/servlet/mobile?contentId=36143964#content/view/36143964" TargetMode="External"/><Relationship Id="rId4" Type="http://schemas.openxmlformats.org/officeDocument/2006/relationships/hyperlink" Target="https://sdgs.un.org/goals" TargetMode="External"/><Relationship Id="rId9" Type="http://schemas.openxmlformats.org/officeDocument/2006/relationships/hyperlink" Target="https://www.data4sdgs.org/resources/interoperability-practitioners-guide-joining-data-development-sector"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1"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90" name="Google Shape;90;p1"/>
          <p:cNvSpPr/>
          <p:nvPr/>
        </p:nvSpPr>
        <p:spPr>
          <a:xfrm rot="10800000">
            <a:off x="0" y="0"/>
            <a:ext cx="10111143" cy="6858001"/>
          </a:xfrm>
          <a:custGeom>
            <a:avLst/>
            <a:gdLst/>
            <a:ahLst/>
            <a:cxnLst/>
            <a:rect l="l" t="t" r="r" b="b"/>
            <a:pathLst>
              <a:path w="10111143" h="6858001" extrusionOk="0">
                <a:moveTo>
                  <a:pt x="10111143" y="6858001"/>
                </a:moveTo>
                <a:lnTo>
                  <a:pt x="4955307" y="6858001"/>
                </a:lnTo>
                <a:lnTo>
                  <a:pt x="4955307" y="6858000"/>
                </a:lnTo>
                <a:lnTo>
                  <a:pt x="0" y="6858000"/>
                </a:lnTo>
                <a:lnTo>
                  <a:pt x="2093858" y="0"/>
                </a:lnTo>
                <a:lnTo>
                  <a:pt x="4955307" y="0"/>
                </a:lnTo>
                <a:lnTo>
                  <a:pt x="7446087" y="0"/>
                </a:lnTo>
                <a:lnTo>
                  <a:pt x="10111143" y="0"/>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1" name="Google Shape;91;p1"/>
          <p:cNvSpPr txBox="1"/>
          <p:nvPr/>
        </p:nvSpPr>
        <p:spPr>
          <a:xfrm>
            <a:off x="566271" y="1674031"/>
            <a:ext cx="7998600" cy="29392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dirty="0" err="1">
                <a:solidFill>
                  <a:schemeClr val="lt1"/>
                </a:solidFill>
                <a:latin typeface="Calibri"/>
                <a:ea typeface="Calibri"/>
                <a:cs typeface="Calibri"/>
                <a:sym typeface="Calibri"/>
              </a:rPr>
              <a:t>Kontrak</a:t>
            </a:r>
            <a:r>
              <a:rPr lang="en-US" sz="3600" b="1" i="0" u="none" strike="noStrike" cap="none" dirty="0">
                <a:solidFill>
                  <a:schemeClr val="lt1"/>
                </a:solidFill>
                <a:latin typeface="Calibri"/>
                <a:ea typeface="Calibri"/>
                <a:cs typeface="Calibri"/>
                <a:sym typeface="Calibri"/>
              </a:rPr>
              <a:t> </a:t>
            </a:r>
            <a:r>
              <a:rPr lang="en-US" sz="3600" b="1" i="0" u="none" strike="noStrike" cap="none" dirty="0" err="1">
                <a:solidFill>
                  <a:schemeClr val="lt1"/>
                </a:solidFill>
                <a:latin typeface="Calibri"/>
                <a:ea typeface="Calibri"/>
                <a:cs typeface="Calibri"/>
                <a:sym typeface="Calibri"/>
              </a:rPr>
              <a:t>Perkuliahan</a:t>
            </a:r>
            <a:r>
              <a:rPr lang="en-US" sz="3600" b="1" dirty="0">
                <a:solidFill>
                  <a:schemeClr val="lt1"/>
                </a:solidFill>
                <a:latin typeface="Calibri"/>
                <a:ea typeface="Calibri"/>
                <a:cs typeface="Calibri"/>
                <a:sym typeface="Calibri"/>
              </a:rPr>
              <a:t> </a:t>
            </a:r>
            <a:endParaRPr sz="3600" b="1" dirty="0">
              <a:solidFill>
                <a:schemeClr val="lt1"/>
              </a:solidFill>
              <a:latin typeface="Calibri"/>
              <a:ea typeface="Calibri"/>
              <a:cs typeface="Calibri"/>
              <a:sym typeface="Calibri"/>
            </a:endParaRPr>
          </a:p>
          <a:p>
            <a:pPr marL="0" marR="0" lvl="0" indent="0" algn="l" rtl="0">
              <a:spcBef>
                <a:spcPts val="0"/>
              </a:spcBef>
              <a:spcAft>
                <a:spcPts val="0"/>
              </a:spcAft>
              <a:buNone/>
            </a:pPr>
            <a:r>
              <a:rPr lang="en-US" sz="3600" b="1" dirty="0">
                <a:solidFill>
                  <a:schemeClr val="lt1"/>
                </a:solidFill>
                <a:latin typeface="Calibri"/>
                <a:ea typeface="Calibri"/>
                <a:cs typeface="Calibri"/>
                <a:sym typeface="Calibri"/>
              </a:rPr>
              <a:t>Semester </a:t>
            </a:r>
            <a:r>
              <a:rPr lang="en-US" sz="3600" b="1" dirty="0" err="1">
                <a:solidFill>
                  <a:schemeClr val="lt1"/>
                </a:solidFill>
                <a:latin typeface="Calibri"/>
                <a:ea typeface="Calibri"/>
                <a:cs typeface="Calibri"/>
                <a:sym typeface="Calibri"/>
              </a:rPr>
              <a:t>Genap</a:t>
            </a:r>
            <a:r>
              <a:rPr lang="en-US" sz="3600" b="1" i="0" u="none" strike="noStrike" cap="none" dirty="0">
                <a:solidFill>
                  <a:schemeClr val="lt1"/>
                </a:solidFill>
                <a:latin typeface="Calibri"/>
                <a:ea typeface="Calibri"/>
                <a:cs typeface="Calibri"/>
                <a:sym typeface="Calibri"/>
              </a:rPr>
              <a:t> TA. 202</a:t>
            </a:r>
            <a:r>
              <a:rPr lang="id-ID" sz="3600" b="1" i="0" u="none" strike="noStrike" cap="none" dirty="0">
                <a:solidFill>
                  <a:schemeClr val="lt1"/>
                </a:solidFill>
                <a:latin typeface="Calibri"/>
                <a:ea typeface="Calibri"/>
                <a:cs typeface="Calibri"/>
                <a:sym typeface="Calibri"/>
              </a:rPr>
              <a:t>5</a:t>
            </a:r>
            <a:r>
              <a:rPr lang="en-US" sz="3600" b="1" i="0" u="none" strike="noStrike" cap="none" dirty="0">
                <a:solidFill>
                  <a:schemeClr val="lt1"/>
                </a:solidFill>
                <a:latin typeface="Calibri"/>
                <a:ea typeface="Calibri"/>
                <a:cs typeface="Calibri"/>
                <a:sym typeface="Calibri"/>
              </a:rPr>
              <a:t>/202</a:t>
            </a:r>
            <a:r>
              <a:rPr lang="id-ID" sz="3600" b="1" i="0" u="none" strike="noStrike" cap="none" dirty="0">
                <a:solidFill>
                  <a:schemeClr val="lt1"/>
                </a:solidFill>
                <a:latin typeface="Calibri"/>
                <a:ea typeface="Calibri"/>
                <a:cs typeface="Calibri"/>
                <a:sym typeface="Calibri"/>
              </a:rPr>
              <a:t>6</a:t>
            </a:r>
            <a:endParaRPr dirty="0"/>
          </a:p>
          <a:p>
            <a:pPr marL="0" marR="0" lvl="0" indent="0" algn="l" rtl="0">
              <a:spcBef>
                <a:spcPts val="0"/>
              </a:spcBef>
              <a:spcAft>
                <a:spcPts val="0"/>
              </a:spcAft>
              <a:buNone/>
            </a:pPr>
            <a:r>
              <a:rPr lang="en-US" sz="4400" b="1" dirty="0">
                <a:solidFill>
                  <a:schemeClr val="lt1"/>
                </a:solidFill>
                <a:latin typeface="Calibri"/>
                <a:ea typeface="Calibri"/>
                <a:cs typeface="Calibri"/>
                <a:sym typeface="Calibri"/>
              </a:rPr>
              <a:t>Official Statistics </a:t>
            </a:r>
            <a:r>
              <a:rPr lang="en-US" sz="4400" b="1" dirty="0" err="1">
                <a:solidFill>
                  <a:schemeClr val="lt1"/>
                </a:solidFill>
                <a:latin typeface="Calibri"/>
                <a:ea typeface="Calibri"/>
                <a:cs typeface="Calibri"/>
                <a:sym typeface="Calibri"/>
              </a:rPr>
              <a:t>Lanjutan</a:t>
            </a:r>
            <a:endParaRPr sz="4400" b="1" dirty="0">
              <a:solidFill>
                <a:schemeClr val="lt1"/>
              </a:solidFill>
              <a:latin typeface="Calibri"/>
              <a:ea typeface="Calibri"/>
              <a:cs typeface="Calibri"/>
              <a:sym typeface="Calibri"/>
            </a:endParaRPr>
          </a:p>
          <a:p>
            <a:pPr marL="0" marR="0" lvl="0" indent="0" algn="l" rtl="0">
              <a:spcBef>
                <a:spcPts val="600"/>
              </a:spcBef>
              <a:buNone/>
            </a:pPr>
            <a:r>
              <a:rPr lang="id-ID" sz="3200" u="sng" dirty="0">
                <a:solidFill>
                  <a:schemeClr val="lt1"/>
                </a:solidFill>
                <a:latin typeface="Calibri"/>
                <a:ea typeface="Calibri"/>
                <a:cs typeface="Calibri"/>
                <a:sym typeface="Calibri"/>
              </a:rPr>
              <a:t>T</a:t>
            </a:r>
            <a:r>
              <a:rPr lang="en-US" sz="3200" u="sng" dirty="0" err="1">
                <a:solidFill>
                  <a:schemeClr val="lt1"/>
                </a:solidFill>
                <a:latin typeface="Calibri"/>
                <a:ea typeface="Calibri"/>
                <a:cs typeface="Calibri"/>
                <a:sym typeface="Calibri"/>
              </a:rPr>
              <a:t>iodora</a:t>
            </a:r>
            <a:r>
              <a:rPr lang="en-US" sz="3200" u="sng" dirty="0">
                <a:solidFill>
                  <a:schemeClr val="lt1"/>
                </a:solidFill>
                <a:latin typeface="Calibri"/>
                <a:ea typeface="Calibri"/>
                <a:cs typeface="Calibri"/>
                <a:sym typeface="Calibri"/>
              </a:rPr>
              <a:t> </a:t>
            </a:r>
            <a:r>
              <a:rPr lang="en-US" sz="3200" u="sng" dirty="0" err="1">
                <a:solidFill>
                  <a:schemeClr val="lt1"/>
                </a:solidFill>
                <a:latin typeface="Calibri"/>
                <a:ea typeface="Calibri"/>
                <a:cs typeface="Calibri"/>
                <a:sym typeface="Calibri"/>
              </a:rPr>
              <a:t>Hadumaon</a:t>
            </a:r>
            <a:r>
              <a:rPr lang="en-US" sz="3200" u="sng" dirty="0">
                <a:solidFill>
                  <a:schemeClr val="lt1"/>
                </a:solidFill>
                <a:latin typeface="Calibri"/>
                <a:ea typeface="Calibri"/>
                <a:cs typeface="Calibri"/>
                <a:sym typeface="Calibri"/>
              </a:rPr>
              <a:t> </a:t>
            </a:r>
            <a:r>
              <a:rPr lang="en-US" sz="3200" u="sng" dirty="0" err="1">
                <a:solidFill>
                  <a:schemeClr val="lt1"/>
                </a:solidFill>
                <a:latin typeface="Calibri"/>
                <a:ea typeface="Calibri"/>
                <a:cs typeface="Calibri"/>
                <a:sym typeface="Calibri"/>
              </a:rPr>
              <a:t>Siagian</a:t>
            </a:r>
            <a:endParaRPr lang="en-US" sz="3200" u="sng" dirty="0">
              <a:solidFill>
                <a:schemeClr val="lt1"/>
              </a:solidFill>
              <a:latin typeface="Calibri"/>
              <a:ea typeface="Calibri"/>
              <a:cs typeface="Calibri"/>
              <a:sym typeface="Calibri"/>
            </a:endParaRPr>
          </a:p>
          <a:p>
            <a:pPr marL="0" marR="0" lvl="0" indent="0" algn="l" rtl="0">
              <a:spcBef>
                <a:spcPts val="0"/>
              </a:spcBef>
              <a:spcAft>
                <a:spcPts val="0"/>
              </a:spcAft>
              <a:buNone/>
            </a:pPr>
            <a:r>
              <a:rPr lang="en-US" sz="3200" u="sng" dirty="0">
                <a:solidFill>
                  <a:schemeClr val="lt1"/>
                </a:solidFill>
                <a:latin typeface="Calibri"/>
                <a:ea typeface="Calibri"/>
                <a:cs typeface="Calibri"/>
                <a:sym typeface="Calibri"/>
              </a:rPr>
              <a:t>Kelas 3SI1</a:t>
            </a:r>
            <a:endParaRPr sz="3200" u="sng" dirty="0">
              <a:solidFill>
                <a:schemeClr val="lt1"/>
              </a:solidFill>
              <a:latin typeface="Calibri"/>
              <a:ea typeface="Calibri"/>
              <a:cs typeface="Calibri"/>
              <a:sym typeface="Calibri"/>
            </a:endParaRPr>
          </a:p>
        </p:txBody>
      </p:sp>
      <p:sp>
        <p:nvSpPr>
          <p:cNvPr id="92" name="Google Shape;92;p1"/>
          <p:cNvSpPr/>
          <p:nvPr/>
        </p:nvSpPr>
        <p:spPr>
          <a:xfrm>
            <a:off x="8184440" y="2075824"/>
            <a:ext cx="1407842" cy="3314700"/>
          </a:xfrm>
          <a:prstGeom prst="parallelogram">
            <a:avLst>
              <a:gd name="adj" fmla="val 71688"/>
            </a:avLst>
          </a:pr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3" name="Google Shape;93;p1" descr="Logo&#10;&#10;Description automatically generated"/>
          <p:cNvPicPr preferRelativeResize="0"/>
          <p:nvPr/>
        </p:nvPicPr>
        <p:blipFill rotWithShape="1">
          <a:blip r:embed="rId4">
            <a:alphaModFix/>
          </a:blip>
          <a:srcRect/>
          <a:stretch/>
        </p:blipFill>
        <p:spPr>
          <a:xfrm>
            <a:off x="166914" y="117928"/>
            <a:ext cx="1080000" cy="1080000"/>
          </a:xfrm>
          <a:prstGeom prst="rect">
            <a:avLst/>
          </a:prstGeom>
          <a:noFill/>
          <a:ln>
            <a:noFill/>
          </a:ln>
        </p:spPr>
      </p:pic>
      <p:sp>
        <p:nvSpPr>
          <p:cNvPr id="94" name="Google Shape;94;p1"/>
          <p:cNvSpPr txBox="1"/>
          <p:nvPr/>
        </p:nvSpPr>
        <p:spPr>
          <a:xfrm>
            <a:off x="1413828" y="294381"/>
            <a:ext cx="6637972"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lt1"/>
                </a:solidFill>
                <a:latin typeface="Calibri"/>
                <a:ea typeface="Calibri"/>
                <a:cs typeface="Calibri"/>
                <a:sym typeface="Calibri"/>
              </a:rPr>
              <a:t>POLITEKNIK STATISTIKA STIS</a:t>
            </a:r>
            <a:endParaRPr sz="2800" b="1">
              <a:solidFill>
                <a:schemeClr val="lt1"/>
              </a:solidFill>
              <a:latin typeface="Calibri"/>
              <a:ea typeface="Calibri"/>
              <a:cs typeface="Calibri"/>
              <a:sym typeface="Calibri"/>
            </a:endParaRPr>
          </a:p>
        </p:txBody>
      </p:sp>
      <p:sp>
        <p:nvSpPr>
          <p:cNvPr id="95" name="Google Shape;95;p1"/>
          <p:cNvSpPr/>
          <p:nvPr/>
        </p:nvSpPr>
        <p:spPr>
          <a:xfrm>
            <a:off x="8318140"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1"/>
          <p:cNvSpPr/>
          <p:nvPr/>
        </p:nvSpPr>
        <p:spPr>
          <a:xfrm>
            <a:off x="323016" y="6118443"/>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97" name="Google Shape;97;p1"/>
          <p:cNvSpPr txBox="1"/>
          <p:nvPr/>
        </p:nvSpPr>
        <p:spPr>
          <a:xfrm>
            <a:off x="657864" y="5660222"/>
            <a:ext cx="5700658"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Calibri"/>
                <a:ea typeface="Calibri"/>
                <a:cs typeface="Calibri"/>
                <a:sym typeface="Calibri"/>
              </a:rPr>
              <a:t>Program </a:t>
            </a:r>
            <a:r>
              <a:rPr lang="en-US" sz="2800" b="1" dirty="0" err="1">
                <a:solidFill>
                  <a:schemeClr val="lt1"/>
                </a:solidFill>
                <a:latin typeface="Calibri"/>
                <a:ea typeface="Calibri"/>
                <a:cs typeface="Calibri"/>
                <a:sym typeface="Calibri"/>
              </a:rPr>
              <a:t>Studi</a:t>
            </a:r>
            <a:r>
              <a:rPr lang="en-US" sz="2800" b="1" dirty="0">
                <a:solidFill>
                  <a:schemeClr val="lt1"/>
                </a:solidFill>
                <a:latin typeface="Calibri"/>
                <a:ea typeface="Calibri"/>
                <a:cs typeface="Calibri"/>
                <a:sym typeface="Calibri"/>
              </a:rPr>
              <a:t> DIV STATISTIKA</a:t>
            </a:r>
            <a:endParaRPr dirty="0"/>
          </a:p>
          <a:p>
            <a:pPr marL="0" marR="0" lvl="0" indent="0" algn="l" rtl="0">
              <a:spcBef>
                <a:spcPts val="0"/>
              </a:spcBef>
              <a:spcAft>
                <a:spcPts val="0"/>
              </a:spcAft>
              <a:buNone/>
            </a:pPr>
            <a:r>
              <a:rPr lang="en-US" sz="2800" b="1" dirty="0" err="1">
                <a:solidFill>
                  <a:schemeClr val="lt1"/>
                </a:solidFill>
                <a:latin typeface="Calibri"/>
                <a:ea typeface="Calibri"/>
                <a:cs typeface="Calibri"/>
                <a:sym typeface="Calibri"/>
              </a:rPr>
              <a:t>Politeknik</a:t>
            </a:r>
            <a:r>
              <a:rPr lang="en-US" sz="2800" b="1" dirty="0">
                <a:solidFill>
                  <a:schemeClr val="lt1"/>
                </a:solidFill>
                <a:latin typeface="Calibri"/>
                <a:ea typeface="Calibri"/>
                <a:cs typeface="Calibri"/>
                <a:sym typeface="Calibri"/>
              </a:rPr>
              <a:t> </a:t>
            </a:r>
            <a:r>
              <a:rPr lang="en-US" sz="2800" b="1" dirty="0" err="1">
                <a:solidFill>
                  <a:schemeClr val="lt1"/>
                </a:solidFill>
                <a:latin typeface="Calibri"/>
                <a:ea typeface="Calibri"/>
                <a:cs typeface="Calibri"/>
                <a:sym typeface="Calibri"/>
              </a:rPr>
              <a:t>Statistika</a:t>
            </a:r>
            <a:r>
              <a:rPr lang="en-US" sz="2800" b="1" dirty="0">
                <a:solidFill>
                  <a:schemeClr val="lt1"/>
                </a:solidFill>
                <a:latin typeface="Calibri"/>
                <a:ea typeface="Calibri"/>
                <a:cs typeface="Calibri"/>
                <a:sym typeface="Calibri"/>
              </a:rPr>
              <a:t> STIS</a:t>
            </a:r>
            <a:endParaRPr dirty="0"/>
          </a:p>
        </p:txBody>
      </p:sp>
      <p:sp>
        <p:nvSpPr>
          <p:cNvPr id="98" name="Google Shape;98;p1"/>
          <p:cNvSpPr/>
          <p:nvPr/>
        </p:nvSpPr>
        <p:spPr>
          <a:xfrm>
            <a:off x="0" y="2599306"/>
            <a:ext cx="345238" cy="1133868"/>
          </a:xfrm>
          <a:custGeom>
            <a:avLst/>
            <a:gdLst/>
            <a:ahLst/>
            <a:cxnLst/>
            <a:rect l="l" t="t" r="r" b="b"/>
            <a:pathLst>
              <a:path w="345238" h="1133868" extrusionOk="0">
                <a:moveTo>
                  <a:pt x="0" y="0"/>
                </a:moveTo>
                <a:lnTo>
                  <a:pt x="345238" y="0"/>
                </a:lnTo>
                <a:lnTo>
                  <a:pt x="0" y="1133868"/>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 name="Google Shape;99;p1"/>
          <p:cNvSpPr txBox="1"/>
          <p:nvPr/>
        </p:nvSpPr>
        <p:spPr>
          <a:xfrm>
            <a:off x="1456814" y="726660"/>
            <a:ext cx="278088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rgbClr val="F2F2F2"/>
                </a:solidFill>
                <a:latin typeface="Calibri"/>
                <a:ea typeface="Calibri"/>
                <a:cs typeface="Calibri"/>
                <a:sym typeface="Calibri"/>
              </a:rPr>
              <a:t>For Better Official Statistics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g33a6ff8e639_9_0" descr="A picture containing outdoor, city, town, road&#10;&#10;Description automatically generated"/>
          <p:cNvPicPr preferRelativeResize="0"/>
          <p:nvPr/>
        </p:nvPicPr>
        <p:blipFill rotWithShape="1">
          <a:blip r:embed="rId3">
            <a:alphaModFix/>
          </a:blip>
          <a:srcRect/>
          <a:stretch/>
        </p:blipFill>
        <p:spPr>
          <a:xfrm>
            <a:off x="6859846" y="0"/>
            <a:ext cx="9143634" cy="6857998"/>
          </a:xfrm>
          <a:prstGeom prst="rect">
            <a:avLst/>
          </a:prstGeom>
          <a:noFill/>
          <a:ln>
            <a:noFill/>
          </a:ln>
        </p:spPr>
      </p:pic>
      <p:sp>
        <p:nvSpPr>
          <p:cNvPr id="106" name="Google Shape;106;g33a6ff8e639_9_0"/>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7" name="Google Shape;107;g33a6ff8e639_9_0"/>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8" name="Google Shape;108;g33a6ff8e639_9_0"/>
          <p:cNvSpPr/>
          <p:nvPr/>
        </p:nvSpPr>
        <p:spPr>
          <a:xfrm>
            <a:off x="-40945"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9" name="Google Shape;109;g33a6ff8e639_9_0"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110" name="Google Shape;110;g33a6ff8e639_9_0"/>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41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1" name="Google Shape;111;g33a6ff8e639_9_0"/>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2" name="Google Shape;112;g33a6ff8e639_9_0"/>
          <p:cNvSpPr txBox="1">
            <a:spLocks noGrp="1"/>
          </p:cNvSpPr>
          <p:nvPr>
            <p:ph type="sldNum" idx="12"/>
          </p:nvPr>
        </p:nvSpPr>
        <p:spPr>
          <a:xfrm>
            <a:off x="11473519" y="6309695"/>
            <a:ext cx="5496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400"/>
              <a:buNone/>
            </a:pPr>
            <a:fld id="{00000000-1234-1234-1234-123412341234}" type="slidenum">
              <a:rPr lang="en-US" sz="2400" b="1">
                <a:solidFill>
                  <a:srgbClr val="1B449C"/>
                </a:solidFill>
              </a:rPr>
              <a:t>2</a:t>
            </a:fld>
            <a:endParaRPr sz="2400" b="1">
              <a:solidFill>
                <a:srgbClr val="1B449C"/>
              </a:solidFill>
            </a:endParaRPr>
          </a:p>
        </p:txBody>
      </p:sp>
      <p:sp>
        <p:nvSpPr>
          <p:cNvPr id="113" name="Google Shape;113;g33a6ff8e639_9_0"/>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4" name="Google Shape;114;g33a6ff8e639_9_0"/>
          <p:cNvSpPr txBox="1"/>
          <p:nvPr/>
        </p:nvSpPr>
        <p:spPr>
          <a:xfrm>
            <a:off x="9506245" y="168269"/>
            <a:ext cx="2569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1" u="none" strike="noStrike" cap="none">
                <a:solidFill>
                  <a:srgbClr val="1B449C"/>
                </a:solidFill>
                <a:latin typeface="Calibri"/>
                <a:ea typeface="Calibri"/>
                <a:cs typeface="Calibri"/>
                <a:sym typeface="Calibri"/>
              </a:rPr>
              <a:t>For Better Official Statistics</a:t>
            </a:r>
            <a:endParaRPr sz="1600" b="0" i="1" u="none" strike="noStrike" cap="none">
              <a:solidFill>
                <a:srgbClr val="1B449C"/>
              </a:solidFill>
              <a:latin typeface="Calibri"/>
              <a:ea typeface="Calibri"/>
              <a:cs typeface="Calibri"/>
              <a:sym typeface="Calibri"/>
            </a:endParaRPr>
          </a:p>
        </p:txBody>
      </p:sp>
      <p:sp>
        <p:nvSpPr>
          <p:cNvPr id="115" name="Google Shape;115;g33a6ff8e639_9_0"/>
          <p:cNvSpPr/>
          <p:nvPr/>
        </p:nvSpPr>
        <p:spPr>
          <a:xfrm>
            <a:off x="9404398" y="87880"/>
            <a:ext cx="201000" cy="499200"/>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116" name="Google Shape;116;g33a6ff8e639_9_0"/>
          <p:cNvSpPr txBox="1"/>
          <p:nvPr/>
        </p:nvSpPr>
        <p:spPr>
          <a:xfrm>
            <a:off x="993872" y="95250"/>
            <a:ext cx="8611500" cy="569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100" b="1">
                <a:solidFill>
                  <a:schemeClr val="lt1"/>
                </a:solidFill>
                <a:latin typeface="Calibri"/>
                <a:ea typeface="Calibri"/>
                <a:cs typeface="Calibri"/>
                <a:sym typeface="Calibri"/>
              </a:rPr>
              <a:t>VISI MISI POLITEKNIK STATISTIKA STIS</a:t>
            </a:r>
            <a:endParaRPr sz="3100" b="1" i="0" u="none" strike="noStrike" cap="none">
              <a:solidFill>
                <a:schemeClr val="lt1"/>
              </a:solidFill>
              <a:latin typeface="Calibri"/>
              <a:ea typeface="Calibri"/>
              <a:cs typeface="Calibri"/>
              <a:sym typeface="Calibri"/>
            </a:endParaRPr>
          </a:p>
        </p:txBody>
      </p:sp>
      <p:sp>
        <p:nvSpPr>
          <p:cNvPr id="117" name="Google Shape;117;g33a6ff8e639_9_0"/>
          <p:cNvSpPr txBox="1"/>
          <p:nvPr/>
        </p:nvSpPr>
        <p:spPr>
          <a:xfrm>
            <a:off x="378570" y="1059610"/>
            <a:ext cx="9689700" cy="4833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a:solidFill>
                  <a:srgbClr val="002060"/>
                </a:solidFill>
                <a:latin typeface="Calibri"/>
                <a:ea typeface="Calibri"/>
                <a:cs typeface="Calibri"/>
                <a:sym typeface="Calibri"/>
              </a:rPr>
              <a:t>Visi Politeknik Statistika STIS adalah:</a:t>
            </a:r>
            <a:endParaRPr sz="2800">
              <a:solidFill>
                <a:srgbClr val="00206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00"/>
              <a:buFont typeface="Arial"/>
              <a:buNone/>
            </a:pPr>
            <a:r>
              <a:rPr lang="en-US" sz="2800">
                <a:solidFill>
                  <a:srgbClr val="002060"/>
                </a:solidFill>
                <a:latin typeface="Calibri"/>
                <a:ea typeface="Calibri"/>
                <a:cs typeface="Calibri"/>
                <a:sym typeface="Calibri"/>
              </a:rPr>
              <a:t>“Menjadi Perguruan Tinggi Vokasi di Bidang Statistika Resmi Negara yang Unggul dan Berkelas Dunia”.</a:t>
            </a:r>
            <a:endParaRPr sz="2800">
              <a:solidFill>
                <a:srgbClr val="00206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00"/>
              <a:buFont typeface="Arial"/>
              <a:buNone/>
            </a:pPr>
            <a:endParaRPr sz="2800">
              <a:solidFill>
                <a:srgbClr val="00206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00"/>
              <a:buFont typeface="Arial"/>
              <a:buNone/>
            </a:pPr>
            <a:r>
              <a:rPr lang="en-US" sz="2800">
                <a:solidFill>
                  <a:srgbClr val="002060"/>
                </a:solidFill>
                <a:latin typeface="Calibri"/>
                <a:ea typeface="Calibri"/>
                <a:cs typeface="Calibri"/>
                <a:sym typeface="Calibri"/>
              </a:rPr>
              <a:t>Misi Politeknik Statistika STIS adalah:</a:t>
            </a:r>
            <a:endParaRPr sz="2800">
              <a:solidFill>
                <a:srgbClr val="002060"/>
              </a:solidFill>
              <a:latin typeface="Calibri"/>
              <a:ea typeface="Calibri"/>
              <a:cs typeface="Calibri"/>
              <a:sym typeface="Calibri"/>
            </a:endParaRPr>
          </a:p>
          <a:p>
            <a:pPr marL="457200" marR="0" lvl="0" indent="-406400" algn="l" rtl="0">
              <a:lnSpc>
                <a:spcPct val="100000"/>
              </a:lnSpc>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Menyelenggarakan Tri Dharma Perguruan Tinggi (pendidikan, penelitian, dan pengabdian masyarakat) yang berkualitas untuk menunjang penyelenggaraan kegiatan  statistik resmi negara.</a:t>
            </a:r>
            <a:endParaRPr sz="2800">
              <a:solidFill>
                <a:srgbClr val="002060"/>
              </a:solidFill>
              <a:latin typeface="Calibri"/>
              <a:ea typeface="Calibri"/>
              <a:cs typeface="Calibri"/>
              <a:sym typeface="Calibri"/>
            </a:endParaRPr>
          </a:p>
          <a:p>
            <a:pPr marL="457200" marR="0" lvl="0" indent="-406400" algn="l" rtl="0">
              <a:lnSpc>
                <a:spcPct val="100000"/>
              </a:lnSpc>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Menyelenggarakan sistem tata kelola pendidikan tinggi vokasi berbasis teknologi informasi yang efektif dan efisien.</a:t>
            </a:r>
            <a:endParaRPr sz="2800">
              <a:solidFill>
                <a:srgbClr val="00206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Google Shape;159;g33abfdfa987_8_0" descr="A picture containing outdoor, city, town, road&#10;&#10;Description automatically generated"/>
          <p:cNvPicPr preferRelativeResize="0"/>
          <p:nvPr/>
        </p:nvPicPr>
        <p:blipFill rotWithShape="1">
          <a:blip r:embed="rId3">
            <a:alphaModFix/>
          </a:blip>
          <a:srcRect/>
          <a:stretch/>
        </p:blipFill>
        <p:spPr>
          <a:xfrm>
            <a:off x="6859846" y="0"/>
            <a:ext cx="9143634" cy="6857998"/>
          </a:xfrm>
          <a:prstGeom prst="rect">
            <a:avLst/>
          </a:prstGeom>
          <a:noFill/>
          <a:ln>
            <a:noFill/>
          </a:ln>
        </p:spPr>
      </p:pic>
      <p:sp>
        <p:nvSpPr>
          <p:cNvPr id="160" name="Google Shape;160;g33abfdfa987_8_0"/>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1" name="Google Shape;161;g33abfdfa987_8_0"/>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2" name="Google Shape;162;g33abfdfa987_8_0"/>
          <p:cNvSpPr/>
          <p:nvPr/>
        </p:nvSpPr>
        <p:spPr>
          <a:xfrm>
            <a:off x="-40945"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3" name="Google Shape;163;g33abfdfa987_8_0"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164" name="Google Shape;164;g33abfdfa987_8_0"/>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41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5" name="Google Shape;165;g33abfdfa987_8_0"/>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6" name="Google Shape;166;g33abfdfa987_8_0"/>
          <p:cNvSpPr txBox="1">
            <a:spLocks noGrp="1"/>
          </p:cNvSpPr>
          <p:nvPr>
            <p:ph type="sldNum" idx="12"/>
          </p:nvPr>
        </p:nvSpPr>
        <p:spPr>
          <a:xfrm>
            <a:off x="11473519" y="6309695"/>
            <a:ext cx="5496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400"/>
              <a:buNone/>
            </a:pPr>
            <a:fld id="{00000000-1234-1234-1234-123412341234}" type="slidenum">
              <a:rPr lang="en-US" sz="2400" b="1">
                <a:solidFill>
                  <a:srgbClr val="1B449C"/>
                </a:solidFill>
              </a:rPr>
              <a:t>3</a:t>
            </a:fld>
            <a:endParaRPr sz="2400" b="1">
              <a:solidFill>
                <a:srgbClr val="1B449C"/>
              </a:solidFill>
            </a:endParaRPr>
          </a:p>
        </p:txBody>
      </p:sp>
      <p:sp>
        <p:nvSpPr>
          <p:cNvPr id="167" name="Google Shape;167;g33abfdfa987_8_0"/>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8" name="Google Shape;168;g33abfdfa987_8_0"/>
          <p:cNvSpPr txBox="1"/>
          <p:nvPr/>
        </p:nvSpPr>
        <p:spPr>
          <a:xfrm>
            <a:off x="9506245" y="168269"/>
            <a:ext cx="2569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1" u="none" strike="noStrike" cap="none">
                <a:solidFill>
                  <a:srgbClr val="1B449C"/>
                </a:solidFill>
                <a:latin typeface="Calibri"/>
                <a:ea typeface="Calibri"/>
                <a:cs typeface="Calibri"/>
                <a:sym typeface="Calibri"/>
              </a:rPr>
              <a:t>For Better Official Statistics</a:t>
            </a:r>
            <a:endParaRPr sz="1600" b="0" i="1" u="none" strike="noStrike" cap="none">
              <a:solidFill>
                <a:srgbClr val="1B449C"/>
              </a:solidFill>
              <a:latin typeface="Calibri"/>
              <a:ea typeface="Calibri"/>
              <a:cs typeface="Calibri"/>
              <a:sym typeface="Calibri"/>
            </a:endParaRPr>
          </a:p>
        </p:txBody>
      </p:sp>
      <p:sp>
        <p:nvSpPr>
          <p:cNvPr id="169" name="Google Shape;169;g33abfdfa987_8_0"/>
          <p:cNvSpPr/>
          <p:nvPr/>
        </p:nvSpPr>
        <p:spPr>
          <a:xfrm>
            <a:off x="9404398" y="87880"/>
            <a:ext cx="201000" cy="499200"/>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170" name="Google Shape;170;g33abfdfa987_8_0"/>
          <p:cNvSpPr txBox="1"/>
          <p:nvPr/>
        </p:nvSpPr>
        <p:spPr>
          <a:xfrm>
            <a:off x="993872" y="95250"/>
            <a:ext cx="8611500" cy="569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100" b="1">
                <a:solidFill>
                  <a:schemeClr val="lt1"/>
                </a:solidFill>
                <a:latin typeface="Calibri"/>
                <a:ea typeface="Calibri"/>
                <a:cs typeface="Calibri"/>
                <a:sym typeface="Calibri"/>
              </a:rPr>
              <a:t>VISI KEILMUAN PRODI DIV KOMPUTASI STATISTIK</a:t>
            </a:r>
            <a:endParaRPr sz="3100" b="1" i="0" u="none" strike="noStrike" cap="none">
              <a:solidFill>
                <a:schemeClr val="lt1"/>
              </a:solidFill>
              <a:latin typeface="Calibri"/>
              <a:ea typeface="Calibri"/>
              <a:cs typeface="Calibri"/>
              <a:sym typeface="Calibri"/>
            </a:endParaRPr>
          </a:p>
        </p:txBody>
      </p:sp>
      <p:sp>
        <p:nvSpPr>
          <p:cNvPr id="171" name="Google Shape;171;g33abfdfa987_8_0"/>
          <p:cNvSpPr txBox="1"/>
          <p:nvPr/>
        </p:nvSpPr>
        <p:spPr>
          <a:xfrm>
            <a:off x="629920" y="1280160"/>
            <a:ext cx="9689700" cy="2247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a:solidFill>
                  <a:srgbClr val="002060"/>
                </a:solidFill>
                <a:latin typeface="Calibri"/>
                <a:ea typeface="Calibri"/>
                <a:cs typeface="Calibri"/>
                <a:sym typeface="Calibri"/>
              </a:rPr>
              <a:t>Menjadi program studi yang berkualitas dan unggul di bidang komputasi statistik, khususnya untuk menghasilkan statistik resmi negara (official statistics), sesuai dengan perkembangan sains dan teknologi yang memberikan kontribusi nyata terhadap Sistem Statistik Nasional maupun Internasional </a:t>
            </a: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p2"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106" name="Google Shape;106;p2"/>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 name="Google Shape;107;p2"/>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 name="Google Shape;108;p2"/>
          <p:cNvSpPr/>
          <p:nvPr/>
        </p:nvSpPr>
        <p:spPr>
          <a:xfrm>
            <a:off x="-40945"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9" name="Google Shape;109;p2"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110" name="Google Shape;110;p2"/>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 name="Google Shape;111;p2"/>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 name="Google Shape;112;p2"/>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4</a:t>
            </a:fld>
            <a:endParaRPr sz="2400" b="1">
              <a:solidFill>
                <a:srgbClr val="1B449C"/>
              </a:solidFill>
            </a:endParaRPr>
          </a:p>
        </p:txBody>
      </p:sp>
      <p:sp>
        <p:nvSpPr>
          <p:cNvPr id="113" name="Google Shape;113;p2"/>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 name="Google Shape;114;p2"/>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115" name="Google Shape;115;p2"/>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16" name="Google Shape;116;p2"/>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INFORMASI UMUM</a:t>
            </a:r>
            <a:endParaRPr sz="3600" b="1">
              <a:solidFill>
                <a:schemeClr val="lt1"/>
              </a:solidFill>
              <a:latin typeface="Calibri"/>
              <a:ea typeface="Calibri"/>
              <a:cs typeface="Calibri"/>
              <a:sym typeface="Calibri"/>
            </a:endParaRPr>
          </a:p>
        </p:txBody>
      </p:sp>
      <p:graphicFrame>
        <p:nvGraphicFramePr>
          <p:cNvPr id="117" name="Google Shape;117;p2"/>
          <p:cNvGraphicFramePr/>
          <p:nvPr>
            <p:extLst>
              <p:ext uri="{D42A27DB-BD31-4B8C-83A1-F6EECF244321}">
                <p14:modId xmlns:p14="http://schemas.microsoft.com/office/powerpoint/2010/main" val="3593866436"/>
              </p:ext>
            </p:extLst>
          </p:nvPr>
        </p:nvGraphicFramePr>
        <p:xfrm>
          <a:off x="715472" y="1338178"/>
          <a:ext cx="9587350" cy="4554940"/>
        </p:xfrm>
        <a:graphic>
          <a:graphicData uri="http://schemas.openxmlformats.org/drawingml/2006/table">
            <a:tbl>
              <a:tblPr>
                <a:noFill/>
                <a:tableStyleId>{5E7D8076-AC5C-4AA6-9025-8190D0D164E4}</a:tableStyleId>
              </a:tblPr>
              <a:tblGrid>
                <a:gridCol w="3657625">
                  <a:extLst>
                    <a:ext uri="{9D8B030D-6E8A-4147-A177-3AD203B41FA5}">
                      <a16:colId xmlns:a16="http://schemas.microsoft.com/office/drawing/2014/main" val="20000"/>
                    </a:ext>
                  </a:extLst>
                </a:gridCol>
                <a:gridCol w="5929725">
                  <a:extLst>
                    <a:ext uri="{9D8B030D-6E8A-4147-A177-3AD203B41FA5}">
                      <a16:colId xmlns:a16="http://schemas.microsoft.com/office/drawing/2014/main" val="20001"/>
                    </a:ext>
                  </a:extLst>
                </a:gridCol>
              </a:tblGrid>
              <a:tr h="601675">
                <a:tc>
                  <a:txBody>
                    <a:bodyPr/>
                    <a:lstStyle/>
                    <a:p>
                      <a:pPr marL="0" marR="0" lvl="0" indent="0" algn="l" rtl="0">
                        <a:lnSpc>
                          <a:spcPct val="100000"/>
                        </a:lnSpc>
                        <a:spcBef>
                          <a:spcPts val="0"/>
                        </a:spcBef>
                        <a:spcAft>
                          <a:spcPts val="0"/>
                        </a:spcAft>
                        <a:buClr>
                          <a:srgbClr val="002060"/>
                        </a:buClr>
                        <a:buSzPts val="2800"/>
                        <a:buFont typeface="Calibri"/>
                        <a:buNone/>
                      </a:pPr>
                      <a:r>
                        <a:rPr lang="en-US" sz="2800" u="none" strike="noStrike" cap="none">
                          <a:solidFill>
                            <a:srgbClr val="002060"/>
                          </a:solidFill>
                        </a:rPr>
                        <a:t>Nama Mata Kuliah</a:t>
                      </a:r>
                      <a:endParaRPr sz="2800" u="none" strike="noStrike" cap="none">
                        <a:solidFill>
                          <a:srgbClr val="002060"/>
                        </a:solidFil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2800"/>
                        <a:buFont typeface="Calibri"/>
                        <a:buNone/>
                      </a:pPr>
                      <a:r>
                        <a:rPr lang="en-US" sz="2800" u="none" strike="noStrike" cap="none" dirty="0">
                          <a:solidFill>
                            <a:srgbClr val="002060"/>
                          </a:solidFill>
                        </a:rPr>
                        <a:t>Official Statistics </a:t>
                      </a:r>
                      <a:r>
                        <a:rPr lang="en-US" sz="2800" u="none" strike="noStrike" cap="none" dirty="0" err="1">
                          <a:solidFill>
                            <a:srgbClr val="002060"/>
                          </a:solidFill>
                        </a:rPr>
                        <a:t>Lanjutan</a:t>
                      </a:r>
                      <a:endParaRPr sz="2800" u="none" strike="noStrike" cap="none" dirty="0">
                        <a:solidFill>
                          <a:srgbClr val="002060"/>
                        </a:solidFill>
                      </a:endParaRPr>
                    </a:p>
                  </a:txBody>
                  <a:tcPr marL="91450" marR="91450" marT="45725" marB="45725"/>
                </a:tc>
                <a:extLst>
                  <a:ext uri="{0D108BD9-81ED-4DB2-BD59-A6C34878D82A}">
                    <a16:rowId xmlns:a16="http://schemas.microsoft.com/office/drawing/2014/main" val="10000"/>
                  </a:ext>
                </a:extLst>
              </a:tr>
              <a:tr h="601675">
                <a:tc>
                  <a:txBody>
                    <a:bodyPr/>
                    <a:lstStyle/>
                    <a:p>
                      <a:pPr marL="0" marR="0" lvl="0" indent="0" algn="l" rtl="0">
                        <a:lnSpc>
                          <a:spcPct val="100000"/>
                        </a:lnSpc>
                        <a:spcBef>
                          <a:spcPts val="0"/>
                        </a:spcBef>
                        <a:spcAft>
                          <a:spcPts val="0"/>
                        </a:spcAft>
                        <a:buClr>
                          <a:srgbClr val="002060"/>
                        </a:buClr>
                        <a:buSzPts val="2800"/>
                        <a:buFont typeface="Calibri"/>
                        <a:buNone/>
                      </a:pPr>
                      <a:r>
                        <a:rPr lang="en-US" sz="2800" u="none" strike="noStrike" cap="none">
                          <a:solidFill>
                            <a:srgbClr val="002060"/>
                          </a:solidFill>
                        </a:rPr>
                        <a:t>Kode Mata Kuliah</a:t>
                      </a:r>
                      <a:endParaRPr sz="2800" u="none" strike="noStrike" cap="none">
                        <a:solidFill>
                          <a:srgbClr val="002060"/>
                        </a:solidFil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2800"/>
                        <a:buFont typeface="Calibri"/>
                        <a:buNone/>
                      </a:pPr>
                      <a:r>
                        <a:rPr lang="en-US" sz="2800" u="none" strike="noStrike" cap="none" dirty="0">
                          <a:solidFill>
                            <a:srgbClr val="002060"/>
                          </a:solidFill>
                        </a:rPr>
                        <a:t>K200207</a:t>
                      </a:r>
                      <a:endParaRPr sz="2800" u="none" strike="noStrike" cap="none" dirty="0">
                        <a:solidFill>
                          <a:srgbClr val="002060"/>
                        </a:solidFill>
                      </a:endParaRPr>
                    </a:p>
                  </a:txBody>
                  <a:tcPr marL="91450" marR="91450" marT="45725" marB="45725"/>
                </a:tc>
                <a:extLst>
                  <a:ext uri="{0D108BD9-81ED-4DB2-BD59-A6C34878D82A}">
                    <a16:rowId xmlns:a16="http://schemas.microsoft.com/office/drawing/2014/main" val="10001"/>
                  </a:ext>
                </a:extLst>
              </a:tr>
              <a:tr h="601675">
                <a:tc>
                  <a:txBody>
                    <a:bodyPr/>
                    <a:lstStyle/>
                    <a:p>
                      <a:pPr marL="0" marR="0" lvl="0" indent="0" algn="l" rtl="0">
                        <a:lnSpc>
                          <a:spcPct val="100000"/>
                        </a:lnSpc>
                        <a:spcBef>
                          <a:spcPts val="0"/>
                        </a:spcBef>
                        <a:spcAft>
                          <a:spcPts val="0"/>
                        </a:spcAft>
                        <a:buClr>
                          <a:srgbClr val="002060"/>
                        </a:buClr>
                        <a:buSzPts val="2800"/>
                        <a:buFont typeface="Calibri"/>
                        <a:buNone/>
                      </a:pPr>
                      <a:r>
                        <a:rPr lang="en-US" sz="2800" u="none" strike="noStrike" cap="none" dirty="0" err="1">
                          <a:solidFill>
                            <a:srgbClr val="002060"/>
                          </a:solidFill>
                        </a:rPr>
                        <a:t>Jumlah</a:t>
                      </a:r>
                      <a:r>
                        <a:rPr lang="en-US" sz="2800" u="none" strike="noStrike" cap="none" dirty="0">
                          <a:solidFill>
                            <a:srgbClr val="002060"/>
                          </a:solidFill>
                        </a:rPr>
                        <a:t> SKS</a:t>
                      </a:r>
                      <a:endParaRPr sz="2800" u="none" strike="noStrike" cap="none" dirty="0"/>
                    </a:p>
                  </a:txBody>
                  <a:tcPr marL="91450" marR="91450" marT="45725" marB="45725"/>
                </a:tc>
                <a:tc>
                  <a:txBody>
                    <a:bodyPr/>
                    <a:lstStyle/>
                    <a:p>
                      <a:pPr marL="0" marR="0" lvl="0" indent="0" algn="l" rtl="0">
                        <a:lnSpc>
                          <a:spcPct val="100000"/>
                        </a:lnSpc>
                        <a:spcBef>
                          <a:spcPts val="0"/>
                        </a:spcBef>
                        <a:spcAft>
                          <a:spcPts val="0"/>
                        </a:spcAft>
                        <a:buClr>
                          <a:schemeClr val="dk1"/>
                        </a:buClr>
                        <a:buSzPts val="2800"/>
                        <a:buFont typeface="Calibri"/>
                        <a:buNone/>
                      </a:pPr>
                      <a:r>
                        <a:rPr lang="en-US" sz="2800" u="none" strike="noStrike" cap="none" dirty="0">
                          <a:solidFill>
                            <a:srgbClr val="002060"/>
                          </a:solidFill>
                        </a:rPr>
                        <a:t>3</a:t>
                      </a:r>
                      <a:endParaRPr sz="2800" u="none" strike="noStrike" cap="none" dirty="0">
                        <a:solidFill>
                          <a:srgbClr val="002060"/>
                        </a:solidFill>
                      </a:endParaRPr>
                    </a:p>
                  </a:txBody>
                  <a:tcPr marL="91450" marR="91450" marT="45725" marB="45725"/>
                </a:tc>
                <a:extLst>
                  <a:ext uri="{0D108BD9-81ED-4DB2-BD59-A6C34878D82A}">
                    <a16:rowId xmlns:a16="http://schemas.microsoft.com/office/drawing/2014/main" val="10002"/>
                  </a:ext>
                </a:extLst>
              </a:tr>
              <a:tr h="601675">
                <a:tc>
                  <a:txBody>
                    <a:bodyPr/>
                    <a:lstStyle/>
                    <a:p>
                      <a:pPr marL="0" marR="0" lvl="0" indent="0" algn="l" rtl="0">
                        <a:lnSpc>
                          <a:spcPct val="100000"/>
                        </a:lnSpc>
                        <a:spcBef>
                          <a:spcPts val="0"/>
                        </a:spcBef>
                        <a:spcAft>
                          <a:spcPts val="0"/>
                        </a:spcAft>
                        <a:buClr>
                          <a:srgbClr val="002060"/>
                        </a:buClr>
                        <a:buSzPts val="2800"/>
                        <a:buFont typeface="Calibri"/>
                        <a:buNone/>
                      </a:pPr>
                      <a:r>
                        <a:rPr lang="en-US" sz="2800" u="none" strike="noStrike" cap="none" dirty="0">
                          <a:solidFill>
                            <a:srgbClr val="002060"/>
                          </a:solidFill>
                        </a:rPr>
                        <a:t>Status Mata </a:t>
                      </a:r>
                      <a:r>
                        <a:rPr lang="en-US" sz="2800" u="none" strike="noStrike" cap="none" dirty="0" err="1">
                          <a:solidFill>
                            <a:srgbClr val="002060"/>
                          </a:solidFill>
                        </a:rPr>
                        <a:t>Kuliah</a:t>
                      </a:r>
                      <a:endParaRPr sz="2800" u="none" strike="noStrike" cap="none" dirty="0">
                        <a:solidFill>
                          <a:srgbClr val="002060"/>
                        </a:solidFill>
                      </a:endParaRPr>
                    </a:p>
                  </a:txBody>
                  <a:tcPr marL="91450" marR="91450" marT="45725" marB="45725"/>
                </a:tc>
                <a:tc>
                  <a:txBody>
                    <a:bodyPr/>
                    <a:lstStyle/>
                    <a:p>
                      <a:pPr marL="0" marR="0" lvl="0" indent="0" algn="l" rtl="0">
                        <a:lnSpc>
                          <a:spcPct val="100000"/>
                        </a:lnSpc>
                        <a:spcBef>
                          <a:spcPts val="0"/>
                        </a:spcBef>
                        <a:spcAft>
                          <a:spcPts val="0"/>
                        </a:spcAft>
                        <a:buClr>
                          <a:srgbClr val="002060"/>
                        </a:buClr>
                        <a:buSzPts val="2800"/>
                        <a:buFont typeface="Calibri"/>
                        <a:buNone/>
                      </a:pPr>
                      <a:r>
                        <a:rPr lang="en-US" sz="2800" u="none" strike="sngStrike" cap="none" dirty="0">
                          <a:solidFill>
                            <a:srgbClr val="002060"/>
                          </a:solidFill>
                        </a:rPr>
                        <a:t>MKU</a:t>
                      </a:r>
                      <a:r>
                        <a:rPr lang="en-US" sz="2800" u="none" strike="noStrike" cap="none" dirty="0">
                          <a:solidFill>
                            <a:srgbClr val="002060"/>
                          </a:solidFill>
                        </a:rPr>
                        <a:t> / MKWI / </a:t>
                      </a:r>
                      <a:r>
                        <a:rPr lang="en-US" sz="2800" u="none" strike="sngStrike" cap="none" dirty="0">
                          <a:solidFill>
                            <a:srgbClr val="002060"/>
                          </a:solidFill>
                        </a:rPr>
                        <a:t>MKWP / MKP </a:t>
                      </a:r>
                      <a:r>
                        <a:rPr lang="en-US" sz="2800" u="none" strike="noStrike" cap="none" dirty="0">
                          <a:solidFill>
                            <a:srgbClr val="002060"/>
                          </a:solidFill>
                        </a:rPr>
                        <a:t>*</a:t>
                      </a:r>
                      <a:endParaRPr sz="2800" u="none" strike="noStrike" cap="none" dirty="0">
                        <a:solidFill>
                          <a:srgbClr val="002060"/>
                        </a:solidFill>
                      </a:endParaRPr>
                    </a:p>
                  </a:txBody>
                  <a:tcPr marL="91450" marR="91450" marT="45725" marB="45725"/>
                </a:tc>
                <a:extLst>
                  <a:ext uri="{0D108BD9-81ED-4DB2-BD59-A6C34878D82A}">
                    <a16:rowId xmlns:a16="http://schemas.microsoft.com/office/drawing/2014/main" val="10003"/>
                  </a:ext>
                </a:extLst>
              </a:tr>
              <a:tr h="601675">
                <a:tc>
                  <a:txBody>
                    <a:bodyPr/>
                    <a:lstStyle/>
                    <a:p>
                      <a:pPr marL="0" marR="0" lvl="0" indent="0" algn="l" rtl="0">
                        <a:lnSpc>
                          <a:spcPct val="100000"/>
                        </a:lnSpc>
                        <a:spcBef>
                          <a:spcPts val="0"/>
                        </a:spcBef>
                        <a:spcAft>
                          <a:spcPts val="0"/>
                        </a:spcAft>
                        <a:buClr>
                          <a:srgbClr val="002060"/>
                        </a:buClr>
                        <a:buSzPts val="2800"/>
                        <a:buFont typeface="Calibri"/>
                        <a:buNone/>
                      </a:pPr>
                      <a:r>
                        <a:rPr lang="en-US" sz="2800" u="none" strike="noStrike" cap="none" dirty="0">
                          <a:solidFill>
                            <a:srgbClr val="002060"/>
                          </a:solidFill>
                        </a:rPr>
                        <a:t>Semester Ke-</a:t>
                      </a:r>
                      <a:endParaRPr sz="2800" u="none" strike="noStrike" cap="none" dirty="0"/>
                    </a:p>
                  </a:txBody>
                  <a:tcPr marL="91450" marR="91450" marT="45725" marB="45725"/>
                </a:tc>
                <a:tc>
                  <a:txBody>
                    <a:bodyPr/>
                    <a:lstStyle/>
                    <a:p>
                      <a:pPr marL="0" marR="0" lvl="0" indent="0" algn="l" rtl="0">
                        <a:lnSpc>
                          <a:spcPct val="100000"/>
                        </a:lnSpc>
                        <a:spcBef>
                          <a:spcPts val="0"/>
                        </a:spcBef>
                        <a:spcAft>
                          <a:spcPts val="0"/>
                        </a:spcAft>
                        <a:buClr>
                          <a:schemeClr val="dk1"/>
                        </a:buClr>
                        <a:buSzPts val="2800"/>
                        <a:buFont typeface="Calibri"/>
                        <a:buNone/>
                      </a:pPr>
                      <a:r>
                        <a:rPr lang="en-US" sz="2800" u="none" strike="noStrike" cap="none" dirty="0" err="1">
                          <a:solidFill>
                            <a:srgbClr val="002060"/>
                          </a:solidFill>
                        </a:rPr>
                        <a:t>Genap</a:t>
                      </a:r>
                      <a:endParaRPr sz="2800" u="none" strike="noStrike" cap="none" dirty="0">
                        <a:solidFill>
                          <a:srgbClr val="002060"/>
                        </a:solidFill>
                      </a:endParaRPr>
                    </a:p>
                  </a:txBody>
                  <a:tcPr marL="91450" marR="91450" marT="45725" marB="45725"/>
                </a:tc>
                <a:extLst>
                  <a:ext uri="{0D108BD9-81ED-4DB2-BD59-A6C34878D82A}">
                    <a16:rowId xmlns:a16="http://schemas.microsoft.com/office/drawing/2014/main" val="10004"/>
                  </a:ext>
                </a:extLst>
              </a:tr>
              <a:tr h="601675">
                <a:tc>
                  <a:txBody>
                    <a:bodyPr/>
                    <a:lstStyle/>
                    <a:p>
                      <a:pPr marL="0" marR="0" lvl="0" indent="0" algn="l" rtl="0">
                        <a:lnSpc>
                          <a:spcPct val="100000"/>
                        </a:lnSpc>
                        <a:spcBef>
                          <a:spcPts val="0"/>
                        </a:spcBef>
                        <a:spcAft>
                          <a:spcPts val="0"/>
                        </a:spcAft>
                        <a:buClr>
                          <a:srgbClr val="002060"/>
                        </a:buClr>
                        <a:buSzPts val="2800"/>
                        <a:buFont typeface="Calibri"/>
                        <a:buNone/>
                      </a:pPr>
                      <a:r>
                        <a:rPr lang="en-US" sz="2800" u="none" strike="noStrike" cap="none">
                          <a:solidFill>
                            <a:srgbClr val="002060"/>
                          </a:solidFill>
                        </a:rPr>
                        <a:t>MK Prasyarat</a:t>
                      </a:r>
                      <a:endParaRPr sz="2800" u="none" strike="noStrike" cap="none">
                        <a:solidFill>
                          <a:srgbClr val="002060"/>
                        </a:solidFil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2800"/>
                        <a:buFont typeface="Calibri"/>
                        <a:buNone/>
                      </a:pPr>
                      <a:r>
                        <a:rPr lang="en-US" sz="2800" u="none" strike="noStrike" cap="none" dirty="0" err="1">
                          <a:solidFill>
                            <a:srgbClr val="002060"/>
                          </a:solidFill>
                        </a:rPr>
                        <a:t>Pengantar</a:t>
                      </a:r>
                      <a:r>
                        <a:rPr lang="en-US" sz="2800" u="none" strike="noStrike" cap="none" dirty="0">
                          <a:solidFill>
                            <a:srgbClr val="002060"/>
                          </a:solidFill>
                        </a:rPr>
                        <a:t> Official Statistics dan Official Statistics</a:t>
                      </a:r>
                      <a:endParaRPr sz="2800" u="none" strike="noStrike" cap="none" dirty="0">
                        <a:solidFill>
                          <a:srgbClr val="002060"/>
                        </a:solidFill>
                      </a:endParaRPr>
                    </a:p>
                  </a:txBody>
                  <a:tcPr marL="91450" marR="91450" marT="45725" marB="45725"/>
                </a:tc>
                <a:extLst>
                  <a:ext uri="{0D108BD9-81ED-4DB2-BD59-A6C34878D82A}">
                    <a16:rowId xmlns:a16="http://schemas.microsoft.com/office/drawing/2014/main" val="10005"/>
                  </a:ext>
                </a:extLst>
              </a:tr>
              <a:tr h="601675">
                <a:tc>
                  <a:txBody>
                    <a:bodyPr/>
                    <a:lstStyle/>
                    <a:p>
                      <a:pPr marL="0" marR="0" lvl="0" indent="0" algn="l" rtl="0">
                        <a:lnSpc>
                          <a:spcPct val="100000"/>
                        </a:lnSpc>
                        <a:spcBef>
                          <a:spcPts val="0"/>
                        </a:spcBef>
                        <a:spcAft>
                          <a:spcPts val="0"/>
                        </a:spcAft>
                        <a:buClr>
                          <a:srgbClr val="002060"/>
                        </a:buClr>
                        <a:buSzPts val="2800"/>
                        <a:buFont typeface="Calibri"/>
                        <a:buNone/>
                      </a:pPr>
                      <a:r>
                        <a:rPr lang="en-US" sz="2800" u="none" strike="noStrike" cap="none">
                          <a:solidFill>
                            <a:srgbClr val="002060"/>
                          </a:solidFill>
                        </a:rPr>
                        <a:t>Bahasa Pengantar</a:t>
                      </a:r>
                      <a:endParaRPr sz="2800" u="none" strike="noStrike" cap="none">
                        <a:solidFill>
                          <a:srgbClr val="002060"/>
                        </a:solidFil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2800"/>
                        <a:buFont typeface="Calibri"/>
                        <a:buNone/>
                      </a:pPr>
                      <a:r>
                        <a:rPr lang="en-US" sz="2800" u="none" strike="noStrike" cap="none" dirty="0">
                          <a:solidFill>
                            <a:srgbClr val="002060"/>
                          </a:solidFill>
                        </a:rPr>
                        <a:t>Indonesia</a:t>
                      </a:r>
                      <a:endParaRPr sz="2800" u="none" strike="noStrike" cap="none" dirty="0">
                        <a:solidFill>
                          <a:srgbClr val="002060"/>
                        </a:solidFill>
                      </a:endParaRPr>
                    </a:p>
                  </a:txBody>
                  <a:tcPr marL="91450" marR="91450" marT="45725" marB="45725"/>
                </a:tc>
                <a:extLst>
                  <a:ext uri="{0D108BD9-81ED-4DB2-BD59-A6C34878D82A}">
                    <a16:rowId xmlns:a16="http://schemas.microsoft.com/office/drawing/2014/main" val="10006"/>
                  </a:ext>
                </a:extLst>
              </a:tr>
            </a:tbl>
          </a:graphicData>
        </a:graphic>
      </p:graphicFrame>
      <p:sp>
        <p:nvSpPr>
          <p:cNvPr id="118" name="Google Shape;118;p2"/>
          <p:cNvSpPr txBox="1"/>
          <p:nvPr/>
        </p:nvSpPr>
        <p:spPr>
          <a:xfrm>
            <a:off x="607702" y="5896093"/>
            <a:ext cx="398200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2060"/>
                </a:solidFill>
                <a:latin typeface="Calibri"/>
                <a:ea typeface="Calibri"/>
                <a:cs typeface="Calibri"/>
                <a:sym typeface="Calibri"/>
              </a:rPr>
              <a:t>* Pilih salah satu</a:t>
            </a:r>
            <a:endParaRPr sz="1800">
              <a:solidFill>
                <a:srgbClr val="00206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3"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125" name="Google Shape;125;p3"/>
          <p:cNvSpPr/>
          <p:nvPr/>
        </p:nvSpPr>
        <p:spPr>
          <a:xfrm>
            <a:off x="-26417" y="17053"/>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p3"/>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3"/>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8" name="Google Shape;128;p3"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129" name="Google Shape;129;p3"/>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 name="Google Shape;130;p3"/>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3"/>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5</a:t>
            </a:fld>
            <a:endParaRPr sz="2400" b="1">
              <a:solidFill>
                <a:srgbClr val="1B449C"/>
              </a:solidFill>
            </a:endParaRPr>
          </a:p>
        </p:txBody>
      </p:sp>
      <p:sp>
        <p:nvSpPr>
          <p:cNvPr id="132" name="Google Shape;132;p3"/>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3"/>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134" name="Google Shape;134;p3"/>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35" name="Google Shape;135;p3"/>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METODE PEMBELAJARAN</a:t>
            </a:r>
            <a:endParaRPr sz="3600" b="1">
              <a:solidFill>
                <a:schemeClr val="lt1"/>
              </a:solidFill>
              <a:latin typeface="Calibri"/>
              <a:ea typeface="Calibri"/>
              <a:cs typeface="Calibri"/>
              <a:sym typeface="Calibri"/>
            </a:endParaRPr>
          </a:p>
        </p:txBody>
      </p:sp>
      <p:sp>
        <p:nvSpPr>
          <p:cNvPr id="136" name="Google Shape;136;p3"/>
          <p:cNvSpPr/>
          <p:nvPr/>
        </p:nvSpPr>
        <p:spPr>
          <a:xfrm>
            <a:off x="1190026" y="1396871"/>
            <a:ext cx="9936936" cy="925338"/>
          </a:xfrm>
          <a:prstGeom prst="roundRect">
            <a:avLst>
              <a:gd name="adj" fmla="val 16667"/>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02060"/>
              </a:buClr>
              <a:buSzPts val="2000"/>
              <a:buFont typeface="Calibri"/>
              <a:buNone/>
            </a:pPr>
            <a:r>
              <a:rPr lang="en-US" sz="2000" b="0" i="1" u="none" strike="noStrike" cap="none" dirty="0">
                <a:solidFill>
                  <a:srgbClr val="002060"/>
                </a:solidFill>
                <a:latin typeface="Calibri"/>
                <a:ea typeface="Calibri"/>
                <a:cs typeface="Calibri"/>
                <a:sym typeface="Calibri"/>
              </a:rPr>
              <a:t>Problem-based Learning/Project-based Learning/</a:t>
            </a:r>
            <a:r>
              <a:rPr lang="en-US" sz="2000" b="0" i="1" u="none" strike="noStrike" cap="none" dirty="0">
                <a:solidFill>
                  <a:srgbClr val="002060"/>
                </a:solidFill>
                <a:highlight>
                  <a:srgbClr val="FFFF00"/>
                </a:highlight>
                <a:latin typeface="Calibri"/>
                <a:ea typeface="Calibri"/>
                <a:cs typeface="Calibri"/>
                <a:sym typeface="Calibri"/>
              </a:rPr>
              <a:t>Collaborative Learning</a:t>
            </a:r>
            <a:r>
              <a:rPr lang="en-US" sz="2000" b="0" i="1" u="none" strike="noStrike" cap="none" dirty="0">
                <a:solidFill>
                  <a:srgbClr val="002060"/>
                </a:solidFill>
                <a:latin typeface="Calibri"/>
                <a:ea typeface="Calibri"/>
                <a:cs typeface="Calibri"/>
                <a:sym typeface="Calibri"/>
              </a:rPr>
              <a:t>*</a:t>
            </a:r>
            <a:endParaRPr sz="1800" b="0" i="0" u="none" strike="noStrike" cap="none" dirty="0">
              <a:solidFill>
                <a:schemeClr val="dk1"/>
              </a:solidFill>
              <a:latin typeface="Calibri"/>
              <a:ea typeface="Calibri"/>
              <a:cs typeface="Calibri"/>
              <a:sym typeface="Calibri"/>
            </a:endParaRPr>
          </a:p>
        </p:txBody>
      </p:sp>
      <p:sp>
        <p:nvSpPr>
          <p:cNvPr id="137" name="Google Shape;137;p3"/>
          <p:cNvSpPr/>
          <p:nvPr/>
        </p:nvSpPr>
        <p:spPr>
          <a:xfrm>
            <a:off x="810864" y="2562819"/>
            <a:ext cx="867090" cy="943212"/>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8" name="Google Shape;138;p3"/>
          <p:cNvSpPr/>
          <p:nvPr/>
        </p:nvSpPr>
        <p:spPr>
          <a:xfrm>
            <a:off x="810864" y="1395498"/>
            <a:ext cx="867090" cy="943212"/>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9" name="Google Shape;139;p3"/>
          <p:cNvSpPr/>
          <p:nvPr/>
        </p:nvSpPr>
        <p:spPr>
          <a:xfrm>
            <a:off x="833384" y="5163493"/>
            <a:ext cx="867090" cy="943212"/>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40" name="Google Shape;140;p3"/>
          <p:cNvSpPr/>
          <p:nvPr/>
        </p:nvSpPr>
        <p:spPr>
          <a:xfrm>
            <a:off x="858413" y="3766767"/>
            <a:ext cx="867090" cy="943212"/>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41" name="Google Shape;141;p3"/>
          <p:cNvSpPr/>
          <p:nvPr/>
        </p:nvSpPr>
        <p:spPr>
          <a:xfrm>
            <a:off x="1013075" y="1619032"/>
            <a:ext cx="481482" cy="481015"/>
          </a:xfrm>
          <a:custGeom>
            <a:avLst/>
            <a:gdLst/>
            <a:ahLst/>
            <a:cxnLst/>
            <a:rect l="l" t="t" r="r" b="b"/>
            <a:pathLst>
              <a:path w="11347" h="11336" extrusionOk="0">
                <a:moveTo>
                  <a:pt x="2948" y="2991"/>
                </a:moveTo>
                <a:cubicBezTo>
                  <a:pt x="2993" y="2991"/>
                  <a:pt x="3039" y="2994"/>
                  <a:pt x="3084" y="3001"/>
                </a:cubicBezTo>
                <a:cubicBezTo>
                  <a:pt x="3394" y="3060"/>
                  <a:pt x="3656" y="3334"/>
                  <a:pt x="3715" y="3644"/>
                </a:cubicBezTo>
                <a:cubicBezTo>
                  <a:pt x="3775" y="3941"/>
                  <a:pt x="3667" y="4227"/>
                  <a:pt x="3441" y="4418"/>
                </a:cubicBezTo>
                <a:cubicBezTo>
                  <a:pt x="3298" y="4549"/>
                  <a:pt x="3203" y="4739"/>
                  <a:pt x="3203" y="4954"/>
                </a:cubicBezTo>
                <a:lnTo>
                  <a:pt x="3203" y="5311"/>
                </a:lnTo>
                <a:cubicBezTo>
                  <a:pt x="3203" y="5596"/>
                  <a:pt x="3441" y="5835"/>
                  <a:pt x="3727" y="5835"/>
                </a:cubicBezTo>
                <a:lnTo>
                  <a:pt x="5513" y="5835"/>
                </a:lnTo>
                <a:lnTo>
                  <a:pt x="5513" y="7621"/>
                </a:lnTo>
                <a:cubicBezTo>
                  <a:pt x="5513" y="7716"/>
                  <a:pt x="5430" y="7811"/>
                  <a:pt x="5322" y="7811"/>
                </a:cubicBezTo>
                <a:lnTo>
                  <a:pt x="4965" y="7811"/>
                </a:lnTo>
                <a:cubicBezTo>
                  <a:pt x="4858" y="7811"/>
                  <a:pt x="4751" y="7763"/>
                  <a:pt x="4691" y="7692"/>
                </a:cubicBezTo>
                <a:cubicBezTo>
                  <a:pt x="4472" y="7433"/>
                  <a:pt x="4152" y="7282"/>
                  <a:pt x="3809" y="7282"/>
                </a:cubicBezTo>
                <a:cubicBezTo>
                  <a:pt x="3743" y="7282"/>
                  <a:pt x="3675" y="7287"/>
                  <a:pt x="3608" y="7299"/>
                </a:cubicBezTo>
                <a:cubicBezTo>
                  <a:pt x="3167" y="7394"/>
                  <a:pt x="2810" y="7740"/>
                  <a:pt x="2715" y="8180"/>
                </a:cubicBezTo>
                <a:cubicBezTo>
                  <a:pt x="2644" y="8525"/>
                  <a:pt x="2727" y="8883"/>
                  <a:pt x="2941" y="9144"/>
                </a:cubicBezTo>
                <a:cubicBezTo>
                  <a:pt x="3167" y="9418"/>
                  <a:pt x="3477" y="9561"/>
                  <a:pt x="3834" y="9561"/>
                </a:cubicBezTo>
                <a:cubicBezTo>
                  <a:pt x="4179" y="9561"/>
                  <a:pt x="4501" y="9418"/>
                  <a:pt x="4715" y="9144"/>
                </a:cubicBezTo>
                <a:cubicBezTo>
                  <a:pt x="4775" y="9073"/>
                  <a:pt x="4870" y="9025"/>
                  <a:pt x="4977" y="9025"/>
                </a:cubicBezTo>
                <a:lnTo>
                  <a:pt x="5334" y="9025"/>
                </a:lnTo>
                <a:cubicBezTo>
                  <a:pt x="5441" y="9025"/>
                  <a:pt x="5525" y="9121"/>
                  <a:pt x="5525" y="9228"/>
                </a:cubicBezTo>
                <a:lnTo>
                  <a:pt x="5525" y="11014"/>
                </a:lnTo>
                <a:lnTo>
                  <a:pt x="881" y="11014"/>
                </a:lnTo>
                <a:cubicBezTo>
                  <a:pt x="584" y="11014"/>
                  <a:pt x="334" y="10776"/>
                  <a:pt x="334" y="10466"/>
                </a:cubicBezTo>
                <a:lnTo>
                  <a:pt x="334" y="5835"/>
                </a:lnTo>
                <a:lnTo>
                  <a:pt x="2120" y="5835"/>
                </a:lnTo>
                <a:cubicBezTo>
                  <a:pt x="2405" y="5835"/>
                  <a:pt x="2644" y="5596"/>
                  <a:pt x="2644" y="5311"/>
                </a:cubicBezTo>
                <a:lnTo>
                  <a:pt x="2644" y="4954"/>
                </a:lnTo>
                <a:cubicBezTo>
                  <a:pt x="2644" y="4751"/>
                  <a:pt x="2548" y="4549"/>
                  <a:pt x="2405" y="4418"/>
                </a:cubicBezTo>
                <a:cubicBezTo>
                  <a:pt x="2215" y="4275"/>
                  <a:pt x="2108" y="4025"/>
                  <a:pt x="2108" y="3799"/>
                </a:cubicBezTo>
                <a:cubicBezTo>
                  <a:pt x="2108" y="3549"/>
                  <a:pt x="2215" y="3322"/>
                  <a:pt x="2405" y="3168"/>
                </a:cubicBezTo>
                <a:cubicBezTo>
                  <a:pt x="2560" y="3052"/>
                  <a:pt x="2753" y="2991"/>
                  <a:pt x="2948" y="2991"/>
                </a:cubicBezTo>
                <a:close/>
                <a:moveTo>
                  <a:pt x="10418" y="322"/>
                </a:moveTo>
                <a:cubicBezTo>
                  <a:pt x="10716" y="322"/>
                  <a:pt x="10978" y="560"/>
                  <a:pt x="10978" y="882"/>
                </a:cubicBezTo>
                <a:lnTo>
                  <a:pt x="10978" y="5501"/>
                </a:lnTo>
                <a:lnTo>
                  <a:pt x="10811" y="5501"/>
                </a:lnTo>
                <a:cubicBezTo>
                  <a:pt x="10728" y="5501"/>
                  <a:pt x="10645" y="5585"/>
                  <a:pt x="10645" y="5668"/>
                </a:cubicBezTo>
                <a:cubicBezTo>
                  <a:pt x="10645" y="5763"/>
                  <a:pt x="10728" y="5835"/>
                  <a:pt x="10811" y="5835"/>
                </a:cubicBezTo>
                <a:lnTo>
                  <a:pt x="11002" y="5835"/>
                </a:lnTo>
                <a:lnTo>
                  <a:pt x="11002" y="10466"/>
                </a:lnTo>
                <a:cubicBezTo>
                  <a:pt x="11002" y="10764"/>
                  <a:pt x="10764" y="11014"/>
                  <a:pt x="10454" y="11014"/>
                </a:cubicBezTo>
                <a:lnTo>
                  <a:pt x="5846" y="11014"/>
                </a:lnTo>
                <a:lnTo>
                  <a:pt x="5846" y="9228"/>
                </a:lnTo>
                <a:cubicBezTo>
                  <a:pt x="5846" y="8942"/>
                  <a:pt x="5608" y="8704"/>
                  <a:pt x="5322" y="8704"/>
                </a:cubicBezTo>
                <a:lnTo>
                  <a:pt x="4965" y="8704"/>
                </a:lnTo>
                <a:cubicBezTo>
                  <a:pt x="4751" y="8704"/>
                  <a:pt x="4560" y="8799"/>
                  <a:pt x="4429" y="8942"/>
                </a:cubicBezTo>
                <a:cubicBezTo>
                  <a:pt x="4275" y="9133"/>
                  <a:pt x="4037" y="9240"/>
                  <a:pt x="3798" y="9240"/>
                </a:cubicBezTo>
                <a:cubicBezTo>
                  <a:pt x="3560" y="9240"/>
                  <a:pt x="3322" y="9133"/>
                  <a:pt x="3179" y="8942"/>
                </a:cubicBezTo>
                <a:cubicBezTo>
                  <a:pt x="3025" y="8752"/>
                  <a:pt x="2965" y="8502"/>
                  <a:pt x="3013" y="8263"/>
                </a:cubicBezTo>
                <a:cubicBezTo>
                  <a:pt x="3072" y="7942"/>
                  <a:pt x="3346" y="7692"/>
                  <a:pt x="3656" y="7632"/>
                </a:cubicBezTo>
                <a:cubicBezTo>
                  <a:pt x="3710" y="7621"/>
                  <a:pt x="3764" y="7616"/>
                  <a:pt x="3818" y="7616"/>
                </a:cubicBezTo>
                <a:cubicBezTo>
                  <a:pt x="4055" y="7616"/>
                  <a:pt x="4274" y="7722"/>
                  <a:pt x="4429" y="7906"/>
                </a:cubicBezTo>
                <a:cubicBezTo>
                  <a:pt x="4560" y="8049"/>
                  <a:pt x="4751" y="8144"/>
                  <a:pt x="4953" y="8144"/>
                </a:cubicBezTo>
                <a:lnTo>
                  <a:pt x="5311" y="8144"/>
                </a:lnTo>
                <a:cubicBezTo>
                  <a:pt x="5584" y="8144"/>
                  <a:pt x="5822" y="7906"/>
                  <a:pt x="5822" y="7621"/>
                </a:cubicBezTo>
                <a:lnTo>
                  <a:pt x="5822" y="5835"/>
                </a:lnTo>
                <a:lnTo>
                  <a:pt x="7608" y="5835"/>
                </a:lnTo>
                <a:cubicBezTo>
                  <a:pt x="7716" y="5835"/>
                  <a:pt x="7811" y="5918"/>
                  <a:pt x="7811" y="6025"/>
                </a:cubicBezTo>
                <a:lnTo>
                  <a:pt x="7811" y="6382"/>
                </a:lnTo>
                <a:cubicBezTo>
                  <a:pt x="7811" y="6489"/>
                  <a:pt x="7763" y="6597"/>
                  <a:pt x="7692" y="6656"/>
                </a:cubicBezTo>
                <a:cubicBezTo>
                  <a:pt x="7370" y="6918"/>
                  <a:pt x="7227" y="7323"/>
                  <a:pt x="7299" y="7740"/>
                </a:cubicBezTo>
                <a:cubicBezTo>
                  <a:pt x="7394" y="8180"/>
                  <a:pt x="7727" y="8537"/>
                  <a:pt x="8180" y="8633"/>
                </a:cubicBezTo>
                <a:cubicBezTo>
                  <a:pt x="8251" y="8644"/>
                  <a:pt x="8347" y="8656"/>
                  <a:pt x="8418" y="8656"/>
                </a:cubicBezTo>
                <a:cubicBezTo>
                  <a:pt x="8680" y="8656"/>
                  <a:pt x="8942" y="8573"/>
                  <a:pt x="9132" y="8406"/>
                </a:cubicBezTo>
                <a:cubicBezTo>
                  <a:pt x="9394" y="8180"/>
                  <a:pt x="9549" y="7871"/>
                  <a:pt x="9549" y="7513"/>
                </a:cubicBezTo>
                <a:cubicBezTo>
                  <a:pt x="9549" y="7168"/>
                  <a:pt x="9394" y="6847"/>
                  <a:pt x="9132" y="6632"/>
                </a:cubicBezTo>
                <a:cubicBezTo>
                  <a:pt x="9061" y="6573"/>
                  <a:pt x="9013" y="6478"/>
                  <a:pt x="9013" y="6370"/>
                </a:cubicBezTo>
                <a:lnTo>
                  <a:pt x="9013" y="6013"/>
                </a:lnTo>
                <a:cubicBezTo>
                  <a:pt x="9013" y="5906"/>
                  <a:pt x="9097" y="5823"/>
                  <a:pt x="9204" y="5823"/>
                </a:cubicBezTo>
                <a:lnTo>
                  <a:pt x="10097" y="5823"/>
                </a:lnTo>
                <a:cubicBezTo>
                  <a:pt x="10192" y="5823"/>
                  <a:pt x="10264" y="5739"/>
                  <a:pt x="10264" y="5656"/>
                </a:cubicBezTo>
                <a:cubicBezTo>
                  <a:pt x="10264" y="5561"/>
                  <a:pt x="10192" y="5489"/>
                  <a:pt x="10097" y="5489"/>
                </a:cubicBezTo>
                <a:lnTo>
                  <a:pt x="9204" y="5489"/>
                </a:lnTo>
                <a:cubicBezTo>
                  <a:pt x="8918" y="5489"/>
                  <a:pt x="8680" y="5727"/>
                  <a:pt x="8680" y="6013"/>
                </a:cubicBezTo>
                <a:lnTo>
                  <a:pt x="8680" y="6370"/>
                </a:lnTo>
                <a:cubicBezTo>
                  <a:pt x="8680" y="6573"/>
                  <a:pt x="8775" y="6775"/>
                  <a:pt x="8918" y="6906"/>
                </a:cubicBezTo>
                <a:cubicBezTo>
                  <a:pt x="9121" y="7049"/>
                  <a:pt x="9216" y="7287"/>
                  <a:pt x="9216" y="7525"/>
                </a:cubicBezTo>
                <a:cubicBezTo>
                  <a:pt x="9216" y="7763"/>
                  <a:pt x="9121" y="8002"/>
                  <a:pt x="8918" y="8156"/>
                </a:cubicBezTo>
                <a:cubicBezTo>
                  <a:pt x="8764" y="8272"/>
                  <a:pt x="8570" y="8333"/>
                  <a:pt x="8376" y="8333"/>
                </a:cubicBezTo>
                <a:cubicBezTo>
                  <a:pt x="8330" y="8333"/>
                  <a:pt x="8285" y="8330"/>
                  <a:pt x="8239" y="8323"/>
                </a:cubicBezTo>
                <a:cubicBezTo>
                  <a:pt x="7930" y="8263"/>
                  <a:pt x="7668" y="7990"/>
                  <a:pt x="7608" y="7680"/>
                </a:cubicBezTo>
                <a:cubicBezTo>
                  <a:pt x="7549" y="7382"/>
                  <a:pt x="7656" y="7097"/>
                  <a:pt x="7882" y="6906"/>
                </a:cubicBezTo>
                <a:cubicBezTo>
                  <a:pt x="8025" y="6775"/>
                  <a:pt x="8120" y="6573"/>
                  <a:pt x="8120" y="6370"/>
                </a:cubicBezTo>
                <a:lnTo>
                  <a:pt x="8120" y="6013"/>
                </a:lnTo>
                <a:cubicBezTo>
                  <a:pt x="8120" y="5727"/>
                  <a:pt x="7882" y="5489"/>
                  <a:pt x="7597" y="5489"/>
                </a:cubicBezTo>
                <a:lnTo>
                  <a:pt x="5811" y="5489"/>
                </a:lnTo>
                <a:lnTo>
                  <a:pt x="5811" y="3703"/>
                </a:lnTo>
                <a:cubicBezTo>
                  <a:pt x="5811" y="3596"/>
                  <a:pt x="5894" y="3513"/>
                  <a:pt x="6001" y="3513"/>
                </a:cubicBezTo>
                <a:lnTo>
                  <a:pt x="6358" y="3513"/>
                </a:lnTo>
                <a:cubicBezTo>
                  <a:pt x="6465" y="3513"/>
                  <a:pt x="6573" y="3560"/>
                  <a:pt x="6632" y="3632"/>
                </a:cubicBezTo>
                <a:cubicBezTo>
                  <a:pt x="6847" y="3886"/>
                  <a:pt x="7157" y="4035"/>
                  <a:pt x="7492" y="4035"/>
                </a:cubicBezTo>
                <a:cubicBezTo>
                  <a:pt x="7565" y="4035"/>
                  <a:pt x="7640" y="4028"/>
                  <a:pt x="7716" y="4013"/>
                </a:cubicBezTo>
                <a:cubicBezTo>
                  <a:pt x="8156" y="3930"/>
                  <a:pt x="8525" y="3584"/>
                  <a:pt x="8609" y="3144"/>
                </a:cubicBezTo>
                <a:cubicBezTo>
                  <a:pt x="8680" y="2798"/>
                  <a:pt x="8597" y="2441"/>
                  <a:pt x="8382" y="2167"/>
                </a:cubicBezTo>
                <a:cubicBezTo>
                  <a:pt x="8156" y="1906"/>
                  <a:pt x="7847" y="1751"/>
                  <a:pt x="7489" y="1751"/>
                </a:cubicBezTo>
                <a:cubicBezTo>
                  <a:pt x="7156" y="1751"/>
                  <a:pt x="6823" y="1906"/>
                  <a:pt x="6608" y="2167"/>
                </a:cubicBezTo>
                <a:cubicBezTo>
                  <a:pt x="6549" y="2251"/>
                  <a:pt x="6454" y="2287"/>
                  <a:pt x="6346" y="2287"/>
                </a:cubicBezTo>
                <a:lnTo>
                  <a:pt x="5989" y="2287"/>
                </a:lnTo>
                <a:cubicBezTo>
                  <a:pt x="5882" y="2287"/>
                  <a:pt x="5799" y="2203"/>
                  <a:pt x="5799" y="2096"/>
                </a:cubicBezTo>
                <a:lnTo>
                  <a:pt x="5799" y="1203"/>
                </a:lnTo>
                <a:cubicBezTo>
                  <a:pt x="5799" y="1120"/>
                  <a:pt x="5715" y="1036"/>
                  <a:pt x="5632" y="1036"/>
                </a:cubicBezTo>
                <a:cubicBezTo>
                  <a:pt x="5549" y="1036"/>
                  <a:pt x="5465" y="1120"/>
                  <a:pt x="5465" y="1203"/>
                </a:cubicBezTo>
                <a:lnTo>
                  <a:pt x="5465" y="2096"/>
                </a:lnTo>
                <a:cubicBezTo>
                  <a:pt x="5465" y="2382"/>
                  <a:pt x="5703" y="2620"/>
                  <a:pt x="5989" y="2620"/>
                </a:cubicBezTo>
                <a:lnTo>
                  <a:pt x="6346" y="2620"/>
                </a:lnTo>
                <a:cubicBezTo>
                  <a:pt x="6561" y="2620"/>
                  <a:pt x="6751" y="2525"/>
                  <a:pt x="6882" y="2382"/>
                </a:cubicBezTo>
                <a:cubicBezTo>
                  <a:pt x="7037" y="2191"/>
                  <a:pt x="7263" y="2084"/>
                  <a:pt x="7513" y="2084"/>
                </a:cubicBezTo>
                <a:cubicBezTo>
                  <a:pt x="7751" y="2084"/>
                  <a:pt x="7989" y="2191"/>
                  <a:pt x="8132" y="2382"/>
                </a:cubicBezTo>
                <a:cubicBezTo>
                  <a:pt x="8287" y="2572"/>
                  <a:pt x="8347" y="2822"/>
                  <a:pt x="8299" y="3060"/>
                </a:cubicBezTo>
                <a:cubicBezTo>
                  <a:pt x="8239" y="3382"/>
                  <a:pt x="7966" y="3632"/>
                  <a:pt x="7656" y="3691"/>
                </a:cubicBezTo>
                <a:cubicBezTo>
                  <a:pt x="7601" y="3702"/>
                  <a:pt x="7547" y="3708"/>
                  <a:pt x="7494" y="3708"/>
                </a:cubicBezTo>
                <a:cubicBezTo>
                  <a:pt x="7257" y="3708"/>
                  <a:pt x="7038" y="3602"/>
                  <a:pt x="6882" y="3418"/>
                </a:cubicBezTo>
                <a:cubicBezTo>
                  <a:pt x="6751" y="3275"/>
                  <a:pt x="6561" y="3179"/>
                  <a:pt x="6346" y="3179"/>
                </a:cubicBezTo>
                <a:lnTo>
                  <a:pt x="5989" y="3179"/>
                </a:lnTo>
                <a:cubicBezTo>
                  <a:pt x="5703" y="3179"/>
                  <a:pt x="5465" y="3418"/>
                  <a:pt x="5465" y="3703"/>
                </a:cubicBezTo>
                <a:lnTo>
                  <a:pt x="5465" y="5489"/>
                </a:lnTo>
                <a:lnTo>
                  <a:pt x="3679" y="5489"/>
                </a:lnTo>
                <a:cubicBezTo>
                  <a:pt x="3584" y="5489"/>
                  <a:pt x="3489" y="5406"/>
                  <a:pt x="3489" y="5299"/>
                </a:cubicBezTo>
                <a:lnTo>
                  <a:pt x="3489" y="4942"/>
                </a:lnTo>
                <a:cubicBezTo>
                  <a:pt x="3489" y="4834"/>
                  <a:pt x="3536" y="4727"/>
                  <a:pt x="3608" y="4668"/>
                </a:cubicBezTo>
                <a:cubicBezTo>
                  <a:pt x="3917" y="4406"/>
                  <a:pt x="4072" y="4001"/>
                  <a:pt x="3989" y="3584"/>
                </a:cubicBezTo>
                <a:cubicBezTo>
                  <a:pt x="3906" y="3144"/>
                  <a:pt x="3560" y="2787"/>
                  <a:pt x="3120" y="2691"/>
                </a:cubicBezTo>
                <a:cubicBezTo>
                  <a:pt x="3039" y="2675"/>
                  <a:pt x="2957" y="2666"/>
                  <a:pt x="2876" y="2666"/>
                </a:cubicBezTo>
                <a:cubicBezTo>
                  <a:pt x="2611" y="2666"/>
                  <a:pt x="2353" y="2754"/>
                  <a:pt x="2143" y="2918"/>
                </a:cubicBezTo>
                <a:cubicBezTo>
                  <a:pt x="1882" y="3144"/>
                  <a:pt x="1727" y="3453"/>
                  <a:pt x="1727" y="3811"/>
                </a:cubicBezTo>
                <a:cubicBezTo>
                  <a:pt x="1727" y="4156"/>
                  <a:pt x="1882" y="4477"/>
                  <a:pt x="2143" y="4692"/>
                </a:cubicBezTo>
                <a:cubicBezTo>
                  <a:pt x="2227" y="4751"/>
                  <a:pt x="2263" y="4846"/>
                  <a:pt x="2263" y="4954"/>
                </a:cubicBezTo>
                <a:lnTo>
                  <a:pt x="2263" y="5311"/>
                </a:lnTo>
                <a:cubicBezTo>
                  <a:pt x="2263" y="5418"/>
                  <a:pt x="2179" y="5501"/>
                  <a:pt x="2072" y="5501"/>
                </a:cubicBezTo>
                <a:lnTo>
                  <a:pt x="286" y="5501"/>
                </a:lnTo>
                <a:lnTo>
                  <a:pt x="286" y="882"/>
                </a:lnTo>
                <a:cubicBezTo>
                  <a:pt x="286" y="584"/>
                  <a:pt x="524" y="322"/>
                  <a:pt x="834" y="322"/>
                </a:cubicBezTo>
                <a:lnTo>
                  <a:pt x="5465" y="322"/>
                </a:lnTo>
                <a:lnTo>
                  <a:pt x="5465" y="524"/>
                </a:lnTo>
                <a:cubicBezTo>
                  <a:pt x="5465" y="608"/>
                  <a:pt x="5537" y="679"/>
                  <a:pt x="5632" y="679"/>
                </a:cubicBezTo>
                <a:cubicBezTo>
                  <a:pt x="5715" y="679"/>
                  <a:pt x="5799" y="608"/>
                  <a:pt x="5799" y="524"/>
                </a:cubicBezTo>
                <a:lnTo>
                  <a:pt x="5799" y="322"/>
                </a:lnTo>
                <a:close/>
                <a:moveTo>
                  <a:pt x="881" y="1"/>
                </a:moveTo>
                <a:cubicBezTo>
                  <a:pt x="405" y="1"/>
                  <a:pt x="0" y="382"/>
                  <a:pt x="0" y="870"/>
                </a:cubicBezTo>
                <a:lnTo>
                  <a:pt x="0" y="10454"/>
                </a:lnTo>
                <a:cubicBezTo>
                  <a:pt x="0" y="10930"/>
                  <a:pt x="393" y="11335"/>
                  <a:pt x="881" y="11335"/>
                </a:cubicBezTo>
                <a:lnTo>
                  <a:pt x="10466" y="11335"/>
                </a:lnTo>
                <a:cubicBezTo>
                  <a:pt x="10942" y="11335"/>
                  <a:pt x="11347" y="10954"/>
                  <a:pt x="11347" y="10454"/>
                </a:cubicBezTo>
                <a:lnTo>
                  <a:pt x="11347" y="870"/>
                </a:lnTo>
                <a:cubicBezTo>
                  <a:pt x="11347" y="405"/>
                  <a:pt x="10942" y="1"/>
                  <a:pt x="1046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3"/>
          <p:cNvSpPr/>
          <p:nvPr/>
        </p:nvSpPr>
        <p:spPr>
          <a:xfrm>
            <a:off x="967003" y="2831838"/>
            <a:ext cx="573655" cy="474845"/>
          </a:xfrm>
          <a:custGeom>
            <a:avLst/>
            <a:gdLst/>
            <a:ahLst/>
            <a:cxnLst/>
            <a:rect l="l" t="t" r="r" b="b"/>
            <a:pathLst>
              <a:path w="11466" h="9491" extrusionOk="0">
                <a:moveTo>
                  <a:pt x="7299" y="2787"/>
                </a:moveTo>
                <a:cubicBezTo>
                  <a:pt x="7322" y="2895"/>
                  <a:pt x="7370" y="3002"/>
                  <a:pt x="7418" y="3085"/>
                </a:cubicBezTo>
                <a:lnTo>
                  <a:pt x="1548" y="3085"/>
                </a:lnTo>
                <a:lnTo>
                  <a:pt x="1548" y="2787"/>
                </a:lnTo>
                <a:close/>
                <a:moveTo>
                  <a:pt x="8323" y="4121"/>
                </a:moveTo>
                <a:lnTo>
                  <a:pt x="8323" y="6026"/>
                </a:lnTo>
                <a:lnTo>
                  <a:pt x="6418" y="6026"/>
                </a:lnTo>
                <a:lnTo>
                  <a:pt x="6418" y="4121"/>
                </a:lnTo>
                <a:close/>
                <a:moveTo>
                  <a:pt x="6370" y="8467"/>
                </a:moveTo>
                <a:lnTo>
                  <a:pt x="6477" y="8550"/>
                </a:lnTo>
                <a:lnTo>
                  <a:pt x="4227" y="8550"/>
                </a:lnTo>
                <a:lnTo>
                  <a:pt x="4334" y="8467"/>
                </a:lnTo>
                <a:close/>
                <a:moveTo>
                  <a:pt x="9835" y="8050"/>
                </a:moveTo>
                <a:lnTo>
                  <a:pt x="10216" y="8550"/>
                </a:lnTo>
                <a:lnTo>
                  <a:pt x="7037" y="8550"/>
                </a:lnTo>
                <a:lnTo>
                  <a:pt x="6549" y="8169"/>
                </a:lnTo>
                <a:cubicBezTo>
                  <a:pt x="6525" y="8133"/>
                  <a:pt x="6489" y="8133"/>
                  <a:pt x="6441" y="8133"/>
                </a:cubicBezTo>
                <a:lnTo>
                  <a:pt x="4286" y="8133"/>
                </a:lnTo>
                <a:cubicBezTo>
                  <a:pt x="4239" y="8133"/>
                  <a:pt x="4215" y="8145"/>
                  <a:pt x="4179" y="8169"/>
                </a:cubicBezTo>
                <a:lnTo>
                  <a:pt x="3691" y="8550"/>
                </a:lnTo>
                <a:lnTo>
                  <a:pt x="524" y="8550"/>
                </a:lnTo>
                <a:lnTo>
                  <a:pt x="893" y="8050"/>
                </a:lnTo>
                <a:close/>
                <a:moveTo>
                  <a:pt x="9578" y="0"/>
                </a:moveTo>
                <a:cubicBezTo>
                  <a:pt x="9500" y="0"/>
                  <a:pt x="9417" y="68"/>
                  <a:pt x="9406" y="156"/>
                </a:cubicBezTo>
                <a:cubicBezTo>
                  <a:pt x="9394" y="240"/>
                  <a:pt x="9466" y="335"/>
                  <a:pt x="9561" y="347"/>
                </a:cubicBezTo>
                <a:cubicBezTo>
                  <a:pt x="10454" y="466"/>
                  <a:pt x="11121" y="1228"/>
                  <a:pt x="11121" y="2133"/>
                </a:cubicBezTo>
                <a:cubicBezTo>
                  <a:pt x="11121" y="3133"/>
                  <a:pt x="10311" y="3930"/>
                  <a:pt x="9323" y="3930"/>
                </a:cubicBezTo>
                <a:cubicBezTo>
                  <a:pt x="8323" y="3930"/>
                  <a:pt x="7513" y="3133"/>
                  <a:pt x="7513" y="2133"/>
                </a:cubicBezTo>
                <a:cubicBezTo>
                  <a:pt x="7513" y="1287"/>
                  <a:pt x="8108" y="561"/>
                  <a:pt x="8930" y="382"/>
                </a:cubicBezTo>
                <a:cubicBezTo>
                  <a:pt x="9025" y="359"/>
                  <a:pt x="9085" y="275"/>
                  <a:pt x="9061" y="180"/>
                </a:cubicBezTo>
                <a:cubicBezTo>
                  <a:pt x="9050" y="104"/>
                  <a:pt x="8969" y="48"/>
                  <a:pt x="8892" y="48"/>
                </a:cubicBezTo>
                <a:cubicBezTo>
                  <a:pt x="8885" y="48"/>
                  <a:pt x="8877" y="48"/>
                  <a:pt x="8870" y="49"/>
                </a:cubicBezTo>
                <a:cubicBezTo>
                  <a:pt x="8394" y="156"/>
                  <a:pt x="7977" y="406"/>
                  <a:pt x="7668" y="775"/>
                </a:cubicBezTo>
                <a:cubicBezTo>
                  <a:pt x="7406" y="1097"/>
                  <a:pt x="7251" y="1466"/>
                  <a:pt x="7203" y="1859"/>
                </a:cubicBezTo>
                <a:lnTo>
                  <a:pt x="5513" y="1859"/>
                </a:lnTo>
                <a:cubicBezTo>
                  <a:pt x="5417" y="1859"/>
                  <a:pt x="5346" y="1930"/>
                  <a:pt x="5346" y="2014"/>
                </a:cubicBezTo>
                <a:cubicBezTo>
                  <a:pt x="5346" y="2109"/>
                  <a:pt x="5417" y="2180"/>
                  <a:pt x="5513" y="2180"/>
                </a:cubicBezTo>
                <a:lnTo>
                  <a:pt x="7191" y="2180"/>
                </a:lnTo>
                <a:cubicBezTo>
                  <a:pt x="7191" y="2275"/>
                  <a:pt x="7203" y="2359"/>
                  <a:pt x="7215" y="2454"/>
                </a:cubicBezTo>
                <a:lnTo>
                  <a:pt x="1381" y="2454"/>
                </a:lnTo>
                <a:cubicBezTo>
                  <a:pt x="1298" y="2454"/>
                  <a:pt x="1215" y="2526"/>
                  <a:pt x="1215" y="2609"/>
                </a:cubicBezTo>
                <a:lnTo>
                  <a:pt x="1215" y="3240"/>
                </a:lnTo>
                <a:lnTo>
                  <a:pt x="1215" y="6955"/>
                </a:lnTo>
                <a:cubicBezTo>
                  <a:pt x="1215" y="7050"/>
                  <a:pt x="1298" y="7121"/>
                  <a:pt x="1381" y="7121"/>
                </a:cubicBezTo>
                <a:lnTo>
                  <a:pt x="7275" y="7121"/>
                </a:lnTo>
                <a:cubicBezTo>
                  <a:pt x="7370" y="7121"/>
                  <a:pt x="7442" y="7050"/>
                  <a:pt x="7442" y="6955"/>
                </a:cubicBezTo>
                <a:cubicBezTo>
                  <a:pt x="7442" y="6871"/>
                  <a:pt x="7370" y="6800"/>
                  <a:pt x="7275" y="6800"/>
                </a:cubicBezTo>
                <a:lnTo>
                  <a:pt x="1560" y="6800"/>
                </a:lnTo>
                <a:lnTo>
                  <a:pt x="1560" y="3418"/>
                </a:lnTo>
                <a:lnTo>
                  <a:pt x="7656" y="3418"/>
                </a:lnTo>
                <a:cubicBezTo>
                  <a:pt x="7751" y="3549"/>
                  <a:pt x="7858" y="3669"/>
                  <a:pt x="7989" y="3776"/>
                </a:cubicBezTo>
                <a:lnTo>
                  <a:pt x="6263" y="3776"/>
                </a:lnTo>
                <a:cubicBezTo>
                  <a:pt x="6179" y="3776"/>
                  <a:pt x="6096" y="3847"/>
                  <a:pt x="6096" y="3942"/>
                </a:cubicBezTo>
                <a:lnTo>
                  <a:pt x="6096" y="6181"/>
                </a:lnTo>
                <a:cubicBezTo>
                  <a:pt x="6096" y="6276"/>
                  <a:pt x="6179" y="6347"/>
                  <a:pt x="6263" y="6347"/>
                </a:cubicBezTo>
                <a:lnTo>
                  <a:pt x="8513" y="6347"/>
                </a:lnTo>
                <a:cubicBezTo>
                  <a:pt x="8596" y="6347"/>
                  <a:pt x="8680" y="6276"/>
                  <a:pt x="8680" y="6181"/>
                </a:cubicBezTo>
                <a:lnTo>
                  <a:pt x="8680" y="4145"/>
                </a:lnTo>
                <a:cubicBezTo>
                  <a:pt x="8846" y="4192"/>
                  <a:pt x="9001" y="4240"/>
                  <a:pt x="9168" y="4252"/>
                </a:cubicBezTo>
                <a:lnTo>
                  <a:pt x="9168" y="6800"/>
                </a:lnTo>
                <a:lnTo>
                  <a:pt x="8096" y="6800"/>
                </a:lnTo>
                <a:cubicBezTo>
                  <a:pt x="8001" y="6800"/>
                  <a:pt x="7930" y="6871"/>
                  <a:pt x="7930" y="6955"/>
                </a:cubicBezTo>
                <a:cubicBezTo>
                  <a:pt x="7930" y="7050"/>
                  <a:pt x="8001" y="7121"/>
                  <a:pt x="8096" y="7121"/>
                </a:cubicBezTo>
                <a:lnTo>
                  <a:pt x="9335" y="7121"/>
                </a:lnTo>
                <a:cubicBezTo>
                  <a:pt x="9418" y="7121"/>
                  <a:pt x="9489" y="7050"/>
                  <a:pt x="9489" y="6955"/>
                </a:cubicBezTo>
                <a:lnTo>
                  <a:pt x="9489" y="4240"/>
                </a:lnTo>
                <a:cubicBezTo>
                  <a:pt x="9585" y="4240"/>
                  <a:pt x="9656" y="4216"/>
                  <a:pt x="9751" y="4204"/>
                </a:cubicBezTo>
                <a:lnTo>
                  <a:pt x="9751" y="7705"/>
                </a:lnTo>
                <a:lnTo>
                  <a:pt x="965" y="7705"/>
                </a:lnTo>
                <a:lnTo>
                  <a:pt x="965" y="2168"/>
                </a:lnTo>
                <a:lnTo>
                  <a:pt x="4846" y="2168"/>
                </a:lnTo>
                <a:cubicBezTo>
                  <a:pt x="4941" y="2168"/>
                  <a:pt x="5013" y="2097"/>
                  <a:pt x="5013" y="2002"/>
                </a:cubicBezTo>
                <a:cubicBezTo>
                  <a:pt x="5013" y="1918"/>
                  <a:pt x="4941" y="1835"/>
                  <a:pt x="4846" y="1835"/>
                </a:cubicBezTo>
                <a:lnTo>
                  <a:pt x="786" y="1835"/>
                </a:lnTo>
                <a:cubicBezTo>
                  <a:pt x="703" y="1835"/>
                  <a:pt x="619" y="1918"/>
                  <a:pt x="619" y="2002"/>
                </a:cubicBezTo>
                <a:lnTo>
                  <a:pt x="619" y="7812"/>
                </a:lnTo>
                <a:lnTo>
                  <a:pt x="24" y="8598"/>
                </a:lnTo>
                <a:cubicBezTo>
                  <a:pt x="12" y="8622"/>
                  <a:pt x="0" y="8657"/>
                  <a:pt x="0" y="8705"/>
                </a:cubicBezTo>
                <a:lnTo>
                  <a:pt x="0" y="9324"/>
                </a:lnTo>
                <a:cubicBezTo>
                  <a:pt x="0" y="9419"/>
                  <a:pt x="72" y="9491"/>
                  <a:pt x="167" y="9491"/>
                </a:cubicBezTo>
                <a:lnTo>
                  <a:pt x="7930" y="9491"/>
                </a:lnTo>
                <a:cubicBezTo>
                  <a:pt x="8025" y="9491"/>
                  <a:pt x="8096" y="9419"/>
                  <a:pt x="8096" y="9324"/>
                </a:cubicBezTo>
                <a:cubicBezTo>
                  <a:pt x="8096" y="9241"/>
                  <a:pt x="8025" y="9157"/>
                  <a:pt x="7930" y="9157"/>
                </a:cubicBezTo>
                <a:lnTo>
                  <a:pt x="322" y="9157"/>
                </a:lnTo>
                <a:lnTo>
                  <a:pt x="322" y="8883"/>
                </a:lnTo>
                <a:lnTo>
                  <a:pt x="10359" y="8883"/>
                </a:lnTo>
                <a:lnTo>
                  <a:pt x="10359" y="9157"/>
                </a:lnTo>
                <a:lnTo>
                  <a:pt x="8585" y="9157"/>
                </a:lnTo>
                <a:cubicBezTo>
                  <a:pt x="8501" y="9157"/>
                  <a:pt x="8418" y="9241"/>
                  <a:pt x="8418" y="9324"/>
                </a:cubicBezTo>
                <a:cubicBezTo>
                  <a:pt x="8418" y="9419"/>
                  <a:pt x="8501" y="9491"/>
                  <a:pt x="8585" y="9491"/>
                </a:cubicBezTo>
                <a:lnTo>
                  <a:pt x="10525" y="9491"/>
                </a:lnTo>
                <a:cubicBezTo>
                  <a:pt x="10609" y="9491"/>
                  <a:pt x="10680" y="9419"/>
                  <a:pt x="10680" y="9324"/>
                </a:cubicBezTo>
                <a:lnTo>
                  <a:pt x="10680" y="8705"/>
                </a:lnTo>
                <a:cubicBezTo>
                  <a:pt x="10680" y="8669"/>
                  <a:pt x="10668" y="8622"/>
                  <a:pt x="10656" y="8598"/>
                </a:cubicBezTo>
                <a:lnTo>
                  <a:pt x="10061" y="7812"/>
                </a:lnTo>
                <a:lnTo>
                  <a:pt x="10061" y="4097"/>
                </a:lnTo>
                <a:cubicBezTo>
                  <a:pt x="10894" y="3823"/>
                  <a:pt x="11466" y="3049"/>
                  <a:pt x="11466" y="2121"/>
                </a:cubicBezTo>
                <a:cubicBezTo>
                  <a:pt x="11466" y="1049"/>
                  <a:pt x="10656" y="144"/>
                  <a:pt x="9597" y="1"/>
                </a:cubicBezTo>
                <a:cubicBezTo>
                  <a:pt x="9590" y="1"/>
                  <a:pt x="9584" y="0"/>
                  <a:pt x="9578"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p3"/>
          <p:cNvGrpSpPr/>
          <p:nvPr/>
        </p:nvGrpSpPr>
        <p:grpSpPr>
          <a:xfrm>
            <a:off x="984233" y="4030540"/>
            <a:ext cx="586148" cy="358045"/>
            <a:chOff x="7009649" y="1541981"/>
            <a:chExt cx="524940" cy="320655"/>
          </a:xfrm>
        </p:grpSpPr>
        <p:sp>
          <p:nvSpPr>
            <p:cNvPr id="144" name="Google Shape;144;p3"/>
            <p:cNvSpPr/>
            <p:nvPr/>
          </p:nvSpPr>
          <p:spPr>
            <a:xfrm>
              <a:off x="7009649" y="1541981"/>
              <a:ext cx="524940" cy="320655"/>
            </a:xfrm>
            <a:custGeom>
              <a:avLst/>
              <a:gdLst/>
              <a:ahLst/>
              <a:cxnLst/>
              <a:rect l="l" t="t" r="r" b="b"/>
              <a:pathLst>
                <a:path w="16492" h="10074" extrusionOk="0">
                  <a:moveTo>
                    <a:pt x="13979" y="1227"/>
                  </a:moveTo>
                  <a:lnTo>
                    <a:pt x="13979" y="6764"/>
                  </a:lnTo>
                  <a:lnTo>
                    <a:pt x="11348" y="6764"/>
                  </a:lnTo>
                  <a:cubicBezTo>
                    <a:pt x="11205" y="6764"/>
                    <a:pt x="11109" y="6871"/>
                    <a:pt x="11109" y="7002"/>
                  </a:cubicBezTo>
                  <a:cubicBezTo>
                    <a:pt x="11109" y="7145"/>
                    <a:pt x="11205" y="7240"/>
                    <a:pt x="11348" y="7240"/>
                  </a:cubicBezTo>
                  <a:lnTo>
                    <a:pt x="13979" y="7240"/>
                  </a:lnTo>
                  <a:lnTo>
                    <a:pt x="13979" y="7514"/>
                  </a:lnTo>
                  <a:lnTo>
                    <a:pt x="2537" y="7514"/>
                  </a:lnTo>
                  <a:lnTo>
                    <a:pt x="2537" y="7240"/>
                  </a:lnTo>
                  <a:lnTo>
                    <a:pt x="10336" y="7240"/>
                  </a:lnTo>
                  <a:cubicBezTo>
                    <a:pt x="10466" y="7240"/>
                    <a:pt x="10574" y="7145"/>
                    <a:pt x="10574" y="7002"/>
                  </a:cubicBezTo>
                  <a:cubicBezTo>
                    <a:pt x="10574" y="6871"/>
                    <a:pt x="10466" y="6764"/>
                    <a:pt x="10336" y="6764"/>
                  </a:cubicBezTo>
                  <a:lnTo>
                    <a:pt x="7014" y="6764"/>
                  </a:lnTo>
                  <a:lnTo>
                    <a:pt x="7014" y="1227"/>
                  </a:lnTo>
                  <a:close/>
                  <a:moveTo>
                    <a:pt x="14169" y="7990"/>
                  </a:moveTo>
                  <a:lnTo>
                    <a:pt x="14943" y="8287"/>
                  </a:lnTo>
                  <a:lnTo>
                    <a:pt x="1537" y="8287"/>
                  </a:lnTo>
                  <a:lnTo>
                    <a:pt x="2323" y="7990"/>
                  </a:lnTo>
                  <a:close/>
                  <a:moveTo>
                    <a:pt x="10240" y="8776"/>
                  </a:moveTo>
                  <a:lnTo>
                    <a:pt x="10014" y="9002"/>
                  </a:lnTo>
                  <a:lnTo>
                    <a:pt x="6526" y="9002"/>
                  </a:lnTo>
                  <a:lnTo>
                    <a:pt x="6299" y="8776"/>
                  </a:lnTo>
                  <a:close/>
                  <a:moveTo>
                    <a:pt x="16003" y="8776"/>
                  </a:moveTo>
                  <a:lnTo>
                    <a:pt x="16003" y="8823"/>
                  </a:lnTo>
                  <a:lnTo>
                    <a:pt x="16015" y="8823"/>
                  </a:lnTo>
                  <a:cubicBezTo>
                    <a:pt x="16015" y="9252"/>
                    <a:pt x="15658" y="9609"/>
                    <a:pt x="15229" y="9609"/>
                  </a:cubicBezTo>
                  <a:lnTo>
                    <a:pt x="1287" y="9609"/>
                  </a:lnTo>
                  <a:cubicBezTo>
                    <a:pt x="846" y="9609"/>
                    <a:pt x="489" y="9252"/>
                    <a:pt x="489" y="8823"/>
                  </a:cubicBezTo>
                  <a:lnTo>
                    <a:pt x="489" y="8776"/>
                  </a:lnTo>
                  <a:lnTo>
                    <a:pt x="5633" y="8776"/>
                  </a:lnTo>
                  <a:lnTo>
                    <a:pt x="6252" y="9407"/>
                  </a:lnTo>
                  <a:cubicBezTo>
                    <a:pt x="6299" y="9454"/>
                    <a:pt x="6359" y="9478"/>
                    <a:pt x="6418" y="9478"/>
                  </a:cubicBezTo>
                  <a:lnTo>
                    <a:pt x="10121" y="9478"/>
                  </a:lnTo>
                  <a:cubicBezTo>
                    <a:pt x="10181" y="9478"/>
                    <a:pt x="10240" y="9454"/>
                    <a:pt x="10288" y="9407"/>
                  </a:cubicBezTo>
                  <a:lnTo>
                    <a:pt x="10907" y="8776"/>
                  </a:lnTo>
                  <a:close/>
                  <a:moveTo>
                    <a:pt x="2811" y="1"/>
                  </a:moveTo>
                  <a:cubicBezTo>
                    <a:pt x="2382" y="1"/>
                    <a:pt x="2037" y="346"/>
                    <a:pt x="2037" y="775"/>
                  </a:cubicBezTo>
                  <a:lnTo>
                    <a:pt x="2037" y="3799"/>
                  </a:lnTo>
                  <a:cubicBezTo>
                    <a:pt x="2037" y="3930"/>
                    <a:pt x="2144" y="4037"/>
                    <a:pt x="2275" y="4037"/>
                  </a:cubicBezTo>
                  <a:cubicBezTo>
                    <a:pt x="2418" y="4037"/>
                    <a:pt x="2513" y="3930"/>
                    <a:pt x="2513" y="3799"/>
                  </a:cubicBezTo>
                  <a:lnTo>
                    <a:pt x="2513" y="1215"/>
                  </a:lnTo>
                  <a:lnTo>
                    <a:pt x="6526" y="1215"/>
                  </a:lnTo>
                  <a:lnTo>
                    <a:pt x="6526" y="6752"/>
                  </a:lnTo>
                  <a:lnTo>
                    <a:pt x="2513" y="6752"/>
                  </a:lnTo>
                  <a:lnTo>
                    <a:pt x="2513" y="4763"/>
                  </a:lnTo>
                  <a:cubicBezTo>
                    <a:pt x="2513" y="4632"/>
                    <a:pt x="2418" y="4525"/>
                    <a:pt x="2275" y="4525"/>
                  </a:cubicBezTo>
                  <a:cubicBezTo>
                    <a:pt x="2144" y="4525"/>
                    <a:pt x="2037" y="4632"/>
                    <a:pt x="2037" y="4763"/>
                  </a:cubicBezTo>
                  <a:lnTo>
                    <a:pt x="2037" y="7573"/>
                  </a:lnTo>
                  <a:lnTo>
                    <a:pt x="156" y="8299"/>
                  </a:lnTo>
                  <a:cubicBezTo>
                    <a:pt x="60" y="8335"/>
                    <a:pt x="1" y="8430"/>
                    <a:pt x="1" y="8526"/>
                  </a:cubicBezTo>
                  <a:lnTo>
                    <a:pt x="1" y="8811"/>
                  </a:lnTo>
                  <a:cubicBezTo>
                    <a:pt x="1" y="9502"/>
                    <a:pt x="572" y="10073"/>
                    <a:pt x="1263" y="10073"/>
                  </a:cubicBezTo>
                  <a:lnTo>
                    <a:pt x="15217" y="10073"/>
                  </a:lnTo>
                  <a:cubicBezTo>
                    <a:pt x="15908" y="10073"/>
                    <a:pt x="16479" y="9502"/>
                    <a:pt x="16479" y="8811"/>
                  </a:cubicBezTo>
                  <a:lnTo>
                    <a:pt x="16479" y="8526"/>
                  </a:lnTo>
                  <a:cubicBezTo>
                    <a:pt x="16491" y="8430"/>
                    <a:pt x="16432" y="8347"/>
                    <a:pt x="16348" y="8323"/>
                  </a:cubicBezTo>
                  <a:lnTo>
                    <a:pt x="14467" y="7585"/>
                  </a:lnTo>
                  <a:lnTo>
                    <a:pt x="14467" y="775"/>
                  </a:lnTo>
                  <a:cubicBezTo>
                    <a:pt x="14467" y="346"/>
                    <a:pt x="14122" y="1"/>
                    <a:pt x="13693" y="1"/>
                  </a:cubicBezTo>
                  <a:lnTo>
                    <a:pt x="11550" y="1"/>
                  </a:lnTo>
                  <a:cubicBezTo>
                    <a:pt x="11419" y="1"/>
                    <a:pt x="11312" y="108"/>
                    <a:pt x="11312" y="239"/>
                  </a:cubicBezTo>
                  <a:cubicBezTo>
                    <a:pt x="11312" y="370"/>
                    <a:pt x="11419" y="477"/>
                    <a:pt x="11550" y="477"/>
                  </a:cubicBezTo>
                  <a:lnTo>
                    <a:pt x="13693" y="477"/>
                  </a:lnTo>
                  <a:cubicBezTo>
                    <a:pt x="13848" y="477"/>
                    <a:pt x="13967" y="596"/>
                    <a:pt x="13979" y="739"/>
                  </a:cubicBezTo>
                  <a:lnTo>
                    <a:pt x="2537" y="739"/>
                  </a:lnTo>
                  <a:cubicBezTo>
                    <a:pt x="2549" y="596"/>
                    <a:pt x="2668" y="477"/>
                    <a:pt x="2811" y="477"/>
                  </a:cubicBezTo>
                  <a:lnTo>
                    <a:pt x="10586" y="477"/>
                  </a:lnTo>
                  <a:cubicBezTo>
                    <a:pt x="10717" y="477"/>
                    <a:pt x="10824" y="370"/>
                    <a:pt x="10824" y="239"/>
                  </a:cubicBezTo>
                  <a:cubicBezTo>
                    <a:pt x="10824" y="108"/>
                    <a:pt x="10717" y="1"/>
                    <a:pt x="10586"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5" name="Google Shape;145;p3"/>
            <p:cNvSpPr/>
            <p:nvPr/>
          </p:nvSpPr>
          <p:spPr>
            <a:xfrm>
              <a:off x="7110104" y="1604909"/>
              <a:ext cx="61782" cy="41697"/>
            </a:xfrm>
            <a:custGeom>
              <a:avLst/>
              <a:gdLst/>
              <a:ahLst/>
              <a:cxnLst/>
              <a:rect l="l" t="t" r="r" b="b"/>
              <a:pathLst>
                <a:path w="1941" h="1310" extrusionOk="0">
                  <a:moveTo>
                    <a:pt x="1441" y="488"/>
                  </a:moveTo>
                  <a:lnTo>
                    <a:pt x="1441" y="834"/>
                  </a:lnTo>
                  <a:lnTo>
                    <a:pt x="488" y="834"/>
                  </a:lnTo>
                  <a:lnTo>
                    <a:pt x="488" y="488"/>
                  </a:lnTo>
                  <a:close/>
                  <a:moveTo>
                    <a:pt x="238" y="0"/>
                  </a:moveTo>
                  <a:cubicBezTo>
                    <a:pt x="107" y="0"/>
                    <a:pt x="0" y="107"/>
                    <a:pt x="0" y="238"/>
                  </a:cubicBezTo>
                  <a:lnTo>
                    <a:pt x="0" y="1072"/>
                  </a:lnTo>
                  <a:cubicBezTo>
                    <a:pt x="0" y="1203"/>
                    <a:pt x="107" y="1310"/>
                    <a:pt x="238" y="1310"/>
                  </a:cubicBezTo>
                  <a:lnTo>
                    <a:pt x="1679" y="1310"/>
                  </a:lnTo>
                  <a:cubicBezTo>
                    <a:pt x="1822" y="1310"/>
                    <a:pt x="1917" y="1203"/>
                    <a:pt x="1917" y="1072"/>
                  </a:cubicBezTo>
                  <a:lnTo>
                    <a:pt x="1917" y="238"/>
                  </a:lnTo>
                  <a:cubicBezTo>
                    <a:pt x="1941" y="119"/>
                    <a:pt x="1822" y="0"/>
                    <a:pt x="167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6" name="Google Shape;146;p3"/>
            <p:cNvSpPr/>
            <p:nvPr/>
          </p:nvSpPr>
          <p:spPr>
            <a:xfrm>
              <a:off x="7110455" y="1655296"/>
              <a:ext cx="96700" cy="15183"/>
            </a:xfrm>
            <a:custGeom>
              <a:avLst/>
              <a:gdLst/>
              <a:ahLst/>
              <a:cxnLst/>
              <a:rect l="l" t="t" r="r" b="b"/>
              <a:pathLst>
                <a:path w="3038" h="477" extrusionOk="0">
                  <a:moveTo>
                    <a:pt x="239" y="1"/>
                  </a:moveTo>
                  <a:cubicBezTo>
                    <a:pt x="108" y="1"/>
                    <a:pt x="1" y="96"/>
                    <a:pt x="1" y="239"/>
                  </a:cubicBezTo>
                  <a:cubicBezTo>
                    <a:pt x="1" y="370"/>
                    <a:pt x="108" y="477"/>
                    <a:pt x="239" y="477"/>
                  </a:cubicBezTo>
                  <a:lnTo>
                    <a:pt x="2799" y="477"/>
                  </a:lnTo>
                  <a:cubicBezTo>
                    <a:pt x="2942" y="477"/>
                    <a:pt x="3037" y="370"/>
                    <a:pt x="3037" y="239"/>
                  </a:cubicBezTo>
                  <a:cubicBezTo>
                    <a:pt x="3037" y="96"/>
                    <a:pt x="2942" y="1"/>
                    <a:pt x="2799"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7" name="Google Shape;147;p3"/>
            <p:cNvSpPr/>
            <p:nvPr/>
          </p:nvSpPr>
          <p:spPr>
            <a:xfrm>
              <a:off x="7146104" y="1676909"/>
              <a:ext cx="61050" cy="41729"/>
            </a:xfrm>
            <a:custGeom>
              <a:avLst/>
              <a:gdLst/>
              <a:ahLst/>
              <a:cxnLst/>
              <a:rect l="l" t="t" r="r" b="b"/>
              <a:pathLst>
                <a:path w="1918" h="1311" extrusionOk="0">
                  <a:moveTo>
                    <a:pt x="1441" y="489"/>
                  </a:moveTo>
                  <a:lnTo>
                    <a:pt x="1441" y="834"/>
                  </a:lnTo>
                  <a:lnTo>
                    <a:pt x="488" y="834"/>
                  </a:lnTo>
                  <a:lnTo>
                    <a:pt x="488" y="489"/>
                  </a:lnTo>
                  <a:close/>
                  <a:moveTo>
                    <a:pt x="238" y="0"/>
                  </a:moveTo>
                  <a:cubicBezTo>
                    <a:pt x="107" y="0"/>
                    <a:pt x="0" y="108"/>
                    <a:pt x="0" y="239"/>
                  </a:cubicBezTo>
                  <a:lnTo>
                    <a:pt x="0" y="1072"/>
                  </a:lnTo>
                  <a:cubicBezTo>
                    <a:pt x="0" y="1203"/>
                    <a:pt x="107" y="1310"/>
                    <a:pt x="238" y="1310"/>
                  </a:cubicBezTo>
                  <a:lnTo>
                    <a:pt x="1679" y="1310"/>
                  </a:lnTo>
                  <a:cubicBezTo>
                    <a:pt x="1822" y="1310"/>
                    <a:pt x="1917" y="1203"/>
                    <a:pt x="1917" y="1072"/>
                  </a:cubicBezTo>
                  <a:lnTo>
                    <a:pt x="1917" y="239"/>
                  </a:lnTo>
                  <a:cubicBezTo>
                    <a:pt x="1917" y="108"/>
                    <a:pt x="1822" y="0"/>
                    <a:pt x="167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8" name="Google Shape;148;p3"/>
            <p:cNvSpPr/>
            <p:nvPr/>
          </p:nvSpPr>
          <p:spPr>
            <a:xfrm>
              <a:off x="7110455" y="1726563"/>
              <a:ext cx="96700" cy="15183"/>
            </a:xfrm>
            <a:custGeom>
              <a:avLst/>
              <a:gdLst/>
              <a:ahLst/>
              <a:cxnLst/>
              <a:rect l="l" t="t" r="r" b="b"/>
              <a:pathLst>
                <a:path w="3038" h="477" extrusionOk="0">
                  <a:moveTo>
                    <a:pt x="239" y="0"/>
                  </a:moveTo>
                  <a:cubicBezTo>
                    <a:pt x="108" y="0"/>
                    <a:pt x="1" y="107"/>
                    <a:pt x="1" y="238"/>
                  </a:cubicBezTo>
                  <a:cubicBezTo>
                    <a:pt x="1" y="381"/>
                    <a:pt x="108" y="476"/>
                    <a:pt x="239" y="476"/>
                  </a:cubicBezTo>
                  <a:lnTo>
                    <a:pt x="2799" y="476"/>
                  </a:lnTo>
                  <a:cubicBezTo>
                    <a:pt x="2942" y="476"/>
                    <a:pt x="3037" y="381"/>
                    <a:pt x="3037" y="238"/>
                  </a:cubicBezTo>
                  <a:cubicBezTo>
                    <a:pt x="3037" y="107"/>
                    <a:pt x="2942" y="0"/>
                    <a:pt x="279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9" name="Google Shape;149;p3"/>
            <p:cNvSpPr/>
            <p:nvPr/>
          </p:nvSpPr>
          <p:spPr>
            <a:xfrm>
              <a:off x="7262825" y="1636739"/>
              <a:ext cx="48541" cy="80371"/>
            </a:xfrm>
            <a:custGeom>
              <a:avLst/>
              <a:gdLst/>
              <a:ahLst/>
              <a:cxnLst/>
              <a:rect l="l" t="t" r="r" b="b"/>
              <a:pathLst>
                <a:path w="1525" h="2525" extrusionOk="0">
                  <a:moveTo>
                    <a:pt x="1268" y="0"/>
                  </a:moveTo>
                  <a:cubicBezTo>
                    <a:pt x="1206" y="0"/>
                    <a:pt x="1143" y="24"/>
                    <a:pt x="1096" y="72"/>
                  </a:cubicBezTo>
                  <a:lnTo>
                    <a:pt x="72" y="1096"/>
                  </a:lnTo>
                  <a:cubicBezTo>
                    <a:pt x="24" y="1143"/>
                    <a:pt x="0" y="1203"/>
                    <a:pt x="0" y="1262"/>
                  </a:cubicBezTo>
                  <a:cubicBezTo>
                    <a:pt x="0" y="1322"/>
                    <a:pt x="24" y="1381"/>
                    <a:pt x="72" y="1429"/>
                  </a:cubicBezTo>
                  <a:lnTo>
                    <a:pt x="1096" y="2453"/>
                  </a:lnTo>
                  <a:cubicBezTo>
                    <a:pt x="1143" y="2501"/>
                    <a:pt x="1203" y="2524"/>
                    <a:pt x="1262" y="2524"/>
                  </a:cubicBezTo>
                  <a:cubicBezTo>
                    <a:pt x="1322" y="2524"/>
                    <a:pt x="1381" y="2501"/>
                    <a:pt x="1429" y="2453"/>
                  </a:cubicBezTo>
                  <a:cubicBezTo>
                    <a:pt x="1524" y="2370"/>
                    <a:pt x="1524" y="2215"/>
                    <a:pt x="1441" y="2108"/>
                  </a:cubicBezTo>
                  <a:lnTo>
                    <a:pt x="596" y="1262"/>
                  </a:lnTo>
                  <a:lnTo>
                    <a:pt x="1441" y="417"/>
                  </a:lnTo>
                  <a:cubicBezTo>
                    <a:pt x="1524" y="322"/>
                    <a:pt x="1524" y="167"/>
                    <a:pt x="1441" y="72"/>
                  </a:cubicBezTo>
                  <a:cubicBezTo>
                    <a:pt x="1393" y="24"/>
                    <a:pt x="1331" y="0"/>
                    <a:pt x="1268"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0" name="Google Shape;150;p3"/>
            <p:cNvSpPr/>
            <p:nvPr/>
          </p:nvSpPr>
          <p:spPr>
            <a:xfrm>
              <a:off x="7380691" y="1636357"/>
              <a:ext cx="48891" cy="80371"/>
            </a:xfrm>
            <a:custGeom>
              <a:avLst/>
              <a:gdLst/>
              <a:ahLst/>
              <a:cxnLst/>
              <a:rect l="l" t="t" r="r" b="b"/>
              <a:pathLst>
                <a:path w="1536" h="2525" extrusionOk="0">
                  <a:moveTo>
                    <a:pt x="261" y="0"/>
                  </a:moveTo>
                  <a:cubicBezTo>
                    <a:pt x="197" y="0"/>
                    <a:pt x="131" y="24"/>
                    <a:pt x="83" y="72"/>
                  </a:cubicBezTo>
                  <a:cubicBezTo>
                    <a:pt x="0" y="155"/>
                    <a:pt x="0" y="322"/>
                    <a:pt x="83" y="417"/>
                  </a:cubicBezTo>
                  <a:lnTo>
                    <a:pt x="941" y="1262"/>
                  </a:lnTo>
                  <a:lnTo>
                    <a:pt x="83" y="2108"/>
                  </a:lnTo>
                  <a:cubicBezTo>
                    <a:pt x="0" y="2203"/>
                    <a:pt x="0" y="2358"/>
                    <a:pt x="83" y="2453"/>
                  </a:cubicBezTo>
                  <a:cubicBezTo>
                    <a:pt x="131" y="2501"/>
                    <a:pt x="191" y="2525"/>
                    <a:pt x="250" y="2525"/>
                  </a:cubicBezTo>
                  <a:cubicBezTo>
                    <a:pt x="310" y="2525"/>
                    <a:pt x="369" y="2501"/>
                    <a:pt x="417" y="2453"/>
                  </a:cubicBezTo>
                  <a:lnTo>
                    <a:pt x="1441" y="1429"/>
                  </a:lnTo>
                  <a:cubicBezTo>
                    <a:pt x="1488" y="1382"/>
                    <a:pt x="1512" y="1322"/>
                    <a:pt x="1512" y="1262"/>
                  </a:cubicBezTo>
                  <a:cubicBezTo>
                    <a:pt x="1536" y="1203"/>
                    <a:pt x="1500" y="1143"/>
                    <a:pt x="1453" y="1096"/>
                  </a:cubicBezTo>
                  <a:lnTo>
                    <a:pt x="429" y="72"/>
                  </a:lnTo>
                  <a:cubicBezTo>
                    <a:pt x="387" y="24"/>
                    <a:pt x="325" y="0"/>
                    <a:pt x="261"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1" name="Google Shape;151;p3"/>
            <p:cNvSpPr/>
            <p:nvPr/>
          </p:nvSpPr>
          <p:spPr>
            <a:xfrm>
              <a:off x="7321933" y="1626744"/>
              <a:ext cx="48923" cy="99851"/>
            </a:xfrm>
            <a:custGeom>
              <a:avLst/>
              <a:gdLst/>
              <a:ahLst/>
              <a:cxnLst/>
              <a:rect l="l" t="t" r="r" b="b"/>
              <a:pathLst>
                <a:path w="1537" h="3137" extrusionOk="0">
                  <a:moveTo>
                    <a:pt x="1249" y="0"/>
                  </a:moveTo>
                  <a:cubicBezTo>
                    <a:pt x="1154" y="0"/>
                    <a:pt x="1061" y="59"/>
                    <a:pt x="1025" y="160"/>
                  </a:cubicBezTo>
                  <a:lnTo>
                    <a:pt x="48" y="2815"/>
                  </a:lnTo>
                  <a:cubicBezTo>
                    <a:pt x="1" y="2934"/>
                    <a:pt x="60" y="3077"/>
                    <a:pt x="191" y="3124"/>
                  </a:cubicBezTo>
                  <a:cubicBezTo>
                    <a:pt x="227" y="3136"/>
                    <a:pt x="251" y="3136"/>
                    <a:pt x="286" y="3136"/>
                  </a:cubicBezTo>
                  <a:cubicBezTo>
                    <a:pt x="382" y="3136"/>
                    <a:pt x="477" y="3077"/>
                    <a:pt x="501" y="2981"/>
                  </a:cubicBezTo>
                  <a:lnTo>
                    <a:pt x="1489" y="326"/>
                  </a:lnTo>
                  <a:cubicBezTo>
                    <a:pt x="1537" y="207"/>
                    <a:pt x="1477" y="64"/>
                    <a:pt x="1334" y="17"/>
                  </a:cubicBezTo>
                  <a:cubicBezTo>
                    <a:pt x="1307" y="6"/>
                    <a:pt x="1278" y="0"/>
                    <a:pt x="124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52" name="Google Shape;152;p3"/>
          <p:cNvGrpSpPr/>
          <p:nvPr/>
        </p:nvGrpSpPr>
        <p:grpSpPr>
          <a:xfrm>
            <a:off x="1013075" y="5439400"/>
            <a:ext cx="532745" cy="391398"/>
            <a:chOff x="6188327" y="2955408"/>
            <a:chExt cx="371395" cy="272857"/>
          </a:xfrm>
        </p:grpSpPr>
        <p:sp>
          <p:nvSpPr>
            <p:cNvPr id="153" name="Google Shape;153;p3"/>
            <p:cNvSpPr/>
            <p:nvPr/>
          </p:nvSpPr>
          <p:spPr>
            <a:xfrm>
              <a:off x="6229990" y="2978897"/>
              <a:ext cx="289567" cy="197840"/>
            </a:xfrm>
            <a:custGeom>
              <a:avLst/>
              <a:gdLst/>
              <a:ahLst/>
              <a:cxnLst/>
              <a:rect l="l" t="t" r="r" b="b"/>
              <a:pathLst>
                <a:path w="9098" h="6216" extrusionOk="0">
                  <a:moveTo>
                    <a:pt x="2894" y="1263"/>
                  </a:moveTo>
                  <a:cubicBezTo>
                    <a:pt x="3097" y="1263"/>
                    <a:pt x="3263" y="1429"/>
                    <a:pt x="3263" y="1632"/>
                  </a:cubicBezTo>
                  <a:lnTo>
                    <a:pt x="3263" y="2001"/>
                  </a:lnTo>
                  <a:cubicBezTo>
                    <a:pt x="3263" y="2322"/>
                    <a:pt x="3013" y="2572"/>
                    <a:pt x="2704" y="2572"/>
                  </a:cubicBezTo>
                  <a:cubicBezTo>
                    <a:pt x="2406" y="2561"/>
                    <a:pt x="2144" y="2299"/>
                    <a:pt x="2144" y="2001"/>
                  </a:cubicBezTo>
                  <a:lnTo>
                    <a:pt x="2144" y="1632"/>
                  </a:lnTo>
                  <a:cubicBezTo>
                    <a:pt x="2144" y="1429"/>
                    <a:pt x="2311" y="1263"/>
                    <a:pt x="2525" y="1263"/>
                  </a:cubicBezTo>
                  <a:close/>
                  <a:moveTo>
                    <a:pt x="7264" y="1084"/>
                  </a:moveTo>
                  <a:cubicBezTo>
                    <a:pt x="7371" y="1084"/>
                    <a:pt x="7466" y="1168"/>
                    <a:pt x="7466" y="1275"/>
                  </a:cubicBezTo>
                  <a:lnTo>
                    <a:pt x="7466" y="1822"/>
                  </a:lnTo>
                  <a:cubicBezTo>
                    <a:pt x="7466" y="1894"/>
                    <a:pt x="7430" y="1953"/>
                    <a:pt x="7359" y="1989"/>
                  </a:cubicBezTo>
                  <a:cubicBezTo>
                    <a:pt x="7299" y="2025"/>
                    <a:pt x="7264" y="2084"/>
                    <a:pt x="7264" y="2144"/>
                  </a:cubicBezTo>
                  <a:lnTo>
                    <a:pt x="7264" y="2406"/>
                  </a:lnTo>
                  <a:cubicBezTo>
                    <a:pt x="7264" y="2477"/>
                    <a:pt x="7323" y="2549"/>
                    <a:pt x="7407" y="2572"/>
                  </a:cubicBezTo>
                  <a:lnTo>
                    <a:pt x="7859" y="2692"/>
                  </a:lnTo>
                  <a:cubicBezTo>
                    <a:pt x="7954" y="2703"/>
                    <a:pt x="8014" y="2787"/>
                    <a:pt x="8014" y="2882"/>
                  </a:cubicBezTo>
                  <a:lnTo>
                    <a:pt x="8014" y="2930"/>
                  </a:lnTo>
                  <a:lnTo>
                    <a:pt x="6168" y="2930"/>
                  </a:lnTo>
                  <a:lnTo>
                    <a:pt x="6168" y="2882"/>
                  </a:lnTo>
                  <a:cubicBezTo>
                    <a:pt x="6168" y="2787"/>
                    <a:pt x="6228" y="2715"/>
                    <a:pt x="6311" y="2692"/>
                  </a:cubicBezTo>
                  <a:lnTo>
                    <a:pt x="6776" y="2572"/>
                  </a:lnTo>
                  <a:cubicBezTo>
                    <a:pt x="6847" y="2549"/>
                    <a:pt x="6907" y="2477"/>
                    <a:pt x="6907" y="2406"/>
                  </a:cubicBezTo>
                  <a:lnTo>
                    <a:pt x="6907" y="2144"/>
                  </a:lnTo>
                  <a:cubicBezTo>
                    <a:pt x="6895" y="2060"/>
                    <a:pt x="6871" y="2025"/>
                    <a:pt x="6811" y="1989"/>
                  </a:cubicBezTo>
                  <a:cubicBezTo>
                    <a:pt x="6752" y="1953"/>
                    <a:pt x="6704" y="1882"/>
                    <a:pt x="6704" y="1822"/>
                  </a:cubicBezTo>
                  <a:lnTo>
                    <a:pt x="6704" y="1275"/>
                  </a:lnTo>
                  <a:cubicBezTo>
                    <a:pt x="6704" y="1168"/>
                    <a:pt x="6787" y="1084"/>
                    <a:pt x="6895" y="1084"/>
                  </a:cubicBezTo>
                  <a:close/>
                  <a:moveTo>
                    <a:pt x="8752" y="334"/>
                  </a:moveTo>
                  <a:lnTo>
                    <a:pt x="8752" y="2930"/>
                  </a:lnTo>
                  <a:lnTo>
                    <a:pt x="8371" y="2930"/>
                  </a:lnTo>
                  <a:lnTo>
                    <a:pt x="8371" y="2882"/>
                  </a:lnTo>
                  <a:cubicBezTo>
                    <a:pt x="8371" y="2632"/>
                    <a:pt x="8204" y="2418"/>
                    <a:pt x="7966" y="2358"/>
                  </a:cubicBezTo>
                  <a:lnTo>
                    <a:pt x="7645" y="2287"/>
                  </a:lnTo>
                  <a:lnTo>
                    <a:pt x="7645" y="2227"/>
                  </a:lnTo>
                  <a:cubicBezTo>
                    <a:pt x="7764" y="2120"/>
                    <a:pt x="7823" y="1977"/>
                    <a:pt x="7823" y="1822"/>
                  </a:cubicBezTo>
                  <a:lnTo>
                    <a:pt x="7823" y="1275"/>
                  </a:lnTo>
                  <a:cubicBezTo>
                    <a:pt x="7823" y="977"/>
                    <a:pt x="7585" y="739"/>
                    <a:pt x="7288" y="739"/>
                  </a:cubicBezTo>
                  <a:lnTo>
                    <a:pt x="6907" y="739"/>
                  </a:lnTo>
                  <a:cubicBezTo>
                    <a:pt x="6609" y="739"/>
                    <a:pt x="6371" y="977"/>
                    <a:pt x="6371" y="1275"/>
                  </a:cubicBezTo>
                  <a:lnTo>
                    <a:pt x="6371" y="1822"/>
                  </a:lnTo>
                  <a:cubicBezTo>
                    <a:pt x="6371" y="1977"/>
                    <a:pt x="6454" y="2120"/>
                    <a:pt x="6549" y="2227"/>
                  </a:cubicBezTo>
                  <a:lnTo>
                    <a:pt x="6549" y="2287"/>
                  </a:lnTo>
                  <a:lnTo>
                    <a:pt x="6228" y="2358"/>
                  </a:lnTo>
                  <a:cubicBezTo>
                    <a:pt x="5990" y="2418"/>
                    <a:pt x="5823" y="2632"/>
                    <a:pt x="5823" y="2882"/>
                  </a:cubicBezTo>
                  <a:lnTo>
                    <a:pt x="5823" y="2930"/>
                  </a:lnTo>
                  <a:lnTo>
                    <a:pt x="5442" y="2930"/>
                  </a:lnTo>
                  <a:lnTo>
                    <a:pt x="5442" y="334"/>
                  </a:lnTo>
                  <a:close/>
                  <a:moveTo>
                    <a:pt x="2894" y="2906"/>
                  </a:moveTo>
                  <a:lnTo>
                    <a:pt x="2894" y="2989"/>
                  </a:lnTo>
                  <a:cubicBezTo>
                    <a:pt x="2894" y="3049"/>
                    <a:pt x="2906" y="3108"/>
                    <a:pt x="2954" y="3168"/>
                  </a:cubicBezTo>
                  <a:lnTo>
                    <a:pt x="2716" y="3406"/>
                  </a:lnTo>
                  <a:lnTo>
                    <a:pt x="2704" y="3406"/>
                  </a:lnTo>
                  <a:lnTo>
                    <a:pt x="2466" y="3168"/>
                  </a:lnTo>
                  <a:cubicBezTo>
                    <a:pt x="2489" y="3108"/>
                    <a:pt x="2501" y="3049"/>
                    <a:pt x="2501" y="2989"/>
                  </a:cubicBezTo>
                  <a:lnTo>
                    <a:pt x="2501" y="2906"/>
                  </a:lnTo>
                  <a:close/>
                  <a:moveTo>
                    <a:pt x="3251" y="3346"/>
                  </a:moveTo>
                  <a:lnTo>
                    <a:pt x="3597" y="3477"/>
                  </a:lnTo>
                  <a:cubicBezTo>
                    <a:pt x="3739" y="3537"/>
                    <a:pt x="3835" y="3668"/>
                    <a:pt x="3835" y="3835"/>
                  </a:cubicBezTo>
                  <a:lnTo>
                    <a:pt x="3835" y="4918"/>
                  </a:lnTo>
                  <a:cubicBezTo>
                    <a:pt x="3835" y="5025"/>
                    <a:pt x="3739" y="5108"/>
                    <a:pt x="3632" y="5108"/>
                  </a:cubicBezTo>
                  <a:lnTo>
                    <a:pt x="2894" y="5108"/>
                  </a:lnTo>
                  <a:lnTo>
                    <a:pt x="2894" y="4906"/>
                  </a:lnTo>
                  <a:lnTo>
                    <a:pt x="3263" y="4906"/>
                  </a:lnTo>
                  <a:cubicBezTo>
                    <a:pt x="3358" y="4906"/>
                    <a:pt x="3430" y="4835"/>
                    <a:pt x="3430" y="4739"/>
                  </a:cubicBezTo>
                  <a:lnTo>
                    <a:pt x="3430" y="4192"/>
                  </a:lnTo>
                  <a:cubicBezTo>
                    <a:pt x="3430" y="4096"/>
                    <a:pt x="3358" y="4025"/>
                    <a:pt x="3263" y="4025"/>
                  </a:cubicBezTo>
                  <a:cubicBezTo>
                    <a:pt x="3180" y="4025"/>
                    <a:pt x="3097" y="4096"/>
                    <a:pt x="3097" y="4192"/>
                  </a:cubicBezTo>
                  <a:lnTo>
                    <a:pt x="3097" y="4561"/>
                  </a:lnTo>
                  <a:lnTo>
                    <a:pt x="2346" y="4561"/>
                  </a:lnTo>
                  <a:lnTo>
                    <a:pt x="2346" y="4192"/>
                  </a:lnTo>
                  <a:cubicBezTo>
                    <a:pt x="2346" y="4096"/>
                    <a:pt x="2263" y="4025"/>
                    <a:pt x="2180" y="4025"/>
                  </a:cubicBezTo>
                  <a:cubicBezTo>
                    <a:pt x="2085" y="4025"/>
                    <a:pt x="2013" y="4096"/>
                    <a:pt x="2013" y="4192"/>
                  </a:cubicBezTo>
                  <a:lnTo>
                    <a:pt x="2013" y="4739"/>
                  </a:lnTo>
                  <a:cubicBezTo>
                    <a:pt x="2013" y="4835"/>
                    <a:pt x="2085" y="4906"/>
                    <a:pt x="2180" y="4906"/>
                  </a:cubicBezTo>
                  <a:lnTo>
                    <a:pt x="2549" y="4906"/>
                  </a:lnTo>
                  <a:lnTo>
                    <a:pt x="2549" y="5120"/>
                  </a:lnTo>
                  <a:lnTo>
                    <a:pt x="1811" y="5120"/>
                  </a:lnTo>
                  <a:cubicBezTo>
                    <a:pt x="1704" y="5120"/>
                    <a:pt x="1608" y="5025"/>
                    <a:pt x="1608" y="4918"/>
                  </a:cubicBezTo>
                  <a:lnTo>
                    <a:pt x="1608" y="3835"/>
                  </a:lnTo>
                  <a:lnTo>
                    <a:pt x="1596" y="3835"/>
                  </a:lnTo>
                  <a:cubicBezTo>
                    <a:pt x="1596" y="3680"/>
                    <a:pt x="1704" y="3537"/>
                    <a:pt x="1834" y="3477"/>
                  </a:cubicBezTo>
                  <a:lnTo>
                    <a:pt x="2180" y="3346"/>
                  </a:lnTo>
                  <a:lnTo>
                    <a:pt x="2466" y="3632"/>
                  </a:lnTo>
                  <a:cubicBezTo>
                    <a:pt x="2537" y="3704"/>
                    <a:pt x="2620" y="3727"/>
                    <a:pt x="2716" y="3727"/>
                  </a:cubicBezTo>
                  <a:cubicBezTo>
                    <a:pt x="2799" y="3727"/>
                    <a:pt x="2894" y="3704"/>
                    <a:pt x="2966" y="3632"/>
                  </a:cubicBezTo>
                  <a:lnTo>
                    <a:pt x="3251" y="3346"/>
                  </a:lnTo>
                  <a:close/>
                  <a:moveTo>
                    <a:pt x="5097" y="5085"/>
                  </a:moveTo>
                  <a:lnTo>
                    <a:pt x="5097" y="5847"/>
                  </a:lnTo>
                  <a:lnTo>
                    <a:pt x="322" y="5847"/>
                  </a:lnTo>
                  <a:lnTo>
                    <a:pt x="322" y="5085"/>
                  </a:lnTo>
                  <a:lnTo>
                    <a:pt x="1287" y="5085"/>
                  </a:lnTo>
                  <a:cubicBezTo>
                    <a:pt x="1358" y="5287"/>
                    <a:pt x="1549" y="5454"/>
                    <a:pt x="1787" y="5454"/>
                  </a:cubicBezTo>
                  <a:lnTo>
                    <a:pt x="3620" y="5454"/>
                  </a:lnTo>
                  <a:cubicBezTo>
                    <a:pt x="3859" y="5454"/>
                    <a:pt x="4049" y="5311"/>
                    <a:pt x="4132" y="5085"/>
                  </a:cubicBezTo>
                  <a:close/>
                  <a:moveTo>
                    <a:pt x="7288" y="4001"/>
                  </a:moveTo>
                  <a:cubicBezTo>
                    <a:pt x="7383" y="4001"/>
                    <a:pt x="7478" y="4085"/>
                    <a:pt x="7478" y="4192"/>
                  </a:cubicBezTo>
                  <a:lnTo>
                    <a:pt x="7478" y="4739"/>
                  </a:lnTo>
                  <a:cubicBezTo>
                    <a:pt x="7478" y="4823"/>
                    <a:pt x="7442" y="4870"/>
                    <a:pt x="7371" y="4906"/>
                  </a:cubicBezTo>
                  <a:cubicBezTo>
                    <a:pt x="7311" y="4942"/>
                    <a:pt x="7288" y="5001"/>
                    <a:pt x="7288" y="5061"/>
                  </a:cubicBezTo>
                  <a:lnTo>
                    <a:pt x="7288" y="5323"/>
                  </a:lnTo>
                  <a:cubicBezTo>
                    <a:pt x="7288" y="5394"/>
                    <a:pt x="7347" y="5466"/>
                    <a:pt x="7419" y="5489"/>
                  </a:cubicBezTo>
                  <a:lnTo>
                    <a:pt x="7883" y="5609"/>
                  </a:lnTo>
                  <a:cubicBezTo>
                    <a:pt x="7966" y="5620"/>
                    <a:pt x="8026" y="5716"/>
                    <a:pt x="8026" y="5799"/>
                  </a:cubicBezTo>
                  <a:lnTo>
                    <a:pt x="8026" y="5847"/>
                  </a:lnTo>
                  <a:lnTo>
                    <a:pt x="6168" y="5847"/>
                  </a:lnTo>
                  <a:lnTo>
                    <a:pt x="6168" y="5799"/>
                  </a:lnTo>
                  <a:cubicBezTo>
                    <a:pt x="6168" y="5716"/>
                    <a:pt x="6228" y="5632"/>
                    <a:pt x="6311" y="5609"/>
                  </a:cubicBezTo>
                  <a:lnTo>
                    <a:pt x="6776" y="5489"/>
                  </a:lnTo>
                  <a:cubicBezTo>
                    <a:pt x="6847" y="5478"/>
                    <a:pt x="6907" y="5394"/>
                    <a:pt x="6907" y="5323"/>
                  </a:cubicBezTo>
                  <a:lnTo>
                    <a:pt x="6907" y="5061"/>
                  </a:lnTo>
                  <a:cubicBezTo>
                    <a:pt x="6907" y="5001"/>
                    <a:pt x="6883" y="4942"/>
                    <a:pt x="6823" y="4906"/>
                  </a:cubicBezTo>
                  <a:cubicBezTo>
                    <a:pt x="6764" y="4870"/>
                    <a:pt x="6716" y="4799"/>
                    <a:pt x="6716" y="4739"/>
                  </a:cubicBezTo>
                  <a:lnTo>
                    <a:pt x="6716" y="4192"/>
                  </a:lnTo>
                  <a:cubicBezTo>
                    <a:pt x="6716" y="4085"/>
                    <a:pt x="6811" y="4001"/>
                    <a:pt x="6907" y="4001"/>
                  </a:cubicBezTo>
                  <a:close/>
                  <a:moveTo>
                    <a:pt x="8740" y="3275"/>
                  </a:moveTo>
                  <a:lnTo>
                    <a:pt x="8740" y="5847"/>
                  </a:lnTo>
                  <a:lnTo>
                    <a:pt x="8359" y="5847"/>
                  </a:lnTo>
                  <a:lnTo>
                    <a:pt x="8359" y="5799"/>
                  </a:lnTo>
                  <a:cubicBezTo>
                    <a:pt x="8359" y="5549"/>
                    <a:pt x="8192" y="5335"/>
                    <a:pt x="7954" y="5275"/>
                  </a:cubicBezTo>
                  <a:lnTo>
                    <a:pt x="7621" y="5204"/>
                  </a:lnTo>
                  <a:lnTo>
                    <a:pt x="7621" y="5144"/>
                  </a:lnTo>
                  <a:cubicBezTo>
                    <a:pt x="7740" y="5037"/>
                    <a:pt x="7800" y="4894"/>
                    <a:pt x="7800" y="4739"/>
                  </a:cubicBezTo>
                  <a:lnTo>
                    <a:pt x="7800" y="4192"/>
                  </a:lnTo>
                  <a:cubicBezTo>
                    <a:pt x="7800" y="3894"/>
                    <a:pt x="7561" y="3656"/>
                    <a:pt x="7264" y="3656"/>
                  </a:cubicBezTo>
                  <a:lnTo>
                    <a:pt x="6895" y="3656"/>
                  </a:lnTo>
                  <a:cubicBezTo>
                    <a:pt x="6597" y="3656"/>
                    <a:pt x="6359" y="3894"/>
                    <a:pt x="6359" y="4192"/>
                  </a:cubicBezTo>
                  <a:lnTo>
                    <a:pt x="6359" y="4739"/>
                  </a:lnTo>
                  <a:cubicBezTo>
                    <a:pt x="6359" y="4894"/>
                    <a:pt x="6430" y="5037"/>
                    <a:pt x="6537" y="5144"/>
                  </a:cubicBezTo>
                  <a:lnTo>
                    <a:pt x="6537" y="5204"/>
                  </a:lnTo>
                  <a:lnTo>
                    <a:pt x="6216" y="5275"/>
                  </a:lnTo>
                  <a:cubicBezTo>
                    <a:pt x="5978" y="5335"/>
                    <a:pt x="5811" y="5549"/>
                    <a:pt x="5811" y="5799"/>
                  </a:cubicBezTo>
                  <a:lnTo>
                    <a:pt x="5811" y="5847"/>
                  </a:lnTo>
                  <a:lnTo>
                    <a:pt x="5418" y="5847"/>
                  </a:lnTo>
                  <a:lnTo>
                    <a:pt x="5418" y="3275"/>
                  </a:lnTo>
                  <a:close/>
                  <a:moveTo>
                    <a:pt x="1430" y="1"/>
                  </a:moveTo>
                  <a:cubicBezTo>
                    <a:pt x="1346" y="1"/>
                    <a:pt x="1275" y="72"/>
                    <a:pt x="1275" y="155"/>
                  </a:cubicBezTo>
                  <a:cubicBezTo>
                    <a:pt x="1275" y="251"/>
                    <a:pt x="1346" y="322"/>
                    <a:pt x="1430" y="322"/>
                  </a:cubicBezTo>
                  <a:lnTo>
                    <a:pt x="5097" y="322"/>
                  </a:lnTo>
                  <a:lnTo>
                    <a:pt x="5097" y="4763"/>
                  </a:lnTo>
                  <a:lnTo>
                    <a:pt x="4156" y="4763"/>
                  </a:lnTo>
                  <a:lnTo>
                    <a:pt x="4156" y="3835"/>
                  </a:lnTo>
                  <a:cubicBezTo>
                    <a:pt x="4156" y="3537"/>
                    <a:pt x="3978" y="3275"/>
                    <a:pt x="3692" y="3168"/>
                  </a:cubicBezTo>
                  <a:lnTo>
                    <a:pt x="3251" y="2989"/>
                  </a:lnTo>
                  <a:lnTo>
                    <a:pt x="3251" y="2965"/>
                  </a:lnTo>
                  <a:lnTo>
                    <a:pt x="3251" y="2715"/>
                  </a:lnTo>
                  <a:cubicBezTo>
                    <a:pt x="3478" y="2549"/>
                    <a:pt x="3620" y="2287"/>
                    <a:pt x="3620" y="1989"/>
                  </a:cubicBezTo>
                  <a:lnTo>
                    <a:pt x="3620" y="1632"/>
                  </a:lnTo>
                  <a:cubicBezTo>
                    <a:pt x="3620" y="1227"/>
                    <a:pt x="3299" y="917"/>
                    <a:pt x="2906" y="917"/>
                  </a:cubicBezTo>
                  <a:lnTo>
                    <a:pt x="2537" y="917"/>
                  </a:lnTo>
                  <a:cubicBezTo>
                    <a:pt x="2132" y="917"/>
                    <a:pt x="1823" y="1251"/>
                    <a:pt x="1823" y="1632"/>
                  </a:cubicBezTo>
                  <a:lnTo>
                    <a:pt x="1823" y="2001"/>
                  </a:lnTo>
                  <a:cubicBezTo>
                    <a:pt x="1823" y="2299"/>
                    <a:pt x="1965" y="2572"/>
                    <a:pt x="2192" y="2739"/>
                  </a:cubicBezTo>
                  <a:lnTo>
                    <a:pt x="2192" y="2989"/>
                  </a:lnTo>
                  <a:lnTo>
                    <a:pt x="2192" y="3001"/>
                  </a:lnTo>
                  <a:lnTo>
                    <a:pt x="1751" y="3180"/>
                  </a:lnTo>
                  <a:cubicBezTo>
                    <a:pt x="1477" y="3287"/>
                    <a:pt x="1287" y="3549"/>
                    <a:pt x="1287" y="3846"/>
                  </a:cubicBezTo>
                  <a:lnTo>
                    <a:pt x="1287" y="4775"/>
                  </a:lnTo>
                  <a:lnTo>
                    <a:pt x="346" y="4775"/>
                  </a:lnTo>
                  <a:lnTo>
                    <a:pt x="346" y="370"/>
                  </a:lnTo>
                  <a:lnTo>
                    <a:pt x="715" y="370"/>
                  </a:lnTo>
                  <a:cubicBezTo>
                    <a:pt x="811" y="370"/>
                    <a:pt x="882" y="298"/>
                    <a:pt x="882" y="203"/>
                  </a:cubicBezTo>
                  <a:cubicBezTo>
                    <a:pt x="882" y="120"/>
                    <a:pt x="811" y="36"/>
                    <a:pt x="715" y="36"/>
                  </a:cubicBezTo>
                  <a:lnTo>
                    <a:pt x="168" y="36"/>
                  </a:lnTo>
                  <a:cubicBezTo>
                    <a:pt x="84" y="36"/>
                    <a:pt x="1" y="120"/>
                    <a:pt x="1" y="203"/>
                  </a:cubicBezTo>
                  <a:lnTo>
                    <a:pt x="1" y="6049"/>
                  </a:lnTo>
                  <a:cubicBezTo>
                    <a:pt x="1" y="6144"/>
                    <a:pt x="84" y="6216"/>
                    <a:pt x="168" y="6216"/>
                  </a:cubicBezTo>
                  <a:lnTo>
                    <a:pt x="8931" y="6216"/>
                  </a:lnTo>
                  <a:cubicBezTo>
                    <a:pt x="9026" y="6216"/>
                    <a:pt x="9097" y="6144"/>
                    <a:pt x="9097" y="6049"/>
                  </a:cubicBezTo>
                  <a:lnTo>
                    <a:pt x="9097" y="203"/>
                  </a:lnTo>
                  <a:cubicBezTo>
                    <a:pt x="9085" y="84"/>
                    <a:pt x="9014" y="1"/>
                    <a:pt x="8919"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3"/>
            <p:cNvSpPr/>
            <p:nvPr/>
          </p:nvSpPr>
          <p:spPr>
            <a:xfrm>
              <a:off x="6188327" y="2955408"/>
              <a:ext cx="371395" cy="272857"/>
            </a:xfrm>
            <a:custGeom>
              <a:avLst/>
              <a:gdLst/>
              <a:ahLst/>
              <a:cxnLst/>
              <a:rect l="l" t="t" r="r" b="b"/>
              <a:pathLst>
                <a:path w="11669" h="8573" extrusionOk="0">
                  <a:moveTo>
                    <a:pt x="10597" y="358"/>
                  </a:moveTo>
                  <a:cubicBezTo>
                    <a:pt x="10704" y="358"/>
                    <a:pt x="10799" y="453"/>
                    <a:pt x="10799" y="548"/>
                  </a:cubicBezTo>
                  <a:lnTo>
                    <a:pt x="10799" y="7323"/>
                  </a:lnTo>
                  <a:lnTo>
                    <a:pt x="10418" y="7323"/>
                  </a:lnTo>
                  <a:cubicBezTo>
                    <a:pt x="10335" y="7323"/>
                    <a:pt x="10263" y="7394"/>
                    <a:pt x="10263" y="7490"/>
                  </a:cubicBezTo>
                  <a:cubicBezTo>
                    <a:pt x="10263" y="7585"/>
                    <a:pt x="10335" y="7656"/>
                    <a:pt x="10418" y="7656"/>
                  </a:cubicBezTo>
                  <a:lnTo>
                    <a:pt x="11323" y="7656"/>
                  </a:lnTo>
                  <a:cubicBezTo>
                    <a:pt x="11323" y="7656"/>
                    <a:pt x="11347" y="7656"/>
                    <a:pt x="11347" y="7668"/>
                  </a:cubicBezTo>
                  <a:lnTo>
                    <a:pt x="11347" y="8037"/>
                  </a:lnTo>
                  <a:cubicBezTo>
                    <a:pt x="11335" y="8144"/>
                    <a:pt x="11240" y="8240"/>
                    <a:pt x="11133" y="8240"/>
                  </a:cubicBezTo>
                  <a:lnTo>
                    <a:pt x="536" y="8240"/>
                  </a:lnTo>
                  <a:cubicBezTo>
                    <a:pt x="441" y="8240"/>
                    <a:pt x="346" y="8144"/>
                    <a:pt x="346" y="8037"/>
                  </a:cubicBezTo>
                  <a:lnTo>
                    <a:pt x="346" y="7668"/>
                  </a:lnTo>
                  <a:cubicBezTo>
                    <a:pt x="346" y="7668"/>
                    <a:pt x="346" y="7656"/>
                    <a:pt x="357" y="7656"/>
                  </a:cubicBezTo>
                  <a:lnTo>
                    <a:pt x="9680" y="7656"/>
                  </a:lnTo>
                  <a:cubicBezTo>
                    <a:pt x="9763" y="7656"/>
                    <a:pt x="9835" y="7585"/>
                    <a:pt x="9835" y="7490"/>
                  </a:cubicBezTo>
                  <a:cubicBezTo>
                    <a:pt x="9835" y="7394"/>
                    <a:pt x="9763" y="7323"/>
                    <a:pt x="9680" y="7323"/>
                  </a:cubicBezTo>
                  <a:lnTo>
                    <a:pt x="893" y="7323"/>
                  </a:lnTo>
                  <a:lnTo>
                    <a:pt x="893" y="548"/>
                  </a:lnTo>
                  <a:cubicBezTo>
                    <a:pt x="893" y="453"/>
                    <a:pt x="988" y="358"/>
                    <a:pt x="1084" y="358"/>
                  </a:cubicBezTo>
                  <a:close/>
                  <a:moveTo>
                    <a:pt x="1096" y="1"/>
                  </a:moveTo>
                  <a:cubicBezTo>
                    <a:pt x="798" y="1"/>
                    <a:pt x="560" y="239"/>
                    <a:pt x="560" y="536"/>
                  </a:cubicBezTo>
                  <a:lnTo>
                    <a:pt x="560" y="7311"/>
                  </a:lnTo>
                  <a:lnTo>
                    <a:pt x="357" y="7311"/>
                  </a:lnTo>
                  <a:cubicBezTo>
                    <a:pt x="167" y="7311"/>
                    <a:pt x="0" y="7478"/>
                    <a:pt x="0" y="7668"/>
                  </a:cubicBezTo>
                  <a:lnTo>
                    <a:pt x="0" y="8037"/>
                  </a:lnTo>
                  <a:cubicBezTo>
                    <a:pt x="0" y="8335"/>
                    <a:pt x="238" y="8573"/>
                    <a:pt x="536" y="8573"/>
                  </a:cubicBezTo>
                  <a:lnTo>
                    <a:pt x="11133" y="8573"/>
                  </a:lnTo>
                  <a:cubicBezTo>
                    <a:pt x="11430" y="8573"/>
                    <a:pt x="11668" y="8335"/>
                    <a:pt x="11668" y="8037"/>
                  </a:cubicBezTo>
                  <a:lnTo>
                    <a:pt x="11668" y="7668"/>
                  </a:lnTo>
                  <a:cubicBezTo>
                    <a:pt x="11668" y="7478"/>
                    <a:pt x="11525" y="7311"/>
                    <a:pt x="11335" y="7311"/>
                  </a:cubicBezTo>
                  <a:lnTo>
                    <a:pt x="11133" y="7311"/>
                  </a:lnTo>
                  <a:lnTo>
                    <a:pt x="11133" y="536"/>
                  </a:lnTo>
                  <a:cubicBezTo>
                    <a:pt x="11133" y="239"/>
                    <a:pt x="10894" y="1"/>
                    <a:pt x="1059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5" name="Google Shape;155;p3"/>
          <p:cNvSpPr/>
          <p:nvPr/>
        </p:nvSpPr>
        <p:spPr>
          <a:xfrm>
            <a:off x="1150780" y="2572882"/>
            <a:ext cx="9936936" cy="925338"/>
          </a:xfrm>
          <a:prstGeom prst="roundRect">
            <a:avLst>
              <a:gd name="adj" fmla="val 16667"/>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02060"/>
              </a:buClr>
              <a:buSzPts val="2000"/>
              <a:buFont typeface="Calibri"/>
              <a:buNone/>
            </a:pPr>
            <a:r>
              <a:rPr lang="en-US" sz="2000" b="0" i="0" u="none" strike="noStrike" cap="none" dirty="0">
                <a:solidFill>
                  <a:srgbClr val="002060"/>
                </a:solidFill>
                <a:highlight>
                  <a:srgbClr val="FFFF00"/>
                </a:highlight>
                <a:latin typeface="Calibri"/>
                <a:ea typeface="Calibri"/>
                <a:cs typeface="Calibri"/>
                <a:sym typeface="Calibri"/>
              </a:rPr>
              <a:t>Luring</a:t>
            </a:r>
            <a:r>
              <a:rPr lang="en-US" sz="2000" b="0" i="0" u="none" strike="noStrike" cap="none" dirty="0">
                <a:solidFill>
                  <a:srgbClr val="002060"/>
                </a:solidFill>
                <a:latin typeface="Calibri"/>
                <a:ea typeface="Calibri"/>
                <a:cs typeface="Calibri"/>
                <a:sym typeface="Calibri"/>
              </a:rPr>
              <a:t> / Daring *</a:t>
            </a:r>
            <a:endParaRPr sz="1800" b="0" i="0" u="none" strike="noStrike" cap="none" dirty="0">
              <a:solidFill>
                <a:schemeClr val="dk1"/>
              </a:solidFill>
              <a:latin typeface="Calibri"/>
              <a:ea typeface="Calibri"/>
              <a:cs typeface="Calibri"/>
              <a:sym typeface="Calibri"/>
            </a:endParaRPr>
          </a:p>
        </p:txBody>
      </p:sp>
      <p:sp>
        <p:nvSpPr>
          <p:cNvPr id="156" name="Google Shape;156;p3"/>
          <p:cNvSpPr/>
          <p:nvPr/>
        </p:nvSpPr>
        <p:spPr>
          <a:xfrm>
            <a:off x="1190026" y="3766765"/>
            <a:ext cx="9936936" cy="925338"/>
          </a:xfrm>
          <a:prstGeom prst="roundRect">
            <a:avLst>
              <a:gd name="adj" fmla="val 16667"/>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02060"/>
              </a:buClr>
              <a:buSzPts val="2000"/>
              <a:buFont typeface="Calibri"/>
              <a:buNone/>
            </a:pPr>
            <a:r>
              <a:rPr lang="en-US" sz="2000" b="0" i="0" u="none" strike="noStrike" cap="none" dirty="0" err="1">
                <a:solidFill>
                  <a:srgbClr val="002060"/>
                </a:solidFill>
                <a:highlight>
                  <a:srgbClr val="FFFF00"/>
                </a:highlight>
                <a:latin typeface="Calibri"/>
                <a:ea typeface="Calibri"/>
                <a:cs typeface="Calibri"/>
                <a:sym typeface="Calibri"/>
              </a:rPr>
              <a:t>Menggunakan</a:t>
            </a:r>
            <a:r>
              <a:rPr lang="en-US" sz="2000" b="0" i="0" u="none" strike="noStrike" cap="none" dirty="0">
                <a:solidFill>
                  <a:srgbClr val="002060"/>
                </a:solidFill>
                <a:highlight>
                  <a:srgbClr val="FFFF00"/>
                </a:highlight>
                <a:latin typeface="Calibri"/>
                <a:ea typeface="Calibri"/>
                <a:cs typeface="Calibri"/>
                <a:sym typeface="Calibri"/>
              </a:rPr>
              <a:t> SIPADU-NG, Google Classroom</a:t>
            </a:r>
            <a:endParaRPr sz="1800" b="0" i="0" u="none" strike="noStrike" cap="none" dirty="0">
              <a:solidFill>
                <a:schemeClr val="dk1"/>
              </a:solidFill>
              <a:highlight>
                <a:srgbClr val="FFFF00"/>
              </a:highlight>
              <a:latin typeface="Calibri"/>
              <a:ea typeface="Calibri"/>
              <a:cs typeface="Calibri"/>
              <a:sym typeface="Calibri"/>
            </a:endParaRPr>
          </a:p>
        </p:txBody>
      </p:sp>
      <p:sp>
        <p:nvSpPr>
          <p:cNvPr id="157" name="Google Shape;157;p3"/>
          <p:cNvSpPr/>
          <p:nvPr/>
        </p:nvSpPr>
        <p:spPr>
          <a:xfrm>
            <a:off x="1165387" y="5168946"/>
            <a:ext cx="9936936" cy="925338"/>
          </a:xfrm>
          <a:prstGeom prst="roundRect">
            <a:avLst>
              <a:gd name="adj" fmla="val 16667"/>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02060"/>
              </a:buClr>
              <a:buSzPts val="2000"/>
              <a:buFont typeface="Calibri"/>
              <a:buNone/>
            </a:pPr>
            <a:r>
              <a:rPr lang="en-US" sz="2000" b="0" i="0" u="none" strike="noStrike" cap="none" dirty="0">
                <a:solidFill>
                  <a:srgbClr val="002060"/>
                </a:solidFill>
                <a:latin typeface="Calibri"/>
                <a:ea typeface="Calibri"/>
                <a:cs typeface="Calibri"/>
                <a:sym typeface="Calibri"/>
              </a:rPr>
              <a:t>Media </a:t>
            </a:r>
            <a:r>
              <a:rPr lang="en-US" sz="2000" b="0" i="0" u="none" strike="noStrike" cap="none" dirty="0" err="1">
                <a:solidFill>
                  <a:srgbClr val="002060"/>
                </a:solidFill>
                <a:latin typeface="Calibri"/>
                <a:ea typeface="Calibri"/>
                <a:cs typeface="Calibri"/>
                <a:sym typeface="Calibri"/>
              </a:rPr>
              <a:t>sinkronus</a:t>
            </a:r>
            <a:r>
              <a:rPr lang="en-US" sz="2000" b="0" i="0" u="none" strike="noStrike" cap="none" dirty="0">
                <a:solidFill>
                  <a:srgbClr val="002060"/>
                </a:solidFill>
                <a:latin typeface="Calibri"/>
                <a:ea typeface="Calibri"/>
                <a:cs typeface="Calibri"/>
                <a:sym typeface="Calibri"/>
              </a:rPr>
              <a:t>: Microsoft Teams/Google meet/</a:t>
            </a:r>
            <a:r>
              <a:rPr lang="en-US" sz="2000" b="0" i="0" u="none" strike="noStrike" cap="none" dirty="0">
                <a:solidFill>
                  <a:srgbClr val="002060"/>
                </a:solidFill>
                <a:highlight>
                  <a:srgbClr val="FFFF00"/>
                </a:highlight>
                <a:latin typeface="Calibri"/>
                <a:ea typeface="Calibri"/>
                <a:cs typeface="Calibri"/>
                <a:sym typeface="Calibri"/>
              </a:rPr>
              <a:t>Zoom</a:t>
            </a:r>
            <a:r>
              <a:rPr lang="en-US" sz="2000" b="0" i="0" u="none" strike="noStrike" cap="none" dirty="0">
                <a:solidFill>
                  <a:srgbClr val="002060"/>
                </a:solidFill>
                <a:latin typeface="Calibri"/>
                <a:ea typeface="Calibri"/>
                <a:cs typeface="Calibri"/>
                <a:sym typeface="Calibri"/>
              </a:rPr>
              <a:t>*</a:t>
            </a:r>
            <a:endParaRPr sz="1800" b="0" i="0" u="none" strike="noStrike" cap="none" dirty="0">
              <a:solidFill>
                <a:schemeClr val="dk1"/>
              </a:solidFill>
              <a:latin typeface="Calibri"/>
              <a:ea typeface="Calibri"/>
              <a:cs typeface="Calibri"/>
              <a:sym typeface="Calibri"/>
            </a:endParaRPr>
          </a:p>
        </p:txBody>
      </p:sp>
      <p:sp>
        <p:nvSpPr>
          <p:cNvPr id="158" name="Google Shape;158;p3"/>
          <p:cNvSpPr txBox="1"/>
          <p:nvPr/>
        </p:nvSpPr>
        <p:spPr>
          <a:xfrm>
            <a:off x="1013075" y="6309695"/>
            <a:ext cx="398200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2060"/>
                </a:solidFill>
                <a:latin typeface="Calibri"/>
                <a:ea typeface="Calibri"/>
                <a:cs typeface="Calibri"/>
                <a:sym typeface="Calibri"/>
              </a:rPr>
              <a:t>* Pilih salah satu</a:t>
            </a:r>
            <a:endParaRPr sz="1800">
              <a:solidFill>
                <a:srgbClr val="00206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4"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165" name="Google Shape;165;p4"/>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 name="Google Shape;166;p4"/>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 name="Google Shape;167;p4"/>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68" name="Google Shape;168;p4"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169" name="Google Shape;169;p4"/>
          <p:cNvSpPr/>
          <p:nvPr/>
        </p:nvSpPr>
        <p:spPr>
          <a:xfrm>
            <a:off x="10308388" y="15041"/>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 name="Google Shape;170;p4"/>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 name="Google Shape;171;p4"/>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6</a:t>
            </a:fld>
            <a:endParaRPr sz="2400" b="1">
              <a:solidFill>
                <a:srgbClr val="1B449C"/>
              </a:solidFill>
            </a:endParaRPr>
          </a:p>
        </p:txBody>
      </p:sp>
      <p:sp>
        <p:nvSpPr>
          <p:cNvPr id="172" name="Google Shape;172;p4"/>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4"/>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174" name="Google Shape;174;p4"/>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75" name="Google Shape;175;p4"/>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DESKRIPSI MATA KULIAH</a:t>
            </a:r>
            <a:endParaRPr sz="3600" b="1">
              <a:solidFill>
                <a:schemeClr val="lt1"/>
              </a:solidFill>
              <a:latin typeface="Calibri"/>
              <a:ea typeface="Calibri"/>
              <a:cs typeface="Calibri"/>
              <a:sym typeface="Calibri"/>
            </a:endParaRPr>
          </a:p>
        </p:txBody>
      </p:sp>
      <p:sp>
        <p:nvSpPr>
          <p:cNvPr id="176" name="Google Shape;176;p4"/>
          <p:cNvSpPr txBox="1"/>
          <p:nvPr/>
        </p:nvSpPr>
        <p:spPr>
          <a:xfrm>
            <a:off x="412629" y="925302"/>
            <a:ext cx="9689608" cy="600160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rgbClr val="002060"/>
                </a:solidFill>
                <a:latin typeface="Calibri"/>
                <a:ea typeface="Calibri"/>
                <a:cs typeface="Calibri"/>
                <a:sym typeface="Calibri"/>
              </a:rPr>
              <a:t>Mata </a:t>
            </a:r>
            <a:r>
              <a:rPr lang="en-US" sz="2400" dirty="0" err="1">
                <a:solidFill>
                  <a:srgbClr val="002060"/>
                </a:solidFill>
                <a:latin typeface="Calibri"/>
                <a:ea typeface="Calibri"/>
                <a:cs typeface="Calibri"/>
                <a:sym typeface="Calibri"/>
              </a:rPr>
              <a:t>Kuliah</a:t>
            </a:r>
            <a:r>
              <a:rPr lang="en-US" sz="2400" dirty="0">
                <a:solidFill>
                  <a:srgbClr val="002060"/>
                </a:solidFill>
                <a:latin typeface="Calibri"/>
                <a:ea typeface="Calibri"/>
                <a:cs typeface="Calibri"/>
                <a:sym typeface="Calibri"/>
              </a:rPr>
              <a:t> Official Statistics </a:t>
            </a:r>
            <a:r>
              <a:rPr lang="en-US" sz="2400" dirty="0" err="1">
                <a:solidFill>
                  <a:srgbClr val="002060"/>
                </a:solidFill>
                <a:latin typeface="Calibri"/>
                <a:ea typeface="Calibri"/>
                <a:cs typeface="Calibri"/>
                <a:sym typeface="Calibri"/>
              </a:rPr>
              <a:t>dengan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kode</a:t>
            </a:r>
            <a:r>
              <a:rPr lang="en-US" sz="2400" dirty="0">
                <a:solidFill>
                  <a:srgbClr val="002060"/>
                </a:solidFill>
                <a:latin typeface="Calibri"/>
                <a:ea typeface="Calibri"/>
                <a:cs typeface="Calibri"/>
                <a:sym typeface="Calibri"/>
              </a:rPr>
              <a:t> K200207 </a:t>
            </a:r>
            <a:r>
              <a:rPr lang="en-US" sz="2400" dirty="0" err="1">
                <a:solidFill>
                  <a:srgbClr val="002060"/>
                </a:solidFill>
                <a:latin typeface="Calibri"/>
                <a:ea typeface="Calibri"/>
                <a:cs typeface="Calibri"/>
                <a:sym typeface="Calibri"/>
              </a:rPr>
              <a:t>adalah</a:t>
            </a:r>
            <a:r>
              <a:rPr lang="en-US" sz="2400" dirty="0">
                <a:solidFill>
                  <a:srgbClr val="002060"/>
                </a:solidFill>
                <a:latin typeface="Calibri"/>
                <a:ea typeface="Calibri"/>
                <a:cs typeface="Calibri"/>
                <a:sym typeface="Calibri"/>
              </a:rPr>
              <a:t> salah </a:t>
            </a:r>
            <a:r>
              <a:rPr lang="en-US" sz="2400" dirty="0" err="1">
                <a:solidFill>
                  <a:srgbClr val="002060"/>
                </a:solidFill>
                <a:latin typeface="Calibri"/>
                <a:ea typeface="Calibri"/>
                <a:cs typeface="Calibri"/>
                <a:sym typeface="Calibri"/>
              </a:rPr>
              <a:t>satu</a:t>
            </a:r>
            <a:r>
              <a:rPr lang="en-US" sz="2400" dirty="0">
                <a:solidFill>
                  <a:srgbClr val="002060"/>
                </a:solidFill>
                <a:latin typeface="Calibri"/>
                <a:ea typeface="Calibri"/>
                <a:cs typeface="Calibri"/>
                <a:sym typeface="Calibri"/>
              </a:rPr>
              <a:t> </a:t>
            </a:r>
            <a:r>
              <a:rPr lang="en-US" sz="2400" b="1" dirty="0">
                <a:solidFill>
                  <a:srgbClr val="FF0000"/>
                </a:solidFill>
                <a:latin typeface="Calibri"/>
                <a:ea typeface="Calibri"/>
                <a:cs typeface="Calibri"/>
                <a:sym typeface="Calibri"/>
              </a:rPr>
              <a:t>Mata </a:t>
            </a:r>
            <a:r>
              <a:rPr lang="en-US" sz="2400" b="1" dirty="0" err="1">
                <a:solidFill>
                  <a:srgbClr val="FF0000"/>
                </a:solidFill>
                <a:latin typeface="Calibri"/>
                <a:ea typeface="Calibri"/>
                <a:cs typeface="Calibri"/>
                <a:sym typeface="Calibri"/>
              </a:rPr>
              <a:t>Kuliah</a:t>
            </a:r>
            <a:r>
              <a:rPr lang="en-US" sz="2400" b="1" dirty="0">
                <a:solidFill>
                  <a:srgbClr val="FF0000"/>
                </a:solidFill>
                <a:latin typeface="Calibri"/>
                <a:ea typeface="Calibri"/>
                <a:cs typeface="Calibri"/>
                <a:sym typeface="Calibri"/>
              </a:rPr>
              <a:t> </a:t>
            </a:r>
            <a:r>
              <a:rPr lang="en-US" sz="2400" b="1" dirty="0" err="1">
                <a:solidFill>
                  <a:srgbClr val="FF0000"/>
                </a:solidFill>
                <a:latin typeface="Calibri"/>
                <a:ea typeface="Calibri"/>
                <a:cs typeface="Calibri"/>
                <a:sym typeface="Calibri"/>
              </a:rPr>
              <a:t>Wajib</a:t>
            </a:r>
            <a:r>
              <a:rPr lang="en-US" sz="2400" b="1" dirty="0">
                <a:solidFill>
                  <a:srgbClr val="FF0000"/>
                </a:solidFill>
                <a:latin typeface="Calibri"/>
                <a:ea typeface="Calibri"/>
                <a:cs typeface="Calibri"/>
                <a:sym typeface="Calibri"/>
              </a:rPr>
              <a:t> </a:t>
            </a:r>
            <a:r>
              <a:rPr lang="en-US" sz="2400" dirty="0" err="1">
                <a:solidFill>
                  <a:srgbClr val="002060"/>
                </a:solidFill>
                <a:latin typeface="Calibri"/>
                <a:ea typeface="Calibri"/>
                <a:cs typeface="Calibri"/>
                <a:sym typeface="Calibri"/>
              </a:rPr>
              <a:t>Institusi</a:t>
            </a:r>
            <a:r>
              <a:rPr lang="en-US" sz="2400" dirty="0">
                <a:solidFill>
                  <a:srgbClr val="002060"/>
                </a:solidFill>
                <a:latin typeface="Calibri"/>
                <a:ea typeface="Calibri"/>
                <a:cs typeface="Calibri"/>
                <a:sym typeface="Calibri"/>
              </a:rPr>
              <a:t> yang </a:t>
            </a:r>
            <a:r>
              <a:rPr lang="en-US" sz="2400" dirty="0" err="1">
                <a:solidFill>
                  <a:srgbClr val="002060"/>
                </a:solidFill>
                <a:latin typeface="Calibri"/>
                <a:ea typeface="Calibri"/>
                <a:cs typeface="Calibri"/>
                <a:sym typeface="Calibri"/>
              </a:rPr>
              <a:t>bertujuan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memberikan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penguasaan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pengetahuan</a:t>
            </a:r>
            <a:r>
              <a:rPr lang="en-US" sz="2400" dirty="0">
                <a:solidFill>
                  <a:srgbClr val="002060"/>
                </a:solidFill>
                <a:latin typeface="Calibri"/>
                <a:ea typeface="Calibri"/>
                <a:cs typeface="Calibri"/>
                <a:sym typeface="Calibri"/>
              </a:rPr>
              <a:t> dan </a:t>
            </a:r>
            <a:r>
              <a:rPr lang="en-US" sz="2400" dirty="0" err="1">
                <a:solidFill>
                  <a:srgbClr val="002060"/>
                </a:solidFill>
                <a:latin typeface="Calibri"/>
                <a:ea typeface="Calibri"/>
                <a:cs typeface="Calibri"/>
                <a:sym typeface="Calibri"/>
              </a:rPr>
              <a:t>keterampilan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tentang</a:t>
            </a:r>
            <a:r>
              <a:rPr lang="en-US" sz="2400" dirty="0">
                <a:solidFill>
                  <a:srgbClr val="002060"/>
                </a:solidFill>
                <a:latin typeface="Calibri"/>
                <a:ea typeface="Calibri"/>
                <a:cs typeface="Calibri"/>
                <a:sym typeface="Calibri"/>
              </a:rPr>
              <a:t> Official Statistics </a:t>
            </a:r>
            <a:r>
              <a:rPr lang="en-US" sz="2400" dirty="0" err="1">
                <a:solidFill>
                  <a:srgbClr val="002060"/>
                </a:solidFill>
                <a:latin typeface="Calibri"/>
                <a:ea typeface="Calibri"/>
                <a:cs typeface="Calibri"/>
                <a:sym typeface="Calibri"/>
              </a:rPr>
              <a:t>kepada</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mahasiswa</a:t>
            </a:r>
            <a:r>
              <a:rPr lang="en-US" sz="2400" dirty="0">
                <a:solidFill>
                  <a:srgbClr val="002060"/>
                </a:solidFill>
                <a:latin typeface="Calibri"/>
                <a:ea typeface="Calibri"/>
                <a:cs typeface="Calibri"/>
                <a:sym typeface="Calibri"/>
              </a:rPr>
              <a:t>. </a:t>
            </a:r>
            <a:r>
              <a:rPr lang="en-US" sz="2400" b="1" dirty="0" err="1">
                <a:solidFill>
                  <a:srgbClr val="FF0000"/>
                </a:solidFill>
                <a:latin typeface="Calibri"/>
                <a:ea typeface="Calibri"/>
                <a:cs typeface="Calibri"/>
                <a:sym typeface="Calibri"/>
              </a:rPr>
              <a:t>Kompetensi</a:t>
            </a:r>
            <a:r>
              <a:rPr lang="en-US" sz="2400" dirty="0">
                <a:solidFill>
                  <a:srgbClr val="002060"/>
                </a:solidFill>
                <a:latin typeface="Calibri"/>
                <a:ea typeface="Calibri"/>
                <a:cs typeface="Calibri"/>
                <a:sym typeface="Calibri"/>
              </a:rPr>
              <a:t> yang </a:t>
            </a:r>
            <a:r>
              <a:rPr lang="en-US" sz="2400" dirty="0" err="1">
                <a:solidFill>
                  <a:srgbClr val="002060"/>
                </a:solidFill>
                <a:latin typeface="Calibri"/>
                <a:ea typeface="Calibri"/>
                <a:cs typeface="Calibri"/>
                <a:sym typeface="Calibri"/>
              </a:rPr>
              <a:t>akan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dicapai</a:t>
            </a:r>
            <a:r>
              <a:rPr lang="en-US" sz="2400" dirty="0">
                <a:solidFill>
                  <a:srgbClr val="002060"/>
                </a:solidFill>
                <a:latin typeface="Calibri"/>
                <a:ea typeface="Calibri"/>
                <a:cs typeface="Calibri"/>
                <a:sym typeface="Calibri"/>
              </a:rPr>
              <a:t> dan </a:t>
            </a:r>
            <a:r>
              <a:rPr lang="en-US" sz="2400" dirty="0" err="1">
                <a:solidFill>
                  <a:srgbClr val="002060"/>
                </a:solidFill>
                <a:latin typeface="Calibri"/>
                <a:ea typeface="Calibri"/>
                <a:cs typeface="Calibri"/>
                <a:sym typeface="Calibri"/>
              </a:rPr>
              <a:t>dikuasai</a:t>
            </a:r>
            <a:r>
              <a:rPr lang="en-US" sz="2400" dirty="0">
                <a:solidFill>
                  <a:srgbClr val="002060"/>
                </a:solidFill>
                <a:latin typeface="Calibri"/>
                <a:ea typeface="Calibri"/>
                <a:cs typeface="Calibri"/>
                <a:sym typeface="Calibri"/>
              </a:rPr>
              <a:t> oleh </a:t>
            </a:r>
            <a:r>
              <a:rPr lang="en-US" sz="2400" dirty="0" err="1">
                <a:solidFill>
                  <a:srgbClr val="002060"/>
                </a:solidFill>
                <a:latin typeface="Calibri"/>
                <a:ea typeface="Calibri"/>
                <a:cs typeface="Calibri"/>
                <a:sym typeface="Calibri"/>
              </a:rPr>
              <a:t>mahasiswa</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yaitu</a:t>
            </a:r>
            <a:r>
              <a:rPr lang="en-US" sz="2400" dirty="0">
                <a:solidFill>
                  <a:srgbClr val="002060"/>
                </a:solidFill>
                <a:latin typeface="Calibri"/>
                <a:ea typeface="Calibri"/>
                <a:cs typeface="Calibri"/>
                <a:sym typeface="Calibri"/>
              </a:rPr>
              <a:t> Mampu </a:t>
            </a:r>
            <a:r>
              <a:rPr lang="en-US" sz="2400" dirty="0" err="1">
                <a:solidFill>
                  <a:srgbClr val="002060"/>
                </a:solidFill>
                <a:latin typeface="Calibri"/>
                <a:ea typeface="Calibri"/>
                <a:cs typeface="Calibri"/>
                <a:sym typeface="Calibri"/>
              </a:rPr>
              <a:t>melakukan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analisis</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penyajian</a:t>
            </a:r>
            <a:r>
              <a:rPr lang="en-US" sz="2400" dirty="0">
                <a:solidFill>
                  <a:srgbClr val="002060"/>
                </a:solidFill>
                <a:latin typeface="Calibri"/>
                <a:ea typeface="Calibri"/>
                <a:cs typeface="Calibri"/>
                <a:sym typeface="Calibri"/>
              </a:rPr>
              <a:t>, dan </a:t>
            </a:r>
            <a:r>
              <a:rPr lang="en-US" sz="2400" dirty="0" err="1">
                <a:solidFill>
                  <a:srgbClr val="002060"/>
                </a:solidFill>
                <a:latin typeface="Calibri"/>
                <a:ea typeface="Calibri"/>
                <a:cs typeface="Calibri"/>
                <a:sym typeface="Calibri"/>
              </a:rPr>
              <a:t>interpretasi</a:t>
            </a:r>
            <a:r>
              <a:rPr lang="en-US" sz="2400" dirty="0">
                <a:solidFill>
                  <a:srgbClr val="002060"/>
                </a:solidFill>
                <a:latin typeface="Calibri"/>
                <a:ea typeface="Calibri"/>
                <a:cs typeface="Calibri"/>
                <a:sym typeface="Calibri"/>
              </a:rPr>
              <a:t> data official statistics dan Mampu </a:t>
            </a:r>
            <a:r>
              <a:rPr lang="en-US" sz="2400" dirty="0" err="1">
                <a:solidFill>
                  <a:srgbClr val="002060"/>
                </a:solidFill>
                <a:latin typeface="Calibri"/>
                <a:ea typeface="Calibri"/>
                <a:cs typeface="Calibri"/>
                <a:sym typeface="Calibri"/>
              </a:rPr>
              <a:t>mengkaji</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kasus</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penerapan</a:t>
            </a:r>
            <a:r>
              <a:rPr lang="en-US" sz="2400" dirty="0">
                <a:solidFill>
                  <a:srgbClr val="002060"/>
                </a:solidFill>
                <a:latin typeface="Calibri"/>
                <a:ea typeface="Calibri"/>
                <a:cs typeface="Calibri"/>
                <a:sym typeface="Calibri"/>
              </a:rPr>
              <a:t> official statistics dan </a:t>
            </a:r>
            <a:r>
              <a:rPr lang="en-US" sz="2400" dirty="0" err="1">
                <a:solidFill>
                  <a:srgbClr val="002060"/>
                </a:solidFill>
                <a:latin typeface="Calibri"/>
                <a:ea typeface="Calibri"/>
                <a:cs typeface="Calibri"/>
                <a:sym typeface="Calibri"/>
              </a:rPr>
              <a:t>menyusun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hasil</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kajiannya</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dalam</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bentuk</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kertas</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kerja</a:t>
            </a:r>
            <a:r>
              <a:rPr lang="en-US" sz="2400" dirty="0">
                <a:solidFill>
                  <a:srgbClr val="002060"/>
                </a:solidFill>
                <a:latin typeface="Calibri"/>
                <a:ea typeface="Calibri"/>
                <a:cs typeface="Calibri"/>
                <a:sym typeface="Calibri"/>
              </a:rPr>
              <a:t>. Pada </a:t>
            </a:r>
            <a:r>
              <a:rPr lang="en-US" sz="2400" dirty="0" err="1">
                <a:solidFill>
                  <a:srgbClr val="002060"/>
                </a:solidFill>
                <a:latin typeface="Calibri"/>
                <a:ea typeface="Calibri"/>
                <a:cs typeface="Calibri"/>
                <a:sym typeface="Calibri"/>
              </a:rPr>
              <a:t>mata</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kuliah</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ini</a:t>
            </a:r>
            <a:r>
              <a:rPr lang="en-US" sz="2400" dirty="0">
                <a:solidFill>
                  <a:srgbClr val="002060"/>
                </a:solidFill>
                <a:latin typeface="Calibri"/>
                <a:ea typeface="Calibri"/>
                <a:cs typeface="Calibri"/>
                <a:sym typeface="Calibri"/>
              </a:rPr>
              <a:t> proses </a:t>
            </a:r>
            <a:r>
              <a:rPr lang="en-US" sz="2400" dirty="0" err="1">
                <a:solidFill>
                  <a:srgbClr val="002060"/>
                </a:solidFill>
                <a:latin typeface="Calibri"/>
                <a:ea typeface="Calibri"/>
                <a:cs typeface="Calibri"/>
                <a:sym typeface="Calibri"/>
              </a:rPr>
              <a:t>pembelajaran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dilakukan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dengan</a:t>
            </a:r>
            <a:r>
              <a:rPr lang="en-US" sz="2400" dirty="0">
                <a:solidFill>
                  <a:srgbClr val="002060"/>
                </a:solidFill>
                <a:latin typeface="Calibri"/>
                <a:ea typeface="Calibri"/>
                <a:cs typeface="Calibri"/>
                <a:sym typeface="Calibri"/>
              </a:rPr>
              <a:t> </a:t>
            </a:r>
            <a:r>
              <a:rPr lang="en-US" sz="2400" b="1" dirty="0">
                <a:solidFill>
                  <a:srgbClr val="FF0000"/>
                </a:solidFill>
                <a:latin typeface="Calibri"/>
                <a:ea typeface="Calibri"/>
                <a:cs typeface="Calibri"/>
                <a:sym typeface="Calibri"/>
              </a:rPr>
              <a:t>blended learning </a:t>
            </a:r>
            <a:r>
              <a:rPr lang="en-US" sz="2400" dirty="0" err="1">
                <a:solidFill>
                  <a:srgbClr val="002060"/>
                </a:solidFill>
                <a:latin typeface="Calibri"/>
                <a:ea typeface="Calibri"/>
                <a:cs typeface="Calibri"/>
                <a:sym typeface="Calibri"/>
              </a:rPr>
              <a:t>dengan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metode</a:t>
            </a:r>
            <a:r>
              <a:rPr lang="en-US" sz="2400" dirty="0">
                <a:solidFill>
                  <a:srgbClr val="002060"/>
                </a:solidFill>
                <a:latin typeface="Calibri"/>
                <a:ea typeface="Calibri"/>
                <a:cs typeface="Calibri"/>
                <a:sym typeface="Calibri"/>
              </a:rPr>
              <a:t> </a:t>
            </a:r>
            <a:r>
              <a:rPr lang="en-US" sz="2400" b="1" dirty="0" err="1">
                <a:solidFill>
                  <a:srgbClr val="002060"/>
                </a:solidFill>
                <a:latin typeface="Calibri"/>
                <a:ea typeface="Calibri"/>
                <a:cs typeface="Calibri"/>
                <a:sym typeface="Calibri"/>
              </a:rPr>
              <a:t>pembelajaran</a:t>
            </a:r>
            <a:r>
              <a:rPr lang="en-US" sz="2400" b="1" dirty="0">
                <a:solidFill>
                  <a:srgbClr val="002060"/>
                </a:solidFill>
                <a:latin typeface="Calibri"/>
                <a:ea typeface="Calibri"/>
                <a:cs typeface="Calibri"/>
                <a:sym typeface="Calibri"/>
              </a:rPr>
              <a:t> </a:t>
            </a:r>
            <a:r>
              <a:rPr lang="en-US" sz="2400" b="1" dirty="0" err="1">
                <a:solidFill>
                  <a:srgbClr val="002060"/>
                </a:solidFill>
                <a:latin typeface="Calibri"/>
                <a:ea typeface="Calibri"/>
                <a:cs typeface="Calibri"/>
                <a:sym typeface="Calibri"/>
              </a:rPr>
              <a:t>kelompok</a:t>
            </a:r>
            <a:r>
              <a:rPr lang="en-US" sz="2400" b="1" dirty="0">
                <a:solidFill>
                  <a:srgbClr val="002060"/>
                </a:solidFill>
                <a:latin typeface="Calibri"/>
                <a:ea typeface="Calibri"/>
                <a:cs typeface="Calibri"/>
                <a:sym typeface="Calibri"/>
              </a:rPr>
              <a:t> </a:t>
            </a:r>
            <a:r>
              <a:rPr lang="en-US" sz="2400" b="1" dirty="0" err="1">
                <a:solidFill>
                  <a:srgbClr val="002060"/>
                </a:solidFill>
                <a:latin typeface="Calibri"/>
                <a:ea typeface="Calibri"/>
                <a:cs typeface="Calibri"/>
                <a:sym typeface="Calibri"/>
              </a:rPr>
              <a:t>berbasis</a:t>
            </a:r>
            <a:r>
              <a:rPr lang="en-US" sz="2400" b="1" dirty="0">
                <a:solidFill>
                  <a:srgbClr val="002060"/>
                </a:solidFill>
                <a:latin typeface="Calibri"/>
                <a:ea typeface="Calibri"/>
                <a:cs typeface="Calibri"/>
                <a:sym typeface="Calibri"/>
              </a:rPr>
              <a:t> </a:t>
            </a:r>
            <a:r>
              <a:rPr lang="en-US" sz="2400" b="1" dirty="0" err="1">
                <a:solidFill>
                  <a:srgbClr val="002060"/>
                </a:solidFill>
                <a:latin typeface="Calibri"/>
                <a:ea typeface="Calibri"/>
                <a:cs typeface="Calibri"/>
                <a:sym typeface="Calibri"/>
              </a:rPr>
              <a:t>kasus</a:t>
            </a:r>
            <a:r>
              <a:rPr lang="en-US" sz="2400" b="1" dirty="0">
                <a:solidFill>
                  <a:srgbClr val="002060"/>
                </a:solidFill>
                <a:latin typeface="Calibri"/>
                <a:ea typeface="Calibri"/>
                <a:cs typeface="Calibri"/>
                <a:sym typeface="Calibri"/>
              </a:rPr>
              <a:t> </a:t>
            </a:r>
            <a:r>
              <a:rPr lang="en-US" sz="2400" dirty="0">
                <a:solidFill>
                  <a:srgbClr val="002060"/>
                </a:solidFill>
                <a:latin typeface="Calibri"/>
                <a:ea typeface="Calibri"/>
                <a:cs typeface="Calibri"/>
                <a:sym typeface="Calibri"/>
              </a:rPr>
              <a:t>(</a:t>
            </a:r>
            <a:r>
              <a:rPr lang="en-US" sz="2400" i="1" dirty="0">
                <a:solidFill>
                  <a:srgbClr val="002060"/>
                </a:solidFill>
                <a:latin typeface="Calibri"/>
                <a:ea typeface="Calibri"/>
                <a:cs typeface="Calibri"/>
                <a:sym typeface="Calibri"/>
              </a:rPr>
              <a:t>team-based cases learning</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Kemudian</a:t>
            </a:r>
            <a:r>
              <a:rPr lang="en-US" sz="2400" dirty="0">
                <a:solidFill>
                  <a:srgbClr val="002060"/>
                </a:solidFill>
                <a:latin typeface="Calibri"/>
                <a:ea typeface="Calibri"/>
                <a:cs typeface="Calibri"/>
                <a:sym typeface="Calibri"/>
              </a:rPr>
              <a:t>, </a:t>
            </a:r>
            <a:r>
              <a:rPr lang="en-US" sz="2400" i="1" dirty="0">
                <a:solidFill>
                  <a:srgbClr val="002060"/>
                </a:solidFill>
                <a:latin typeface="Calibri"/>
                <a:ea typeface="Calibri"/>
                <a:cs typeface="Calibri"/>
                <a:sym typeface="Calibri"/>
              </a:rPr>
              <a:t>blended learning </a:t>
            </a:r>
            <a:r>
              <a:rPr lang="en-US" sz="2400" dirty="0" err="1">
                <a:solidFill>
                  <a:srgbClr val="002060"/>
                </a:solidFill>
                <a:latin typeface="Calibri"/>
                <a:ea typeface="Calibri"/>
                <a:cs typeface="Calibri"/>
                <a:sym typeface="Calibri"/>
              </a:rPr>
              <a:t>dilaksanakan</a:t>
            </a:r>
            <a:r>
              <a:rPr lang="en-US" sz="2400" dirty="0">
                <a:solidFill>
                  <a:srgbClr val="002060"/>
                </a:solidFill>
                <a:latin typeface="Calibri"/>
                <a:ea typeface="Calibri"/>
                <a:cs typeface="Calibri"/>
                <a:sym typeface="Calibri"/>
              </a:rPr>
              <a:t> luring di </a:t>
            </a:r>
            <a:r>
              <a:rPr lang="en-US" sz="2400" dirty="0" err="1">
                <a:solidFill>
                  <a:srgbClr val="002060"/>
                </a:solidFill>
                <a:latin typeface="Calibri"/>
                <a:ea typeface="Calibri"/>
                <a:cs typeface="Calibri"/>
                <a:sym typeface="Calibri"/>
              </a:rPr>
              <a:t>kelas</a:t>
            </a:r>
            <a:r>
              <a:rPr lang="en-US" sz="2400" dirty="0">
                <a:solidFill>
                  <a:srgbClr val="002060"/>
                </a:solidFill>
                <a:latin typeface="Calibri"/>
                <a:ea typeface="Calibri"/>
                <a:cs typeface="Calibri"/>
                <a:sym typeface="Calibri"/>
              </a:rPr>
              <a:t> dan/</a:t>
            </a:r>
            <a:r>
              <a:rPr lang="en-US" sz="2400" dirty="0" err="1">
                <a:solidFill>
                  <a:srgbClr val="002060"/>
                </a:solidFill>
                <a:latin typeface="Calibri"/>
                <a:ea typeface="Calibri"/>
                <a:cs typeface="Calibri"/>
                <a:sym typeface="Calibri"/>
              </a:rPr>
              <a:t>atau</a:t>
            </a:r>
            <a:r>
              <a:rPr lang="en-US" sz="2400" dirty="0">
                <a:solidFill>
                  <a:srgbClr val="002060"/>
                </a:solidFill>
                <a:latin typeface="Calibri"/>
                <a:ea typeface="Calibri"/>
                <a:cs typeface="Calibri"/>
                <a:sym typeface="Calibri"/>
              </a:rPr>
              <a:t> LMS </a:t>
            </a:r>
            <a:r>
              <a:rPr lang="en-US" sz="2400" dirty="0" err="1">
                <a:solidFill>
                  <a:srgbClr val="002060"/>
                </a:solidFill>
                <a:latin typeface="Calibri"/>
                <a:ea typeface="Calibri"/>
                <a:cs typeface="Calibri"/>
                <a:sym typeface="Calibri"/>
              </a:rPr>
              <a:t>Politeknik</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Statistika</a:t>
            </a:r>
            <a:r>
              <a:rPr lang="en-US" sz="2400" dirty="0">
                <a:solidFill>
                  <a:srgbClr val="002060"/>
                </a:solidFill>
                <a:latin typeface="Calibri"/>
                <a:ea typeface="Calibri"/>
                <a:cs typeface="Calibri"/>
                <a:sym typeface="Calibri"/>
              </a:rPr>
              <a:t> STIS, </a:t>
            </a:r>
            <a:r>
              <a:rPr lang="en-US" sz="2400" dirty="0" err="1">
                <a:solidFill>
                  <a:srgbClr val="002060"/>
                </a:solidFill>
                <a:latin typeface="Calibri"/>
                <a:ea typeface="Calibri"/>
                <a:cs typeface="Calibri"/>
                <a:sym typeface="Calibri"/>
              </a:rPr>
              <a:t>sedangkan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secara</a:t>
            </a:r>
            <a:r>
              <a:rPr lang="en-US" sz="2400" dirty="0">
                <a:solidFill>
                  <a:srgbClr val="002060"/>
                </a:solidFill>
                <a:latin typeface="Calibri"/>
                <a:ea typeface="Calibri"/>
                <a:cs typeface="Calibri"/>
                <a:sym typeface="Calibri"/>
              </a:rPr>
              <a:t> daring </a:t>
            </a:r>
            <a:r>
              <a:rPr lang="en-US" sz="2400" dirty="0" err="1">
                <a:solidFill>
                  <a:srgbClr val="002060"/>
                </a:solidFill>
                <a:latin typeface="Calibri"/>
                <a:ea typeface="Calibri"/>
                <a:cs typeface="Calibri"/>
                <a:sym typeface="Calibri"/>
              </a:rPr>
              <a:t>menggunakan</a:t>
            </a:r>
            <a:r>
              <a:rPr lang="en-US" sz="2400" dirty="0">
                <a:solidFill>
                  <a:srgbClr val="002060"/>
                </a:solidFill>
                <a:latin typeface="Calibri"/>
                <a:ea typeface="Calibri"/>
                <a:cs typeface="Calibri"/>
                <a:sym typeface="Calibri"/>
              </a:rPr>
              <a:t> Zoom Cloud Meeting. </a:t>
            </a:r>
            <a:r>
              <a:rPr lang="en-US" sz="2400" dirty="0" err="1">
                <a:solidFill>
                  <a:srgbClr val="002060"/>
                </a:solidFill>
                <a:latin typeface="Calibri"/>
                <a:ea typeface="Calibri"/>
                <a:cs typeface="Calibri"/>
                <a:sym typeface="Calibri"/>
              </a:rPr>
              <a:t>Penilaian</a:t>
            </a:r>
            <a:r>
              <a:rPr lang="en-US" sz="2400" dirty="0">
                <a:solidFill>
                  <a:srgbClr val="002060"/>
                </a:solidFill>
                <a:latin typeface="Calibri"/>
                <a:ea typeface="Calibri"/>
                <a:cs typeface="Calibri"/>
                <a:sym typeface="Calibri"/>
              </a:rPr>
              <a:t> Mata </a:t>
            </a:r>
            <a:r>
              <a:rPr lang="en-US" sz="2400" dirty="0" err="1">
                <a:solidFill>
                  <a:srgbClr val="002060"/>
                </a:solidFill>
                <a:latin typeface="Calibri"/>
                <a:ea typeface="Calibri"/>
                <a:cs typeface="Calibri"/>
                <a:sym typeface="Calibri"/>
              </a:rPr>
              <a:t>Kuliah</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ini</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bersumber</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dari</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penyelesaian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tugas</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keaktifan</a:t>
            </a:r>
            <a:r>
              <a:rPr lang="en-US" sz="2400" dirty="0">
                <a:solidFill>
                  <a:srgbClr val="002060"/>
                </a:solidFill>
                <a:latin typeface="Calibri"/>
                <a:ea typeface="Calibri"/>
                <a:cs typeface="Calibri"/>
                <a:sym typeface="Calibri"/>
              </a:rPr>
              <a:t> di </a:t>
            </a:r>
            <a:r>
              <a:rPr lang="en-US" sz="2400" dirty="0" err="1">
                <a:solidFill>
                  <a:srgbClr val="002060"/>
                </a:solidFill>
                <a:latin typeface="Calibri"/>
                <a:ea typeface="Calibri"/>
                <a:cs typeface="Calibri"/>
                <a:sym typeface="Calibri"/>
              </a:rPr>
              <a:t>kelas</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pelaksanaan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tugas</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ujian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tengah</a:t>
            </a:r>
            <a:r>
              <a:rPr lang="en-US" sz="2400" dirty="0">
                <a:solidFill>
                  <a:srgbClr val="002060"/>
                </a:solidFill>
                <a:latin typeface="Calibri"/>
                <a:ea typeface="Calibri"/>
                <a:cs typeface="Calibri"/>
                <a:sym typeface="Calibri"/>
              </a:rPr>
              <a:t> semester, dan </a:t>
            </a:r>
            <a:r>
              <a:rPr lang="en-US" sz="2400" dirty="0" err="1">
                <a:solidFill>
                  <a:srgbClr val="002060"/>
                </a:solidFill>
                <a:latin typeface="Calibri"/>
                <a:ea typeface="Calibri"/>
                <a:cs typeface="Calibri"/>
                <a:sym typeface="Calibri"/>
              </a:rPr>
              <a:t>ujian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akhir</a:t>
            </a:r>
            <a:r>
              <a:rPr lang="en-US" sz="2400" dirty="0">
                <a:solidFill>
                  <a:srgbClr val="002060"/>
                </a:solidFill>
                <a:latin typeface="Calibri"/>
                <a:ea typeface="Calibri"/>
                <a:cs typeface="Calibri"/>
                <a:sym typeface="Calibri"/>
              </a:rPr>
              <a:t> semester yang </a:t>
            </a:r>
            <a:r>
              <a:rPr lang="en-US" sz="2400" dirty="0" err="1">
                <a:solidFill>
                  <a:srgbClr val="002060"/>
                </a:solidFill>
                <a:latin typeface="Calibri"/>
                <a:ea typeface="Calibri"/>
                <a:cs typeface="Calibri"/>
                <a:sym typeface="Calibri"/>
              </a:rPr>
              <a:t>mencerminkan</a:t>
            </a:r>
            <a:r>
              <a:rPr lang="en-US" sz="2400" dirty="0">
                <a:solidFill>
                  <a:srgbClr val="002060"/>
                </a:solidFill>
                <a:latin typeface="Calibri"/>
                <a:ea typeface="Calibri"/>
                <a:cs typeface="Calibri"/>
                <a:sym typeface="Calibri"/>
              </a:rPr>
              <a:t> CPL </a:t>
            </a:r>
            <a:r>
              <a:rPr lang="en-US" sz="2400" dirty="0" err="1">
                <a:solidFill>
                  <a:srgbClr val="002060"/>
                </a:solidFill>
                <a:latin typeface="Calibri"/>
                <a:ea typeface="Calibri"/>
                <a:cs typeface="Calibri"/>
                <a:sym typeface="Calibri"/>
              </a:rPr>
              <a:t>sikap</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pengetahuan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keterampilan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umum</a:t>
            </a:r>
            <a:r>
              <a:rPr lang="en-US" sz="2400" dirty="0">
                <a:solidFill>
                  <a:srgbClr val="002060"/>
                </a:solidFill>
                <a:latin typeface="Calibri"/>
                <a:ea typeface="Calibri"/>
                <a:cs typeface="Calibri"/>
                <a:sym typeface="Calibri"/>
              </a:rPr>
              <a:t>, dan </a:t>
            </a:r>
            <a:r>
              <a:rPr lang="en-US" sz="2400" dirty="0" err="1">
                <a:solidFill>
                  <a:srgbClr val="002060"/>
                </a:solidFill>
                <a:latin typeface="Calibri"/>
                <a:ea typeface="Calibri"/>
                <a:cs typeface="Calibri"/>
                <a:sym typeface="Calibri"/>
              </a:rPr>
              <a:t>keterampilan</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khusus</a:t>
            </a:r>
            <a:r>
              <a:rPr lang="en-US" sz="2400" dirty="0">
                <a:solidFill>
                  <a:srgbClr val="002060"/>
                </a:solidFill>
                <a:latin typeface="Calibri"/>
                <a:ea typeface="Calibri"/>
                <a:cs typeface="Calibri"/>
                <a:sym typeface="Calibri"/>
              </a:rPr>
              <a:t> yang </a:t>
            </a:r>
            <a:r>
              <a:rPr lang="en-US" sz="2400" dirty="0" err="1">
                <a:solidFill>
                  <a:srgbClr val="002060"/>
                </a:solidFill>
                <a:latin typeface="Calibri"/>
                <a:ea typeface="Calibri"/>
                <a:cs typeface="Calibri"/>
                <a:sym typeface="Calibri"/>
              </a:rPr>
              <a:t>dibebankan</a:t>
            </a:r>
            <a:r>
              <a:rPr lang="en-US" sz="2400" dirty="0">
                <a:solidFill>
                  <a:srgbClr val="002060"/>
                </a:solidFill>
                <a:latin typeface="Calibri"/>
                <a:ea typeface="Calibri"/>
                <a:cs typeface="Calibri"/>
                <a:sym typeface="Calibri"/>
              </a:rPr>
              <a:t> pada </a:t>
            </a:r>
            <a:r>
              <a:rPr lang="en-US" sz="2400" dirty="0" err="1">
                <a:solidFill>
                  <a:srgbClr val="002060"/>
                </a:solidFill>
                <a:latin typeface="Calibri"/>
                <a:ea typeface="Calibri"/>
                <a:cs typeface="Calibri"/>
                <a:sym typeface="Calibri"/>
              </a:rPr>
              <a:t>mata</a:t>
            </a:r>
            <a:r>
              <a:rPr lang="en-US" sz="2400" dirty="0">
                <a:solidFill>
                  <a:srgbClr val="002060"/>
                </a:solidFill>
                <a:latin typeface="Calibri"/>
                <a:ea typeface="Calibri"/>
                <a:cs typeface="Calibri"/>
                <a:sym typeface="Calibri"/>
              </a:rPr>
              <a:t> </a:t>
            </a:r>
            <a:r>
              <a:rPr lang="en-US" sz="2400" dirty="0" err="1">
                <a:solidFill>
                  <a:srgbClr val="002060"/>
                </a:solidFill>
                <a:latin typeface="Calibri"/>
                <a:ea typeface="Calibri"/>
                <a:cs typeface="Calibri"/>
                <a:sym typeface="Calibri"/>
              </a:rPr>
              <a:t>kuliah</a:t>
            </a:r>
            <a:r>
              <a:rPr lang="en-US" sz="2400" dirty="0">
                <a:solidFill>
                  <a:srgbClr val="002060"/>
                </a:solidFill>
                <a:latin typeface="Calibri"/>
                <a:ea typeface="Calibri"/>
                <a:cs typeface="Calibri"/>
                <a:sym typeface="Calibri"/>
              </a:rPr>
              <a:t>.</a:t>
            </a:r>
            <a:endParaRPr sz="2400"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pic>
        <p:nvPicPr>
          <p:cNvPr id="182" name="Google Shape;182;p5"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183" name="Google Shape;183;p5"/>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 name="Google Shape;184;p5"/>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5"/>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86" name="Google Shape;186;p5"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187" name="Google Shape;187;p5"/>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8" name="Google Shape;188;p5"/>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9" name="Google Shape;189;p5"/>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7</a:t>
            </a:fld>
            <a:endParaRPr sz="2400" b="1">
              <a:solidFill>
                <a:srgbClr val="1B449C"/>
              </a:solidFill>
            </a:endParaRPr>
          </a:p>
        </p:txBody>
      </p:sp>
      <p:sp>
        <p:nvSpPr>
          <p:cNvPr id="190" name="Google Shape;190;p5"/>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5"/>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192" name="Google Shape;192;p5"/>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93" name="Google Shape;193;p5"/>
          <p:cNvSpPr txBox="1"/>
          <p:nvPr/>
        </p:nvSpPr>
        <p:spPr>
          <a:xfrm>
            <a:off x="993886" y="95251"/>
            <a:ext cx="831177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CAPAIAN PEMBELAJARAN MATA KULIAH</a:t>
            </a:r>
            <a:endParaRPr sz="3600" b="1">
              <a:solidFill>
                <a:schemeClr val="lt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04A092BD-C4CE-6B8E-AF26-0D567E2FF8A2}"/>
              </a:ext>
            </a:extLst>
          </p:cNvPr>
          <p:cNvGraphicFramePr>
            <a:graphicFrameLocks noGrp="1"/>
          </p:cNvGraphicFramePr>
          <p:nvPr>
            <p:extLst>
              <p:ext uri="{D42A27DB-BD31-4B8C-83A1-F6EECF244321}">
                <p14:modId xmlns:p14="http://schemas.microsoft.com/office/powerpoint/2010/main" val="1949544170"/>
              </p:ext>
            </p:extLst>
          </p:nvPr>
        </p:nvGraphicFramePr>
        <p:xfrm>
          <a:off x="-7007713" y="1028586"/>
          <a:ext cx="6375343" cy="6406896"/>
        </p:xfrm>
        <a:graphic>
          <a:graphicData uri="http://schemas.openxmlformats.org/drawingml/2006/table">
            <a:tbl>
              <a:tblPr>
                <a:tableStyleId>{5E7D8076-AC5C-4AA6-9025-8190D0D164E4}</a:tableStyleId>
              </a:tblPr>
              <a:tblGrid>
                <a:gridCol w="458511">
                  <a:extLst>
                    <a:ext uri="{9D8B030D-6E8A-4147-A177-3AD203B41FA5}">
                      <a16:colId xmlns:a16="http://schemas.microsoft.com/office/drawing/2014/main" val="828914880"/>
                    </a:ext>
                  </a:extLst>
                </a:gridCol>
                <a:gridCol w="5916832">
                  <a:extLst>
                    <a:ext uri="{9D8B030D-6E8A-4147-A177-3AD203B41FA5}">
                      <a16:colId xmlns:a16="http://schemas.microsoft.com/office/drawing/2014/main" val="1485923233"/>
                    </a:ext>
                  </a:extLst>
                </a:gridCol>
              </a:tblGrid>
              <a:tr h="92075">
                <a:tc>
                  <a:txBody>
                    <a:bodyPr/>
                    <a:lstStyle/>
                    <a:p>
                      <a:pPr marL="0" marR="0">
                        <a:lnSpc>
                          <a:spcPct val="107000"/>
                        </a:lnSpc>
                        <a:spcBef>
                          <a:spcPts val="0"/>
                        </a:spcBef>
                        <a:spcAft>
                          <a:spcPts val="800"/>
                        </a:spcAft>
                      </a:pPr>
                      <a:r>
                        <a:rPr lang="id-ID" sz="2000" b="0" i="0" u="none" strike="noStrike" cap="none" dirty="0">
                          <a:solidFill>
                            <a:srgbClr val="002060"/>
                          </a:solidFill>
                          <a:latin typeface="Calibri"/>
                          <a:ea typeface="Calibri"/>
                          <a:cs typeface="Calibri"/>
                          <a:sym typeface="Arial"/>
                        </a:rPr>
                        <a:t>S1</a:t>
                      </a:r>
                      <a:endParaRPr lang="en-US" sz="2000" b="0" i="0" u="none" strike="noStrike" cap="none" dirty="0">
                        <a:solidFill>
                          <a:srgbClr val="002060"/>
                        </a:solidFill>
                        <a:latin typeface="Calibri"/>
                        <a:ea typeface="Calibri"/>
                        <a:cs typeface="Calibri"/>
                        <a:sym typeface="Arial"/>
                      </a:endParaRPr>
                    </a:p>
                  </a:txBody>
                  <a:tcPr marL="68580" marR="68580" marT="0" marB="0" anchor="ctr"/>
                </a:tc>
                <a:tc>
                  <a:txBody>
                    <a:bodyPr/>
                    <a:lstStyle/>
                    <a:p>
                      <a:pPr marL="0" marR="0">
                        <a:lnSpc>
                          <a:spcPct val="107000"/>
                        </a:lnSpc>
                        <a:spcBef>
                          <a:spcPts val="0"/>
                        </a:spcBef>
                        <a:spcAft>
                          <a:spcPts val="800"/>
                        </a:spcAft>
                      </a:pPr>
                      <a:r>
                        <a:rPr lang="id-ID" sz="2000" b="0" i="0" u="none" strike="noStrike" cap="none">
                          <a:solidFill>
                            <a:srgbClr val="002060"/>
                          </a:solidFill>
                          <a:latin typeface="Calibri"/>
                          <a:ea typeface="Calibri"/>
                          <a:cs typeface="Calibri"/>
                          <a:sym typeface="Arial"/>
                        </a:rPr>
                        <a:t>Memiliki sikap profesional dalam penerapan statistika</a:t>
                      </a:r>
                      <a:endParaRPr lang="en-US" sz="2000" b="0" i="0" u="none" strike="noStrike" cap="none">
                        <a:solidFill>
                          <a:srgbClr val="002060"/>
                        </a:solidFill>
                        <a:latin typeface="Calibri"/>
                        <a:ea typeface="Calibri"/>
                        <a:cs typeface="Calibri"/>
                        <a:sym typeface="Arial"/>
                      </a:endParaRPr>
                    </a:p>
                  </a:txBody>
                  <a:tcPr marL="68580" marR="68580" marT="0" marB="0"/>
                </a:tc>
                <a:extLst>
                  <a:ext uri="{0D108BD9-81ED-4DB2-BD59-A6C34878D82A}">
                    <a16:rowId xmlns:a16="http://schemas.microsoft.com/office/drawing/2014/main" val="1554886302"/>
                  </a:ext>
                </a:extLst>
              </a:tr>
              <a:tr h="92075">
                <a:tc>
                  <a:txBody>
                    <a:bodyPr/>
                    <a:lstStyle/>
                    <a:p>
                      <a:pPr marL="0" marR="0">
                        <a:lnSpc>
                          <a:spcPct val="107000"/>
                        </a:lnSpc>
                        <a:spcBef>
                          <a:spcPts val="0"/>
                        </a:spcBef>
                        <a:spcAft>
                          <a:spcPts val="800"/>
                        </a:spcAft>
                      </a:pPr>
                      <a:r>
                        <a:rPr lang="id-ID" sz="2000" b="0" i="0" u="none" strike="noStrike" cap="none" dirty="0">
                          <a:solidFill>
                            <a:srgbClr val="002060"/>
                          </a:solidFill>
                          <a:latin typeface="Calibri"/>
                          <a:ea typeface="Calibri"/>
                          <a:cs typeface="Calibri"/>
                          <a:sym typeface="Arial"/>
                        </a:rPr>
                        <a:t>S2</a:t>
                      </a:r>
                      <a:endParaRPr lang="en-US" sz="2000" b="0" i="0" u="none" strike="noStrike" cap="none" dirty="0">
                        <a:solidFill>
                          <a:srgbClr val="002060"/>
                        </a:solidFill>
                        <a:latin typeface="Calibri"/>
                        <a:ea typeface="Calibri"/>
                        <a:cs typeface="Calibri"/>
                        <a:sym typeface="Arial"/>
                      </a:endParaRPr>
                    </a:p>
                  </a:txBody>
                  <a:tcPr marL="68580" marR="68580" marT="0" marB="0" anchor="ctr"/>
                </a:tc>
                <a:tc>
                  <a:txBody>
                    <a:bodyPr/>
                    <a:lstStyle/>
                    <a:p>
                      <a:pPr marL="0" marR="0">
                        <a:lnSpc>
                          <a:spcPct val="107000"/>
                        </a:lnSpc>
                        <a:spcBef>
                          <a:spcPts val="0"/>
                        </a:spcBef>
                        <a:spcAft>
                          <a:spcPts val="800"/>
                        </a:spcAft>
                      </a:pPr>
                      <a:r>
                        <a:rPr lang="id-ID" sz="2000" b="0" i="0" u="none" strike="noStrike" cap="none" dirty="0">
                          <a:solidFill>
                            <a:srgbClr val="002060"/>
                          </a:solidFill>
                          <a:latin typeface="Calibri"/>
                          <a:ea typeface="Calibri"/>
                          <a:cs typeface="Calibri"/>
                          <a:sym typeface="Arial"/>
                        </a:rPr>
                        <a:t>Memiliki integritas yang tinggi dalam pelaksanaan kegiatan statistik</a:t>
                      </a:r>
                      <a:endParaRPr lang="en-US" sz="2000" b="0" i="0" u="none" strike="noStrike" cap="none" dirty="0">
                        <a:solidFill>
                          <a:srgbClr val="002060"/>
                        </a:solidFill>
                        <a:latin typeface="Calibri"/>
                        <a:ea typeface="Calibri"/>
                        <a:cs typeface="Calibri"/>
                        <a:sym typeface="Arial"/>
                      </a:endParaRPr>
                    </a:p>
                  </a:txBody>
                  <a:tcPr marL="68580" marR="68580" marT="0" marB="0"/>
                </a:tc>
                <a:extLst>
                  <a:ext uri="{0D108BD9-81ED-4DB2-BD59-A6C34878D82A}">
                    <a16:rowId xmlns:a16="http://schemas.microsoft.com/office/drawing/2014/main" val="2082504868"/>
                  </a:ext>
                </a:extLst>
              </a:tr>
              <a:tr h="92075">
                <a:tc>
                  <a:txBody>
                    <a:bodyPr/>
                    <a:lstStyle/>
                    <a:p>
                      <a:pPr marL="0" marR="0">
                        <a:lnSpc>
                          <a:spcPct val="107000"/>
                        </a:lnSpc>
                        <a:spcBef>
                          <a:spcPts val="0"/>
                        </a:spcBef>
                        <a:spcAft>
                          <a:spcPts val="800"/>
                        </a:spcAft>
                      </a:pPr>
                      <a:r>
                        <a:rPr lang="id-ID" sz="2000" b="0" i="0" u="none" strike="noStrike" cap="none" dirty="0">
                          <a:solidFill>
                            <a:srgbClr val="002060"/>
                          </a:solidFill>
                          <a:latin typeface="Calibri"/>
                          <a:ea typeface="Calibri"/>
                          <a:cs typeface="Calibri"/>
                          <a:sym typeface="Arial"/>
                        </a:rPr>
                        <a:t>S3</a:t>
                      </a:r>
                      <a:endParaRPr lang="en-US" sz="2000" b="0" i="0" u="none" strike="noStrike" cap="none" dirty="0">
                        <a:solidFill>
                          <a:srgbClr val="002060"/>
                        </a:solidFill>
                        <a:latin typeface="Calibri"/>
                        <a:ea typeface="Calibri"/>
                        <a:cs typeface="Calibri"/>
                        <a:sym typeface="Arial"/>
                      </a:endParaRPr>
                    </a:p>
                  </a:txBody>
                  <a:tcPr marL="68580" marR="68580" marT="0" marB="0" anchor="ctr"/>
                </a:tc>
                <a:tc>
                  <a:txBody>
                    <a:bodyPr/>
                    <a:lstStyle/>
                    <a:p>
                      <a:pPr marL="0" marR="0">
                        <a:lnSpc>
                          <a:spcPct val="107000"/>
                        </a:lnSpc>
                        <a:spcBef>
                          <a:spcPts val="0"/>
                        </a:spcBef>
                        <a:spcAft>
                          <a:spcPts val="800"/>
                        </a:spcAft>
                      </a:pPr>
                      <a:r>
                        <a:rPr lang="id-ID" sz="2000" b="0" i="0" u="none" strike="noStrike" cap="none">
                          <a:solidFill>
                            <a:srgbClr val="002060"/>
                          </a:solidFill>
                          <a:latin typeface="Calibri"/>
                          <a:ea typeface="Calibri"/>
                          <a:cs typeface="Calibri"/>
                          <a:sym typeface="Arial"/>
                        </a:rPr>
                        <a:t>Memiliki sikap amanah dalam menyajikan hasil kegiatan statistik</a:t>
                      </a:r>
                      <a:endParaRPr lang="en-US" sz="2000" b="0" i="0" u="none" strike="noStrike" cap="none">
                        <a:solidFill>
                          <a:srgbClr val="002060"/>
                        </a:solidFill>
                        <a:latin typeface="Calibri"/>
                        <a:ea typeface="Calibri"/>
                        <a:cs typeface="Calibri"/>
                        <a:sym typeface="Arial"/>
                      </a:endParaRPr>
                    </a:p>
                  </a:txBody>
                  <a:tcPr marL="68580" marR="68580" marT="0" marB="0"/>
                </a:tc>
                <a:extLst>
                  <a:ext uri="{0D108BD9-81ED-4DB2-BD59-A6C34878D82A}">
                    <a16:rowId xmlns:a16="http://schemas.microsoft.com/office/drawing/2014/main" val="2439011812"/>
                  </a:ext>
                </a:extLst>
              </a:tr>
              <a:tr h="92075">
                <a:tc>
                  <a:txBody>
                    <a:bodyPr/>
                    <a:lstStyle/>
                    <a:p>
                      <a:pPr marL="0" marR="0">
                        <a:lnSpc>
                          <a:spcPct val="107000"/>
                        </a:lnSpc>
                        <a:spcBef>
                          <a:spcPts val="0"/>
                        </a:spcBef>
                        <a:spcAft>
                          <a:spcPts val="800"/>
                        </a:spcAft>
                      </a:pPr>
                      <a:r>
                        <a:rPr lang="id-ID" sz="2000" b="0" i="0" u="none" strike="noStrike" cap="none">
                          <a:solidFill>
                            <a:srgbClr val="002060"/>
                          </a:solidFill>
                          <a:latin typeface="Calibri"/>
                          <a:ea typeface="Calibri"/>
                          <a:cs typeface="Calibri"/>
                          <a:sym typeface="Arial"/>
                        </a:rPr>
                        <a:t>KU1</a:t>
                      </a:r>
                      <a:endParaRPr lang="en-US" sz="2000" b="0" i="0" u="none" strike="noStrike" cap="none">
                        <a:solidFill>
                          <a:srgbClr val="002060"/>
                        </a:solidFill>
                        <a:latin typeface="Calibri"/>
                        <a:ea typeface="Calibri"/>
                        <a:cs typeface="Calibri"/>
                        <a:sym typeface="Arial"/>
                      </a:endParaRPr>
                    </a:p>
                  </a:txBody>
                  <a:tcPr marL="68580" marR="68580" marT="0" marB="0" anchor="ctr"/>
                </a:tc>
                <a:tc>
                  <a:txBody>
                    <a:bodyPr/>
                    <a:lstStyle/>
                    <a:p>
                      <a:pPr marL="0" marR="0">
                        <a:lnSpc>
                          <a:spcPct val="107000"/>
                        </a:lnSpc>
                        <a:spcBef>
                          <a:spcPts val="0"/>
                        </a:spcBef>
                        <a:spcAft>
                          <a:spcPts val="800"/>
                        </a:spcAft>
                      </a:pPr>
                      <a:r>
                        <a:rPr lang="id-ID" sz="2000" b="0" i="0" u="none" strike="noStrike" cap="none" dirty="0">
                          <a:solidFill>
                            <a:srgbClr val="002060"/>
                          </a:solidFill>
                          <a:latin typeface="Calibri"/>
                          <a:ea typeface="Calibri"/>
                          <a:cs typeface="Calibri"/>
                          <a:sym typeface="Arial"/>
                        </a:rPr>
                        <a:t>Bekerjasama dan berkomunikasi dalam tim serta bertanggungjawab terhadap tugas yang diberikan</a:t>
                      </a:r>
                      <a:endParaRPr lang="en-US" sz="2000" b="0" i="0" u="none" strike="noStrike" cap="none" dirty="0">
                        <a:solidFill>
                          <a:srgbClr val="002060"/>
                        </a:solidFill>
                        <a:latin typeface="Calibri"/>
                        <a:ea typeface="Calibri"/>
                        <a:cs typeface="Calibri"/>
                        <a:sym typeface="Arial"/>
                      </a:endParaRPr>
                    </a:p>
                  </a:txBody>
                  <a:tcPr marL="68580" marR="68580" marT="0" marB="0"/>
                </a:tc>
                <a:extLst>
                  <a:ext uri="{0D108BD9-81ED-4DB2-BD59-A6C34878D82A}">
                    <a16:rowId xmlns:a16="http://schemas.microsoft.com/office/drawing/2014/main" val="1477180648"/>
                  </a:ext>
                </a:extLst>
              </a:tr>
              <a:tr h="92075">
                <a:tc>
                  <a:txBody>
                    <a:bodyPr/>
                    <a:lstStyle/>
                    <a:p>
                      <a:pPr marL="0" marR="0">
                        <a:lnSpc>
                          <a:spcPct val="107000"/>
                        </a:lnSpc>
                        <a:spcBef>
                          <a:spcPts val="0"/>
                        </a:spcBef>
                        <a:spcAft>
                          <a:spcPts val="800"/>
                        </a:spcAft>
                      </a:pPr>
                      <a:r>
                        <a:rPr lang="id-ID" sz="2000" b="0" i="0" u="none" strike="noStrike" cap="none">
                          <a:solidFill>
                            <a:srgbClr val="002060"/>
                          </a:solidFill>
                          <a:latin typeface="Calibri"/>
                          <a:ea typeface="Calibri"/>
                          <a:cs typeface="Calibri"/>
                          <a:sym typeface="Arial"/>
                        </a:rPr>
                        <a:t>KK1</a:t>
                      </a:r>
                      <a:endParaRPr lang="en-US" sz="2000" b="0" i="0" u="none" strike="noStrike" cap="none">
                        <a:solidFill>
                          <a:srgbClr val="002060"/>
                        </a:solidFill>
                        <a:latin typeface="Calibri"/>
                        <a:ea typeface="Calibri"/>
                        <a:cs typeface="Calibri"/>
                        <a:sym typeface="Arial"/>
                      </a:endParaRPr>
                    </a:p>
                  </a:txBody>
                  <a:tcPr marL="68580" marR="68580" marT="0" marB="0" anchor="ctr"/>
                </a:tc>
                <a:tc>
                  <a:txBody>
                    <a:bodyPr/>
                    <a:lstStyle/>
                    <a:p>
                      <a:pPr marL="0" marR="0">
                        <a:lnSpc>
                          <a:spcPct val="107000"/>
                        </a:lnSpc>
                        <a:spcBef>
                          <a:spcPts val="0"/>
                        </a:spcBef>
                        <a:spcAft>
                          <a:spcPts val="800"/>
                        </a:spcAft>
                      </a:pPr>
                      <a:r>
                        <a:rPr lang="id-ID" sz="2000" b="0" i="0" u="none" strike="noStrike" cap="none" dirty="0">
                          <a:solidFill>
                            <a:srgbClr val="002060"/>
                          </a:solidFill>
                          <a:latin typeface="Calibri"/>
                          <a:ea typeface="Calibri"/>
                          <a:cs typeface="Calibri"/>
                          <a:sym typeface="Arial"/>
                        </a:rPr>
                        <a:t>Terampil dalam merancang kegiatan survei, menerapkan teknik sampling yang sesuai dan menerapkan metode estimasi yang tepat</a:t>
                      </a:r>
                      <a:endParaRPr lang="en-US" sz="2000" b="0" i="0" u="none" strike="noStrike" cap="none" dirty="0">
                        <a:solidFill>
                          <a:srgbClr val="002060"/>
                        </a:solidFill>
                        <a:latin typeface="Calibri"/>
                        <a:ea typeface="Calibri"/>
                        <a:cs typeface="Calibri"/>
                        <a:sym typeface="Arial"/>
                      </a:endParaRPr>
                    </a:p>
                  </a:txBody>
                  <a:tcPr marL="68580" marR="68580" marT="0" marB="0"/>
                </a:tc>
                <a:extLst>
                  <a:ext uri="{0D108BD9-81ED-4DB2-BD59-A6C34878D82A}">
                    <a16:rowId xmlns:a16="http://schemas.microsoft.com/office/drawing/2014/main" val="2056078754"/>
                  </a:ext>
                </a:extLst>
              </a:tr>
              <a:tr h="92075">
                <a:tc>
                  <a:txBody>
                    <a:bodyPr/>
                    <a:lstStyle/>
                    <a:p>
                      <a:pPr marL="0" marR="0">
                        <a:lnSpc>
                          <a:spcPct val="107000"/>
                        </a:lnSpc>
                        <a:spcBef>
                          <a:spcPts val="0"/>
                        </a:spcBef>
                        <a:spcAft>
                          <a:spcPts val="800"/>
                        </a:spcAft>
                      </a:pPr>
                      <a:r>
                        <a:rPr lang="id-ID" sz="2000" b="0" i="0" u="none" strike="noStrike" cap="none">
                          <a:solidFill>
                            <a:srgbClr val="002060"/>
                          </a:solidFill>
                          <a:latin typeface="Calibri"/>
                          <a:ea typeface="Calibri"/>
                          <a:cs typeface="Calibri"/>
                          <a:sym typeface="Arial"/>
                        </a:rPr>
                        <a:t>KK2</a:t>
                      </a:r>
                      <a:endParaRPr lang="en-US" sz="2000" b="0" i="0" u="none" strike="noStrike" cap="none">
                        <a:solidFill>
                          <a:srgbClr val="002060"/>
                        </a:solidFill>
                        <a:latin typeface="Calibri"/>
                        <a:ea typeface="Calibri"/>
                        <a:cs typeface="Calibri"/>
                        <a:sym typeface="Arial"/>
                      </a:endParaRPr>
                    </a:p>
                  </a:txBody>
                  <a:tcPr marL="68580" marR="68580" marT="0" marB="0" anchor="ctr"/>
                </a:tc>
                <a:tc>
                  <a:txBody>
                    <a:bodyPr/>
                    <a:lstStyle/>
                    <a:p>
                      <a:pPr marL="0" marR="0">
                        <a:lnSpc>
                          <a:spcPct val="107000"/>
                        </a:lnSpc>
                        <a:spcBef>
                          <a:spcPts val="0"/>
                        </a:spcBef>
                        <a:spcAft>
                          <a:spcPts val="800"/>
                        </a:spcAft>
                      </a:pPr>
                      <a:r>
                        <a:rPr lang="id-ID" sz="2000" b="0" i="0" u="none" strike="noStrike" cap="none" dirty="0">
                          <a:solidFill>
                            <a:srgbClr val="002060"/>
                          </a:solidFill>
                          <a:latin typeface="Calibri"/>
                          <a:ea typeface="Calibri"/>
                          <a:cs typeface="Calibri"/>
                          <a:sym typeface="Arial"/>
                        </a:rPr>
                        <a:t>Terampil dalam mengelola kegiatan survei, mengkoordinasikan sumber daya dan mengantisipasi jenis kesalahan (non-sampling error) dalam pelaksanaan survei, serta metode pengukurannya</a:t>
                      </a:r>
                      <a:endParaRPr lang="en-US" sz="2000" b="0" i="0" u="none" strike="noStrike" cap="none" dirty="0">
                        <a:solidFill>
                          <a:srgbClr val="002060"/>
                        </a:solidFill>
                        <a:latin typeface="Calibri"/>
                        <a:ea typeface="Calibri"/>
                        <a:cs typeface="Calibri"/>
                        <a:sym typeface="Arial"/>
                      </a:endParaRPr>
                    </a:p>
                  </a:txBody>
                  <a:tcPr marL="68580" marR="68580" marT="0" marB="0"/>
                </a:tc>
                <a:extLst>
                  <a:ext uri="{0D108BD9-81ED-4DB2-BD59-A6C34878D82A}">
                    <a16:rowId xmlns:a16="http://schemas.microsoft.com/office/drawing/2014/main" val="3727875350"/>
                  </a:ext>
                </a:extLst>
              </a:tr>
              <a:tr h="92075">
                <a:tc>
                  <a:txBody>
                    <a:bodyPr/>
                    <a:lstStyle/>
                    <a:p>
                      <a:pPr marL="0" marR="0">
                        <a:lnSpc>
                          <a:spcPct val="107000"/>
                        </a:lnSpc>
                        <a:spcBef>
                          <a:spcPts val="0"/>
                        </a:spcBef>
                        <a:spcAft>
                          <a:spcPts val="800"/>
                        </a:spcAft>
                      </a:pPr>
                      <a:r>
                        <a:rPr lang="id-ID" sz="2000" b="0" i="0" u="none" strike="noStrike" cap="none">
                          <a:solidFill>
                            <a:srgbClr val="002060"/>
                          </a:solidFill>
                          <a:latin typeface="Calibri"/>
                          <a:ea typeface="Calibri"/>
                          <a:cs typeface="Calibri"/>
                          <a:sym typeface="Arial"/>
                        </a:rPr>
                        <a:t>PP2</a:t>
                      </a:r>
                      <a:endParaRPr lang="en-US" sz="2000" b="0" i="0" u="none" strike="noStrike" cap="none">
                        <a:solidFill>
                          <a:srgbClr val="002060"/>
                        </a:solidFill>
                        <a:latin typeface="Calibri"/>
                        <a:ea typeface="Calibri"/>
                        <a:cs typeface="Calibri"/>
                        <a:sym typeface="Arial"/>
                      </a:endParaRPr>
                    </a:p>
                  </a:txBody>
                  <a:tcPr marL="68580" marR="68580" marT="0" marB="0" anchor="ctr"/>
                </a:tc>
                <a:tc>
                  <a:txBody>
                    <a:bodyPr/>
                    <a:lstStyle/>
                    <a:p>
                      <a:pPr marL="0" marR="0">
                        <a:lnSpc>
                          <a:spcPct val="107000"/>
                        </a:lnSpc>
                        <a:spcBef>
                          <a:spcPts val="0"/>
                        </a:spcBef>
                        <a:spcAft>
                          <a:spcPts val="800"/>
                        </a:spcAft>
                      </a:pPr>
                      <a:r>
                        <a:rPr lang="id-ID" sz="2000" b="0" i="0" u="none" strike="noStrike" cap="none" dirty="0">
                          <a:solidFill>
                            <a:srgbClr val="002060"/>
                          </a:solidFill>
                          <a:latin typeface="Calibri"/>
                          <a:ea typeface="Calibri"/>
                          <a:cs typeface="Calibri"/>
                          <a:sym typeface="Arial"/>
                        </a:rPr>
                        <a:t>Memahami tahapan kegiatan survei, pengelolaan petugas lapangan, mengidentifikasi jenis kesalahan dan cara mengantisipasinya</a:t>
                      </a:r>
                      <a:endParaRPr lang="en-US" sz="2000" b="0" i="0" u="none" strike="noStrike" cap="none" dirty="0">
                        <a:solidFill>
                          <a:srgbClr val="002060"/>
                        </a:solidFill>
                        <a:latin typeface="Calibri"/>
                        <a:ea typeface="Calibri"/>
                        <a:cs typeface="Calibri"/>
                        <a:sym typeface="Arial"/>
                      </a:endParaRPr>
                    </a:p>
                  </a:txBody>
                  <a:tcPr marL="68580" marR="68580" marT="0" marB="0"/>
                </a:tc>
                <a:extLst>
                  <a:ext uri="{0D108BD9-81ED-4DB2-BD59-A6C34878D82A}">
                    <a16:rowId xmlns:a16="http://schemas.microsoft.com/office/drawing/2014/main" val="3147649839"/>
                  </a:ext>
                </a:extLst>
              </a:tr>
              <a:tr h="92075">
                <a:tc>
                  <a:txBody>
                    <a:bodyPr/>
                    <a:lstStyle/>
                    <a:p>
                      <a:pPr marL="0" marR="0">
                        <a:lnSpc>
                          <a:spcPct val="107000"/>
                        </a:lnSpc>
                        <a:spcBef>
                          <a:spcPts val="0"/>
                        </a:spcBef>
                        <a:spcAft>
                          <a:spcPts val="800"/>
                        </a:spcAft>
                      </a:pPr>
                      <a:r>
                        <a:rPr lang="id-ID" sz="2000" b="0" i="0" u="none" strike="noStrike" cap="none">
                          <a:solidFill>
                            <a:srgbClr val="002060"/>
                          </a:solidFill>
                          <a:latin typeface="Calibri"/>
                          <a:ea typeface="Calibri"/>
                          <a:cs typeface="Calibri"/>
                          <a:sym typeface="Arial"/>
                        </a:rPr>
                        <a:t>PP4</a:t>
                      </a:r>
                      <a:endParaRPr lang="en-US" sz="2000" b="0" i="0" u="none" strike="noStrike" cap="none">
                        <a:solidFill>
                          <a:srgbClr val="002060"/>
                        </a:solidFill>
                        <a:latin typeface="Calibri"/>
                        <a:ea typeface="Calibri"/>
                        <a:cs typeface="Calibri"/>
                        <a:sym typeface="Arial"/>
                      </a:endParaRPr>
                    </a:p>
                  </a:txBody>
                  <a:tcPr marL="68580" marR="68580" marT="0" marB="0" anchor="ctr"/>
                </a:tc>
                <a:tc>
                  <a:txBody>
                    <a:bodyPr/>
                    <a:lstStyle/>
                    <a:p>
                      <a:pPr marL="0" marR="0">
                        <a:lnSpc>
                          <a:spcPct val="107000"/>
                        </a:lnSpc>
                        <a:spcBef>
                          <a:spcPts val="0"/>
                        </a:spcBef>
                        <a:spcAft>
                          <a:spcPts val="800"/>
                        </a:spcAft>
                      </a:pPr>
                      <a:r>
                        <a:rPr lang="id-ID" sz="2000" b="0" i="0" u="none" strike="noStrike" cap="none" dirty="0">
                          <a:solidFill>
                            <a:srgbClr val="002060"/>
                          </a:solidFill>
                          <a:latin typeface="Calibri"/>
                          <a:ea typeface="Calibri"/>
                          <a:cs typeface="Calibri"/>
                          <a:sym typeface="Arial"/>
                        </a:rPr>
                        <a:t>Menguasai teknik mengkomunikasikan konsep, definisi dan klasifikasi dari variabel yang dikumpulkan dalam kegiatan survei kepada peserta didik</a:t>
                      </a:r>
                      <a:endParaRPr lang="en-US" sz="2000" b="0" i="0" u="none" strike="noStrike" cap="none" dirty="0">
                        <a:solidFill>
                          <a:srgbClr val="002060"/>
                        </a:solidFill>
                        <a:latin typeface="Calibri"/>
                        <a:ea typeface="Calibri"/>
                        <a:cs typeface="Calibri"/>
                        <a:sym typeface="Arial"/>
                      </a:endParaRPr>
                    </a:p>
                  </a:txBody>
                  <a:tcPr marL="68580" marR="68580" marT="0" marB="0"/>
                </a:tc>
                <a:extLst>
                  <a:ext uri="{0D108BD9-81ED-4DB2-BD59-A6C34878D82A}">
                    <a16:rowId xmlns:a16="http://schemas.microsoft.com/office/drawing/2014/main" val="2471360435"/>
                  </a:ext>
                </a:extLst>
              </a:tr>
            </a:tbl>
          </a:graphicData>
        </a:graphic>
      </p:graphicFrame>
      <p:graphicFrame>
        <p:nvGraphicFramePr>
          <p:cNvPr id="5" name="Table 4">
            <a:extLst>
              <a:ext uri="{FF2B5EF4-FFF2-40B4-BE49-F238E27FC236}">
                <a16:creationId xmlns:a16="http://schemas.microsoft.com/office/drawing/2014/main" id="{A88969F1-1920-42A7-0F7F-831E018E8F6A}"/>
              </a:ext>
            </a:extLst>
          </p:cNvPr>
          <p:cNvGraphicFramePr>
            <a:graphicFrameLocks noGrp="1"/>
          </p:cNvGraphicFramePr>
          <p:nvPr>
            <p:extLst>
              <p:ext uri="{D42A27DB-BD31-4B8C-83A1-F6EECF244321}">
                <p14:modId xmlns:p14="http://schemas.microsoft.com/office/powerpoint/2010/main" val="4068142529"/>
              </p:ext>
            </p:extLst>
          </p:nvPr>
        </p:nvGraphicFramePr>
        <p:xfrm>
          <a:off x="250627" y="1873637"/>
          <a:ext cx="10428528" cy="1534622"/>
        </p:xfrm>
        <a:graphic>
          <a:graphicData uri="http://schemas.openxmlformats.org/drawingml/2006/table">
            <a:tbl>
              <a:tblPr firstRow="1" bandRow="1">
                <a:tableStyleId>{5E7D8076-AC5C-4AA6-9025-8190D0D164E4}</a:tableStyleId>
              </a:tblPr>
              <a:tblGrid>
                <a:gridCol w="1253181">
                  <a:extLst>
                    <a:ext uri="{9D8B030D-6E8A-4147-A177-3AD203B41FA5}">
                      <a16:colId xmlns:a16="http://schemas.microsoft.com/office/drawing/2014/main" val="524497604"/>
                    </a:ext>
                  </a:extLst>
                </a:gridCol>
                <a:gridCol w="9175347">
                  <a:extLst>
                    <a:ext uri="{9D8B030D-6E8A-4147-A177-3AD203B41FA5}">
                      <a16:colId xmlns:a16="http://schemas.microsoft.com/office/drawing/2014/main" val="4207441837"/>
                    </a:ext>
                  </a:extLst>
                </a:gridCol>
              </a:tblGrid>
              <a:tr h="767311">
                <a:tc>
                  <a:txBody>
                    <a:bodyPr/>
                    <a:lstStyle/>
                    <a:p>
                      <a:pPr marL="0" marR="0">
                        <a:lnSpc>
                          <a:spcPct val="107000"/>
                        </a:lnSpc>
                        <a:spcBef>
                          <a:spcPts val="0"/>
                        </a:spcBef>
                        <a:spcAft>
                          <a:spcPts val="800"/>
                        </a:spcAft>
                      </a:pPr>
                      <a:r>
                        <a:rPr lang="id-ID" sz="2000" b="0" i="0" u="none" strike="noStrike" cap="none">
                          <a:solidFill>
                            <a:srgbClr val="002060"/>
                          </a:solidFill>
                          <a:latin typeface="Calibri"/>
                          <a:ea typeface="Calibri"/>
                          <a:cs typeface="Calibri"/>
                          <a:sym typeface="Arial"/>
                        </a:rPr>
                        <a:t>CPMK1</a:t>
                      </a:r>
                      <a:endParaRPr lang="en-US" sz="2000" b="0" i="0" u="none" strike="noStrike" cap="none" dirty="0">
                        <a:solidFill>
                          <a:srgbClr val="002060"/>
                        </a:solidFill>
                        <a:latin typeface="Calibri"/>
                        <a:ea typeface="Calibri"/>
                        <a:cs typeface="Calibri"/>
                        <a:sym typeface="Arial"/>
                      </a:endParaRPr>
                    </a:p>
                  </a:txBody>
                  <a:tcPr marL="68580" marR="68580" marT="0" marB="0" anchor="ctr"/>
                </a:tc>
                <a:tc>
                  <a:txBody>
                    <a:bodyPr/>
                    <a:lstStyle/>
                    <a:p>
                      <a:pPr marL="0" marR="0">
                        <a:lnSpc>
                          <a:spcPct val="107000"/>
                        </a:lnSpc>
                        <a:spcBef>
                          <a:spcPts val="0"/>
                        </a:spcBef>
                        <a:spcAft>
                          <a:spcPts val="800"/>
                        </a:spcAft>
                      </a:pPr>
                      <a:r>
                        <a:rPr lang="sv-SE" sz="2000" b="0" i="0" u="none" strike="noStrike" cap="none">
                          <a:solidFill>
                            <a:srgbClr val="002060"/>
                          </a:solidFill>
                          <a:latin typeface="Calibri"/>
                          <a:ea typeface="Calibri"/>
                          <a:cs typeface="Calibri"/>
                          <a:sym typeface="Arial"/>
                        </a:rPr>
                        <a:t>Mahasiswa mampu memahami dan menjelaskan tata kelola data pemerintah</a:t>
                      </a:r>
                      <a:endParaRPr lang="en-US" sz="2000" b="0" i="0" u="none" strike="noStrike" cap="none" dirty="0">
                        <a:solidFill>
                          <a:srgbClr val="002060"/>
                        </a:solidFill>
                        <a:latin typeface="Calibri"/>
                        <a:ea typeface="Calibri"/>
                        <a:cs typeface="Calibri"/>
                        <a:sym typeface="Arial"/>
                      </a:endParaRPr>
                    </a:p>
                  </a:txBody>
                  <a:tcPr marL="68580" marR="68580" marT="0" marB="0" anchor="ctr"/>
                </a:tc>
                <a:extLst>
                  <a:ext uri="{0D108BD9-81ED-4DB2-BD59-A6C34878D82A}">
                    <a16:rowId xmlns:a16="http://schemas.microsoft.com/office/drawing/2014/main" val="3485308353"/>
                  </a:ext>
                </a:extLst>
              </a:tr>
              <a:tr h="767311">
                <a:tc>
                  <a:txBody>
                    <a:bodyPr/>
                    <a:lstStyle/>
                    <a:p>
                      <a:pPr marL="0" marR="0">
                        <a:lnSpc>
                          <a:spcPct val="107000"/>
                        </a:lnSpc>
                        <a:spcBef>
                          <a:spcPts val="0"/>
                        </a:spcBef>
                        <a:spcAft>
                          <a:spcPts val="800"/>
                        </a:spcAft>
                      </a:pPr>
                      <a:r>
                        <a:rPr lang="id-ID" sz="2000" b="0" i="0" u="none" strike="noStrike" cap="none">
                          <a:solidFill>
                            <a:srgbClr val="002060"/>
                          </a:solidFill>
                          <a:latin typeface="Calibri"/>
                          <a:ea typeface="Calibri"/>
                          <a:cs typeface="Calibri"/>
                          <a:sym typeface="Arial"/>
                        </a:rPr>
                        <a:t>CPMK2</a:t>
                      </a:r>
                      <a:endParaRPr lang="en-US" sz="2000" b="0" i="0" u="none" strike="noStrike" cap="none" dirty="0">
                        <a:solidFill>
                          <a:srgbClr val="002060"/>
                        </a:solidFill>
                        <a:latin typeface="Calibri"/>
                        <a:ea typeface="Calibri"/>
                        <a:cs typeface="Calibri"/>
                        <a:sym typeface="Arial"/>
                      </a:endParaRPr>
                    </a:p>
                  </a:txBody>
                  <a:tcPr marL="68580" marR="68580" marT="0" marB="0" anchor="ctr"/>
                </a:tc>
                <a:tc>
                  <a:txBody>
                    <a:bodyPr/>
                    <a:lstStyle/>
                    <a:p>
                      <a:pPr marL="0" marR="0">
                        <a:lnSpc>
                          <a:spcPct val="107000"/>
                        </a:lnSpc>
                        <a:spcBef>
                          <a:spcPts val="0"/>
                        </a:spcBef>
                        <a:spcAft>
                          <a:spcPts val="800"/>
                        </a:spcAft>
                      </a:pPr>
                      <a:r>
                        <a:rPr lang="sv-SE" sz="2000" b="0" i="0" u="none" strike="noStrike" cap="none" dirty="0">
                          <a:solidFill>
                            <a:srgbClr val="002060"/>
                          </a:solidFill>
                          <a:latin typeface="Calibri"/>
                          <a:ea typeface="Calibri"/>
                          <a:cs typeface="Calibri"/>
                          <a:sym typeface="Arial"/>
                        </a:rPr>
                        <a:t>Mahasiswa mampu memahami dan menjelaskan tujuan pembangunan berkelanjutan</a:t>
                      </a:r>
                      <a:r>
                        <a:rPr lang="en-US" sz="2000" b="0" i="0" u="none" strike="noStrike" cap="none" dirty="0">
                          <a:solidFill>
                            <a:srgbClr val="002060"/>
                          </a:solidFill>
                          <a:latin typeface="Calibri"/>
                          <a:ea typeface="Calibri"/>
                          <a:cs typeface="Calibri"/>
                          <a:sym typeface="Arial"/>
                        </a:rPr>
                        <a:t>.</a:t>
                      </a:r>
                    </a:p>
                  </a:txBody>
                  <a:tcPr marL="68580" marR="68580" marT="0" marB="0" anchor="ctr"/>
                </a:tc>
                <a:extLst>
                  <a:ext uri="{0D108BD9-81ED-4DB2-BD59-A6C34878D82A}">
                    <a16:rowId xmlns:a16="http://schemas.microsoft.com/office/drawing/2014/main" val="78548819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6"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201" name="Google Shape;201;p6"/>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6"/>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 name="Google Shape;203;p6"/>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04" name="Google Shape;204;p6"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205" name="Google Shape;205;p6"/>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6"/>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 name="Google Shape;207;p6"/>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8</a:t>
            </a:fld>
            <a:endParaRPr sz="2400" b="1">
              <a:solidFill>
                <a:srgbClr val="1B449C"/>
              </a:solidFill>
            </a:endParaRPr>
          </a:p>
        </p:txBody>
      </p:sp>
      <p:sp>
        <p:nvSpPr>
          <p:cNvPr id="208" name="Google Shape;208;p6"/>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 name="Google Shape;209;p6"/>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210" name="Google Shape;210;p6"/>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1" name="Google Shape;211;p6"/>
          <p:cNvSpPr txBox="1"/>
          <p:nvPr/>
        </p:nvSpPr>
        <p:spPr>
          <a:xfrm>
            <a:off x="993886" y="95251"/>
            <a:ext cx="8877548"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lt1"/>
                </a:solidFill>
                <a:latin typeface="Calibri"/>
                <a:ea typeface="Calibri"/>
                <a:cs typeface="Calibri"/>
                <a:sym typeface="Calibri"/>
              </a:rPr>
              <a:t>SUB CAPAIAN PEMBELAJARAN MATA KULIAH</a:t>
            </a:r>
            <a:endParaRPr sz="3200" b="1">
              <a:solidFill>
                <a:schemeClr val="lt1"/>
              </a:solidFill>
              <a:latin typeface="Calibri"/>
              <a:ea typeface="Calibri"/>
              <a:cs typeface="Calibri"/>
              <a:sym typeface="Calibri"/>
            </a:endParaRPr>
          </a:p>
        </p:txBody>
      </p:sp>
      <p:graphicFrame>
        <p:nvGraphicFramePr>
          <p:cNvPr id="4" name="Table 3">
            <a:extLst>
              <a:ext uri="{FF2B5EF4-FFF2-40B4-BE49-F238E27FC236}">
                <a16:creationId xmlns:a16="http://schemas.microsoft.com/office/drawing/2014/main" id="{0C918C98-0A22-4A07-EE77-04853C62BB64}"/>
              </a:ext>
            </a:extLst>
          </p:cNvPr>
          <p:cNvGraphicFramePr>
            <a:graphicFrameLocks noGrp="1"/>
          </p:cNvGraphicFramePr>
          <p:nvPr>
            <p:extLst>
              <p:ext uri="{D42A27DB-BD31-4B8C-83A1-F6EECF244321}">
                <p14:modId xmlns:p14="http://schemas.microsoft.com/office/powerpoint/2010/main" val="3532040915"/>
              </p:ext>
            </p:extLst>
          </p:nvPr>
        </p:nvGraphicFramePr>
        <p:xfrm>
          <a:off x="191252" y="1645920"/>
          <a:ext cx="10303083" cy="2712720"/>
        </p:xfrm>
        <a:graphic>
          <a:graphicData uri="http://schemas.openxmlformats.org/drawingml/2006/table">
            <a:tbl>
              <a:tblPr firstRow="1" bandRow="1">
                <a:tableStyleId>{5E7D8076-AC5C-4AA6-9025-8190D0D164E4}</a:tableStyleId>
              </a:tblPr>
              <a:tblGrid>
                <a:gridCol w="1708038">
                  <a:extLst>
                    <a:ext uri="{9D8B030D-6E8A-4147-A177-3AD203B41FA5}">
                      <a16:colId xmlns:a16="http://schemas.microsoft.com/office/drawing/2014/main" val="105730594"/>
                    </a:ext>
                  </a:extLst>
                </a:gridCol>
                <a:gridCol w="8595045">
                  <a:extLst>
                    <a:ext uri="{9D8B030D-6E8A-4147-A177-3AD203B41FA5}">
                      <a16:colId xmlns:a16="http://schemas.microsoft.com/office/drawing/2014/main" val="2282363843"/>
                    </a:ext>
                  </a:extLst>
                </a:gridCol>
              </a:tblGrid>
              <a:tr h="370840">
                <a:tc>
                  <a:txBody>
                    <a:bodyPr/>
                    <a:lstStyle/>
                    <a:p>
                      <a:pPr algn="just"/>
                      <a:r>
                        <a:rPr lang="en-US" sz="2000" dirty="0"/>
                        <a:t>Sub-CPMK1</a:t>
                      </a:r>
                    </a:p>
                  </a:txBody>
                  <a:tcPr/>
                </a:tc>
                <a:tc>
                  <a:txBody>
                    <a:bodyPr/>
                    <a:lstStyle/>
                    <a:p>
                      <a:pPr algn="just"/>
                      <a:r>
                        <a:rPr lang="en-US" sz="2000" dirty="0" err="1"/>
                        <a:t>Mahasiswa</a:t>
                      </a:r>
                      <a:r>
                        <a:rPr lang="en-US" sz="2000" dirty="0"/>
                        <a:t> </a:t>
                      </a:r>
                      <a:r>
                        <a:rPr lang="en-US" sz="2000" dirty="0" err="1"/>
                        <a:t>mampu</a:t>
                      </a:r>
                      <a:r>
                        <a:rPr lang="en-US" sz="2000" dirty="0"/>
                        <a:t> </a:t>
                      </a:r>
                      <a:r>
                        <a:rPr lang="en-US" sz="2000" dirty="0" err="1"/>
                        <a:t>memahami</a:t>
                      </a:r>
                      <a:r>
                        <a:rPr lang="en-US" sz="2000" dirty="0"/>
                        <a:t> dan </a:t>
                      </a:r>
                      <a:r>
                        <a:rPr lang="en-US" sz="2000" dirty="0" err="1"/>
                        <a:t>menjelaskan</a:t>
                      </a:r>
                      <a:r>
                        <a:rPr lang="en-US" sz="2000" dirty="0"/>
                        <a:t> </a:t>
                      </a:r>
                      <a:r>
                        <a:rPr lang="en-US" sz="2000" dirty="0" err="1"/>
                        <a:t>mengenai</a:t>
                      </a:r>
                      <a:r>
                        <a:rPr lang="en-US" sz="2000" dirty="0"/>
                        <a:t> tata Kelola Satu Data Indonesia (SDI)</a:t>
                      </a:r>
                    </a:p>
                  </a:txBody>
                  <a:tcPr/>
                </a:tc>
                <a:extLst>
                  <a:ext uri="{0D108BD9-81ED-4DB2-BD59-A6C34878D82A}">
                    <a16:rowId xmlns:a16="http://schemas.microsoft.com/office/drawing/2014/main" val="1030575079"/>
                  </a:ext>
                </a:extLst>
              </a:tr>
              <a:tr h="370840">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t>Sub-CPMK2</a:t>
                      </a:r>
                    </a:p>
                    <a:p>
                      <a:pPr algn="just"/>
                      <a:endParaRPr lang="en-US" sz="2000" dirty="0"/>
                    </a:p>
                  </a:txBody>
                  <a:tcPr/>
                </a:tc>
                <a:tc>
                  <a:txBody>
                    <a:bodyPr/>
                    <a:lstStyle/>
                    <a:p>
                      <a:pPr algn="just"/>
                      <a:r>
                        <a:rPr lang="en-US" sz="2000" dirty="0" err="1"/>
                        <a:t>Mahasiswa</a:t>
                      </a:r>
                      <a:r>
                        <a:rPr lang="en-US" sz="2000" dirty="0"/>
                        <a:t> </a:t>
                      </a:r>
                      <a:r>
                        <a:rPr lang="en-US" sz="2000" dirty="0" err="1"/>
                        <a:t>mampu</a:t>
                      </a:r>
                      <a:r>
                        <a:rPr lang="en-US" sz="2000" dirty="0"/>
                        <a:t> </a:t>
                      </a:r>
                      <a:r>
                        <a:rPr lang="en-US" sz="2000" dirty="0" err="1"/>
                        <a:t>memahami</a:t>
                      </a:r>
                      <a:r>
                        <a:rPr lang="en-US" sz="2000" dirty="0"/>
                        <a:t> dan </a:t>
                      </a:r>
                      <a:r>
                        <a:rPr lang="en-US" sz="2000" dirty="0" err="1"/>
                        <a:t>menjelaskan</a:t>
                      </a:r>
                      <a:r>
                        <a:rPr lang="en-US" sz="2000" dirty="0"/>
                        <a:t> </a:t>
                      </a:r>
                      <a:r>
                        <a:rPr lang="en-US" sz="2000" dirty="0" err="1"/>
                        <a:t>mengenai</a:t>
                      </a:r>
                      <a:r>
                        <a:rPr lang="en-US" sz="2000" dirty="0"/>
                        <a:t> </a:t>
                      </a:r>
                      <a:r>
                        <a:rPr lang="en-US" sz="2000" dirty="0" err="1"/>
                        <a:t>penyelenggaraan</a:t>
                      </a:r>
                      <a:r>
                        <a:rPr lang="en-US" sz="2000" dirty="0"/>
                        <a:t> </a:t>
                      </a:r>
                      <a:r>
                        <a:rPr lang="en-US" sz="2000" dirty="0" err="1"/>
                        <a:t>statistik</a:t>
                      </a:r>
                      <a:r>
                        <a:rPr lang="en-US" sz="2000" dirty="0"/>
                        <a:t> </a:t>
                      </a:r>
                      <a:r>
                        <a:rPr lang="en-US" sz="2000" dirty="0" err="1"/>
                        <a:t>sektoral</a:t>
                      </a:r>
                      <a:endParaRPr lang="en-US" sz="2000" dirty="0"/>
                    </a:p>
                  </a:txBody>
                  <a:tcPr/>
                </a:tc>
                <a:extLst>
                  <a:ext uri="{0D108BD9-81ED-4DB2-BD59-A6C34878D82A}">
                    <a16:rowId xmlns:a16="http://schemas.microsoft.com/office/drawing/2014/main" val="1668581331"/>
                  </a:ext>
                </a:extLst>
              </a:tr>
              <a:tr h="0">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t>Sub-CPMK3</a:t>
                      </a:r>
                    </a:p>
                    <a:p>
                      <a:pPr algn="just"/>
                      <a:endParaRPr lang="en-US" sz="2000" dirty="0"/>
                    </a:p>
                  </a:txBody>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err="1"/>
                        <a:t>Mahasiswa</a:t>
                      </a:r>
                      <a:r>
                        <a:rPr lang="en-US" sz="2000" dirty="0"/>
                        <a:t> </a:t>
                      </a:r>
                      <a:r>
                        <a:rPr lang="en-US" sz="2000" dirty="0" err="1"/>
                        <a:t>mampu</a:t>
                      </a:r>
                      <a:r>
                        <a:rPr lang="en-US" sz="2000" dirty="0"/>
                        <a:t> </a:t>
                      </a:r>
                      <a:r>
                        <a:rPr lang="en-US" sz="2000" dirty="0" err="1"/>
                        <a:t>memahami</a:t>
                      </a:r>
                      <a:r>
                        <a:rPr lang="en-US" sz="2000" dirty="0"/>
                        <a:t> dan </a:t>
                      </a:r>
                      <a:r>
                        <a:rPr lang="en-US" sz="2000" dirty="0" err="1"/>
                        <a:t>menjelaskan</a:t>
                      </a:r>
                      <a:r>
                        <a:rPr lang="en-US" sz="2000" dirty="0"/>
                        <a:t> </a:t>
                      </a:r>
                      <a:r>
                        <a:rPr lang="en-US" sz="2000" dirty="0" err="1"/>
                        <a:t>mengenai</a:t>
                      </a:r>
                      <a:r>
                        <a:rPr lang="en-US" sz="2000" dirty="0"/>
                        <a:t> </a:t>
                      </a:r>
                      <a:r>
                        <a:rPr lang="en-US" sz="2000" dirty="0" err="1"/>
                        <a:t>konsep</a:t>
                      </a:r>
                      <a:r>
                        <a:rPr lang="en-US" sz="2000" dirty="0"/>
                        <a:t> </a:t>
                      </a:r>
                      <a:r>
                        <a:rPr lang="en-US" sz="2000" dirty="0" err="1"/>
                        <a:t>teoritis</a:t>
                      </a:r>
                      <a:r>
                        <a:rPr lang="en-US" sz="2000" dirty="0"/>
                        <a:t> dan </a:t>
                      </a:r>
                      <a:r>
                        <a:rPr lang="en-US" sz="2000" dirty="0" err="1"/>
                        <a:t>Indikator</a:t>
                      </a:r>
                      <a:r>
                        <a:rPr lang="en-US" sz="2000" dirty="0"/>
                        <a:t> </a:t>
                      </a:r>
                      <a:r>
                        <a:rPr lang="en-US" sz="2000" dirty="0" err="1"/>
                        <a:t>pembangunan</a:t>
                      </a:r>
                      <a:r>
                        <a:rPr lang="en-US" sz="2000" dirty="0"/>
                        <a:t> </a:t>
                      </a:r>
                      <a:r>
                        <a:rPr lang="en-US" sz="2000" dirty="0" err="1"/>
                        <a:t>menurut</a:t>
                      </a:r>
                      <a:r>
                        <a:rPr lang="en-US" sz="2000" dirty="0"/>
                        <a:t> domain </a:t>
                      </a:r>
                      <a:r>
                        <a:rPr lang="en-US" sz="2000" dirty="0" err="1"/>
                        <a:t>Sosial</a:t>
                      </a:r>
                      <a:r>
                        <a:rPr lang="en-US" sz="2000" dirty="0"/>
                        <a:t>, Ekonomi dan </a:t>
                      </a:r>
                      <a:r>
                        <a:rPr lang="en-US" sz="2000" dirty="0" err="1"/>
                        <a:t>Lingkungan</a:t>
                      </a:r>
                      <a:r>
                        <a:rPr lang="en-US" sz="2000" dirty="0"/>
                        <a:t> yang </a:t>
                      </a:r>
                      <a:r>
                        <a:rPr lang="en-US" sz="2000" dirty="0" err="1"/>
                        <a:t>mendukung</a:t>
                      </a:r>
                      <a:r>
                        <a:rPr lang="en-US" sz="2000" dirty="0"/>
                        <a:t> </a:t>
                      </a:r>
                      <a:r>
                        <a:rPr lang="en-US" sz="2000" dirty="0" err="1"/>
                        <a:t>Tujuan</a:t>
                      </a:r>
                      <a:r>
                        <a:rPr lang="en-US" sz="2000" dirty="0"/>
                        <a:t> Pembangunan </a:t>
                      </a:r>
                      <a:r>
                        <a:rPr lang="en-US" sz="2000" dirty="0" err="1"/>
                        <a:t>Berkelanjutan</a:t>
                      </a:r>
                      <a:r>
                        <a:rPr lang="en-US" sz="2000" dirty="0"/>
                        <a:t> (TPB/SDGs) .</a:t>
                      </a:r>
                    </a:p>
                  </a:txBody>
                  <a:tcPr/>
                </a:tc>
                <a:extLst>
                  <a:ext uri="{0D108BD9-81ED-4DB2-BD59-A6C34878D82A}">
                    <a16:rowId xmlns:a16="http://schemas.microsoft.com/office/drawing/2014/main" val="2924308949"/>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7"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219" name="Google Shape;219;p7"/>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0" name="Google Shape;220;p7"/>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 name="Google Shape;221;p7"/>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2" name="Google Shape;222;p7"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223" name="Google Shape;223;p7"/>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4" name="Google Shape;224;p7"/>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 name="Google Shape;225;p7"/>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9</a:t>
            </a:fld>
            <a:endParaRPr sz="2400" b="1">
              <a:solidFill>
                <a:srgbClr val="1B449C"/>
              </a:solidFill>
            </a:endParaRPr>
          </a:p>
        </p:txBody>
      </p:sp>
      <p:sp>
        <p:nvSpPr>
          <p:cNvPr id="226" name="Google Shape;226;p7"/>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7" name="Google Shape;227;p7"/>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228" name="Google Shape;228;p7"/>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29" name="Google Shape;229;p7"/>
          <p:cNvSpPr txBox="1"/>
          <p:nvPr/>
        </p:nvSpPr>
        <p:spPr>
          <a:xfrm>
            <a:off x="993886" y="95251"/>
            <a:ext cx="841051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dirty="0">
                <a:solidFill>
                  <a:schemeClr val="lt1"/>
                </a:solidFill>
                <a:latin typeface="Calibri"/>
                <a:ea typeface="Calibri"/>
                <a:cs typeface="Calibri"/>
                <a:sym typeface="Calibri"/>
              </a:rPr>
              <a:t>KALENDER AKADEMIK TA. 202</a:t>
            </a:r>
            <a:r>
              <a:rPr lang="id-ID" sz="3600" b="1" dirty="0">
                <a:solidFill>
                  <a:schemeClr val="lt1"/>
                </a:solidFill>
                <a:latin typeface="Calibri"/>
                <a:ea typeface="Calibri"/>
                <a:cs typeface="Calibri"/>
                <a:sym typeface="Calibri"/>
              </a:rPr>
              <a:t>5</a:t>
            </a:r>
            <a:r>
              <a:rPr lang="en-US" sz="3600" b="1" dirty="0">
                <a:solidFill>
                  <a:schemeClr val="lt1"/>
                </a:solidFill>
                <a:latin typeface="Calibri"/>
                <a:ea typeface="Calibri"/>
                <a:cs typeface="Calibri"/>
                <a:sym typeface="Calibri"/>
              </a:rPr>
              <a:t>/202</a:t>
            </a:r>
            <a:r>
              <a:rPr lang="id-ID" sz="3600" b="1" dirty="0">
                <a:solidFill>
                  <a:schemeClr val="lt1"/>
                </a:solidFill>
                <a:latin typeface="Calibri"/>
                <a:ea typeface="Calibri"/>
                <a:cs typeface="Calibri"/>
                <a:sym typeface="Calibri"/>
              </a:rPr>
              <a:t>6</a:t>
            </a:r>
            <a:endParaRPr sz="3600" b="1" dirty="0">
              <a:solidFill>
                <a:schemeClr val="lt1"/>
              </a:solidFill>
              <a:latin typeface="Calibri"/>
              <a:ea typeface="Calibri"/>
              <a:cs typeface="Calibri"/>
              <a:sym typeface="Calibri"/>
            </a:endParaRPr>
          </a:p>
        </p:txBody>
      </p:sp>
      <p:pic>
        <p:nvPicPr>
          <p:cNvPr id="14" name="Picture 13">
            <a:extLst>
              <a:ext uri="{FF2B5EF4-FFF2-40B4-BE49-F238E27FC236}">
                <a16:creationId xmlns:a16="http://schemas.microsoft.com/office/drawing/2014/main" id="{A9A1EDAD-EA07-4306-A659-8FCC97C858C6}"/>
              </a:ext>
            </a:extLst>
          </p:cNvPr>
          <p:cNvPicPr>
            <a:picLocks noChangeAspect="1"/>
          </p:cNvPicPr>
          <p:nvPr/>
        </p:nvPicPr>
        <p:blipFill>
          <a:blip r:embed="rId5"/>
          <a:stretch>
            <a:fillRect/>
          </a:stretch>
        </p:blipFill>
        <p:spPr>
          <a:xfrm>
            <a:off x="116142" y="1252298"/>
            <a:ext cx="10191520" cy="447269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8"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237" name="Google Shape;237;p8"/>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8" name="Google Shape;238;p8"/>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 name="Google Shape;239;p8"/>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40" name="Google Shape;240;p8"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241" name="Google Shape;241;p8"/>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 name="Google Shape;242;p8"/>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3" name="Google Shape;243;p8"/>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10</a:t>
            </a:fld>
            <a:endParaRPr sz="2400" b="1">
              <a:solidFill>
                <a:srgbClr val="1B449C"/>
              </a:solidFill>
            </a:endParaRPr>
          </a:p>
        </p:txBody>
      </p:sp>
      <p:sp>
        <p:nvSpPr>
          <p:cNvPr id="244" name="Google Shape;244;p8"/>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 name="Google Shape;245;p8"/>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246" name="Google Shape;246;p8"/>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8"/>
          <p:cNvSpPr txBox="1"/>
          <p:nvPr/>
        </p:nvSpPr>
        <p:spPr>
          <a:xfrm>
            <a:off x="993885" y="95251"/>
            <a:ext cx="819457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SATUAN ACARA PERKULIAHAN (SAP)</a:t>
            </a:r>
            <a:endParaRPr sz="3600" b="1">
              <a:solidFill>
                <a:schemeClr val="lt1"/>
              </a:solidFill>
              <a:latin typeface="Calibri"/>
              <a:ea typeface="Calibri"/>
              <a:cs typeface="Calibri"/>
              <a:sym typeface="Calibri"/>
            </a:endParaRPr>
          </a:p>
        </p:txBody>
      </p:sp>
      <p:graphicFrame>
        <p:nvGraphicFramePr>
          <p:cNvPr id="248" name="Google Shape;248;p8"/>
          <p:cNvGraphicFramePr/>
          <p:nvPr>
            <p:extLst>
              <p:ext uri="{D42A27DB-BD31-4B8C-83A1-F6EECF244321}">
                <p14:modId xmlns:p14="http://schemas.microsoft.com/office/powerpoint/2010/main" val="2590153653"/>
              </p:ext>
            </p:extLst>
          </p:nvPr>
        </p:nvGraphicFramePr>
        <p:xfrm>
          <a:off x="718427" y="1550495"/>
          <a:ext cx="8734104" cy="3943720"/>
        </p:xfrm>
        <a:graphic>
          <a:graphicData uri="http://schemas.openxmlformats.org/drawingml/2006/table">
            <a:tbl>
              <a:tblPr>
                <a:noFill/>
                <a:tableStyleId>{5E7D8076-AC5C-4AA6-9025-8190D0D164E4}</a:tableStyleId>
              </a:tblPr>
              <a:tblGrid>
                <a:gridCol w="749811">
                  <a:extLst>
                    <a:ext uri="{9D8B030D-6E8A-4147-A177-3AD203B41FA5}">
                      <a16:colId xmlns:a16="http://schemas.microsoft.com/office/drawing/2014/main" val="20000"/>
                    </a:ext>
                  </a:extLst>
                </a:gridCol>
                <a:gridCol w="2656661">
                  <a:extLst>
                    <a:ext uri="{9D8B030D-6E8A-4147-A177-3AD203B41FA5}">
                      <a16:colId xmlns:a16="http://schemas.microsoft.com/office/drawing/2014/main" val="20001"/>
                    </a:ext>
                  </a:extLst>
                </a:gridCol>
                <a:gridCol w="5327632">
                  <a:extLst>
                    <a:ext uri="{9D8B030D-6E8A-4147-A177-3AD203B41FA5}">
                      <a16:colId xmlns:a16="http://schemas.microsoft.com/office/drawing/2014/main" val="20002"/>
                    </a:ext>
                  </a:extLst>
                </a:gridCol>
              </a:tblGrid>
              <a:tr h="397718">
                <a:tc gridSpan="2">
                  <a:txBody>
                    <a:bodyPr/>
                    <a:lstStyle/>
                    <a:p>
                      <a:pPr marL="0" marR="0" lvl="0" indent="0" algn="ctr" rtl="0">
                        <a:lnSpc>
                          <a:spcPct val="100000"/>
                        </a:lnSpc>
                        <a:spcBef>
                          <a:spcPts val="0"/>
                        </a:spcBef>
                        <a:spcAft>
                          <a:spcPts val="0"/>
                        </a:spcAft>
                        <a:buClr>
                          <a:schemeClr val="lt1"/>
                        </a:buClr>
                        <a:buSzPts val="2800"/>
                        <a:buFont typeface="Calibri"/>
                        <a:buNone/>
                      </a:pPr>
                      <a:r>
                        <a:rPr lang="en-US" sz="2400" u="none" strike="noStrike" cap="none" dirty="0">
                          <a:solidFill>
                            <a:schemeClr val="lt1"/>
                          </a:solidFill>
                          <a:latin typeface="Calibri"/>
                          <a:ea typeface="Calibri"/>
                          <a:cs typeface="Calibri"/>
                          <a:sym typeface="Calibri"/>
                        </a:rPr>
                        <a:t>Pekan</a:t>
                      </a:r>
                      <a:endParaRPr sz="2400" u="none" strike="noStrike" cap="none" dirty="0">
                        <a:latin typeface="Calibri"/>
                        <a:ea typeface="Calibri"/>
                        <a:cs typeface="Calibri"/>
                        <a:sym typeface="Calibri"/>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2060"/>
                    </a:solidFill>
                  </a:tcPr>
                </a:tc>
                <a:tc h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2800"/>
                        <a:buFont typeface="Arial"/>
                        <a:buNone/>
                      </a:pPr>
                      <a:r>
                        <a:rPr lang="en-US" sz="2400" u="none" strike="noStrike" cap="none">
                          <a:solidFill>
                            <a:schemeClr val="lt1"/>
                          </a:solidFill>
                          <a:latin typeface="Calibri"/>
                          <a:ea typeface="Calibri"/>
                          <a:cs typeface="Calibri"/>
                          <a:sym typeface="Calibri"/>
                        </a:rPr>
                        <a:t>Topik Pembahasan</a:t>
                      </a:r>
                      <a:endParaRPr sz="2400" u="none" strike="noStrike" cap="none">
                        <a:solidFill>
                          <a:schemeClr val="lt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410421">
                <a:tc>
                  <a:txBody>
                    <a:bodyPr/>
                    <a:lstStyle/>
                    <a:p>
                      <a:pPr marL="0" marR="0" lvl="0" indent="0" algn="ctr" rtl="0">
                        <a:lnSpc>
                          <a:spcPct val="100000"/>
                        </a:lnSpc>
                        <a:spcBef>
                          <a:spcPts val="0"/>
                        </a:spcBef>
                        <a:spcAft>
                          <a:spcPts val="0"/>
                        </a:spcAft>
                        <a:buClr>
                          <a:srgbClr val="002060"/>
                        </a:buClr>
                        <a:buSzPts val="2800"/>
                        <a:buFont typeface="Calibri"/>
                        <a:buNone/>
                      </a:pPr>
                      <a:r>
                        <a:rPr lang="en-US" sz="2400" u="none" strike="noStrike" cap="none">
                          <a:solidFill>
                            <a:srgbClr val="002060"/>
                          </a:solidFill>
                          <a:latin typeface="Calibri"/>
                          <a:ea typeface="Calibri"/>
                          <a:cs typeface="Calibri"/>
                          <a:sym typeface="Calibri"/>
                        </a:rPr>
                        <a:t>1</a:t>
                      </a:r>
                      <a:endParaRPr sz="2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2060"/>
                        </a:buClr>
                        <a:buSzPts val="2800"/>
                        <a:buFont typeface="Calibri"/>
                        <a:buNone/>
                      </a:pPr>
                      <a:r>
                        <a:rPr lang="en-US" sz="2400" dirty="0">
                          <a:solidFill>
                            <a:schemeClr val="tx1"/>
                          </a:solidFill>
                          <a:latin typeface="Calibri"/>
                          <a:ea typeface="Calibri"/>
                          <a:cs typeface="Calibri"/>
                          <a:sym typeface="Calibri"/>
                        </a:rPr>
                        <a:t>2 - 6 </a:t>
                      </a:r>
                      <a:r>
                        <a:rPr lang="en-US" sz="2400" dirty="0" err="1">
                          <a:solidFill>
                            <a:schemeClr val="tx1"/>
                          </a:solidFill>
                          <a:latin typeface="Calibri"/>
                          <a:ea typeface="Calibri"/>
                          <a:cs typeface="Calibri"/>
                          <a:sym typeface="Calibri"/>
                        </a:rPr>
                        <a:t>Maret</a:t>
                      </a:r>
                      <a:endParaRPr sz="2400" u="none" strike="noStrike" cap="none" dirty="0">
                        <a:solidFill>
                          <a:schemeClr val="tx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r>
                        <a:rPr lang="en-US" sz="2000" u="none" strike="noStrike" cap="none" dirty="0">
                          <a:latin typeface="Calibri"/>
                          <a:ea typeface="Calibri"/>
                          <a:cs typeface="Calibri"/>
                          <a:sym typeface="Calibri"/>
                        </a:rPr>
                        <a:t>Satu Data Indonesia</a:t>
                      </a:r>
                      <a:endParaRPr sz="2000" u="none" strike="noStrike" cap="none" dirty="0">
                        <a:latin typeface="Calibri"/>
                        <a:ea typeface="Calibri"/>
                        <a:cs typeface="Calibri"/>
                        <a:sym typeface="Calibri"/>
                      </a:endParaRPr>
                    </a:p>
                  </a:txBody>
                  <a:tcPr marL="91450" marR="91450" marT="45725" marB="45725">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51840">
                <a:tc>
                  <a:txBody>
                    <a:bodyPr/>
                    <a:lstStyle/>
                    <a:p>
                      <a:pPr marL="0" marR="0" lvl="0" indent="0" algn="ctr" rtl="0">
                        <a:lnSpc>
                          <a:spcPct val="100000"/>
                        </a:lnSpc>
                        <a:spcBef>
                          <a:spcPts val="0"/>
                        </a:spcBef>
                        <a:spcAft>
                          <a:spcPts val="0"/>
                        </a:spcAft>
                        <a:buClr>
                          <a:srgbClr val="002060"/>
                        </a:buClr>
                        <a:buSzPts val="2800"/>
                        <a:buFont typeface="Calibri"/>
                        <a:buNone/>
                      </a:pPr>
                      <a:r>
                        <a:rPr lang="en-US" sz="2400" u="none" strike="noStrike" cap="none">
                          <a:solidFill>
                            <a:srgbClr val="002060"/>
                          </a:solidFill>
                          <a:latin typeface="Calibri"/>
                          <a:ea typeface="Calibri"/>
                          <a:cs typeface="Calibri"/>
                          <a:sym typeface="Calibri"/>
                        </a:rPr>
                        <a:t>2</a:t>
                      </a:r>
                      <a:endParaRPr sz="2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rgbClr val="002060"/>
                        </a:buClr>
                        <a:buSzPts val="2800"/>
                        <a:buFont typeface="Calibri"/>
                        <a:buNone/>
                      </a:pPr>
                      <a:r>
                        <a:rPr lang="en-US" sz="2400" dirty="0">
                          <a:solidFill>
                            <a:schemeClr val="tx1"/>
                          </a:solidFill>
                          <a:latin typeface="Calibri"/>
                          <a:ea typeface="Calibri"/>
                          <a:cs typeface="Calibri"/>
                          <a:sym typeface="Calibri"/>
                        </a:rPr>
                        <a:t>9 - 13 </a:t>
                      </a:r>
                      <a:r>
                        <a:rPr lang="en-US" sz="2400" dirty="0" err="1">
                          <a:solidFill>
                            <a:schemeClr val="tx1"/>
                          </a:solidFill>
                          <a:latin typeface="Calibri"/>
                          <a:ea typeface="Calibri"/>
                          <a:cs typeface="Calibri"/>
                          <a:sym typeface="Calibri"/>
                        </a:rPr>
                        <a:t>Maret</a:t>
                      </a:r>
                      <a:endParaRPr sz="2400" u="none" strike="noStrike" cap="none" dirty="0">
                        <a:solidFill>
                          <a:schemeClr val="tx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r>
                        <a:rPr lang="en-US" sz="2000" u="none" strike="noStrike" cap="none" dirty="0" err="1">
                          <a:latin typeface="Calibri"/>
                          <a:ea typeface="Calibri"/>
                          <a:cs typeface="Calibri"/>
                          <a:sym typeface="Calibri"/>
                        </a:rPr>
                        <a:t>Standar</a:t>
                      </a:r>
                      <a:r>
                        <a:rPr lang="en-US" sz="2000" u="none" strike="noStrike" cap="none" dirty="0">
                          <a:latin typeface="Calibri"/>
                          <a:ea typeface="Calibri"/>
                          <a:cs typeface="Calibri"/>
                          <a:sym typeface="Calibri"/>
                        </a:rPr>
                        <a:t> data, Metadata, dan </a:t>
                      </a:r>
                      <a:r>
                        <a:rPr lang="en-US" sz="2000" u="none" strike="noStrike" cap="none" dirty="0" err="1">
                          <a:latin typeface="Calibri"/>
                          <a:ea typeface="Calibri"/>
                          <a:cs typeface="Calibri"/>
                          <a:sym typeface="Calibri"/>
                        </a:rPr>
                        <a:t>Interoperabilitas</a:t>
                      </a:r>
                      <a:endParaRPr sz="2000" u="none" strike="noStrike" cap="none" dirty="0">
                        <a:latin typeface="Calibri"/>
                        <a:ea typeface="Calibri"/>
                        <a:cs typeface="Calibri"/>
                        <a:sym typeface="Calibri"/>
                      </a:endParaRPr>
                    </a:p>
                  </a:txBody>
                  <a:tcPr marL="91450" marR="91450" marT="45725" marB="45725">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marR="0" lvl="0" indent="0" algn="ctr" rtl="0">
                        <a:lnSpc>
                          <a:spcPct val="100000"/>
                        </a:lnSpc>
                        <a:spcBef>
                          <a:spcPts val="0"/>
                        </a:spcBef>
                        <a:spcAft>
                          <a:spcPts val="0"/>
                        </a:spcAft>
                        <a:buClr>
                          <a:srgbClr val="002060"/>
                        </a:buClr>
                        <a:buSzPts val="2800"/>
                        <a:buFont typeface="Calibri"/>
                        <a:buNone/>
                      </a:pPr>
                      <a:r>
                        <a:rPr lang="en-US" sz="2400" u="none" strike="noStrike" cap="none" dirty="0">
                          <a:solidFill>
                            <a:srgbClr val="002060"/>
                          </a:solidFill>
                          <a:latin typeface="Calibri"/>
                          <a:ea typeface="Calibri"/>
                          <a:cs typeface="Calibri"/>
                          <a:sym typeface="Calibri"/>
                        </a:rPr>
                        <a:t>3-7</a:t>
                      </a:r>
                      <a:endParaRPr sz="24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rgbClr val="002060"/>
                        </a:buClr>
                        <a:buSzPts val="2800"/>
                        <a:buFont typeface="Calibri"/>
                        <a:buNone/>
                      </a:pPr>
                      <a:r>
                        <a:rPr lang="en-US" sz="2400" dirty="0">
                          <a:solidFill>
                            <a:schemeClr val="tx1"/>
                          </a:solidFill>
                          <a:latin typeface="Calibri"/>
                          <a:ea typeface="Calibri"/>
                          <a:cs typeface="Calibri"/>
                          <a:sym typeface="Calibri"/>
                        </a:rPr>
                        <a:t>30 Mar – 24 April**</a:t>
                      </a:r>
                      <a:endParaRPr lang="en-US" sz="2400" u="none" strike="noStrike" cap="none" dirty="0">
                        <a:solidFill>
                          <a:schemeClr val="tx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chemeClr val="dk1"/>
                        </a:buClr>
                        <a:buSzPts val="2800"/>
                        <a:buFont typeface="Calibri"/>
                        <a:buNone/>
                        <a:tabLst/>
                        <a:defRPr/>
                      </a:pPr>
                      <a:r>
                        <a:rPr lang="en-US" sz="2000" u="none" strike="noStrike" cap="none" dirty="0">
                          <a:latin typeface="Calibri"/>
                          <a:ea typeface="Calibri"/>
                          <a:cs typeface="Calibri"/>
                          <a:sym typeface="Calibri"/>
                        </a:rPr>
                        <a:t>Norma, </a:t>
                      </a:r>
                      <a:r>
                        <a:rPr lang="en-US" sz="2000" u="none" strike="noStrike" cap="none" dirty="0" err="1">
                          <a:latin typeface="Calibri"/>
                          <a:ea typeface="Calibri"/>
                          <a:cs typeface="Calibri"/>
                          <a:sym typeface="Calibri"/>
                        </a:rPr>
                        <a:t>Standar</a:t>
                      </a:r>
                      <a:r>
                        <a:rPr lang="en-US" sz="2000" u="none" strike="noStrike" cap="none" dirty="0">
                          <a:latin typeface="Calibri"/>
                          <a:ea typeface="Calibri"/>
                          <a:cs typeface="Calibri"/>
                          <a:sym typeface="Calibri"/>
                        </a:rPr>
                        <a:t>, </a:t>
                      </a:r>
                      <a:r>
                        <a:rPr lang="en-US" sz="2000" u="none" strike="noStrike" cap="none" dirty="0" err="1">
                          <a:latin typeface="Calibri"/>
                          <a:ea typeface="Calibri"/>
                          <a:cs typeface="Calibri"/>
                          <a:sym typeface="Calibri"/>
                        </a:rPr>
                        <a:t>Prosedur</a:t>
                      </a:r>
                      <a:r>
                        <a:rPr lang="en-US" sz="2000" u="none" strike="noStrike" cap="none" dirty="0">
                          <a:latin typeface="Calibri"/>
                          <a:ea typeface="Calibri"/>
                          <a:cs typeface="Calibri"/>
                          <a:sym typeface="Calibri"/>
                        </a:rPr>
                        <a:t> dan </a:t>
                      </a:r>
                      <a:r>
                        <a:rPr lang="en-US" sz="2000" u="none" strike="noStrike" cap="none" dirty="0" err="1">
                          <a:latin typeface="Calibri"/>
                          <a:ea typeface="Calibri"/>
                          <a:cs typeface="Calibri"/>
                          <a:sym typeface="Calibri"/>
                        </a:rPr>
                        <a:t>Kriteria</a:t>
                      </a:r>
                      <a:r>
                        <a:rPr lang="en-US" sz="2000" u="none" strike="noStrike" cap="none" dirty="0">
                          <a:latin typeface="Calibri"/>
                          <a:ea typeface="Calibri"/>
                          <a:cs typeface="Calibri"/>
                          <a:sym typeface="Calibri"/>
                        </a:rPr>
                        <a:t> </a:t>
                      </a:r>
                      <a:r>
                        <a:rPr lang="en-US" sz="2000" u="none" strike="noStrike" cap="none" dirty="0" err="1">
                          <a:latin typeface="Calibri"/>
                          <a:ea typeface="Calibri"/>
                          <a:cs typeface="Calibri"/>
                          <a:sym typeface="Calibri"/>
                        </a:rPr>
                        <a:t>Kegiatan</a:t>
                      </a:r>
                      <a:r>
                        <a:rPr lang="en-US" sz="2000" u="none" strike="noStrike" cap="none" dirty="0">
                          <a:latin typeface="Calibri"/>
                          <a:ea typeface="Calibri"/>
                          <a:cs typeface="Calibri"/>
                          <a:sym typeface="Calibri"/>
                        </a:rPr>
                        <a:t> </a:t>
                      </a:r>
                      <a:r>
                        <a:rPr lang="en-US" sz="2000" u="none" strike="noStrike" cap="none" dirty="0" err="1">
                          <a:latin typeface="Calibri"/>
                          <a:ea typeface="Calibri"/>
                          <a:cs typeface="Calibri"/>
                          <a:sym typeface="Calibri"/>
                        </a:rPr>
                        <a:t>Statistik</a:t>
                      </a:r>
                      <a:r>
                        <a:rPr lang="en-US" sz="2000" u="none" strike="noStrike" cap="none" dirty="0">
                          <a:latin typeface="Calibri"/>
                          <a:ea typeface="Calibri"/>
                          <a:cs typeface="Calibri"/>
                          <a:sym typeface="Calibri"/>
                        </a:rPr>
                        <a:t> </a:t>
                      </a:r>
                      <a:r>
                        <a:rPr lang="en-US" sz="2000" u="none" strike="noStrike" cap="none" dirty="0" err="1">
                          <a:latin typeface="Calibri"/>
                          <a:ea typeface="Calibri"/>
                          <a:cs typeface="Calibri"/>
                          <a:sym typeface="Calibri"/>
                        </a:rPr>
                        <a:t>Sektoral</a:t>
                      </a:r>
                      <a:r>
                        <a:rPr lang="en-US" sz="2000" u="none" strike="noStrike" cap="none" dirty="0">
                          <a:latin typeface="Calibri"/>
                          <a:ea typeface="Calibri"/>
                          <a:cs typeface="Calibri"/>
                          <a:sym typeface="Calibri"/>
                        </a:rPr>
                        <a:t>; </a:t>
                      </a:r>
                      <a:r>
                        <a:rPr lang="nn-NO" sz="2000" u="none" strike="noStrike" cap="none" dirty="0">
                          <a:latin typeface="Calibri"/>
                          <a:ea typeface="Calibri"/>
                          <a:cs typeface="Calibri"/>
                          <a:sym typeface="Calibri"/>
                        </a:rPr>
                        <a:t>Kode referensi/Data Induk, Penyajian data Pembangunan, dan kolaborasi data; </a:t>
                      </a:r>
                      <a:r>
                        <a:rPr lang="en-US" sz="2000" u="none" strike="noStrike" cap="none" dirty="0" err="1">
                          <a:latin typeface="Calibri"/>
                          <a:ea typeface="Calibri"/>
                          <a:cs typeface="Calibri"/>
                          <a:sym typeface="Calibri"/>
                        </a:rPr>
                        <a:t>Konsep</a:t>
                      </a:r>
                      <a:r>
                        <a:rPr lang="en-US" sz="2000" u="none" strike="noStrike" cap="none" dirty="0">
                          <a:latin typeface="Calibri"/>
                          <a:ea typeface="Calibri"/>
                          <a:cs typeface="Calibri"/>
                          <a:sym typeface="Calibri"/>
                        </a:rPr>
                        <a:t> </a:t>
                      </a:r>
                      <a:r>
                        <a:rPr lang="en-US" sz="2000" u="none" strike="noStrike" cap="none" dirty="0" err="1">
                          <a:latin typeface="Calibri"/>
                          <a:ea typeface="Calibri"/>
                          <a:cs typeface="Calibri"/>
                          <a:sym typeface="Calibri"/>
                        </a:rPr>
                        <a:t>Indikator</a:t>
                      </a:r>
                      <a:r>
                        <a:rPr lang="en-US" sz="2000" u="none" strike="noStrike" cap="none" dirty="0">
                          <a:latin typeface="Calibri"/>
                          <a:ea typeface="Calibri"/>
                          <a:cs typeface="Calibri"/>
                          <a:sym typeface="Calibri"/>
                        </a:rPr>
                        <a:t> dan TPB/SDGs; </a:t>
                      </a:r>
                      <a:r>
                        <a:rPr lang="en-US" sz="2000" u="none" strike="noStrike" cap="none" dirty="0" err="1">
                          <a:latin typeface="Calibri"/>
                          <a:ea typeface="Calibri"/>
                          <a:cs typeface="Calibri"/>
                          <a:sym typeface="Calibri"/>
                        </a:rPr>
                        <a:t>Indikator</a:t>
                      </a:r>
                      <a:r>
                        <a:rPr lang="en-US" sz="2000" u="none" strike="noStrike" cap="none" dirty="0">
                          <a:latin typeface="Calibri"/>
                          <a:ea typeface="Calibri"/>
                          <a:cs typeface="Calibri"/>
                          <a:sym typeface="Calibri"/>
                        </a:rPr>
                        <a:t> </a:t>
                      </a:r>
                      <a:r>
                        <a:rPr lang="en-US" sz="2000" u="none" strike="noStrike" cap="none" dirty="0" err="1">
                          <a:latin typeface="Calibri"/>
                          <a:ea typeface="Calibri"/>
                          <a:cs typeface="Calibri"/>
                          <a:sym typeface="Calibri"/>
                        </a:rPr>
                        <a:t>Lingkungan</a:t>
                      </a:r>
                      <a:r>
                        <a:rPr lang="en-US" sz="2000" u="none" strike="noStrike" cap="none" dirty="0">
                          <a:latin typeface="Calibri"/>
                          <a:ea typeface="Calibri"/>
                          <a:cs typeface="Calibri"/>
                          <a:sym typeface="Calibri"/>
                        </a:rPr>
                        <a:t>; </a:t>
                      </a:r>
                      <a:r>
                        <a:rPr lang="en-US" sz="2000" u="none" strike="noStrike" cap="none" dirty="0" err="1">
                          <a:latin typeface="Calibri"/>
                          <a:ea typeface="Calibri"/>
                          <a:cs typeface="Calibri"/>
                          <a:sym typeface="Calibri"/>
                        </a:rPr>
                        <a:t>Diskusi</a:t>
                      </a:r>
                      <a:r>
                        <a:rPr lang="en-US" sz="2000" u="none" strike="noStrike" cap="none" dirty="0">
                          <a:latin typeface="Calibri"/>
                          <a:ea typeface="Calibri"/>
                          <a:cs typeface="Calibri"/>
                          <a:sym typeface="Calibri"/>
                        </a:rPr>
                        <a:t> dan Review</a:t>
                      </a:r>
                      <a:endParaRPr lang="nn-NO" sz="2000" u="none" strike="noStrike" cap="none" dirty="0">
                        <a:latin typeface="Calibri"/>
                        <a:ea typeface="Calibri"/>
                        <a:cs typeface="Calibri"/>
                        <a:sym typeface="Calibri"/>
                      </a:endParaRPr>
                    </a:p>
                    <a:p>
                      <a:pPr marL="0" marR="0" lvl="0" indent="0" algn="l" rtl="0">
                        <a:lnSpc>
                          <a:spcPct val="100000"/>
                        </a:lnSpc>
                        <a:spcBef>
                          <a:spcPts val="0"/>
                        </a:spcBef>
                        <a:spcAft>
                          <a:spcPts val="0"/>
                        </a:spcAft>
                        <a:buClr>
                          <a:schemeClr val="dk1"/>
                        </a:buClr>
                        <a:buSzPts val="2800"/>
                        <a:buFont typeface="Calibri"/>
                        <a:buNone/>
                      </a:pPr>
                      <a:endParaRPr sz="2000" u="none" strike="noStrike" cap="none" dirty="0">
                        <a:latin typeface="Calibri"/>
                        <a:ea typeface="Calibri"/>
                        <a:cs typeface="Calibri"/>
                        <a:sym typeface="Calibri"/>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10421">
                <a:tc>
                  <a:txBody>
                    <a:bodyPr/>
                    <a:lstStyle/>
                    <a:p>
                      <a:pPr marL="0" marR="0" lvl="0" indent="0" algn="ctr" rtl="0">
                        <a:lnSpc>
                          <a:spcPct val="100000"/>
                        </a:lnSpc>
                        <a:spcBef>
                          <a:spcPts val="0"/>
                        </a:spcBef>
                        <a:spcAft>
                          <a:spcPts val="0"/>
                        </a:spcAft>
                        <a:buClr>
                          <a:srgbClr val="002060"/>
                        </a:buClr>
                        <a:buSzPts val="2800"/>
                        <a:buFont typeface="Calibri"/>
                        <a:buNone/>
                      </a:pPr>
                      <a:r>
                        <a:rPr lang="en-US" sz="2400" u="none" strike="noStrike" cap="none" dirty="0">
                          <a:solidFill>
                            <a:srgbClr val="002060"/>
                          </a:solidFill>
                          <a:latin typeface="Calibri"/>
                          <a:ea typeface="Calibri"/>
                          <a:cs typeface="Calibri"/>
                          <a:sym typeface="Calibri"/>
                        </a:rPr>
                        <a:t>8</a:t>
                      </a:r>
                      <a:endParaRPr sz="24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C000"/>
                    </a:solidFill>
                  </a:tcPr>
                </a:tc>
                <a:tc>
                  <a:txBody>
                    <a:bodyPr/>
                    <a:lstStyle/>
                    <a:p>
                      <a:pPr marL="0" marR="0" lvl="0" indent="0" algn="ctr" rtl="0">
                        <a:lnSpc>
                          <a:spcPct val="100000"/>
                        </a:lnSpc>
                        <a:spcBef>
                          <a:spcPts val="0"/>
                        </a:spcBef>
                        <a:spcAft>
                          <a:spcPts val="0"/>
                        </a:spcAft>
                        <a:buClr>
                          <a:srgbClr val="002060"/>
                        </a:buClr>
                        <a:buSzPts val="2800"/>
                        <a:buFont typeface="Calibri"/>
                        <a:buNone/>
                      </a:pPr>
                      <a:r>
                        <a:rPr lang="en-US" sz="2400" dirty="0">
                          <a:solidFill>
                            <a:schemeClr val="tx1"/>
                          </a:solidFill>
                          <a:latin typeface="Calibri"/>
                          <a:ea typeface="Calibri"/>
                          <a:cs typeface="Calibri"/>
                          <a:sym typeface="Calibri"/>
                        </a:rPr>
                        <a:t>27 April-8 Mei</a:t>
                      </a:r>
                      <a:endParaRPr lang="en-US" sz="2400" u="none" strike="noStrike" cap="none" dirty="0">
                        <a:solidFill>
                          <a:schemeClr val="tx1"/>
                        </a:solidFill>
                        <a:latin typeface="Calibri"/>
                        <a:ea typeface="Calibri"/>
                        <a:cs typeface="Calibri"/>
                        <a:sym typeface="Calibri"/>
                      </a:endParaRP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C000"/>
                    </a:solidFill>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2060"/>
                          </a:solidFill>
                          <a:latin typeface="Calibri"/>
                          <a:ea typeface="Calibri"/>
                          <a:cs typeface="Calibri"/>
                          <a:sym typeface="Calibri"/>
                        </a:rPr>
                        <a:t>UTS</a:t>
                      </a:r>
                      <a:endParaRPr sz="2400" u="none" strike="noStrike" cap="none" dirty="0">
                        <a:latin typeface="Calibri"/>
                        <a:ea typeface="Calibri"/>
                        <a:cs typeface="Calibri"/>
                        <a:sym typeface="Calibri"/>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C000"/>
                    </a:solidFill>
                  </a:tcPr>
                </a:tc>
                <a:extLst>
                  <a:ext uri="{0D108BD9-81ED-4DB2-BD59-A6C34878D82A}">
                    <a16:rowId xmlns:a16="http://schemas.microsoft.com/office/drawing/2014/main" val="10008"/>
                  </a:ext>
                </a:extLst>
              </a:tr>
            </a:tbl>
          </a:graphicData>
        </a:graphic>
      </p:graphicFrame>
      <p:sp>
        <p:nvSpPr>
          <p:cNvPr id="15" name="TextBox 14">
            <a:extLst>
              <a:ext uri="{FF2B5EF4-FFF2-40B4-BE49-F238E27FC236}">
                <a16:creationId xmlns:a16="http://schemas.microsoft.com/office/drawing/2014/main" id="{6581F647-9EF6-4F21-8768-C24031DE8199}"/>
              </a:ext>
            </a:extLst>
          </p:cNvPr>
          <p:cNvSpPr txBox="1"/>
          <p:nvPr/>
        </p:nvSpPr>
        <p:spPr>
          <a:xfrm>
            <a:off x="271437" y="6211982"/>
            <a:ext cx="8956535" cy="338554"/>
          </a:xfrm>
          <a:prstGeom prst="rect">
            <a:avLst/>
          </a:prstGeom>
          <a:noFill/>
        </p:spPr>
        <p:txBody>
          <a:bodyPr wrap="square" rtlCol="0">
            <a:spAutoFit/>
          </a:bodyPr>
          <a:lstStyle/>
          <a:p>
            <a:r>
              <a:rPr lang="en-US" sz="1600" dirty="0"/>
              <a:t>**Ada </a:t>
            </a:r>
            <a:r>
              <a:rPr lang="en-US" sz="1600" dirty="0" err="1"/>
              <a:t>pemampatan</a:t>
            </a:r>
            <a:r>
              <a:rPr lang="en-US" sz="1600" dirty="0"/>
              <a:t> </a:t>
            </a:r>
            <a:r>
              <a:rPr lang="en-US" sz="1600" dirty="0" err="1"/>
              <a:t>waktu</a:t>
            </a:r>
            <a:r>
              <a:rPr lang="en-US" sz="1600" dirty="0"/>
              <a:t> (</a:t>
            </a:r>
            <a:r>
              <a:rPr lang="en-US" sz="1600" i="1" dirty="0"/>
              <a:t>time compression</a:t>
            </a:r>
            <a:r>
              <a:rPr lang="en-US" sz="1600" dirty="0"/>
              <a:t>) 5 </a:t>
            </a:r>
            <a:r>
              <a:rPr lang="en-US" sz="1600" dirty="0" err="1"/>
              <a:t>pertemuan</a:t>
            </a:r>
            <a:r>
              <a:rPr lang="en-US" sz="1600" dirty="0"/>
              <a:t> </a:t>
            </a:r>
            <a:r>
              <a:rPr lang="en-US" sz="1600" dirty="0" err="1"/>
              <a:t>dalam</a:t>
            </a:r>
            <a:r>
              <a:rPr lang="en-US" sz="1600" dirty="0"/>
              <a:t> </a:t>
            </a:r>
            <a:r>
              <a:rPr lang="en-US" sz="1600" dirty="0" err="1"/>
              <a:t>waktu</a:t>
            </a:r>
            <a:r>
              <a:rPr lang="en-US" sz="1600" dirty="0"/>
              <a:t> 4 </a:t>
            </a:r>
            <a:r>
              <a:rPr lang="en-US" sz="1600" dirty="0" err="1"/>
              <a:t>minggu</a:t>
            </a:r>
            <a:r>
              <a:rPr lang="en-US" sz="1600" dirty="0"/>
              <a:t> </a:t>
            </a:r>
            <a:endParaRPr lang="en-ID"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254" name="Google Shape;254;p9"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255" name="Google Shape;255;p9"/>
          <p:cNvSpPr/>
          <p:nvPr/>
        </p:nvSpPr>
        <p:spPr>
          <a:xfrm>
            <a:off x="-26417" y="183180"/>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6" name="Google Shape;256;p9"/>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7" name="Google Shape;257;p9"/>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58" name="Google Shape;258;p9"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259" name="Google Shape;259;p9"/>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p9"/>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 name="Google Shape;261;p9"/>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11</a:t>
            </a:fld>
            <a:endParaRPr sz="2400" b="1">
              <a:solidFill>
                <a:srgbClr val="1B449C"/>
              </a:solidFill>
            </a:endParaRPr>
          </a:p>
        </p:txBody>
      </p:sp>
      <p:sp>
        <p:nvSpPr>
          <p:cNvPr id="262" name="Google Shape;262;p9"/>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3" name="Google Shape;263;p9"/>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264" name="Google Shape;264;p9"/>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5" name="Google Shape;265;p9"/>
          <p:cNvSpPr txBox="1"/>
          <p:nvPr/>
        </p:nvSpPr>
        <p:spPr>
          <a:xfrm>
            <a:off x="993885" y="95251"/>
            <a:ext cx="758751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SATUAN ACARA PERKULIAHAN (SAP)</a:t>
            </a:r>
            <a:endParaRPr sz="3600" b="1">
              <a:solidFill>
                <a:schemeClr val="lt1"/>
              </a:solidFill>
              <a:latin typeface="Calibri"/>
              <a:ea typeface="Calibri"/>
              <a:cs typeface="Calibri"/>
              <a:sym typeface="Calibri"/>
            </a:endParaRPr>
          </a:p>
        </p:txBody>
      </p:sp>
      <p:graphicFrame>
        <p:nvGraphicFramePr>
          <p:cNvPr id="2" name="Google Shape;248;p8">
            <a:extLst>
              <a:ext uri="{FF2B5EF4-FFF2-40B4-BE49-F238E27FC236}">
                <a16:creationId xmlns:a16="http://schemas.microsoft.com/office/drawing/2014/main" id="{A9E2CD44-15FC-0A46-0284-15B308F86CF8}"/>
              </a:ext>
            </a:extLst>
          </p:cNvPr>
          <p:cNvGraphicFramePr/>
          <p:nvPr>
            <p:extLst>
              <p:ext uri="{D42A27DB-BD31-4B8C-83A1-F6EECF244321}">
                <p14:modId xmlns:p14="http://schemas.microsoft.com/office/powerpoint/2010/main" val="26922876"/>
              </p:ext>
            </p:extLst>
          </p:nvPr>
        </p:nvGraphicFramePr>
        <p:xfrm>
          <a:off x="575035" y="947180"/>
          <a:ext cx="8613422" cy="5562374"/>
        </p:xfrm>
        <a:graphic>
          <a:graphicData uri="http://schemas.openxmlformats.org/drawingml/2006/table">
            <a:tbl>
              <a:tblPr>
                <a:noFill/>
                <a:tableStyleId>{5E7D8076-AC5C-4AA6-9025-8190D0D164E4}</a:tableStyleId>
              </a:tblPr>
              <a:tblGrid>
                <a:gridCol w="629129">
                  <a:extLst>
                    <a:ext uri="{9D8B030D-6E8A-4147-A177-3AD203B41FA5}">
                      <a16:colId xmlns:a16="http://schemas.microsoft.com/office/drawing/2014/main" val="20000"/>
                    </a:ext>
                  </a:extLst>
                </a:gridCol>
                <a:gridCol w="2656661">
                  <a:extLst>
                    <a:ext uri="{9D8B030D-6E8A-4147-A177-3AD203B41FA5}">
                      <a16:colId xmlns:a16="http://schemas.microsoft.com/office/drawing/2014/main" val="20001"/>
                    </a:ext>
                  </a:extLst>
                </a:gridCol>
                <a:gridCol w="5327632">
                  <a:extLst>
                    <a:ext uri="{9D8B030D-6E8A-4147-A177-3AD203B41FA5}">
                      <a16:colId xmlns:a16="http://schemas.microsoft.com/office/drawing/2014/main" val="20002"/>
                    </a:ext>
                  </a:extLst>
                </a:gridCol>
              </a:tblGrid>
              <a:tr h="397718">
                <a:tc gridSpan="2">
                  <a:txBody>
                    <a:bodyPr/>
                    <a:lstStyle/>
                    <a:p>
                      <a:pPr marL="0" marR="0" lvl="0" indent="0" algn="ctr" rtl="0">
                        <a:lnSpc>
                          <a:spcPct val="100000"/>
                        </a:lnSpc>
                        <a:spcBef>
                          <a:spcPts val="0"/>
                        </a:spcBef>
                        <a:spcAft>
                          <a:spcPts val="0"/>
                        </a:spcAft>
                        <a:buClr>
                          <a:schemeClr val="lt1"/>
                        </a:buClr>
                        <a:buSzPts val="2800"/>
                        <a:buFont typeface="Calibri"/>
                        <a:buNone/>
                      </a:pPr>
                      <a:r>
                        <a:rPr lang="en-US" sz="2400" u="none" strike="noStrike" cap="none" dirty="0">
                          <a:solidFill>
                            <a:schemeClr val="lt1"/>
                          </a:solidFill>
                          <a:latin typeface="Calibri"/>
                          <a:ea typeface="Calibri"/>
                          <a:cs typeface="Calibri"/>
                          <a:sym typeface="Calibri"/>
                        </a:rPr>
                        <a:t>Pekan</a:t>
                      </a:r>
                      <a:endParaRPr sz="2400" u="none" strike="noStrike" cap="none" dirty="0">
                        <a:latin typeface="Calibri"/>
                        <a:ea typeface="Calibri"/>
                        <a:cs typeface="Calibri"/>
                        <a:sym typeface="Calibri"/>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002060"/>
                    </a:solidFill>
                  </a:tcPr>
                </a:tc>
                <a:tc h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2800"/>
                        <a:buFont typeface="Arial"/>
                        <a:buNone/>
                      </a:pPr>
                      <a:r>
                        <a:rPr lang="en-US" sz="2400" u="none" strike="noStrike" cap="none">
                          <a:solidFill>
                            <a:schemeClr val="lt1"/>
                          </a:solidFill>
                          <a:latin typeface="Calibri"/>
                          <a:ea typeface="Calibri"/>
                          <a:cs typeface="Calibri"/>
                          <a:sym typeface="Calibri"/>
                        </a:rPr>
                        <a:t>Topik Pembahasan</a:t>
                      </a:r>
                      <a:endParaRPr sz="2400" u="none" strike="noStrike" cap="none">
                        <a:solidFill>
                          <a:schemeClr val="lt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410421">
                <a:tc>
                  <a:txBody>
                    <a:bodyPr/>
                    <a:lstStyle/>
                    <a:p>
                      <a:pPr marL="0" marR="0" lvl="0" indent="0" algn="ctr" rtl="0">
                        <a:lnSpc>
                          <a:spcPct val="100000"/>
                        </a:lnSpc>
                        <a:spcBef>
                          <a:spcPts val="0"/>
                        </a:spcBef>
                        <a:spcAft>
                          <a:spcPts val="0"/>
                        </a:spcAft>
                        <a:buClr>
                          <a:srgbClr val="002060"/>
                        </a:buClr>
                        <a:buSzPts val="2800"/>
                        <a:buFont typeface="Calibri"/>
                        <a:buNone/>
                      </a:pPr>
                      <a:r>
                        <a:rPr lang="en-US" sz="2400" u="none" strike="noStrike" cap="none" dirty="0">
                          <a:solidFill>
                            <a:srgbClr val="002060"/>
                          </a:solidFill>
                          <a:latin typeface="Calibri"/>
                          <a:ea typeface="Calibri"/>
                          <a:cs typeface="Calibri"/>
                          <a:sym typeface="Calibri"/>
                        </a:rPr>
                        <a:t>9</a:t>
                      </a:r>
                      <a:endParaRPr sz="24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2060"/>
                        </a:buClr>
                        <a:buSzPts val="2800"/>
                        <a:buFont typeface="Calibri"/>
                        <a:buNone/>
                      </a:pPr>
                      <a:r>
                        <a:rPr lang="en-US" sz="2400" dirty="0">
                          <a:solidFill>
                            <a:schemeClr val="tx1"/>
                          </a:solidFill>
                          <a:latin typeface="Calibri"/>
                          <a:ea typeface="Calibri"/>
                          <a:cs typeface="Calibri"/>
                          <a:sym typeface="Calibri"/>
                        </a:rPr>
                        <a:t>3</a:t>
                      </a:r>
                      <a:r>
                        <a:rPr lang="en-US" sz="2400" u="none" strike="noStrike" cap="none" dirty="0">
                          <a:solidFill>
                            <a:schemeClr val="tx1"/>
                          </a:solidFill>
                          <a:latin typeface="Calibri"/>
                          <a:ea typeface="Calibri"/>
                          <a:cs typeface="Calibri"/>
                          <a:sym typeface="Calibri"/>
                        </a:rPr>
                        <a:t> - </a:t>
                      </a:r>
                      <a:r>
                        <a:rPr lang="en-US" sz="2400" dirty="0">
                          <a:solidFill>
                            <a:schemeClr val="tx1"/>
                          </a:solidFill>
                          <a:latin typeface="Calibri"/>
                          <a:ea typeface="Calibri"/>
                          <a:cs typeface="Calibri"/>
                          <a:sym typeface="Calibri"/>
                        </a:rPr>
                        <a:t>7</a:t>
                      </a:r>
                      <a:r>
                        <a:rPr lang="en-US" sz="2400" u="none" strike="noStrike" cap="none" dirty="0">
                          <a:solidFill>
                            <a:schemeClr val="tx1"/>
                          </a:solidFill>
                          <a:latin typeface="Calibri"/>
                          <a:ea typeface="Calibri"/>
                          <a:cs typeface="Calibri"/>
                          <a:sym typeface="Calibri"/>
                        </a:rPr>
                        <a:t> </a:t>
                      </a:r>
                      <a:r>
                        <a:rPr lang="en-US" sz="2400" u="none" strike="noStrike" cap="none" dirty="0" err="1">
                          <a:solidFill>
                            <a:schemeClr val="tx1"/>
                          </a:solidFill>
                          <a:latin typeface="Calibri"/>
                          <a:ea typeface="Calibri"/>
                          <a:cs typeface="Calibri"/>
                          <a:sym typeface="Calibri"/>
                        </a:rPr>
                        <a:t>Agust</a:t>
                      </a:r>
                      <a:r>
                        <a:rPr lang="en-US" sz="2400" u="none" strike="noStrike" cap="none" dirty="0">
                          <a:solidFill>
                            <a:schemeClr val="tx1"/>
                          </a:solidFill>
                          <a:latin typeface="Calibri"/>
                          <a:ea typeface="Calibri"/>
                          <a:cs typeface="Calibri"/>
                          <a:sym typeface="Calibri"/>
                        </a:rPr>
                        <a:t> </a:t>
                      </a:r>
                      <a:endParaRPr sz="2400" u="none" strike="noStrike" cap="none" dirty="0">
                        <a:solidFill>
                          <a:schemeClr val="tx1"/>
                        </a:solidFill>
                        <a:latin typeface="Calibri"/>
                        <a:ea typeface="Calibri"/>
                        <a:cs typeface="Calibri"/>
                        <a:sym typeface="Calibri"/>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r>
                        <a:rPr lang="en-US" sz="2000" u="none" strike="noStrike" cap="none" dirty="0" err="1">
                          <a:latin typeface="Calibri"/>
                          <a:ea typeface="Calibri"/>
                          <a:cs typeface="Calibri"/>
                          <a:sym typeface="Calibri"/>
                        </a:rPr>
                        <a:t>Indikator</a:t>
                      </a:r>
                      <a:r>
                        <a:rPr lang="en-US" sz="2000" u="none" strike="noStrike" cap="none" dirty="0">
                          <a:latin typeface="Calibri"/>
                          <a:ea typeface="Calibri"/>
                          <a:cs typeface="Calibri"/>
                          <a:sym typeface="Calibri"/>
                        </a:rPr>
                        <a:t> </a:t>
                      </a:r>
                      <a:r>
                        <a:rPr lang="en-US" sz="2000" u="none" strike="noStrike" cap="none" dirty="0" err="1">
                          <a:latin typeface="Calibri"/>
                          <a:ea typeface="Calibri"/>
                          <a:cs typeface="Calibri"/>
                          <a:sym typeface="Calibri"/>
                        </a:rPr>
                        <a:t>Sosial</a:t>
                      </a:r>
                      <a:endParaRPr sz="2000" u="none" strike="noStrike" cap="none" dirty="0">
                        <a:latin typeface="Calibri"/>
                        <a:ea typeface="Calibri"/>
                        <a:cs typeface="Calibri"/>
                        <a:sym typeface="Calibri"/>
                      </a:endParaRPr>
                    </a:p>
                  </a:txBody>
                  <a:tcPr marL="91450" marR="91450" marT="45725" marB="45725">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51840">
                <a:tc>
                  <a:txBody>
                    <a:bodyPr/>
                    <a:lstStyle/>
                    <a:p>
                      <a:pPr marL="0" marR="0" lvl="0" indent="0" algn="ctr" rtl="0">
                        <a:lnSpc>
                          <a:spcPct val="100000"/>
                        </a:lnSpc>
                        <a:spcBef>
                          <a:spcPts val="0"/>
                        </a:spcBef>
                        <a:spcAft>
                          <a:spcPts val="0"/>
                        </a:spcAft>
                        <a:buClr>
                          <a:srgbClr val="002060"/>
                        </a:buClr>
                        <a:buSzPts val="2800"/>
                        <a:buFont typeface="Calibri"/>
                        <a:buNone/>
                      </a:pPr>
                      <a:r>
                        <a:rPr lang="en-US" sz="2400" u="none" strike="noStrike" cap="none" dirty="0">
                          <a:solidFill>
                            <a:srgbClr val="002060"/>
                          </a:solidFill>
                          <a:latin typeface="Calibri"/>
                          <a:ea typeface="Calibri"/>
                          <a:cs typeface="Calibri"/>
                          <a:sym typeface="Calibri"/>
                        </a:rPr>
                        <a:t>10</a:t>
                      </a:r>
                      <a:endParaRPr sz="24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2060"/>
                        </a:buClr>
                        <a:buSzPts val="2800"/>
                        <a:buFont typeface="Calibri"/>
                        <a:buNone/>
                      </a:pPr>
                      <a:r>
                        <a:rPr lang="en-US" sz="2400" dirty="0">
                          <a:solidFill>
                            <a:schemeClr val="tx1"/>
                          </a:solidFill>
                          <a:latin typeface="Calibri"/>
                          <a:ea typeface="Calibri"/>
                          <a:cs typeface="Calibri"/>
                          <a:sym typeface="Calibri"/>
                        </a:rPr>
                        <a:t>10</a:t>
                      </a:r>
                      <a:r>
                        <a:rPr lang="en-US" sz="2400" u="none" strike="noStrike" cap="none" dirty="0">
                          <a:solidFill>
                            <a:schemeClr val="tx1"/>
                          </a:solidFill>
                          <a:latin typeface="Calibri"/>
                          <a:ea typeface="Calibri"/>
                          <a:cs typeface="Calibri"/>
                          <a:sym typeface="Calibri"/>
                        </a:rPr>
                        <a:t> - </a:t>
                      </a:r>
                      <a:r>
                        <a:rPr lang="en-US" sz="2400" dirty="0">
                          <a:solidFill>
                            <a:schemeClr val="tx1"/>
                          </a:solidFill>
                          <a:latin typeface="Calibri"/>
                          <a:ea typeface="Calibri"/>
                          <a:cs typeface="Calibri"/>
                          <a:sym typeface="Calibri"/>
                        </a:rPr>
                        <a:t>14</a:t>
                      </a:r>
                      <a:r>
                        <a:rPr lang="en-US" sz="2400" u="none" strike="noStrike" cap="none" dirty="0">
                          <a:solidFill>
                            <a:schemeClr val="tx1"/>
                          </a:solidFill>
                          <a:latin typeface="Calibri"/>
                          <a:ea typeface="Calibri"/>
                          <a:cs typeface="Calibri"/>
                          <a:sym typeface="Calibri"/>
                        </a:rPr>
                        <a:t> </a:t>
                      </a:r>
                      <a:r>
                        <a:rPr lang="en-US" sz="2400" dirty="0" err="1">
                          <a:solidFill>
                            <a:schemeClr val="tx1"/>
                          </a:solidFill>
                          <a:latin typeface="Calibri"/>
                          <a:ea typeface="Calibri"/>
                          <a:cs typeface="Calibri"/>
                          <a:sym typeface="Calibri"/>
                        </a:rPr>
                        <a:t>Agust</a:t>
                      </a:r>
                      <a:endParaRPr sz="2400" u="none" strike="noStrike" cap="none" dirty="0">
                        <a:solidFill>
                          <a:schemeClr val="tx1"/>
                        </a:solidFill>
                        <a:latin typeface="Calibri"/>
                        <a:ea typeface="Calibri"/>
                        <a:cs typeface="Calibri"/>
                        <a:sym typeface="Calibri"/>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r>
                        <a:rPr lang="en-US" sz="2000" u="none" strike="noStrike" cap="none" dirty="0" err="1">
                          <a:latin typeface="Calibri"/>
                          <a:ea typeface="Calibri"/>
                          <a:cs typeface="Calibri"/>
                          <a:sym typeface="Calibri"/>
                        </a:rPr>
                        <a:t>Indikator</a:t>
                      </a:r>
                      <a:r>
                        <a:rPr lang="en-US" sz="2000" u="none" strike="noStrike" cap="none" dirty="0">
                          <a:latin typeface="Calibri"/>
                          <a:ea typeface="Calibri"/>
                          <a:cs typeface="Calibri"/>
                          <a:sym typeface="Calibri"/>
                        </a:rPr>
                        <a:t> </a:t>
                      </a:r>
                      <a:r>
                        <a:rPr lang="en-US" sz="2000" u="none" strike="noStrike" cap="none" dirty="0" err="1">
                          <a:latin typeface="Calibri"/>
                          <a:ea typeface="Calibri"/>
                          <a:cs typeface="Calibri"/>
                          <a:sym typeface="Calibri"/>
                        </a:rPr>
                        <a:t>Sosial</a:t>
                      </a:r>
                      <a:endParaRPr lang="en-US" sz="2000" u="none" strike="noStrike" cap="none" dirty="0">
                        <a:latin typeface="Calibri"/>
                        <a:ea typeface="Calibri"/>
                        <a:cs typeface="Calibri"/>
                        <a:sym typeface="Calibri"/>
                      </a:endParaRPr>
                    </a:p>
                  </a:txBody>
                  <a:tcPr marL="91450" marR="91450" marT="45725" marB="45725">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51840">
                <a:tc>
                  <a:txBody>
                    <a:bodyPr/>
                    <a:lstStyle/>
                    <a:p>
                      <a:pPr marL="0" marR="0" lvl="0" indent="0" algn="ctr" rtl="0">
                        <a:lnSpc>
                          <a:spcPct val="100000"/>
                        </a:lnSpc>
                        <a:spcBef>
                          <a:spcPts val="0"/>
                        </a:spcBef>
                        <a:spcAft>
                          <a:spcPts val="0"/>
                        </a:spcAft>
                        <a:buClr>
                          <a:srgbClr val="002060"/>
                        </a:buClr>
                        <a:buSzPts val="2800"/>
                        <a:buFont typeface="Calibri"/>
                        <a:buNone/>
                      </a:pPr>
                      <a:r>
                        <a:rPr lang="en-US" sz="2400" u="none" strike="noStrike" cap="none" dirty="0">
                          <a:solidFill>
                            <a:srgbClr val="002060"/>
                          </a:solidFill>
                          <a:latin typeface="Calibri"/>
                          <a:ea typeface="Calibri"/>
                          <a:cs typeface="Calibri"/>
                          <a:sym typeface="Calibri"/>
                        </a:rPr>
                        <a:t>11</a:t>
                      </a:r>
                      <a:endParaRPr sz="24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2060"/>
                        </a:buClr>
                        <a:buSzPts val="2800"/>
                        <a:buFont typeface="Calibri"/>
                        <a:buNone/>
                      </a:pPr>
                      <a:r>
                        <a:rPr lang="en-US" sz="2400" dirty="0">
                          <a:solidFill>
                            <a:schemeClr val="tx1"/>
                          </a:solidFill>
                          <a:latin typeface="Calibri"/>
                          <a:ea typeface="Calibri"/>
                          <a:cs typeface="Calibri"/>
                          <a:sym typeface="Calibri"/>
                        </a:rPr>
                        <a:t>18</a:t>
                      </a:r>
                      <a:r>
                        <a:rPr lang="en-US" sz="2400" u="none" strike="noStrike" cap="none" dirty="0">
                          <a:solidFill>
                            <a:schemeClr val="tx1"/>
                          </a:solidFill>
                          <a:latin typeface="Calibri"/>
                          <a:ea typeface="Calibri"/>
                          <a:cs typeface="Calibri"/>
                          <a:sym typeface="Calibri"/>
                        </a:rPr>
                        <a:t> - </a:t>
                      </a:r>
                      <a:r>
                        <a:rPr lang="en-US" sz="2400" dirty="0">
                          <a:solidFill>
                            <a:schemeClr val="tx1"/>
                          </a:solidFill>
                          <a:latin typeface="Calibri"/>
                          <a:ea typeface="Calibri"/>
                          <a:cs typeface="Calibri"/>
                          <a:sym typeface="Calibri"/>
                        </a:rPr>
                        <a:t>21</a:t>
                      </a:r>
                      <a:r>
                        <a:rPr lang="en-US" sz="2400" u="none" strike="noStrike" cap="none" dirty="0">
                          <a:solidFill>
                            <a:schemeClr val="tx1"/>
                          </a:solidFill>
                          <a:latin typeface="Calibri"/>
                          <a:ea typeface="Calibri"/>
                          <a:cs typeface="Calibri"/>
                          <a:sym typeface="Calibri"/>
                        </a:rPr>
                        <a:t> </a:t>
                      </a:r>
                      <a:r>
                        <a:rPr lang="en-US" sz="2400" dirty="0" err="1">
                          <a:solidFill>
                            <a:schemeClr val="tx1"/>
                          </a:solidFill>
                          <a:latin typeface="Calibri"/>
                          <a:ea typeface="Calibri"/>
                          <a:cs typeface="Calibri"/>
                          <a:sym typeface="Calibri"/>
                        </a:rPr>
                        <a:t>Agust</a:t>
                      </a:r>
                      <a:endParaRPr sz="2400" u="none" strike="noStrike" cap="none" dirty="0">
                        <a:solidFill>
                          <a:schemeClr val="tx1"/>
                        </a:solidFill>
                        <a:latin typeface="Calibri"/>
                        <a:ea typeface="Calibri"/>
                        <a:cs typeface="Calibri"/>
                        <a:sym typeface="Calibri"/>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r>
                        <a:rPr lang="en-US" sz="2000" u="none" strike="noStrike" cap="none" dirty="0" err="1">
                          <a:latin typeface="Calibri"/>
                          <a:ea typeface="Calibri"/>
                          <a:cs typeface="Calibri"/>
                          <a:sym typeface="Calibri"/>
                        </a:rPr>
                        <a:t>Indikator</a:t>
                      </a:r>
                      <a:r>
                        <a:rPr lang="en-US" sz="2000" u="none" strike="noStrike" cap="none" dirty="0">
                          <a:latin typeface="Calibri"/>
                          <a:ea typeface="Calibri"/>
                          <a:cs typeface="Calibri"/>
                          <a:sym typeface="Calibri"/>
                        </a:rPr>
                        <a:t> </a:t>
                      </a:r>
                      <a:r>
                        <a:rPr lang="en-US" sz="2000" u="none" strike="noStrike" cap="none" dirty="0" err="1">
                          <a:latin typeface="Calibri"/>
                          <a:ea typeface="Calibri"/>
                          <a:cs typeface="Calibri"/>
                          <a:sym typeface="Calibri"/>
                        </a:rPr>
                        <a:t>Sosial</a:t>
                      </a:r>
                      <a:endParaRPr lang="en-US" sz="2000" u="none" strike="noStrike" cap="none" dirty="0">
                        <a:latin typeface="Calibri"/>
                        <a:ea typeface="Calibri"/>
                        <a:cs typeface="Calibri"/>
                        <a:sym typeface="Calibri"/>
                      </a:endParaRPr>
                    </a:p>
                  </a:txBody>
                  <a:tcPr marL="91450" marR="91450" marT="45725" marB="45725">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51840">
                <a:tc>
                  <a:txBody>
                    <a:bodyPr/>
                    <a:lstStyle/>
                    <a:p>
                      <a:pPr marL="0" marR="0" lvl="0" indent="0" algn="ctr" rtl="0">
                        <a:lnSpc>
                          <a:spcPct val="100000"/>
                        </a:lnSpc>
                        <a:spcBef>
                          <a:spcPts val="0"/>
                        </a:spcBef>
                        <a:spcAft>
                          <a:spcPts val="0"/>
                        </a:spcAft>
                        <a:buClr>
                          <a:srgbClr val="002060"/>
                        </a:buClr>
                        <a:buSzPts val="2800"/>
                        <a:buFont typeface="Calibri"/>
                        <a:buNone/>
                      </a:pPr>
                      <a:r>
                        <a:rPr lang="en-US" sz="2400" u="none" strike="noStrike" cap="none" dirty="0">
                          <a:solidFill>
                            <a:srgbClr val="002060"/>
                          </a:solidFill>
                          <a:latin typeface="Calibri"/>
                          <a:ea typeface="Calibri"/>
                          <a:cs typeface="Calibri"/>
                          <a:sym typeface="Calibri"/>
                        </a:rPr>
                        <a:t>12</a:t>
                      </a:r>
                      <a:endParaRPr sz="24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2060"/>
                        </a:buClr>
                        <a:buSzPts val="2800"/>
                        <a:buFont typeface="Calibri"/>
                        <a:buNone/>
                      </a:pPr>
                      <a:r>
                        <a:rPr lang="en-US" sz="2400" dirty="0">
                          <a:solidFill>
                            <a:schemeClr val="tx1"/>
                          </a:solidFill>
                          <a:latin typeface="Calibri"/>
                          <a:ea typeface="Calibri"/>
                          <a:cs typeface="Calibri"/>
                          <a:sym typeface="Calibri"/>
                        </a:rPr>
                        <a:t>24</a:t>
                      </a:r>
                      <a:r>
                        <a:rPr lang="en-US" sz="2400" u="none" strike="noStrike" cap="none" dirty="0">
                          <a:solidFill>
                            <a:schemeClr val="tx1"/>
                          </a:solidFill>
                          <a:latin typeface="Calibri"/>
                          <a:ea typeface="Calibri"/>
                          <a:cs typeface="Calibri"/>
                          <a:sym typeface="Calibri"/>
                        </a:rPr>
                        <a:t> - 28 </a:t>
                      </a:r>
                      <a:r>
                        <a:rPr lang="en-US" sz="2400" dirty="0" err="1">
                          <a:solidFill>
                            <a:schemeClr val="tx1"/>
                          </a:solidFill>
                          <a:latin typeface="Calibri"/>
                          <a:ea typeface="Calibri"/>
                          <a:cs typeface="Calibri"/>
                          <a:sym typeface="Calibri"/>
                        </a:rPr>
                        <a:t>Agust</a:t>
                      </a:r>
                      <a:endParaRPr sz="2400" u="none" strike="noStrike" cap="none" dirty="0">
                        <a:solidFill>
                          <a:schemeClr val="tx1"/>
                        </a:solidFill>
                        <a:latin typeface="Calibri"/>
                        <a:ea typeface="Calibri"/>
                        <a:cs typeface="Calibri"/>
                        <a:sym typeface="Calibri"/>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r>
                        <a:rPr lang="en-US" sz="2000" u="none" strike="noStrike" cap="none" dirty="0" err="1">
                          <a:latin typeface="Calibri"/>
                          <a:ea typeface="Calibri"/>
                          <a:cs typeface="Calibri"/>
                          <a:sym typeface="Calibri"/>
                        </a:rPr>
                        <a:t>Indikator</a:t>
                      </a:r>
                      <a:r>
                        <a:rPr lang="en-US" sz="2000" u="none" strike="noStrike" cap="none" dirty="0">
                          <a:latin typeface="Calibri"/>
                          <a:ea typeface="Calibri"/>
                          <a:cs typeface="Calibri"/>
                          <a:sym typeface="Calibri"/>
                        </a:rPr>
                        <a:t> Ekonomi</a:t>
                      </a:r>
                      <a:endParaRPr sz="2000" u="none" strike="noStrike" cap="none" dirty="0">
                        <a:latin typeface="Calibri"/>
                        <a:ea typeface="Calibri"/>
                        <a:cs typeface="Calibri"/>
                        <a:sym typeface="Calibri"/>
                      </a:endParaRPr>
                    </a:p>
                  </a:txBody>
                  <a:tcPr marL="91450" marR="91450" marT="45725" marB="45725">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052770">
                <a:tc>
                  <a:txBody>
                    <a:bodyPr/>
                    <a:lstStyle/>
                    <a:p>
                      <a:pPr marL="0" marR="0" lvl="0" indent="0" algn="ctr" rtl="0">
                        <a:lnSpc>
                          <a:spcPct val="100000"/>
                        </a:lnSpc>
                        <a:spcBef>
                          <a:spcPts val="0"/>
                        </a:spcBef>
                        <a:spcAft>
                          <a:spcPts val="0"/>
                        </a:spcAft>
                        <a:buClr>
                          <a:srgbClr val="002060"/>
                        </a:buClr>
                        <a:buSzPts val="2800"/>
                        <a:buFont typeface="Calibri"/>
                        <a:buNone/>
                      </a:pPr>
                      <a:r>
                        <a:rPr lang="en-US" sz="2400" u="none" strike="noStrike" cap="none" dirty="0">
                          <a:solidFill>
                            <a:srgbClr val="002060"/>
                          </a:solidFill>
                          <a:latin typeface="Calibri"/>
                          <a:ea typeface="Calibri"/>
                          <a:cs typeface="Calibri"/>
                          <a:sym typeface="Calibri"/>
                        </a:rPr>
                        <a:t>13</a:t>
                      </a:r>
                      <a:endParaRPr sz="24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2060"/>
                        </a:buClr>
                        <a:buSzPts val="2800"/>
                        <a:buFont typeface="Calibri"/>
                        <a:buNone/>
                      </a:pPr>
                      <a:r>
                        <a:rPr lang="en-US" sz="2400" u="none" strike="noStrike" cap="none" dirty="0">
                          <a:solidFill>
                            <a:schemeClr val="tx1"/>
                          </a:solidFill>
                          <a:latin typeface="Calibri"/>
                          <a:ea typeface="Calibri"/>
                          <a:cs typeface="Calibri"/>
                          <a:sym typeface="Calibri"/>
                        </a:rPr>
                        <a:t> 3</a:t>
                      </a:r>
                      <a:r>
                        <a:rPr lang="en-US" sz="2400" dirty="0">
                          <a:solidFill>
                            <a:schemeClr val="tx1"/>
                          </a:solidFill>
                          <a:latin typeface="Calibri"/>
                          <a:ea typeface="Calibri"/>
                          <a:cs typeface="Calibri"/>
                          <a:sym typeface="Calibri"/>
                        </a:rPr>
                        <a:t>1 </a:t>
                      </a:r>
                      <a:r>
                        <a:rPr lang="en-US" sz="2400" dirty="0" err="1">
                          <a:solidFill>
                            <a:schemeClr val="tx1"/>
                          </a:solidFill>
                          <a:latin typeface="Calibri"/>
                          <a:ea typeface="Calibri"/>
                          <a:cs typeface="Calibri"/>
                          <a:sym typeface="Calibri"/>
                        </a:rPr>
                        <a:t>Agust</a:t>
                      </a:r>
                      <a:r>
                        <a:rPr lang="en-US" sz="2400" u="none" strike="noStrike" cap="none" dirty="0">
                          <a:solidFill>
                            <a:schemeClr val="tx1"/>
                          </a:solidFill>
                          <a:latin typeface="Calibri"/>
                          <a:ea typeface="Calibri"/>
                          <a:cs typeface="Calibri"/>
                          <a:sym typeface="Calibri"/>
                        </a:rPr>
                        <a:t> - </a:t>
                      </a:r>
                      <a:r>
                        <a:rPr lang="en-US" sz="2400" dirty="0">
                          <a:solidFill>
                            <a:schemeClr val="tx1"/>
                          </a:solidFill>
                          <a:latin typeface="Calibri"/>
                          <a:ea typeface="Calibri"/>
                          <a:cs typeface="Calibri"/>
                          <a:sym typeface="Calibri"/>
                        </a:rPr>
                        <a:t>4</a:t>
                      </a:r>
                      <a:r>
                        <a:rPr lang="en-US" sz="2400" u="none" strike="noStrike" cap="none" dirty="0">
                          <a:solidFill>
                            <a:schemeClr val="tx1"/>
                          </a:solidFill>
                          <a:latin typeface="Calibri"/>
                          <a:ea typeface="Calibri"/>
                          <a:cs typeface="Calibri"/>
                          <a:sym typeface="Calibri"/>
                        </a:rPr>
                        <a:t> </a:t>
                      </a:r>
                      <a:r>
                        <a:rPr lang="en-US" sz="2400" dirty="0">
                          <a:solidFill>
                            <a:schemeClr val="tx1"/>
                          </a:solidFill>
                          <a:latin typeface="Calibri"/>
                          <a:ea typeface="Calibri"/>
                          <a:cs typeface="Calibri"/>
                          <a:sym typeface="Calibri"/>
                        </a:rPr>
                        <a:t>Sept</a:t>
                      </a:r>
                      <a:endParaRPr sz="2400" u="none" strike="noStrike" cap="none" dirty="0">
                        <a:solidFill>
                          <a:schemeClr val="tx1"/>
                        </a:solidFill>
                        <a:latin typeface="Calibri"/>
                        <a:ea typeface="Calibri"/>
                        <a:cs typeface="Calibri"/>
                        <a:sym typeface="Calibri"/>
                      </a:endParaRP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r>
                        <a:rPr lang="en-US" sz="2000" u="none" strike="noStrike" cap="none" dirty="0" err="1">
                          <a:latin typeface="Calibri"/>
                          <a:ea typeface="Calibri"/>
                          <a:cs typeface="Calibri"/>
                          <a:sym typeface="Calibri"/>
                        </a:rPr>
                        <a:t>Indikator</a:t>
                      </a:r>
                      <a:r>
                        <a:rPr lang="en-US" sz="2000" u="none" strike="noStrike" cap="none" dirty="0">
                          <a:latin typeface="Calibri"/>
                          <a:ea typeface="Calibri"/>
                          <a:cs typeface="Calibri"/>
                          <a:sym typeface="Calibri"/>
                        </a:rPr>
                        <a:t> Ekonomi</a:t>
                      </a:r>
                      <a:endParaRPr sz="2000" u="none" strike="noStrike" cap="none" dirty="0">
                        <a:latin typeface="Calibri"/>
                        <a:ea typeface="Calibri"/>
                        <a:cs typeface="Calibri"/>
                        <a:sym typeface="Calibri"/>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10421">
                <a:tc>
                  <a:txBody>
                    <a:bodyPr/>
                    <a:lstStyle/>
                    <a:p>
                      <a:pPr marL="0" marR="0" lvl="0" indent="0" algn="ctr" rtl="0">
                        <a:lnSpc>
                          <a:spcPct val="100000"/>
                        </a:lnSpc>
                        <a:spcBef>
                          <a:spcPts val="0"/>
                        </a:spcBef>
                        <a:spcAft>
                          <a:spcPts val="0"/>
                        </a:spcAft>
                        <a:buClr>
                          <a:srgbClr val="002060"/>
                        </a:buClr>
                        <a:buSzPts val="2800"/>
                        <a:buFont typeface="Calibri"/>
                        <a:buNone/>
                      </a:pPr>
                      <a:r>
                        <a:rPr lang="en-US" sz="2400" u="none" strike="noStrike" cap="none" dirty="0">
                          <a:solidFill>
                            <a:srgbClr val="002060"/>
                          </a:solidFill>
                          <a:latin typeface="Calibri"/>
                          <a:ea typeface="Calibri"/>
                          <a:cs typeface="Calibri"/>
                          <a:sym typeface="Calibri"/>
                        </a:rPr>
                        <a:t>14</a:t>
                      </a:r>
                      <a:endParaRPr sz="24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2060"/>
                        </a:buClr>
                        <a:buSzPts val="2800"/>
                        <a:buFont typeface="Calibri"/>
                        <a:buNone/>
                      </a:pPr>
                      <a:r>
                        <a:rPr lang="en-US" sz="2400" dirty="0">
                          <a:solidFill>
                            <a:schemeClr val="tx1"/>
                          </a:solidFill>
                          <a:latin typeface="Calibri"/>
                          <a:ea typeface="Calibri"/>
                          <a:cs typeface="Calibri"/>
                          <a:sym typeface="Calibri"/>
                        </a:rPr>
                        <a:t>7</a:t>
                      </a:r>
                      <a:r>
                        <a:rPr lang="en-US" sz="2400" u="none" strike="noStrike" cap="none" dirty="0">
                          <a:solidFill>
                            <a:schemeClr val="tx1"/>
                          </a:solidFill>
                          <a:latin typeface="Calibri"/>
                          <a:ea typeface="Calibri"/>
                          <a:cs typeface="Calibri"/>
                          <a:sym typeface="Calibri"/>
                        </a:rPr>
                        <a:t> - </a:t>
                      </a:r>
                      <a:r>
                        <a:rPr lang="en-US" sz="2400" dirty="0">
                          <a:solidFill>
                            <a:schemeClr val="tx1"/>
                          </a:solidFill>
                          <a:latin typeface="Calibri"/>
                          <a:ea typeface="Calibri"/>
                          <a:cs typeface="Calibri"/>
                          <a:sym typeface="Calibri"/>
                        </a:rPr>
                        <a:t>11</a:t>
                      </a:r>
                      <a:r>
                        <a:rPr lang="en-US" sz="2400" u="none" strike="noStrike" cap="none" dirty="0">
                          <a:solidFill>
                            <a:schemeClr val="tx1"/>
                          </a:solidFill>
                          <a:latin typeface="Calibri"/>
                          <a:ea typeface="Calibri"/>
                          <a:cs typeface="Calibri"/>
                          <a:sym typeface="Calibri"/>
                        </a:rPr>
                        <a:t> </a:t>
                      </a:r>
                      <a:r>
                        <a:rPr lang="en-US" sz="2400" dirty="0">
                          <a:solidFill>
                            <a:schemeClr val="tx1"/>
                          </a:solidFill>
                          <a:latin typeface="Calibri"/>
                          <a:ea typeface="Calibri"/>
                          <a:cs typeface="Calibri"/>
                          <a:sym typeface="Calibri"/>
                        </a:rPr>
                        <a:t>Sept</a:t>
                      </a:r>
                      <a:endParaRPr sz="2400" u="none" strike="noStrike" cap="none" dirty="0">
                        <a:solidFill>
                          <a:schemeClr val="tx1"/>
                        </a:solidFill>
                        <a:latin typeface="Calibri"/>
                        <a:ea typeface="Calibri"/>
                        <a:cs typeface="Calibri"/>
                        <a:sym typeface="Calibri"/>
                      </a:endParaRPr>
                    </a:p>
                  </a:txBody>
                  <a:tcPr marL="91450" marR="9145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r>
                        <a:rPr lang="en-US" sz="2000" u="none" strike="noStrike" cap="none" dirty="0" err="1">
                          <a:latin typeface="Calibri"/>
                          <a:ea typeface="Calibri"/>
                          <a:cs typeface="Calibri"/>
                          <a:sym typeface="Calibri"/>
                        </a:rPr>
                        <a:t>Indikator</a:t>
                      </a:r>
                      <a:r>
                        <a:rPr lang="en-US" sz="2000" u="none" strike="noStrike" cap="none" dirty="0">
                          <a:latin typeface="Calibri"/>
                          <a:ea typeface="Calibri"/>
                          <a:cs typeface="Calibri"/>
                          <a:sym typeface="Calibri"/>
                        </a:rPr>
                        <a:t> Ekonomi</a:t>
                      </a:r>
                      <a:endParaRPr sz="2000" u="none" strike="noStrike" cap="none" dirty="0">
                        <a:latin typeface="Calibri"/>
                        <a:ea typeface="Calibri"/>
                        <a:cs typeface="Calibri"/>
                        <a:sym typeface="Calibri"/>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725244">
                <a:tc>
                  <a:txBody>
                    <a:bodyPr/>
                    <a:lstStyle/>
                    <a:p>
                      <a:pPr marL="0" marR="0" lvl="0" indent="0" algn="ctr" rtl="0">
                        <a:lnSpc>
                          <a:spcPct val="100000"/>
                        </a:lnSpc>
                        <a:spcBef>
                          <a:spcPts val="0"/>
                        </a:spcBef>
                        <a:spcAft>
                          <a:spcPts val="0"/>
                        </a:spcAft>
                        <a:buClr>
                          <a:srgbClr val="002060"/>
                        </a:buClr>
                        <a:buSzPts val="2800"/>
                        <a:buFont typeface="Calibri"/>
                        <a:buNone/>
                      </a:pPr>
                      <a:r>
                        <a:rPr lang="en-US" sz="2400" u="none" strike="noStrike" cap="none" dirty="0">
                          <a:solidFill>
                            <a:srgbClr val="002060"/>
                          </a:solidFill>
                          <a:latin typeface="Calibri"/>
                          <a:ea typeface="Calibri"/>
                          <a:cs typeface="Calibri"/>
                          <a:sym typeface="Calibri"/>
                        </a:rPr>
                        <a:t>15</a:t>
                      </a:r>
                      <a:endParaRPr sz="24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2060"/>
                        </a:buClr>
                        <a:buSzPts val="2800"/>
                        <a:buFont typeface="Calibri"/>
                        <a:buNone/>
                      </a:pPr>
                      <a:r>
                        <a:rPr lang="en-US" sz="2400" dirty="0">
                          <a:solidFill>
                            <a:schemeClr val="tx1"/>
                          </a:solidFill>
                          <a:latin typeface="Calibri"/>
                          <a:ea typeface="Calibri"/>
                          <a:cs typeface="Calibri"/>
                          <a:sym typeface="Calibri"/>
                        </a:rPr>
                        <a:t>14</a:t>
                      </a:r>
                      <a:r>
                        <a:rPr lang="en-US" sz="2400" u="none" strike="noStrike" cap="none" dirty="0">
                          <a:solidFill>
                            <a:schemeClr val="tx1"/>
                          </a:solidFill>
                          <a:latin typeface="Calibri"/>
                          <a:ea typeface="Calibri"/>
                          <a:cs typeface="Calibri"/>
                          <a:sym typeface="Calibri"/>
                        </a:rPr>
                        <a:t> -</a:t>
                      </a:r>
                      <a:r>
                        <a:rPr lang="en-US" sz="2400" dirty="0">
                          <a:solidFill>
                            <a:schemeClr val="tx1"/>
                          </a:solidFill>
                          <a:latin typeface="Calibri"/>
                          <a:ea typeface="Calibri"/>
                          <a:cs typeface="Calibri"/>
                          <a:sym typeface="Calibri"/>
                        </a:rPr>
                        <a:t>18</a:t>
                      </a:r>
                      <a:r>
                        <a:rPr lang="en-US" sz="2400" u="none" strike="noStrike" cap="none" dirty="0">
                          <a:solidFill>
                            <a:schemeClr val="tx1"/>
                          </a:solidFill>
                          <a:latin typeface="Calibri"/>
                          <a:ea typeface="Calibri"/>
                          <a:cs typeface="Calibri"/>
                          <a:sym typeface="Calibri"/>
                        </a:rPr>
                        <a:t> </a:t>
                      </a:r>
                      <a:r>
                        <a:rPr lang="en-US" sz="2400" dirty="0">
                          <a:solidFill>
                            <a:schemeClr val="tx1"/>
                          </a:solidFill>
                          <a:latin typeface="Calibri"/>
                          <a:ea typeface="Calibri"/>
                          <a:cs typeface="Calibri"/>
                          <a:sym typeface="Calibri"/>
                        </a:rPr>
                        <a:t>Sept</a:t>
                      </a:r>
                      <a:r>
                        <a:rPr lang="en-US" sz="2400" u="none" strike="noStrike" cap="none" dirty="0">
                          <a:solidFill>
                            <a:schemeClr val="tx1"/>
                          </a:solidFill>
                          <a:latin typeface="Calibri"/>
                          <a:ea typeface="Calibri"/>
                          <a:cs typeface="Calibri"/>
                          <a:sym typeface="Calibri"/>
                        </a:rPr>
                        <a:t> </a:t>
                      </a:r>
                      <a:endParaRPr sz="2400" u="none" strike="noStrike" cap="none" dirty="0">
                        <a:solidFill>
                          <a:schemeClr val="tx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r>
                        <a:rPr lang="en-US" sz="2000" u="none" strike="noStrike" cap="none" dirty="0" err="1">
                          <a:latin typeface="Calibri"/>
                          <a:ea typeface="Calibri"/>
                          <a:cs typeface="Calibri"/>
                          <a:sym typeface="Calibri"/>
                        </a:rPr>
                        <a:t>Diskusi</a:t>
                      </a:r>
                      <a:r>
                        <a:rPr lang="en-US" sz="2000" u="none" strike="noStrike" cap="none" dirty="0">
                          <a:latin typeface="Calibri"/>
                          <a:ea typeface="Calibri"/>
                          <a:cs typeface="Calibri"/>
                          <a:sym typeface="Calibri"/>
                        </a:rPr>
                        <a:t> dan Review</a:t>
                      </a:r>
                      <a:endParaRPr sz="2000" u="none" strike="noStrike" cap="none" dirty="0">
                        <a:latin typeface="Calibri"/>
                        <a:ea typeface="Calibri"/>
                        <a:cs typeface="Calibri"/>
                        <a:sym typeface="Calibri"/>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410421">
                <a:tc>
                  <a:txBody>
                    <a:bodyPr/>
                    <a:lstStyle/>
                    <a:p>
                      <a:pPr marL="0" marR="0" lvl="0" indent="0" algn="ctr" rtl="0">
                        <a:lnSpc>
                          <a:spcPct val="100000"/>
                        </a:lnSpc>
                        <a:spcBef>
                          <a:spcPts val="0"/>
                        </a:spcBef>
                        <a:spcAft>
                          <a:spcPts val="0"/>
                        </a:spcAft>
                        <a:buClr>
                          <a:srgbClr val="002060"/>
                        </a:buClr>
                        <a:buSzPts val="2800"/>
                        <a:buFont typeface="Calibri"/>
                        <a:buNone/>
                      </a:pPr>
                      <a:r>
                        <a:rPr lang="en-US" sz="2400" u="none" strike="noStrike" cap="none" dirty="0">
                          <a:solidFill>
                            <a:srgbClr val="002060"/>
                          </a:solidFill>
                          <a:latin typeface="Calibri"/>
                          <a:ea typeface="Calibri"/>
                          <a:cs typeface="Calibri"/>
                          <a:sym typeface="Calibri"/>
                        </a:rPr>
                        <a:t>16</a:t>
                      </a:r>
                      <a:endParaRPr sz="24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C000"/>
                    </a:solidFill>
                  </a:tcPr>
                </a:tc>
                <a:tc>
                  <a:txBody>
                    <a:bodyPr/>
                    <a:lstStyle/>
                    <a:p>
                      <a:pPr marL="0" marR="0" lvl="0" indent="0" algn="ctr" rtl="0">
                        <a:lnSpc>
                          <a:spcPct val="100000"/>
                        </a:lnSpc>
                        <a:spcBef>
                          <a:spcPts val="0"/>
                        </a:spcBef>
                        <a:spcAft>
                          <a:spcPts val="0"/>
                        </a:spcAft>
                        <a:buClr>
                          <a:srgbClr val="002060"/>
                        </a:buClr>
                        <a:buSzPts val="2800"/>
                        <a:buFont typeface="Calibri"/>
                        <a:buNone/>
                      </a:pPr>
                      <a:r>
                        <a:rPr lang="en-US" sz="2400" dirty="0">
                          <a:solidFill>
                            <a:schemeClr val="tx1"/>
                          </a:solidFill>
                          <a:latin typeface="Calibri"/>
                          <a:ea typeface="Calibri"/>
                          <a:cs typeface="Calibri"/>
                          <a:sym typeface="Calibri"/>
                        </a:rPr>
                        <a:t>21 Sept - 2</a:t>
                      </a:r>
                      <a:r>
                        <a:rPr lang="en-US" sz="2400" u="none" strike="noStrike" cap="none" dirty="0">
                          <a:solidFill>
                            <a:schemeClr val="tx1"/>
                          </a:solidFill>
                          <a:latin typeface="Calibri"/>
                          <a:ea typeface="Calibri"/>
                          <a:cs typeface="Calibri"/>
                          <a:sym typeface="Calibri"/>
                        </a:rPr>
                        <a:t> </a:t>
                      </a:r>
                      <a:r>
                        <a:rPr lang="en-US" sz="2400" u="none" strike="noStrike" cap="none" dirty="0" err="1">
                          <a:solidFill>
                            <a:schemeClr val="tx1"/>
                          </a:solidFill>
                          <a:latin typeface="Calibri"/>
                          <a:ea typeface="Calibri"/>
                          <a:cs typeface="Calibri"/>
                          <a:sym typeface="Calibri"/>
                        </a:rPr>
                        <a:t>Okt</a:t>
                      </a:r>
                      <a:r>
                        <a:rPr lang="en-US" sz="2400" u="none" strike="noStrike" cap="none" dirty="0">
                          <a:solidFill>
                            <a:schemeClr val="tx1"/>
                          </a:solidFill>
                          <a:latin typeface="Calibri"/>
                          <a:ea typeface="Calibri"/>
                          <a:cs typeface="Calibri"/>
                          <a:sym typeface="Calibri"/>
                        </a:rPr>
                        <a:t> </a:t>
                      </a:r>
                      <a:endParaRPr sz="2400" u="none" strike="noStrike" cap="none" dirty="0">
                        <a:solidFill>
                          <a:schemeClr val="tx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C000"/>
                    </a:solidFill>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2060"/>
                          </a:solidFill>
                          <a:latin typeface="Calibri"/>
                          <a:ea typeface="Calibri"/>
                          <a:cs typeface="Calibri"/>
                          <a:sym typeface="Calibri"/>
                        </a:rPr>
                        <a:t>UAS</a:t>
                      </a:r>
                      <a:endParaRPr sz="2400" u="none" strike="noStrike" cap="none" dirty="0">
                        <a:latin typeface="Calibri"/>
                        <a:ea typeface="Calibri"/>
                        <a:cs typeface="Calibri"/>
                        <a:sym typeface="Calibri"/>
                      </a:endParaRP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C000"/>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272" name="Google Shape;272;p10"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273" name="Google Shape;273;p10"/>
          <p:cNvSpPr/>
          <p:nvPr/>
        </p:nvSpPr>
        <p:spPr>
          <a:xfrm>
            <a:off x="-79084"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4" name="Google Shape;274;p10"/>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 name="Google Shape;275;p10"/>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76" name="Google Shape;276;p10"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277" name="Google Shape;277;p10"/>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 name="Google Shape;278;p10"/>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9" name="Google Shape;279;p10"/>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12</a:t>
            </a:fld>
            <a:endParaRPr sz="2400" b="1">
              <a:solidFill>
                <a:srgbClr val="1B449C"/>
              </a:solidFill>
            </a:endParaRPr>
          </a:p>
        </p:txBody>
      </p:sp>
      <p:sp>
        <p:nvSpPr>
          <p:cNvPr id="280" name="Google Shape;280;p10"/>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 name="Google Shape;281;p10"/>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282" name="Google Shape;282;p10"/>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83" name="Google Shape;283;p10"/>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HARI LIBUR DAN CUTI BERSAMA </a:t>
            </a:r>
            <a:endParaRPr sz="3600" b="1">
              <a:solidFill>
                <a:schemeClr val="lt1"/>
              </a:solidFill>
              <a:latin typeface="Calibri"/>
              <a:ea typeface="Calibri"/>
              <a:cs typeface="Calibri"/>
              <a:sym typeface="Calibri"/>
            </a:endParaRPr>
          </a:p>
        </p:txBody>
      </p:sp>
      <p:pic>
        <p:nvPicPr>
          <p:cNvPr id="15" name="Picture 14">
            <a:extLst>
              <a:ext uri="{FF2B5EF4-FFF2-40B4-BE49-F238E27FC236}">
                <a16:creationId xmlns:a16="http://schemas.microsoft.com/office/drawing/2014/main" id="{1E64CA69-C40D-4BC0-BA44-D1A746D285BB}"/>
              </a:ext>
            </a:extLst>
          </p:cNvPr>
          <p:cNvPicPr>
            <a:picLocks noChangeAspect="1"/>
          </p:cNvPicPr>
          <p:nvPr/>
        </p:nvPicPr>
        <p:blipFill>
          <a:blip r:embed="rId5"/>
          <a:stretch>
            <a:fillRect/>
          </a:stretch>
        </p:blipFill>
        <p:spPr>
          <a:xfrm>
            <a:off x="239852" y="944314"/>
            <a:ext cx="6563335" cy="5365381"/>
          </a:xfrm>
          <a:prstGeom prst="rect">
            <a:avLst/>
          </a:prstGeom>
        </p:spPr>
      </p:pic>
      <p:pic>
        <p:nvPicPr>
          <p:cNvPr id="16" name="Picture 15">
            <a:extLst>
              <a:ext uri="{FF2B5EF4-FFF2-40B4-BE49-F238E27FC236}">
                <a16:creationId xmlns:a16="http://schemas.microsoft.com/office/drawing/2014/main" id="{2BDEC75D-A64C-4797-BFF4-189522BDE1DA}"/>
              </a:ext>
            </a:extLst>
          </p:cNvPr>
          <p:cNvPicPr>
            <a:picLocks noChangeAspect="1"/>
          </p:cNvPicPr>
          <p:nvPr/>
        </p:nvPicPr>
        <p:blipFill>
          <a:blip r:embed="rId6"/>
          <a:stretch>
            <a:fillRect/>
          </a:stretch>
        </p:blipFill>
        <p:spPr>
          <a:xfrm>
            <a:off x="6895159" y="1059859"/>
            <a:ext cx="5797848" cy="208290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p11"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291" name="Google Shape;291;p11"/>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2" name="Google Shape;292;p11"/>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3" name="Google Shape;293;p11"/>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94" name="Google Shape;294;p11"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295" name="Google Shape;295;p11"/>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 name="Google Shape;296;p11"/>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 name="Google Shape;297;p11"/>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13</a:t>
            </a:fld>
            <a:endParaRPr sz="2400" b="1">
              <a:solidFill>
                <a:srgbClr val="1B449C"/>
              </a:solidFill>
            </a:endParaRPr>
          </a:p>
        </p:txBody>
      </p:sp>
      <p:sp>
        <p:nvSpPr>
          <p:cNvPr id="298" name="Google Shape;298;p11"/>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9" name="Google Shape;299;p11"/>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300" name="Google Shape;300;p11"/>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01" name="Google Shape;301;p11"/>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KOMPONEN PENILAIAN</a:t>
            </a:r>
            <a:endParaRPr sz="3600" b="1">
              <a:solidFill>
                <a:schemeClr val="lt1"/>
              </a:solidFill>
              <a:latin typeface="Calibri"/>
              <a:ea typeface="Calibri"/>
              <a:cs typeface="Calibri"/>
              <a:sym typeface="Calibri"/>
            </a:endParaRPr>
          </a:p>
        </p:txBody>
      </p:sp>
      <p:sp>
        <p:nvSpPr>
          <p:cNvPr id="302" name="Google Shape;302;p11"/>
          <p:cNvSpPr txBox="1"/>
          <p:nvPr/>
        </p:nvSpPr>
        <p:spPr>
          <a:xfrm>
            <a:off x="367331" y="895202"/>
            <a:ext cx="10171155" cy="612475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02060"/>
              </a:buClr>
              <a:buSzPts val="2800"/>
              <a:buFont typeface="Noto Sans Symbols"/>
              <a:buChar char="❑"/>
            </a:pPr>
            <a:r>
              <a:rPr lang="en-US" sz="2800" dirty="0" err="1">
                <a:solidFill>
                  <a:schemeClr val="accent1">
                    <a:lumMod val="50000"/>
                  </a:schemeClr>
                </a:solidFill>
                <a:latin typeface="Calibri"/>
                <a:ea typeface="Calibri"/>
                <a:cs typeface="Calibri"/>
                <a:sym typeface="Calibri"/>
              </a:rPr>
              <a:t>Untuk</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setiap</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mata</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kuliah</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teori</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penilaian</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dilakukan</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terhadap</a:t>
            </a:r>
            <a:r>
              <a:rPr lang="en-US" sz="2800" dirty="0">
                <a:solidFill>
                  <a:schemeClr val="accent1">
                    <a:lumMod val="50000"/>
                  </a:schemeClr>
                </a:solidFill>
                <a:latin typeface="Calibri"/>
                <a:ea typeface="Calibri"/>
                <a:cs typeface="Calibri"/>
                <a:sym typeface="Calibri"/>
              </a:rPr>
              <a:t> 3 (</a:t>
            </a:r>
            <a:r>
              <a:rPr lang="en-US" sz="2800" dirty="0" err="1">
                <a:solidFill>
                  <a:schemeClr val="accent1">
                    <a:lumMod val="50000"/>
                  </a:schemeClr>
                </a:solidFill>
                <a:latin typeface="Calibri"/>
                <a:ea typeface="Calibri"/>
                <a:cs typeface="Calibri"/>
                <a:sym typeface="Calibri"/>
              </a:rPr>
              <a:t>tiga</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komponen</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yaitu</a:t>
            </a:r>
            <a:r>
              <a:rPr lang="en-US" sz="2800" dirty="0">
                <a:solidFill>
                  <a:schemeClr val="accent1">
                    <a:lumMod val="50000"/>
                  </a:schemeClr>
                </a:solidFill>
                <a:latin typeface="Calibri"/>
                <a:ea typeface="Calibri"/>
                <a:cs typeface="Calibri"/>
                <a:sym typeface="Calibri"/>
              </a:rPr>
              <a:t>: </a:t>
            </a:r>
            <a:endParaRPr sz="2800" dirty="0">
              <a:solidFill>
                <a:schemeClr val="accent1">
                  <a:lumMod val="50000"/>
                </a:schemeClr>
              </a:solidFill>
              <a:latin typeface="Calibri"/>
              <a:ea typeface="Calibri"/>
              <a:cs typeface="Calibri"/>
              <a:sym typeface="Calibri"/>
            </a:endParaRPr>
          </a:p>
          <a:p>
            <a:pPr marL="711200" marR="0" lvl="0" indent="-260350" algn="l" rtl="0">
              <a:spcBef>
                <a:spcPts val="0"/>
              </a:spcBef>
              <a:spcAft>
                <a:spcPts val="0"/>
              </a:spcAft>
              <a:buClr>
                <a:srgbClr val="002060"/>
              </a:buClr>
              <a:buSzPts val="2800"/>
              <a:buFont typeface="Calibri"/>
              <a:buAutoNum type="alphaLcPeriod"/>
            </a:pPr>
            <a:r>
              <a:rPr lang="en-US" sz="2800" dirty="0" err="1">
                <a:solidFill>
                  <a:schemeClr val="accent1">
                    <a:lumMod val="50000"/>
                  </a:schemeClr>
                </a:solidFill>
                <a:latin typeface="Calibri"/>
                <a:ea typeface="Calibri"/>
                <a:cs typeface="Calibri"/>
                <a:sym typeface="Calibri"/>
              </a:rPr>
              <a:t>Tugas</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terstruktur</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kuis</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responsi</a:t>
            </a:r>
            <a:r>
              <a:rPr lang="en-US" sz="2800" dirty="0">
                <a:solidFill>
                  <a:schemeClr val="accent1">
                    <a:lumMod val="50000"/>
                  </a:schemeClr>
                </a:solidFill>
                <a:latin typeface="Calibri"/>
                <a:ea typeface="Calibri"/>
                <a:cs typeface="Calibri"/>
                <a:sym typeface="Calibri"/>
              </a:rPr>
              <a:t>, dan/</a:t>
            </a:r>
            <a:r>
              <a:rPr lang="en-US" sz="2800" dirty="0" err="1">
                <a:solidFill>
                  <a:schemeClr val="accent1">
                    <a:lumMod val="50000"/>
                  </a:schemeClr>
                </a:solidFill>
                <a:latin typeface="Calibri"/>
                <a:ea typeface="Calibri"/>
                <a:cs typeface="Calibri"/>
                <a:sym typeface="Calibri"/>
              </a:rPr>
              <a:t>atau</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evaluasi</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aktivitas</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mahasiswa</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dalam</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kegiatan</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belajar</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mengajar</a:t>
            </a:r>
            <a:r>
              <a:rPr lang="en-US" sz="2800" dirty="0">
                <a:solidFill>
                  <a:schemeClr val="accent1">
                    <a:lumMod val="50000"/>
                  </a:schemeClr>
                </a:solidFill>
                <a:latin typeface="Calibri"/>
                <a:ea typeface="Calibri"/>
                <a:cs typeface="Calibri"/>
                <a:sym typeface="Calibri"/>
              </a:rPr>
              <a:t> </a:t>
            </a:r>
            <a:endParaRPr sz="2800" dirty="0">
              <a:solidFill>
                <a:schemeClr val="accent1">
                  <a:lumMod val="50000"/>
                </a:schemeClr>
              </a:solidFill>
              <a:latin typeface="Calibri"/>
              <a:ea typeface="Calibri"/>
              <a:cs typeface="Calibri"/>
              <a:sym typeface="Calibri"/>
            </a:endParaRPr>
          </a:p>
          <a:p>
            <a:pPr marL="711200" marR="0" lvl="0" indent="-260350" algn="l" rtl="0">
              <a:spcBef>
                <a:spcPts val="0"/>
              </a:spcBef>
              <a:spcAft>
                <a:spcPts val="0"/>
              </a:spcAft>
              <a:buClr>
                <a:srgbClr val="002060"/>
              </a:buClr>
              <a:buSzPts val="2800"/>
              <a:buFont typeface="Calibri"/>
              <a:buAutoNum type="alphaLcPeriod"/>
            </a:pPr>
            <a:r>
              <a:rPr lang="en-US" sz="2800" dirty="0" err="1">
                <a:solidFill>
                  <a:schemeClr val="accent1">
                    <a:lumMod val="50000"/>
                  </a:schemeClr>
                </a:solidFill>
                <a:latin typeface="Calibri"/>
                <a:ea typeface="Calibri"/>
                <a:cs typeface="Calibri"/>
                <a:sym typeface="Calibri"/>
              </a:rPr>
              <a:t>Ujian</a:t>
            </a:r>
            <a:r>
              <a:rPr lang="en-US" sz="2800" dirty="0">
                <a:solidFill>
                  <a:schemeClr val="accent1">
                    <a:lumMod val="50000"/>
                  </a:schemeClr>
                </a:solidFill>
                <a:latin typeface="Calibri"/>
                <a:ea typeface="Calibri"/>
                <a:cs typeface="Calibri"/>
                <a:sym typeface="Calibri"/>
              </a:rPr>
              <a:t> Tengah Semester</a:t>
            </a:r>
            <a:endParaRPr sz="2800" dirty="0">
              <a:solidFill>
                <a:schemeClr val="accent1">
                  <a:lumMod val="50000"/>
                </a:schemeClr>
              </a:solidFill>
              <a:latin typeface="Calibri"/>
              <a:ea typeface="Calibri"/>
              <a:cs typeface="Calibri"/>
              <a:sym typeface="Calibri"/>
            </a:endParaRPr>
          </a:p>
          <a:p>
            <a:pPr marL="711200" marR="0" lvl="0" indent="-260350" algn="l" rtl="0">
              <a:spcBef>
                <a:spcPts val="0"/>
              </a:spcBef>
              <a:spcAft>
                <a:spcPts val="0"/>
              </a:spcAft>
              <a:buClr>
                <a:srgbClr val="002060"/>
              </a:buClr>
              <a:buSzPts val="2800"/>
              <a:buFont typeface="Calibri"/>
              <a:buAutoNum type="alphaLcPeriod"/>
            </a:pPr>
            <a:r>
              <a:rPr lang="en-US" sz="2800" dirty="0" err="1">
                <a:solidFill>
                  <a:schemeClr val="accent1">
                    <a:lumMod val="50000"/>
                  </a:schemeClr>
                </a:solidFill>
                <a:latin typeface="Calibri"/>
                <a:ea typeface="Calibri"/>
                <a:cs typeface="Calibri"/>
                <a:sym typeface="Calibri"/>
              </a:rPr>
              <a:t>Ujian</a:t>
            </a:r>
            <a:r>
              <a:rPr lang="en-US" sz="2800" dirty="0">
                <a:solidFill>
                  <a:schemeClr val="accent1">
                    <a:lumMod val="50000"/>
                  </a:schemeClr>
                </a:solidFill>
                <a:latin typeface="Calibri"/>
                <a:ea typeface="Calibri"/>
                <a:cs typeface="Calibri"/>
                <a:sym typeface="Calibri"/>
              </a:rPr>
              <a:t> </a:t>
            </a:r>
            <a:r>
              <a:rPr lang="en-US" sz="2800" dirty="0" err="1">
                <a:solidFill>
                  <a:schemeClr val="accent1">
                    <a:lumMod val="50000"/>
                  </a:schemeClr>
                </a:solidFill>
                <a:latin typeface="Calibri"/>
                <a:ea typeface="Calibri"/>
                <a:cs typeface="Calibri"/>
                <a:sym typeface="Calibri"/>
              </a:rPr>
              <a:t>Akhir</a:t>
            </a:r>
            <a:r>
              <a:rPr lang="en-US" sz="2800" dirty="0">
                <a:solidFill>
                  <a:schemeClr val="accent1">
                    <a:lumMod val="50000"/>
                  </a:schemeClr>
                </a:solidFill>
                <a:latin typeface="Calibri"/>
                <a:ea typeface="Calibri"/>
                <a:cs typeface="Calibri"/>
                <a:sym typeface="Calibri"/>
              </a:rPr>
              <a:t> Semester</a:t>
            </a:r>
            <a:endParaRPr sz="2800" dirty="0">
              <a:solidFill>
                <a:schemeClr val="accent1">
                  <a:lumMod val="50000"/>
                </a:schemeClr>
              </a:solidFill>
              <a:latin typeface="Calibri"/>
              <a:ea typeface="Calibri"/>
              <a:cs typeface="Calibri"/>
              <a:sym typeface="Calibri"/>
            </a:endParaRPr>
          </a:p>
          <a:p>
            <a:pPr marL="285750" marR="0" lvl="0" indent="-107950" algn="l" rtl="0">
              <a:spcBef>
                <a:spcPts val="0"/>
              </a:spcBef>
              <a:spcAft>
                <a:spcPts val="0"/>
              </a:spcAft>
              <a:buClr>
                <a:schemeClr val="dk1"/>
              </a:buClr>
              <a:buSzPts val="2800"/>
              <a:buFont typeface="Noto Sans Symbols"/>
              <a:buNone/>
            </a:pPr>
            <a:endParaRPr sz="2800" dirty="0">
              <a:solidFill>
                <a:srgbClr val="002060"/>
              </a:solidFill>
              <a:latin typeface="Calibri"/>
              <a:ea typeface="Calibri"/>
              <a:cs typeface="Calibri"/>
              <a:sym typeface="Calibri"/>
            </a:endParaRPr>
          </a:p>
          <a:p>
            <a:pPr marL="457200" marR="0" lvl="0" indent="-457200" algn="l" rtl="0">
              <a:spcBef>
                <a:spcPts val="0"/>
              </a:spcBef>
              <a:spcAft>
                <a:spcPts val="0"/>
              </a:spcAft>
              <a:buClr>
                <a:srgbClr val="002060"/>
              </a:buClr>
              <a:buSzPts val="2800"/>
              <a:buFont typeface="Noto Sans Symbols"/>
              <a:buChar char="❑"/>
            </a:pPr>
            <a:r>
              <a:rPr lang="en-US" sz="2800" dirty="0" err="1">
                <a:solidFill>
                  <a:srgbClr val="002060"/>
                </a:solidFill>
                <a:latin typeface="Calibri"/>
                <a:ea typeface="Calibri"/>
                <a:cs typeface="Calibri"/>
                <a:sym typeface="Calibri"/>
              </a:rPr>
              <a:t>Untuk</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setiap</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mata</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kuliah</a:t>
            </a:r>
            <a:r>
              <a:rPr lang="en-US" sz="2800" dirty="0">
                <a:solidFill>
                  <a:srgbClr val="002060"/>
                </a:solidFill>
                <a:latin typeface="Calibri"/>
                <a:ea typeface="Calibri"/>
                <a:cs typeface="Calibri"/>
                <a:sym typeface="Calibri"/>
              </a:rPr>
              <a:t> yang </a:t>
            </a:r>
            <a:r>
              <a:rPr lang="en-US" sz="2800" dirty="0" err="1">
                <a:solidFill>
                  <a:srgbClr val="002060"/>
                </a:solidFill>
                <a:latin typeface="Calibri"/>
                <a:ea typeface="Calibri"/>
                <a:cs typeface="Calibri"/>
                <a:sym typeface="Calibri"/>
              </a:rPr>
              <a:t>terdiri</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atas</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teori</a:t>
            </a:r>
            <a:r>
              <a:rPr lang="en-US" sz="2800" dirty="0">
                <a:solidFill>
                  <a:srgbClr val="002060"/>
                </a:solidFill>
                <a:latin typeface="Calibri"/>
                <a:ea typeface="Calibri"/>
                <a:cs typeface="Calibri"/>
                <a:sym typeface="Calibri"/>
              </a:rPr>
              <a:t> dan </a:t>
            </a:r>
            <a:r>
              <a:rPr lang="en-US" sz="2800" dirty="0" err="1">
                <a:solidFill>
                  <a:srgbClr val="002060"/>
                </a:solidFill>
                <a:latin typeface="Calibri"/>
                <a:ea typeface="Calibri"/>
                <a:cs typeface="Calibri"/>
                <a:sym typeface="Calibri"/>
              </a:rPr>
              <a:t>praktikum</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penilaian</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dilakukan</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terhadap</a:t>
            </a:r>
            <a:r>
              <a:rPr lang="en-US" sz="2800" dirty="0">
                <a:solidFill>
                  <a:srgbClr val="002060"/>
                </a:solidFill>
                <a:latin typeface="Calibri"/>
                <a:ea typeface="Calibri"/>
                <a:cs typeface="Calibri"/>
                <a:sym typeface="Calibri"/>
              </a:rPr>
              <a:t> 4 (</a:t>
            </a:r>
            <a:r>
              <a:rPr lang="en-US" sz="2800" dirty="0" err="1">
                <a:solidFill>
                  <a:srgbClr val="002060"/>
                </a:solidFill>
                <a:latin typeface="Calibri"/>
                <a:ea typeface="Calibri"/>
                <a:cs typeface="Calibri"/>
                <a:sym typeface="Calibri"/>
              </a:rPr>
              <a:t>empat</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komponen</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yaitu</a:t>
            </a:r>
            <a:r>
              <a:rPr lang="en-US" sz="2800" dirty="0">
                <a:solidFill>
                  <a:srgbClr val="002060"/>
                </a:solidFill>
                <a:latin typeface="Calibri"/>
                <a:ea typeface="Calibri"/>
                <a:cs typeface="Calibri"/>
                <a:sym typeface="Calibri"/>
              </a:rPr>
              <a:t>: </a:t>
            </a:r>
            <a:endParaRPr sz="2800" dirty="0">
              <a:solidFill>
                <a:srgbClr val="002060"/>
              </a:solidFill>
              <a:latin typeface="Calibri"/>
              <a:ea typeface="Calibri"/>
              <a:cs typeface="Calibri"/>
              <a:sym typeface="Calibri"/>
            </a:endParaRPr>
          </a:p>
          <a:p>
            <a:pPr marL="879475" marR="0" lvl="0" indent="-428625" algn="l" rtl="0">
              <a:spcBef>
                <a:spcPts val="0"/>
              </a:spcBef>
              <a:spcAft>
                <a:spcPts val="0"/>
              </a:spcAft>
              <a:buClr>
                <a:srgbClr val="002060"/>
              </a:buClr>
              <a:buSzPts val="2800"/>
              <a:buFont typeface="Calibri"/>
              <a:buAutoNum type="alphaLcPeriod"/>
            </a:pPr>
            <a:r>
              <a:rPr lang="en-US" sz="2800" dirty="0" err="1">
                <a:solidFill>
                  <a:srgbClr val="002060"/>
                </a:solidFill>
                <a:latin typeface="Calibri"/>
                <a:ea typeface="Calibri"/>
                <a:cs typeface="Calibri"/>
                <a:sym typeface="Calibri"/>
              </a:rPr>
              <a:t>Tugas</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terstruktur</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kuis</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responsi</a:t>
            </a:r>
            <a:r>
              <a:rPr lang="en-US" sz="2800" dirty="0">
                <a:solidFill>
                  <a:srgbClr val="002060"/>
                </a:solidFill>
                <a:latin typeface="Calibri"/>
                <a:ea typeface="Calibri"/>
                <a:cs typeface="Calibri"/>
                <a:sym typeface="Calibri"/>
              </a:rPr>
              <a:t>, dan/</a:t>
            </a:r>
            <a:r>
              <a:rPr lang="en-US" sz="2800" dirty="0" err="1">
                <a:solidFill>
                  <a:srgbClr val="002060"/>
                </a:solidFill>
                <a:latin typeface="Calibri"/>
                <a:ea typeface="Calibri"/>
                <a:cs typeface="Calibri"/>
                <a:sym typeface="Calibri"/>
              </a:rPr>
              <a:t>atau</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evaluasi</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aktivitas</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mahasiswa</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dalam</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kegiatan</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belajar</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mengajar</a:t>
            </a:r>
            <a:endParaRPr sz="2800" dirty="0">
              <a:solidFill>
                <a:srgbClr val="002060"/>
              </a:solidFill>
              <a:latin typeface="Calibri"/>
              <a:ea typeface="Calibri"/>
              <a:cs typeface="Calibri"/>
              <a:sym typeface="Calibri"/>
            </a:endParaRPr>
          </a:p>
          <a:p>
            <a:pPr marL="879475" marR="0" lvl="0" indent="-428625" algn="l" rtl="0">
              <a:spcBef>
                <a:spcPts val="0"/>
              </a:spcBef>
              <a:spcAft>
                <a:spcPts val="0"/>
              </a:spcAft>
              <a:buClr>
                <a:srgbClr val="002060"/>
              </a:buClr>
              <a:buSzPts val="2800"/>
              <a:buFont typeface="Calibri"/>
              <a:buAutoNum type="alphaLcPeriod"/>
            </a:pPr>
            <a:r>
              <a:rPr lang="en-US" sz="2800" dirty="0" err="1">
                <a:solidFill>
                  <a:srgbClr val="002060"/>
                </a:solidFill>
                <a:latin typeface="Calibri"/>
                <a:ea typeface="Calibri"/>
                <a:cs typeface="Calibri"/>
                <a:sym typeface="Calibri"/>
              </a:rPr>
              <a:t>Ujian</a:t>
            </a:r>
            <a:r>
              <a:rPr lang="en-US" sz="2800" dirty="0">
                <a:solidFill>
                  <a:srgbClr val="002060"/>
                </a:solidFill>
                <a:latin typeface="Calibri"/>
                <a:ea typeface="Calibri"/>
                <a:cs typeface="Calibri"/>
                <a:sym typeface="Calibri"/>
              </a:rPr>
              <a:t> Tengah Semester</a:t>
            </a:r>
            <a:endParaRPr sz="2800" dirty="0">
              <a:solidFill>
                <a:srgbClr val="002060"/>
              </a:solidFill>
              <a:latin typeface="Calibri"/>
              <a:ea typeface="Calibri"/>
              <a:cs typeface="Calibri"/>
              <a:sym typeface="Calibri"/>
            </a:endParaRPr>
          </a:p>
          <a:p>
            <a:pPr marL="879475" marR="0" lvl="0" indent="-428625" algn="l" rtl="0">
              <a:spcBef>
                <a:spcPts val="0"/>
              </a:spcBef>
              <a:spcAft>
                <a:spcPts val="0"/>
              </a:spcAft>
              <a:buClr>
                <a:srgbClr val="002060"/>
              </a:buClr>
              <a:buSzPts val="2800"/>
              <a:buFont typeface="Calibri"/>
              <a:buAutoNum type="alphaLcPeriod"/>
            </a:pPr>
            <a:r>
              <a:rPr lang="en-US" sz="2800" dirty="0" err="1">
                <a:solidFill>
                  <a:srgbClr val="002060"/>
                </a:solidFill>
                <a:latin typeface="Calibri"/>
                <a:ea typeface="Calibri"/>
                <a:cs typeface="Calibri"/>
                <a:sym typeface="Calibri"/>
              </a:rPr>
              <a:t>Ujian</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Akhir</a:t>
            </a:r>
            <a:r>
              <a:rPr lang="en-US" sz="2800" dirty="0">
                <a:solidFill>
                  <a:srgbClr val="002060"/>
                </a:solidFill>
                <a:latin typeface="Calibri"/>
                <a:ea typeface="Calibri"/>
                <a:cs typeface="Calibri"/>
                <a:sym typeface="Calibri"/>
              </a:rPr>
              <a:t> Semester</a:t>
            </a:r>
            <a:endParaRPr sz="2800" dirty="0">
              <a:solidFill>
                <a:srgbClr val="002060"/>
              </a:solidFill>
              <a:latin typeface="Calibri"/>
              <a:ea typeface="Calibri"/>
              <a:cs typeface="Calibri"/>
              <a:sym typeface="Calibri"/>
            </a:endParaRPr>
          </a:p>
          <a:p>
            <a:pPr marL="879475" marR="0" lvl="0" indent="-428625" algn="l" rtl="0">
              <a:spcBef>
                <a:spcPts val="0"/>
              </a:spcBef>
              <a:spcAft>
                <a:spcPts val="0"/>
              </a:spcAft>
              <a:buClr>
                <a:srgbClr val="002060"/>
              </a:buClr>
              <a:buSzPts val="2800"/>
              <a:buFont typeface="Calibri"/>
              <a:buAutoNum type="alphaLcPeriod"/>
            </a:pPr>
            <a:r>
              <a:rPr lang="en-US" sz="2800" dirty="0" err="1">
                <a:solidFill>
                  <a:srgbClr val="002060"/>
                </a:solidFill>
                <a:latin typeface="Calibri"/>
                <a:ea typeface="Calibri"/>
                <a:cs typeface="Calibri"/>
                <a:sym typeface="Calibri"/>
              </a:rPr>
              <a:t>Praktikum</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pic>
        <p:nvPicPr>
          <p:cNvPr id="308" name="Google Shape;308;p12"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309" name="Google Shape;309;p12"/>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0" name="Google Shape;310;p12"/>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 name="Google Shape;311;p12"/>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12" name="Google Shape;312;p12"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313" name="Google Shape;313;p12"/>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 name="Google Shape;314;p12"/>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 name="Google Shape;315;p12"/>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14</a:t>
            </a:fld>
            <a:endParaRPr sz="2400" b="1">
              <a:solidFill>
                <a:srgbClr val="1B449C"/>
              </a:solidFill>
            </a:endParaRPr>
          </a:p>
        </p:txBody>
      </p:sp>
      <p:sp>
        <p:nvSpPr>
          <p:cNvPr id="316" name="Google Shape;316;p12"/>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 name="Google Shape;317;p12"/>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318" name="Google Shape;318;p12"/>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19" name="Google Shape;319;p12"/>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KOMPONEN PENILAIAN</a:t>
            </a:r>
            <a:endParaRPr sz="3600" b="1">
              <a:solidFill>
                <a:schemeClr val="lt1"/>
              </a:solidFill>
              <a:latin typeface="Calibri"/>
              <a:ea typeface="Calibri"/>
              <a:cs typeface="Calibri"/>
              <a:sym typeface="Calibri"/>
            </a:endParaRPr>
          </a:p>
        </p:txBody>
      </p:sp>
      <p:graphicFrame>
        <p:nvGraphicFramePr>
          <p:cNvPr id="320" name="Google Shape;320;p12"/>
          <p:cNvGraphicFramePr/>
          <p:nvPr>
            <p:extLst>
              <p:ext uri="{D42A27DB-BD31-4B8C-83A1-F6EECF244321}">
                <p14:modId xmlns:p14="http://schemas.microsoft.com/office/powerpoint/2010/main" val="260994564"/>
              </p:ext>
            </p:extLst>
          </p:nvPr>
        </p:nvGraphicFramePr>
        <p:xfrm>
          <a:off x="789272" y="1368935"/>
          <a:ext cx="9513550" cy="4058450"/>
        </p:xfrm>
        <a:graphic>
          <a:graphicData uri="http://schemas.openxmlformats.org/drawingml/2006/table">
            <a:tbl>
              <a:tblPr>
                <a:noFill/>
                <a:tableStyleId>{5E7D8076-AC5C-4AA6-9025-8190D0D164E4}</a:tableStyleId>
              </a:tblPr>
              <a:tblGrid>
                <a:gridCol w="2854400">
                  <a:extLst>
                    <a:ext uri="{9D8B030D-6E8A-4147-A177-3AD203B41FA5}">
                      <a16:colId xmlns:a16="http://schemas.microsoft.com/office/drawing/2014/main" val="20000"/>
                    </a:ext>
                  </a:extLst>
                </a:gridCol>
                <a:gridCol w="6659150">
                  <a:extLst>
                    <a:ext uri="{9D8B030D-6E8A-4147-A177-3AD203B41FA5}">
                      <a16:colId xmlns:a16="http://schemas.microsoft.com/office/drawing/2014/main" val="20001"/>
                    </a:ext>
                  </a:extLst>
                </a:gridCol>
              </a:tblGrid>
              <a:tr h="822450">
                <a:tc>
                  <a:txBody>
                    <a:bodyPr/>
                    <a:lstStyle/>
                    <a:p>
                      <a:pPr marL="0" marR="0" lvl="0" indent="0" algn="ctr" rtl="0">
                        <a:lnSpc>
                          <a:spcPct val="100000"/>
                        </a:lnSpc>
                        <a:spcBef>
                          <a:spcPts val="0"/>
                        </a:spcBef>
                        <a:spcAft>
                          <a:spcPts val="0"/>
                        </a:spcAft>
                        <a:buClr>
                          <a:schemeClr val="lt1"/>
                        </a:buClr>
                        <a:buSzPts val="2800"/>
                        <a:buFont typeface="Calibri"/>
                        <a:buNone/>
                      </a:pPr>
                      <a:r>
                        <a:rPr lang="en-US" sz="2800" u="none" strike="noStrike" cap="none">
                          <a:solidFill>
                            <a:schemeClr val="lt1"/>
                          </a:solidFill>
                          <a:latin typeface="Calibri"/>
                          <a:ea typeface="Calibri"/>
                          <a:cs typeface="Calibri"/>
                          <a:sym typeface="Calibri"/>
                        </a:rPr>
                        <a:t>Komponen</a:t>
                      </a:r>
                      <a:endParaRPr sz="2800" u="none" strike="noStrike" cap="none">
                        <a:solidFill>
                          <a:schemeClr val="lt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2060"/>
                    </a:solidFill>
                  </a:tcPr>
                </a:tc>
                <a:tc>
                  <a:txBody>
                    <a:bodyPr/>
                    <a:lstStyle/>
                    <a:p>
                      <a:pPr marL="0" marR="0" lvl="0" indent="0" algn="ctr" rtl="0">
                        <a:lnSpc>
                          <a:spcPct val="100000"/>
                        </a:lnSpc>
                        <a:spcBef>
                          <a:spcPts val="0"/>
                        </a:spcBef>
                        <a:spcAft>
                          <a:spcPts val="0"/>
                        </a:spcAft>
                        <a:buClr>
                          <a:srgbClr val="000000"/>
                        </a:buClr>
                        <a:buSzPts val="2800"/>
                        <a:buFont typeface="Arial"/>
                        <a:buNone/>
                      </a:pPr>
                      <a:r>
                        <a:rPr lang="en-US" sz="2800" u="none" strike="noStrike" cap="none">
                          <a:solidFill>
                            <a:schemeClr val="lt1"/>
                          </a:solidFill>
                          <a:latin typeface="Calibri"/>
                          <a:ea typeface="Calibri"/>
                          <a:cs typeface="Calibri"/>
                          <a:sym typeface="Calibri"/>
                        </a:rPr>
                        <a:t>Bobot (%)</a:t>
                      </a:r>
                      <a:endParaRPr sz="28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2060"/>
                    </a:solidFill>
                  </a:tcPr>
                </a:tc>
                <a:extLst>
                  <a:ext uri="{0D108BD9-81ED-4DB2-BD59-A6C34878D82A}">
                    <a16:rowId xmlns:a16="http://schemas.microsoft.com/office/drawing/2014/main" val="10000"/>
                  </a:ext>
                </a:extLst>
              </a:tr>
              <a:tr h="809000">
                <a:tc>
                  <a:txBody>
                    <a:bodyPr/>
                    <a:lstStyle/>
                    <a:p>
                      <a:pPr marL="0" marR="0" lvl="0" indent="0" algn="ctr" rtl="0">
                        <a:lnSpc>
                          <a:spcPct val="100000"/>
                        </a:lnSpc>
                        <a:spcBef>
                          <a:spcPts val="0"/>
                        </a:spcBef>
                        <a:spcAft>
                          <a:spcPts val="0"/>
                        </a:spcAft>
                        <a:buClr>
                          <a:srgbClr val="002060"/>
                        </a:buClr>
                        <a:buSzPts val="2800"/>
                        <a:buFont typeface="Calibri"/>
                        <a:buNone/>
                      </a:pPr>
                      <a:r>
                        <a:rPr lang="en-US" sz="2800" u="none" strike="noStrike" cap="none">
                          <a:solidFill>
                            <a:srgbClr val="002060"/>
                          </a:solidFill>
                          <a:latin typeface="Calibri"/>
                          <a:ea typeface="Calibri"/>
                          <a:cs typeface="Calibri"/>
                          <a:sym typeface="Calibri"/>
                        </a:rPr>
                        <a:t>UTS</a:t>
                      </a:r>
                      <a:endParaRPr sz="28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Calibri"/>
                        <a:buNone/>
                      </a:pPr>
                      <a:r>
                        <a:rPr lang="en-US" sz="2800" u="none" strike="noStrike" cap="none" dirty="0">
                          <a:latin typeface="Calibri"/>
                          <a:ea typeface="Calibri"/>
                          <a:cs typeface="Calibri"/>
                          <a:sym typeface="Calibri"/>
                        </a:rPr>
                        <a:t>35</a:t>
                      </a:r>
                      <a:endParaRPr sz="28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09000">
                <a:tc>
                  <a:txBody>
                    <a:bodyPr/>
                    <a:lstStyle/>
                    <a:p>
                      <a:pPr marL="0" marR="0" lvl="0" indent="0" algn="ctr" rtl="0">
                        <a:lnSpc>
                          <a:spcPct val="100000"/>
                        </a:lnSpc>
                        <a:spcBef>
                          <a:spcPts val="0"/>
                        </a:spcBef>
                        <a:spcAft>
                          <a:spcPts val="0"/>
                        </a:spcAft>
                        <a:buClr>
                          <a:srgbClr val="002060"/>
                        </a:buClr>
                        <a:buSzPts val="2800"/>
                        <a:buFont typeface="Calibri"/>
                        <a:buNone/>
                      </a:pPr>
                      <a:r>
                        <a:rPr lang="en-US" sz="2800" u="none" strike="noStrike" cap="none">
                          <a:solidFill>
                            <a:srgbClr val="002060"/>
                          </a:solidFill>
                          <a:latin typeface="Calibri"/>
                          <a:ea typeface="Calibri"/>
                          <a:cs typeface="Calibri"/>
                          <a:sym typeface="Calibri"/>
                        </a:rPr>
                        <a:t>UAS</a:t>
                      </a:r>
                      <a:endParaRPr sz="28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Calibri"/>
                        <a:buNone/>
                      </a:pPr>
                      <a:r>
                        <a:rPr lang="en-US" sz="2800" u="none" strike="noStrike" cap="none" dirty="0">
                          <a:latin typeface="Calibri"/>
                          <a:ea typeface="Calibri"/>
                          <a:cs typeface="Calibri"/>
                          <a:sym typeface="Calibri"/>
                        </a:rPr>
                        <a:t>35</a:t>
                      </a:r>
                      <a:endParaRPr sz="28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09000">
                <a:tc>
                  <a:txBody>
                    <a:bodyPr/>
                    <a:lstStyle/>
                    <a:p>
                      <a:pPr marL="0" marR="0" lvl="0" indent="0" algn="ctr" rtl="0">
                        <a:lnSpc>
                          <a:spcPct val="100000"/>
                        </a:lnSpc>
                        <a:spcBef>
                          <a:spcPts val="0"/>
                        </a:spcBef>
                        <a:spcAft>
                          <a:spcPts val="0"/>
                        </a:spcAft>
                        <a:buClr>
                          <a:srgbClr val="002060"/>
                        </a:buClr>
                        <a:buSzPts val="2800"/>
                        <a:buFont typeface="Calibri"/>
                        <a:buNone/>
                      </a:pPr>
                      <a:r>
                        <a:rPr lang="en-US" sz="2800" u="none" strike="noStrike" cap="none">
                          <a:solidFill>
                            <a:srgbClr val="002060"/>
                          </a:solidFill>
                          <a:latin typeface="Calibri"/>
                          <a:ea typeface="Calibri"/>
                          <a:cs typeface="Calibri"/>
                          <a:sym typeface="Calibri"/>
                        </a:rPr>
                        <a:t>Tugas</a:t>
                      </a:r>
                      <a:endParaRPr sz="2800" u="none" strike="noStrike" cap="none">
                        <a:solidFill>
                          <a:srgbClr val="002060"/>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800"/>
                        <a:buFont typeface="Calibri"/>
                        <a:buNone/>
                      </a:pPr>
                      <a:r>
                        <a:rPr lang="en-US" sz="2800" u="none" strike="noStrike" cap="none" dirty="0">
                          <a:latin typeface="Calibri"/>
                          <a:ea typeface="Calibri"/>
                          <a:cs typeface="Calibri"/>
                          <a:sym typeface="Calibri"/>
                        </a:rPr>
                        <a:t>30</a:t>
                      </a:r>
                      <a:endParaRPr sz="28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09000">
                <a:tc>
                  <a:txBody>
                    <a:bodyPr/>
                    <a:lstStyle/>
                    <a:p>
                      <a:pPr marL="0" marR="0" lvl="0" indent="0" algn="ctr" rtl="0">
                        <a:lnSpc>
                          <a:spcPct val="100000"/>
                        </a:lnSpc>
                        <a:spcBef>
                          <a:spcPts val="0"/>
                        </a:spcBef>
                        <a:spcAft>
                          <a:spcPts val="0"/>
                        </a:spcAft>
                        <a:buClr>
                          <a:srgbClr val="002060"/>
                        </a:buClr>
                        <a:buSzPts val="2800"/>
                        <a:buFont typeface="Calibri"/>
                        <a:buNone/>
                      </a:pPr>
                      <a:r>
                        <a:rPr lang="en-US" sz="2800" b="1" u="none" strike="noStrike" cap="none">
                          <a:solidFill>
                            <a:srgbClr val="002060"/>
                          </a:solidFill>
                          <a:latin typeface="Calibri"/>
                          <a:ea typeface="Calibri"/>
                          <a:cs typeface="Calibri"/>
                          <a:sym typeface="Calibri"/>
                        </a:rPr>
                        <a:t>Total</a:t>
                      </a:r>
                      <a:endParaRPr sz="28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800" b="1" i="0" u="none" strike="noStrike" cap="none" dirty="0">
                          <a:solidFill>
                            <a:srgbClr val="002060"/>
                          </a:solidFill>
                          <a:latin typeface="Calibri"/>
                          <a:ea typeface="Calibri"/>
                          <a:cs typeface="Calibri"/>
                          <a:sym typeface="Calibri"/>
                        </a:rPr>
                        <a:t>100</a:t>
                      </a:r>
                      <a:endParaRPr sz="28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pic>
        <p:nvPicPr>
          <p:cNvPr id="326" name="Google Shape;326;p13" descr="A picture containing outdoor, city, town, road&#10;&#10;Description automatically generated"/>
          <p:cNvPicPr preferRelativeResize="0"/>
          <p:nvPr/>
        </p:nvPicPr>
        <p:blipFill rotWithShape="1">
          <a:blip r:embed="rId3">
            <a:alphaModFix/>
          </a:blip>
          <a:srcRect/>
          <a:stretch/>
        </p:blipFill>
        <p:spPr>
          <a:xfrm>
            <a:off x="7176538" y="95252"/>
            <a:ext cx="9143634" cy="6858000"/>
          </a:xfrm>
          <a:prstGeom prst="rect">
            <a:avLst/>
          </a:prstGeom>
          <a:noFill/>
          <a:ln>
            <a:noFill/>
          </a:ln>
        </p:spPr>
      </p:pic>
      <p:sp>
        <p:nvSpPr>
          <p:cNvPr id="327" name="Google Shape;327;p13"/>
          <p:cNvSpPr/>
          <p:nvPr/>
        </p:nvSpPr>
        <p:spPr>
          <a:xfrm>
            <a:off x="-26416" y="168269"/>
            <a:ext cx="6916314"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rPr>
              <a:t>Duncan French, Louis J. </a:t>
            </a:r>
            <a:r>
              <a:rPr lang="en-US" dirty="0" err="1">
                <a:solidFill>
                  <a:schemeClr val="tx1"/>
                </a:solidFill>
                <a:latin typeface="Calibri"/>
                <a:ea typeface="Calibri"/>
                <a:cs typeface="Calibri"/>
                <a:sym typeface="Calibri"/>
              </a:rPr>
              <a:t>Kotzé</a:t>
            </a:r>
            <a:r>
              <a:rPr lang="en-US" dirty="0">
                <a:solidFill>
                  <a:schemeClr val="tx1"/>
                </a:solidFill>
                <a:latin typeface="Calibri"/>
                <a:ea typeface="Calibri"/>
                <a:cs typeface="Calibri"/>
                <a:sym typeface="Calibri"/>
              </a:rPr>
              <a:t>, Sustainable Development Goals: Law, Theory and Implementation, 2018</a:t>
            </a: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rPr>
              <a:t>Metadata </a:t>
            </a:r>
            <a:r>
              <a:rPr lang="en-US" dirty="0" err="1">
                <a:solidFill>
                  <a:schemeClr val="tx1"/>
                </a:solidFill>
                <a:latin typeface="Calibri"/>
                <a:ea typeface="Calibri"/>
                <a:cs typeface="Calibri"/>
                <a:sym typeface="Calibri"/>
              </a:rPr>
              <a:t>Indikator</a:t>
            </a:r>
            <a:r>
              <a:rPr lang="en-US" dirty="0">
                <a:solidFill>
                  <a:schemeClr val="tx1"/>
                </a:solidFill>
                <a:latin typeface="Calibri"/>
                <a:ea typeface="Calibri"/>
                <a:cs typeface="Calibri"/>
                <a:sym typeface="Calibri"/>
              </a:rPr>
              <a:t> “Pilar Pembangunan Ekonomi”, Kementerian </a:t>
            </a:r>
            <a:r>
              <a:rPr lang="en-US" dirty="0" err="1">
                <a:solidFill>
                  <a:schemeClr val="tx1"/>
                </a:solidFill>
                <a:latin typeface="Calibri"/>
                <a:ea typeface="Calibri"/>
                <a:cs typeface="Calibri"/>
                <a:sym typeface="Calibri"/>
              </a:rPr>
              <a:t>Perencanaan</a:t>
            </a:r>
            <a:r>
              <a:rPr lang="en-US" dirty="0">
                <a:solidFill>
                  <a:schemeClr val="tx1"/>
                </a:solidFill>
                <a:latin typeface="Calibri"/>
                <a:ea typeface="Calibri"/>
                <a:cs typeface="Calibri"/>
                <a:sym typeface="Calibri"/>
              </a:rPr>
              <a:t> Pembangunan Nasional/ Badan </a:t>
            </a:r>
            <a:r>
              <a:rPr lang="en-US" dirty="0" err="1">
                <a:solidFill>
                  <a:schemeClr val="tx1"/>
                </a:solidFill>
                <a:latin typeface="Calibri"/>
                <a:ea typeface="Calibri"/>
                <a:cs typeface="Calibri"/>
                <a:sym typeface="Calibri"/>
              </a:rPr>
              <a:t>Perencanaan</a:t>
            </a:r>
            <a:r>
              <a:rPr lang="en-US" dirty="0">
                <a:solidFill>
                  <a:schemeClr val="tx1"/>
                </a:solidFill>
                <a:latin typeface="Calibri"/>
                <a:ea typeface="Calibri"/>
                <a:cs typeface="Calibri"/>
                <a:sym typeface="Calibri"/>
              </a:rPr>
              <a:t> Pembangunan Nasional (</a:t>
            </a:r>
            <a:r>
              <a:rPr lang="en-US" dirty="0" err="1">
                <a:solidFill>
                  <a:schemeClr val="tx1"/>
                </a:solidFill>
                <a:latin typeface="Calibri"/>
                <a:ea typeface="Calibri"/>
                <a:cs typeface="Calibri"/>
                <a:sym typeface="Calibri"/>
              </a:rPr>
              <a:t>Bappenas</a:t>
            </a:r>
            <a:r>
              <a:rPr lang="en-US" dirty="0">
                <a:solidFill>
                  <a:schemeClr val="tx1"/>
                </a:solidFill>
                <a:latin typeface="Calibri"/>
                <a:ea typeface="Calibri"/>
                <a:cs typeface="Calibri"/>
                <a:sym typeface="Calibri"/>
              </a:rPr>
              <a:t>) 2020</a:t>
            </a: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rPr>
              <a:t>Metadata </a:t>
            </a:r>
            <a:r>
              <a:rPr lang="en-US" dirty="0" err="1">
                <a:solidFill>
                  <a:schemeClr val="tx1"/>
                </a:solidFill>
                <a:latin typeface="Calibri"/>
                <a:ea typeface="Calibri"/>
                <a:cs typeface="Calibri"/>
                <a:sym typeface="Calibri"/>
              </a:rPr>
              <a:t>Indikator</a:t>
            </a:r>
            <a:r>
              <a:rPr lang="en-US" dirty="0">
                <a:solidFill>
                  <a:schemeClr val="tx1"/>
                </a:solidFill>
                <a:latin typeface="Calibri"/>
                <a:ea typeface="Calibri"/>
                <a:cs typeface="Calibri"/>
                <a:sym typeface="Calibri"/>
              </a:rPr>
              <a:t> “Pilar Pembangunan </a:t>
            </a:r>
            <a:r>
              <a:rPr lang="en-US" dirty="0" err="1">
                <a:solidFill>
                  <a:schemeClr val="tx1"/>
                </a:solidFill>
                <a:latin typeface="Calibri"/>
                <a:ea typeface="Calibri"/>
                <a:cs typeface="Calibri"/>
                <a:sym typeface="Calibri"/>
              </a:rPr>
              <a:t>Sosial</a:t>
            </a:r>
            <a:r>
              <a:rPr lang="en-US" dirty="0">
                <a:solidFill>
                  <a:schemeClr val="tx1"/>
                </a:solidFill>
                <a:latin typeface="Calibri"/>
                <a:ea typeface="Calibri"/>
                <a:cs typeface="Calibri"/>
                <a:sym typeface="Calibri"/>
              </a:rPr>
              <a:t>”, Kementerian </a:t>
            </a:r>
            <a:r>
              <a:rPr lang="en-US" dirty="0" err="1">
                <a:solidFill>
                  <a:schemeClr val="tx1"/>
                </a:solidFill>
                <a:latin typeface="Calibri"/>
                <a:ea typeface="Calibri"/>
                <a:cs typeface="Calibri"/>
                <a:sym typeface="Calibri"/>
              </a:rPr>
              <a:t>Perencanaan</a:t>
            </a:r>
            <a:r>
              <a:rPr lang="en-US" dirty="0">
                <a:solidFill>
                  <a:schemeClr val="tx1"/>
                </a:solidFill>
                <a:latin typeface="Calibri"/>
                <a:ea typeface="Calibri"/>
                <a:cs typeface="Calibri"/>
                <a:sym typeface="Calibri"/>
              </a:rPr>
              <a:t> Pembangunan Nasional/ Badan </a:t>
            </a:r>
            <a:r>
              <a:rPr lang="en-US" dirty="0" err="1">
                <a:solidFill>
                  <a:schemeClr val="tx1"/>
                </a:solidFill>
                <a:latin typeface="Calibri"/>
                <a:ea typeface="Calibri"/>
                <a:cs typeface="Calibri"/>
                <a:sym typeface="Calibri"/>
              </a:rPr>
              <a:t>Perencanaan</a:t>
            </a:r>
            <a:r>
              <a:rPr lang="en-US" dirty="0">
                <a:solidFill>
                  <a:schemeClr val="tx1"/>
                </a:solidFill>
                <a:latin typeface="Calibri"/>
                <a:ea typeface="Calibri"/>
                <a:cs typeface="Calibri"/>
                <a:sym typeface="Calibri"/>
              </a:rPr>
              <a:t> Pembangunan Nasional (</a:t>
            </a:r>
            <a:r>
              <a:rPr lang="en-US" dirty="0" err="1">
                <a:solidFill>
                  <a:schemeClr val="tx1"/>
                </a:solidFill>
                <a:latin typeface="Calibri"/>
                <a:ea typeface="Calibri"/>
                <a:cs typeface="Calibri"/>
                <a:sym typeface="Calibri"/>
              </a:rPr>
              <a:t>Bappenas</a:t>
            </a:r>
            <a:r>
              <a:rPr lang="en-US" dirty="0">
                <a:solidFill>
                  <a:schemeClr val="tx1"/>
                </a:solidFill>
                <a:latin typeface="Calibri"/>
                <a:ea typeface="Calibri"/>
                <a:cs typeface="Calibri"/>
                <a:sym typeface="Calibri"/>
              </a:rPr>
              <a:t>) 2020</a:t>
            </a: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rPr>
              <a:t>Metadata </a:t>
            </a:r>
            <a:r>
              <a:rPr lang="en-US" dirty="0" err="1">
                <a:solidFill>
                  <a:schemeClr val="tx1"/>
                </a:solidFill>
                <a:latin typeface="Calibri"/>
                <a:ea typeface="Calibri"/>
                <a:cs typeface="Calibri"/>
                <a:sym typeface="Calibri"/>
              </a:rPr>
              <a:t>Indikator</a:t>
            </a:r>
            <a:r>
              <a:rPr lang="en-US" dirty="0">
                <a:solidFill>
                  <a:schemeClr val="tx1"/>
                </a:solidFill>
                <a:latin typeface="Calibri"/>
                <a:ea typeface="Calibri"/>
                <a:cs typeface="Calibri"/>
                <a:sym typeface="Calibri"/>
              </a:rPr>
              <a:t> “Pilar Pembangunan </a:t>
            </a:r>
            <a:r>
              <a:rPr lang="en-US" dirty="0" err="1">
                <a:solidFill>
                  <a:schemeClr val="tx1"/>
                </a:solidFill>
                <a:latin typeface="Calibri"/>
                <a:ea typeface="Calibri"/>
                <a:cs typeface="Calibri"/>
                <a:sym typeface="Calibri"/>
              </a:rPr>
              <a:t>Lingkungan</a:t>
            </a:r>
            <a:r>
              <a:rPr lang="en-US" dirty="0">
                <a:solidFill>
                  <a:schemeClr val="tx1"/>
                </a:solidFill>
                <a:latin typeface="Calibri"/>
                <a:ea typeface="Calibri"/>
                <a:cs typeface="Calibri"/>
                <a:sym typeface="Calibri"/>
              </a:rPr>
              <a:t>”, Kementerian </a:t>
            </a:r>
            <a:r>
              <a:rPr lang="en-US" dirty="0" err="1">
                <a:solidFill>
                  <a:schemeClr val="tx1"/>
                </a:solidFill>
                <a:latin typeface="Calibri"/>
                <a:ea typeface="Calibri"/>
                <a:cs typeface="Calibri"/>
                <a:sym typeface="Calibri"/>
              </a:rPr>
              <a:t>Perencanaan</a:t>
            </a:r>
            <a:r>
              <a:rPr lang="en-US" dirty="0">
                <a:solidFill>
                  <a:schemeClr val="tx1"/>
                </a:solidFill>
                <a:latin typeface="Calibri"/>
                <a:ea typeface="Calibri"/>
                <a:cs typeface="Calibri"/>
                <a:sym typeface="Calibri"/>
              </a:rPr>
              <a:t> Pembangunan Nasional/ Badan </a:t>
            </a:r>
            <a:r>
              <a:rPr lang="en-US" dirty="0" err="1">
                <a:solidFill>
                  <a:schemeClr val="tx1"/>
                </a:solidFill>
                <a:latin typeface="Calibri"/>
                <a:ea typeface="Calibri"/>
                <a:cs typeface="Calibri"/>
                <a:sym typeface="Calibri"/>
              </a:rPr>
              <a:t>Perencanaan</a:t>
            </a:r>
            <a:r>
              <a:rPr lang="en-US" dirty="0">
                <a:solidFill>
                  <a:schemeClr val="tx1"/>
                </a:solidFill>
                <a:latin typeface="Calibri"/>
                <a:ea typeface="Calibri"/>
                <a:cs typeface="Calibri"/>
                <a:sym typeface="Calibri"/>
              </a:rPr>
              <a:t> Pembangunan Nasional (</a:t>
            </a:r>
            <a:r>
              <a:rPr lang="en-US" dirty="0" err="1">
                <a:solidFill>
                  <a:schemeClr val="tx1"/>
                </a:solidFill>
                <a:latin typeface="Calibri"/>
                <a:ea typeface="Calibri"/>
                <a:cs typeface="Calibri"/>
                <a:sym typeface="Calibri"/>
              </a:rPr>
              <a:t>Bappenas</a:t>
            </a:r>
            <a:r>
              <a:rPr lang="en-US" dirty="0">
                <a:solidFill>
                  <a:schemeClr val="tx1"/>
                </a:solidFill>
                <a:latin typeface="Calibri"/>
                <a:ea typeface="Calibri"/>
                <a:cs typeface="Calibri"/>
                <a:sym typeface="Calibri"/>
              </a:rPr>
              <a:t>) 2020</a:t>
            </a: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rPr>
              <a:t>Satu Data Indonesia, Booklet </a:t>
            </a:r>
            <a:r>
              <a:rPr lang="en-US" dirty="0" err="1">
                <a:solidFill>
                  <a:schemeClr val="tx1"/>
                </a:solidFill>
                <a:latin typeface="Calibri"/>
                <a:ea typeface="Calibri"/>
                <a:cs typeface="Calibri"/>
                <a:sym typeface="Calibri"/>
              </a:rPr>
              <a:t>Cetakan</a:t>
            </a:r>
            <a:r>
              <a:rPr lang="en-US" dirty="0">
                <a:solidFill>
                  <a:schemeClr val="tx1"/>
                </a:solidFill>
                <a:latin typeface="Calibri"/>
                <a:ea typeface="Calibri"/>
                <a:cs typeface="Calibri"/>
                <a:sym typeface="Calibri"/>
              </a:rPr>
              <a:t> 1, </a:t>
            </a:r>
            <a:r>
              <a:rPr lang="en-US" dirty="0" err="1">
                <a:solidFill>
                  <a:schemeClr val="tx1"/>
                </a:solidFill>
                <a:latin typeface="Calibri"/>
                <a:ea typeface="Calibri"/>
                <a:cs typeface="Calibri"/>
                <a:sym typeface="Calibri"/>
              </a:rPr>
              <a:t>Bappenas</a:t>
            </a:r>
            <a:r>
              <a:rPr lang="en-US" dirty="0">
                <a:solidFill>
                  <a:schemeClr val="tx1"/>
                </a:solidFill>
                <a:latin typeface="Calibri"/>
                <a:ea typeface="Calibri"/>
                <a:cs typeface="Calibri"/>
                <a:sym typeface="Calibri"/>
              </a:rPr>
              <a:t>, 2021</a:t>
            </a:r>
          </a:p>
          <a:p>
            <a:pPr marL="342900" marR="0" lvl="0" indent="-342900" rtl="0">
              <a:spcBef>
                <a:spcPts val="0"/>
              </a:spcBef>
              <a:spcAft>
                <a:spcPts val="0"/>
              </a:spcAft>
              <a:buAutoNum type="arabicPeriod"/>
            </a:pPr>
            <a:r>
              <a:rPr lang="en-US" dirty="0" err="1">
                <a:solidFill>
                  <a:schemeClr val="tx1"/>
                </a:solidFill>
                <a:latin typeface="Calibri"/>
                <a:ea typeface="Calibri"/>
                <a:cs typeface="Calibri"/>
                <a:sym typeface="Calibri"/>
              </a:rPr>
              <a:t>Peraturan</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Presiden</a:t>
            </a:r>
            <a:r>
              <a:rPr lang="en-US" dirty="0">
                <a:solidFill>
                  <a:schemeClr val="tx1"/>
                </a:solidFill>
                <a:latin typeface="Calibri"/>
                <a:ea typeface="Calibri"/>
                <a:cs typeface="Calibri"/>
                <a:sym typeface="Calibri"/>
              </a:rPr>
              <a:t> Republik Indonesia </a:t>
            </a:r>
            <a:r>
              <a:rPr lang="en-US" dirty="0" err="1">
                <a:solidFill>
                  <a:schemeClr val="tx1"/>
                </a:solidFill>
                <a:latin typeface="Calibri"/>
                <a:ea typeface="Calibri"/>
                <a:cs typeface="Calibri"/>
                <a:sym typeface="Calibri"/>
              </a:rPr>
              <a:t>Nomor</a:t>
            </a:r>
            <a:r>
              <a:rPr lang="en-US" dirty="0">
                <a:solidFill>
                  <a:schemeClr val="tx1"/>
                </a:solidFill>
                <a:latin typeface="Calibri"/>
                <a:ea typeface="Calibri"/>
                <a:cs typeface="Calibri"/>
                <a:sym typeface="Calibri"/>
              </a:rPr>
              <a:t> 39 </a:t>
            </a:r>
            <a:r>
              <a:rPr lang="en-US" dirty="0" err="1">
                <a:solidFill>
                  <a:schemeClr val="tx1"/>
                </a:solidFill>
                <a:latin typeface="Calibri"/>
                <a:ea typeface="Calibri"/>
                <a:cs typeface="Calibri"/>
                <a:sym typeface="Calibri"/>
              </a:rPr>
              <a:t>Tahun</a:t>
            </a:r>
            <a:r>
              <a:rPr lang="en-US" dirty="0">
                <a:solidFill>
                  <a:schemeClr val="tx1"/>
                </a:solidFill>
                <a:latin typeface="Calibri"/>
                <a:ea typeface="Calibri"/>
                <a:cs typeface="Calibri"/>
                <a:sym typeface="Calibri"/>
              </a:rPr>
              <a:t> 2019 </a:t>
            </a:r>
            <a:r>
              <a:rPr lang="en-US" dirty="0" err="1">
                <a:solidFill>
                  <a:schemeClr val="tx1"/>
                </a:solidFill>
                <a:latin typeface="Calibri"/>
                <a:ea typeface="Calibri"/>
                <a:cs typeface="Calibri"/>
                <a:sym typeface="Calibri"/>
              </a:rPr>
              <a:t>Tentang</a:t>
            </a:r>
            <a:r>
              <a:rPr lang="en-US" dirty="0">
                <a:solidFill>
                  <a:schemeClr val="tx1"/>
                </a:solidFill>
                <a:latin typeface="Calibri"/>
                <a:ea typeface="Calibri"/>
                <a:cs typeface="Calibri"/>
                <a:sym typeface="Calibri"/>
              </a:rPr>
              <a:t> Satu Data Indonesia</a:t>
            </a:r>
          </a:p>
          <a:p>
            <a:pPr marL="342900" marR="0" lvl="0" indent="-342900" rtl="0">
              <a:spcBef>
                <a:spcPts val="0"/>
              </a:spcBef>
              <a:spcAft>
                <a:spcPts val="0"/>
              </a:spcAft>
              <a:buAutoNum type="arabicPeriod"/>
            </a:pPr>
            <a:r>
              <a:rPr lang="en-US" dirty="0" err="1">
                <a:solidFill>
                  <a:schemeClr val="tx1"/>
                </a:solidFill>
                <a:latin typeface="Calibri"/>
                <a:ea typeface="Calibri"/>
                <a:cs typeface="Calibri"/>
                <a:sym typeface="Calibri"/>
              </a:rPr>
              <a:t>Peraturan</a:t>
            </a:r>
            <a:r>
              <a:rPr lang="en-US" dirty="0">
                <a:solidFill>
                  <a:schemeClr val="tx1"/>
                </a:solidFill>
                <a:latin typeface="Calibri"/>
                <a:ea typeface="Calibri"/>
                <a:cs typeface="Calibri"/>
                <a:sym typeface="Calibri"/>
              </a:rPr>
              <a:t> Badan Pusat </a:t>
            </a:r>
            <a:r>
              <a:rPr lang="en-US" dirty="0" err="1">
                <a:solidFill>
                  <a:schemeClr val="tx1"/>
                </a:solidFill>
                <a:latin typeface="Calibri"/>
                <a:ea typeface="Calibri"/>
                <a:cs typeface="Calibri"/>
                <a:sym typeface="Calibri"/>
              </a:rPr>
              <a:t>Statistik</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Nomor</a:t>
            </a:r>
            <a:r>
              <a:rPr lang="en-US" dirty="0">
                <a:solidFill>
                  <a:schemeClr val="tx1"/>
                </a:solidFill>
                <a:latin typeface="Calibri"/>
                <a:ea typeface="Calibri"/>
                <a:cs typeface="Calibri"/>
                <a:sym typeface="Calibri"/>
              </a:rPr>
              <a:t> 4 </a:t>
            </a:r>
            <a:r>
              <a:rPr lang="en-US" dirty="0" err="1">
                <a:solidFill>
                  <a:schemeClr val="tx1"/>
                </a:solidFill>
                <a:latin typeface="Calibri"/>
                <a:ea typeface="Calibri"/>
                <a:cs typeface="Calibri"/>
                <a:sym typeface="Calibri"/>
              </a:rPr>
              <a:t>Tahun</a:t>
            </a:r>
            <a:r>
              <a:rPr lang="en-US" dirty="0">
                <a:solidFill>
                  <a:schemeClr val="tx1"/>
                </a:solidFill>
                <a:latin typeface="Calibri"/>
                <a:ea typeface="Calibri"/>
                <a:cs typeface="Calibri"/>
                <a:sym typeface="Calibri"/>
              </a:rPr>
              <a:t> 2019 </a:t>
            </a:r>
            <a:r>
              <a:rPr lang="en-US" dirty="0" err="1">
                <a:solidFill>
                  <a:schemeClr val="tx1"/>
                </a:solidFill>
                <a:latin typeface="Calibri"/>
                <a:ea typeface="Calibri"/>
                <a:cs typeface="Calibri"/>
                <a:sym typeface="Calibri"/>
              </a:rPr>
              <a:t>Tentang</a:t>
            </a:r>
            <a:r>
              <a:rPr lang="en-US" dirty="0">
                <a:solidFill>
                  <a:schemeClr val="tx1"/>
                </a:solidFill>
                <a:latin typeface="Calibri"/>
                <a:ea typeface="Calibri"/>
                <a:cs typeface="Calibri"/>
                <a:sym typeface="Calibri"/>
              </a:rPr>
              <a:t> Norma, </a:t>
            </a:r>
            <a:r>
              <a:rPr lang="en-US" dirty="0" err="1">
                <a:solidFill>
                  <a:schemeClr val="tx1"/>
                </a:solidFill>
                <a:latin typeface="Calibri"/>
                <a:ea typeface="Calibri"/>
                <a:cs typeface="Calibri"/>
                <a:sym typeface="Calibri"/>
              </a:rPr>
              <a:t>Standar</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Prosedur</a:t>
            </a:r>
            <a:r>
              <a:rPr lang="en-US" dirty="0">
                <a:solidFill>
                  <a:schemeClr val="tx1"/>
                </a:solidFill>
                <a:latin typeface="Calibri"/>
                <a:ea typeface="Calibri"/>
                <a:cs typeface="Calibri"/>
                <a:sym typeface="Calibri"/>
              </a:rPr>
              <a:t>, Dan </a:t>
            </a:r>
            <a:r>
              <a:rPr lang="en-US" dirty="0" err="1">
                <a:solidFill>
                  <a:schemeClr val="tx1"/>
                </a:solidFill>
                <a:latin typeface="Calibri"/>
                <a:ea typeface="Calibri"/>
                <a:cs typeface="Calibri"/>
                <a:sym typeface="Calibri"/>
              </a:rPr>
              <a:t>Kriteria</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Nspk</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Penyelenggaraan</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Statistik</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Sektoral</a:t>
            </a:r>
            <a:endParaRPr lang="en-US" dirty="0">
              <a:solidFill>
                <a:schemeClr val="tx1"/>
              </a:solidFill>
              <a:latin typeface="Calibri"/>
              <a:ea typeface="Calibri"/>
              <a:cs typeface="Calibri"/>
              <a:sym typeface="Calibri"/>
            </a:endParaRPr>
          </a:p>
          <a:p>
            <a:pPr marL="342900" marR="0" lvl="0" indent="-342900" rtl="0">
              <a:spcBef>
                <a:spcPts val="0"/>
              </a:spcBef>
              <a:spcAft>
                <a:spcPts val="0"/>
              </a:spcAft>
              <a:buAutoNum type="arabicPeriod"/>
            </a:pPr>
            <a:r>
              <a:rPr lang="en-US" dirty="0" err="1">
                <a:solidFill>
                  <a:schemeClr val="tx1"/>
                </a:solidFill>
                <a:latin typeface="Calibri"/>
                <a:ea typeface="Calibri"/>
                <a:cs typeface="Calibri"/>
                <a:sym typeface="Calibri"/>
              </a:rPr>
              <a:t>Peraturan</a:t>
            </a:r>
            <a:r>
              <a:rPr lang="en-US" dirty="0">
                <a:solidFill>
                  <a:schemeClr val="tx1"/>
                </a:solidFill>
                <a:latin typeface="Calibri"/>
                <a:ea typeface="Calibri"/>
                <a:cs typeface="Calibri"/>
                <a:sym typeface="Calibri"/>
              </a:rPr>
              <a:t> Badan Pusat </a:t>
            </a:r>
            <a:r>
              <a:rPr lang="en-US" dirty="0" err="1">
                <a:solidFill>
                  <a:schemeClr val="tx1"/>
                </a:solidFill>
                <a:latin typeface="Calibri"/>
                <a:ea typeface="Calibri"/>
                <a:cs typeface="Calibri"/>
                <a:sym typeface="Calibri"/>
              </a:rPr>
              <a:t>Statistik</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Nomor</a:t>
            </a:r>
            <a:r>
              <a:rPr lang="en-US" dirty="0">
                <a:solidFill>
                  <a:schemeClr val="tx1"/>
                </a:solidFill>
                <a:latin typeface="Calibri"/>
                <a:ea typeface="Calibri"/>
                <a:cs typeface="Calibri"/>
                <a:sym typeface="Calibri"/>
              </a:rPr>
              <a:t> 4 </a:t>
            </a:r>
            <a:r>
              <a:rPr lang="en-US" dirty="0" err="1">
                <a:solidFill>
                  <a:schemeClr val="tx1"/>
                </a:solidFill>
                <a:latin typeface="Calibri"/>
                <a:ea typeface="Calibri"/>
                <a:cs typeface="Calibri"/>
                <a:sym typeface="Calibri"/>
              </a:rPr>
              <a:t>Tahun</a:t>
            </a:r>
            <a:r>
              <a:rPr lang="en-US" dirty="0">
                <a:solidFill>
                  <a:schemeClr val="tx1"/>
                </a:solidFill>
                <a:latin typeface="Calibri"/>
                <a:ea typeface="Calibri"/>
                <a:cs typeface="Calibri"/>
                <a:sym typeface="Calibri"/>
              </a:rPr>
              <a:t> 2020 </a:t>
            </a:r>
            <a:r>
              <a:rPr lang="en-US" dirty="0" err="1">
                <a:solidFill>
                  <a:schemeClr val="tx1"/>
                </a:solidFill>
                <a:latin typeface="Calibri"/>
                <a:ea typeface="Calibri"/>
                <a:cs typeface="Calibri"/>
                <a:sym typeface="Calibri"/>
              </a:rPr>
              <a:t>Tentang</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Petunjuk</a:t>
            </a:r>
            <a:r>
              <a:rPr lang="en-US" dirty="0">
                <a:solidFill>
                  <a:schemeClr val="tx1"/>
                </a:solidFill>
                <a:latin typeface="Calibri"/>
                <a:ea typeface="Calibri"/>
                <a:cs typeface="Calibri"/>
                <a:sym typeface="Calibri"/>
              </a:rPr>
              <a:t> Teknis </a:t>
            </a:r>
            <a:r>
              <a:rPr lang="en-US" dirty="0" err="1">
                <a:solidFill>
                  <a:schemeClr val="tx1"/>
                </a:solidFill>
                <a:latin typeface="Calibri"/>
                <a:ea typeface="Calibri"/>
                <a:cs typeface="Calibri"/>
                <a:sym typeface="Calibri"/>
              </a:rPr>
              <a:t>Standar</a:t>
            </a:r>
            <a:r>
              <a:rPr lang="en-US" dirty="0">
                <a:solidFill>
                  <a:schemeClr val="tx1"/>
                </a:solidFill>
                <a:latin typeface="Calibri"/>
                <a:ea typeface="Calibri"/>
                <a:cs typeface="Calibri"/>
                <a:sym typeface="Calibri"/>
              </a:rPr>
              <a:t> Data </a:t>
            </a:r>
            <a:r>
              <a:rPr lang="en-US" dirty="0" err="1">
                <a:solidFill>
                  <a:schemeClr val="tx1"/>
                </a:solidFill>
                <a:latin typeface="Calibri"/>
                <a:ea typeface="Calibri"/>
                <a:cs typeface="Calibri"/>
                <a:sym typeface="Calibri"/>
              </a:rPr>
              <a:t>Statistik</a:t>
            </a:r>
            <a:endParaRPr lang="en-US" dirty="0">
              <a:solidFill>
                <a:schemeClr val="tx1"/>
              </a:solidFill>
              <a:latin typeface="Calibri"/>
              <a:ea typeface="Calibri"/>
              <a:cs typeface="Calibri"/>
              <a:sym typeface="Calibri"/>
            </a:endParaRPr>
          </a:p>
          <a:p>
            <a:pPr marL="342900" marR="0" lvl="0" indent="-342900" rtl="0">
              <a:spcBef>
                <a:spcPts val="0"/>
              </a:spcBef>
              <a:spcAft>
                <a:spcPts val="0"/>
              </a:spcAft>
              <a:buAutoNum type="arabicPeriod"/>
            </a:pPr>
            <a:r>
              <a:rPr lang="en-US" dirty="0" err="1">
                <a:solidFill>
                  <a:schemeClr val="tx1"/>
                </a:solidFill>
                <a:latin typeface="Calibri"/>
                <a:ea typeface="Calibri"/>
                <a:cs typeface="Calibri"/>
                <a:sym typeface="Calibri"/>
              </a:rPr>
              <a:t>Peraturan</a:t>
            </a:r>
            <a:r>
              <a:rPr lang="en-US" dirty="0">
                <a:solidFill>
                  <a:schemeClr val="tx1"/>
                </a:solidFill>
                <a:latin typeface="Calibri"/>
                <a:ea typeface="Calibri"/>
                <a:cs typeface="Calibri"/>
                <a:sym typeface="Calibri"/>
              </a:rPr>
              <a:t> Badan Pusat </a:t>
            </a:r>
            <a:r>
              <a:rPr lang="en-US" dirty="0" err="1">
                <a:solidFill>
                  <a:schemeClr val="tx1"/>
                </a:solidFill>
                <a:latin typeface="Calibri"/>
                <a:ea typeface="Calibri"/>
                <a:cs typeface="Calibri"/>
                <a:sym typeface="Calibri"/>
              </a:rPr>
              <a:t>Statistik</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Nomor</a:t>
            </a:r>
            <a:r>
              <a:rPr lang="en-US" dirty="0">
                <a:solidFill>
                  <a:schemeClr val="tx1"/>
                </a:solidFill>
                <a:latin typeface="Calibri"/>
                <a:ea typeface="Calibri"/>
                <a:cs typeface="Calibri"/>
                <a:sym typeface="Calibri"/>
              </a:rPr>
              <a:t> 5 </a:t>
            </a:r>
            <a:r>
              <a:rPr lang="en-US" dirty="0" err="1">
                <a:solidFill>
                  <a:schemeClr val="tx1"/>
                </a:solidFill>
                <a:latin typeface="Calibri"/>
                <a:ea typeface="Calibri"/>
                <a:cs typeface="Calibri"/>
                <a:sym typeface="Calibri"/>
              </a:rPr>
              <a:t>Tahun</a:t>
            </a:r>
            <a:r>
              <a:rPr lang="en-US" dirty="0">
                <a:solidFill>
                  <a:schemeClr val="tx1"/>
                </a:solidFill>
                <a:latin typeface="Calibri"/>
                <a:ea typeface="Calibri"/>
                <a:cs typeface="Calibri"/>
                <a:sym typeface="Calibri"/>
              </a:rPr>
              <a:t> 2020 </a:t>
            </a:r>
            <a:r>
              <a:rPr lang="en-US" dirty="0" err="1">
                <a:solidFill>
                  <a:schemeClr val="tx1"/>
                </a:solidFill>
                <a:latin typeface="Calibri"/>
                <a:ea typeface="Calibri"/>
                <a:cs typeface="Calibri"/>
                <a:sym typeface="Calibri"/>
              </a:rPr>
              <a:t>Tentang</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Petunjuk</a:t>
            </a:r>
            <a:r>
              <a:rPr lang="en-US" dirty="0">
                <a:solidFill>
                  <a:schemeClr val="tx1"/>
                </a:solidFill>
                <a:latin typeface="Calibri"/>
                <a:ea typeface="Calibri"/>
                <a:cs typeface="Calibri"/>
                <a:sym typeface="Calibri"/>
              </a:rPr>
              <a:t> Teknis Metadata </a:t>
            </a:r>
            <a:r>
              <a:rPr lang="en-US" dirty="0" err="1">
                <a:solidFill>
                  <a:schemeClr val="tx1"/>
                </a:solidFill>
                <a:latin typeface="Calibri"/>
                <a:ea typeface="Calibri"/>
                <a:cs typeface="Calibri"/>
                <a:sym typeface="Calibri"/>
              </a:rPr>
              <a:t>Statistik</a:t>
            </a:r>
            <a:endParaRPr lang="en-US" dirty="0">
              <a:solidFill>
                <a:schemeClr val="tx1"/>
              </a:solidFill>
              <a:latin typeface="Calibri"/>
              <a:ea typeface="Calibri"/>
              <a:cs typeface="Calibri"/>
              <a:sym typeface="Calibri"/>
            </a:endParaRPr>
          </a:p>
          <a:p>
            <a:pPr marL="342900" marR="0" lvl="0" indent="-342900" rtl="0">
              <a:spcBef>
                <a:spcPts val="0"/>
              </a:spcBef>
              <a:spcAft>
                <a:spcPts val="0"/>
              </a:spcAft>
              <a:buAutoNum type="arabicPeriod"/>
            </a:pPr>
            <a:r>
              <a:rPr lang="en-US" dirty="0" err="1">
                <a:solidFill>
                  <a:schemeClr val="tx1"/>
                </a:solidFill>
                <a:latin typeface="Calibri"/>
                <a:ea typeface="Calibri"/>
                <a:cs typeface="Calibri"/>
                <a:sym typeface="Calibri"/>
              </a:rPr>
              <a:t>Peraturan</a:t>
            </a:r>
            <a:r>
              <a:rPr lang="en-US" dirty="0">
                <a:solidFill>
                  <a:schemeClr val="tx1"/>
                </a:solidFill>
                <a:latin typeface="Calibri"/>
                <a:ea typeface="Calibri"/>
                <a:cs typeface="Calibri"/>
                <a:sym typeface="Calibri"/>
              </a:rPr>
              <a:t> Badan Pusat </a:t>
            </a:r>
            <a:r>
              <a:rPr lang="en-US" dirty="0" err="1">
                <a:solidFill>
                  <a:schemeClr val="tx1"/>
                </a:solidFill>
                <a:latin typeface="Calibri"/>
                <a:ea typeface="Calibri"/>
                <a:cs typeface="Calibri"/>
                <a:sym typeface="Calibri"/>
              </a:rPr>
              <a:t>Statistik</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Nomor</a:t>
            </a:r>
            <a:r>
              <a:rPr lang="en-US" dirty="0">
                <a:solidFill>
                  <a:schemeClr val="tx1"/>
                </a:solidFill>
                <a:latin typeface="Calibri"/>
                <a:ea typeface="Calibri"/>
                <a:cs typeface="Calibri"/>
                <a:sym typeface="Calibri"/>
              </a:rPr>
              <a:t> 126 </a:t>
            </a:r>
            <a:r>
              <a:rPr lang="en-US" dirty="0" err="1">
                <a:solidFill>
                  <a:schemeClr val="tx1"/>
                </a:solidFill>
                <a:latin typeface="Calibri"/>
                <a:ea typeface="Calibri"/>
                <a:cs typeface="Calibri"/>
                <a:sym typeface="Calibri"/>
              </a:rPr>
              <a:t>Tahun</a:t>
            </a:r>
            <a:r>
              <a:rPr lang="en-US" dirty="0">
                <a:solidFill>
                  <a:schemeClr val="tx1"/>
                </a:solidFill>
                <a:latin typeface="Calibri"/>
                <a:ea typeface="Calibri"/>
                <a:cs typeface="Calibri"/>
                <a:sym typeface="Calibri"/>
              </a:rPr>
              <a:t> 2020 </a:t>
            </a:r>
            <a:r>
              <a:rPr lang="en-US" dirty="0" err="1">
                <a:solidFill>
                  <a:schemeClr val="tx1"/>
                </a:solidFill>
                <a:latin typeface="Calibri"/>
                <a:ea typeface="Calibri"/>
                <a:cs typeface="Calibri"/>
                <a:sym typeface="Calibri"/>
              </a:rPr>
              <a:t>Tentang</a:t>
            </a:r>
            <a:r>
              <a:rPr lang="en-US" dirty="0">
                <a:solidFill>
                  <a:schemeClr val="tx1"/>
                </a:solidFill>
                <a:latin typeface="Calibri"/>
                <a:ea typeface="Calibri"/>
                <a:cs typeface="Calibri"/>
                <a:sym typeface="Calibri"/>
              </a:rPr>
              <a:t> Master File </a:t>
            </a:r>
            <a:r>
              <a:rPr lang="en-US" dirty="0" err="1">
                <a:solidFill>
                  <a:schemeClr val="tx1"/>
                </a:solidFill>
                <a:latin typeface="Calibri"/>
                <a:ea typeface="Calibri"/>
                <a:cs typeface="Calibri"/>
                <a:sym typeface="Calibri"/>
              </a:rPr>
              <a:t>Standar</a:t>
            </a:r>
            <a:r>
              <a:rPr lang="en-US" dirty="0">
                <a:solidFill>
                  <a:schemeClr val="tx1"/>
                </a:solidFill>
                <a:latin typeface="Calibri"/>
                <a:ea typeface="Calibri"/>
                <a:cs typeface="Calibri"/>
                <a:sym typeface="Calibri"/>
              </a:rPr>
              <a:t> Data </a:t>
            </a:r>
            <a:r>
              <a:rPr lang="en-US" dirty="0" err="1">
                <a:solidFill>
                  <a:schemeClr val="tx1"/>
                </a:solidFill>
                <a:latin typeface="Calibri"/>
                <a:ea typeface="Calibri"/>
                <a:cs typeface="Calibri"/>
                <a:sym typeface="Calibri"/>
              </a:rPr>
              <a:t>Statistik</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Tahun</a:t>
            </a:r>
            <a:r>
              <a:rPr lang="en-US" dirty="0">
                <a:solidFill>
                  <a:schemeClr val="tx1"/>
                </a:solidFill>
                <a:latin typeface="Calibri"/>
                <a:ea typeface="Calibri"/>
                <a:cs typeface="Calibri"/>
                <a:sym typeface="Calibri"/>
              </a:rPr>
              <a:t> 2020</a:t>
            </a:r>
          </a:p>
          <a:p>
            <a:pPr marL="342900" marR="0" lvl="0" indent="-342900" rtl="0">
              <a:spcBef>
                <a:spcPts val="0"/>
              </a:spcBef>
              <a:spcAft>
                <a:spcPts val="0"/>
              </a:spcAft>
              <a:buAutoNum type="arabicPeriod"/>
            </a:pPr>
            <a:r>
              <a:rPr lang="en-US" dirty="0" err="1">
                <a:solidFill>
                  <a:schemeClr val="tx1"/>
                </a:solidFill>
                <a:latin typeface="Calibri"/>
                <a:ea typeface="Calibri"/>
                <a:cs typeface="Calibri"/>
                <a:sym typeface="Calibri"/>
              </a:rPr>
              <a:t>Peraturan</a:t>
            </a:r>
            <a:r>
              <a:rPr lang="en-US" dirty="0">
                <a:solidFill>
                  <a:schemeClr val="tx1"/>
                </a:solidFill>
                <a:latin typeface="Calibri"/>
                <a:ea typeface="Calibri"/>
                <a:cs typeface="Calibri"/>
                <a:sym typeface="Calibri"/>
              </a:rPr>
              <a:t> Badan Pusat </a:t>
            </a:r>
            <a:r>
              <a:rPr lang="en-US" dirty="0" err="1">
                <a:solidFill>
                  <a:schemeClr val="tx1"/>
                </a:solidFill>
                <a:latin typeface="Calibri"/>
                <a:ea typeface="Calibri"/>
                <a:cs typeface="Calibri"/>
                <a:sym typeface="Calibri"/>
              </a:rPr>
              <a:t>Statistik</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Nomor</a:t>
            </a:r>
            <a:r>
              <a:rPr lang="en-US" dirty="0">
                <a:solidFill>
                  <a:schemeClr val="tx1"/>
                </a:solidFill>
                <a:latin typeface="Calibri"/>
                <a:ea typeface="Calibri"/>
                <a:cs typeface="Calibri"/>
                <a:sym typeface="Calibri"/>
              </a:rPr>
              <a:t> 1 </a:t>
            </a:r>
            <a:r>
              <a:rPr lang="en-US" dirty="0" err="1">
                <a:solidFill>
                  <a:schemeClr val="tx1"/>
                </a:solidFill>
                <a:latin typeface="Calibri"/>
                <a:ea typeface="Calibri"/>
                <a:cs typeface="Calibri"/>
                <a:sym typeface="Calibri"/>
              </a:rPr>
              <a:t>Tahun</a:t>
            </a:r>
            <a:r>
              <a:rPr lang="en-US" dirty="0">
                <a:solidFill>
                  <a:schemeClr val="tx1"/>
                </a:solidFill>
                <a:latin typeface="Calibri"/>
                <a:ea typeface="Calibri"/>
                <a:cs typeface="Calibri"/>
                <a:sym typeface="Calibri"/>
              </a:rPr>
              <a:t> 2021 </a:t>
            </a:r>
            <a:r>
              <a:rPr lang="en-US" dirty="0" err="1">
                <a:solidFill>
                  <a:schemeClr val="tx1"/>
                </a:solidFill>
                <a:latin typeface="Calibri"/>
                <a:ea typeface="Calibri"/>
                <a:cs typeface="Calibri"/>
                <a:sym typeface="Calibri"/>
              </a:rPr>
              <a:t>Tentang</a:t>
            </a:r>
            <a:r>
              <a:rPr lang="en-US" dirty="0">
                <a:solidFill>
                  <a:schemeClr val="tx1"/>
                </a:solidFill>
                <a:latin typeface="Calibri"/>
                <a:ea typeface="Calibri"/>
                <a:cs typeface="Calibri"/>
                <a:sym typeface="Calibri"/>
              </a:rPr>
              <a:t> Kode Dan Nama Wilayah </a:t>
            </a:r>
            <a:r>
              <a:rPr lang="en-US" dirty="0" err="1">
                <a:solidFill>
                  <a:schemeClr val="tx1"/>
                </a:solidFill>
                <a:latin typeface="Calibri"/>
                <a:ea typeface="Calibri"/>
                <a:cs typeface="Calibri"/>
                <a:sym typeface="Calibri"/>
              </a:rPr>
              <a:t>Kerja</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Statistik</a:t>
            </a:r>
            <a:endParaRPr lang="en-US" dirty="0">
              <a:solidFill>
                <a:schemeClr val="tx1"/>
              </a:solidFill>
              <a:latin typeface="Calibri"/>
              <a:ea typeface="Calibri"/>
              <a:cs typeface="Calibri"/>
              <a:sym typeface="Calibri"/>
            </a:endParaRP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rPr>
              <a:t>Data Interoperability: A Practitioner’s Guide To Joining Up Data In The Development Sector, Luis González Morales &amp; Tom Orrell, UNSD&amp;GPSDD, 2019</a:t>
            </a: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rPr>
              <a:t>Asia-Pacific Guidelines to Data Integration for Official Statistics, UNESCAP, 202014. Statistical Data and Metadata Exchange (SDMX) tools, UNSTAT, 2020</a:t>
            </a:r>
            <a:endParaRPr dirty="0">
              <a:solidFill>
                <a:schemeClr val="tx1"/>
              </a:solidFill>
              <a:latin typeface="Calibri"/>
              <a:ea typeface="Calibri"/>
              <a:cs typeface="Calibri"/>
              <a:sym typeface="Calibri"/>
            </a:endParaRPr>
          </a:p>
        </p:txBody>
      </p:sp>
      <p:sp>
        <p:nvSpPr>
          <p:cNvPr id="328" name="Google Shape;328;p13"/>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9" name="Google Shape;329;p13"/>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30" name="Google Shape;330;p13"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331" name="Google Shape;331;p13"/>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2" name="Google Shape;332;p13"/>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 name="Google Shape;333;p13"/>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15</a:t>
            </a:fld>
            <a:endParaRPr sz="2400" b="1">
              <a:solidFill>
                <a:srgbClr val="1B449C"/>
              </a:solidFill>
            </a:endParaRPr>
          </a:p>
        </p:txBody>
      </p:sp>
      <p:sp>
        <p:nvSpPr>
          <p:cNvPr id="334" name="Google Shape;334;p13"/>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 name="Google Shape;335;p13"/>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336" name="Google Shape;336;p13"/>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37" name="Google Shape;337;p13"/>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BAHAN BACAAN DAN REFERENSI</a:t>
            </a:r>
            <a:endParaRPr sz="3600" b="1">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5">
          <a:extLst>
            <a:ext uri="{FF2B5EF4-FFF2-40B4-BE49-F238E27FC236}">
              <a16:creationId xmlns:a16="http://schemas.microsoft.com/office/drawing/2014/main" id="{351126A9-699E-423C-9278-C7BBE3F82C27}"/>
            </a:ext>
          </a:extLst>
        </p:cNvPr>
        <p:cNvGrpSpPr/>
        <p:nvPr/>
      </p:nvGrpSpPr>
      <p:grpSpPr>
        <a:xfrm>
          <a:off x="0" y="0"/>
          <a:ext cx="0" cy="0"/>
          <a:chOff x="0" y="0"/>
          <a:chExt cx="0" cy="0"/>
        </a:xfrm>
      </p:grpSpPr>
      <p:pic>
        <p:nvPicPr>
          <p:cNvPr id="326" name="Google Shape;326;p13" descr="A picture containing outdoor, city, town, road&#10;&#10;Description automatically generated">
            <a:extLst>
              <a:ext uri="{FF2B5EF4-FFF2-40B4-BE49-F238E27FC236}">
                <a16:creationId xmlns:a16="http://schemas.microsoft.com/office/drawing/2014/main" id="{C5C13BE9-FD9A-809F-2DF8-FDC15172E677}"/>
              </a:ext>
            </a:extLst>
          </p:cNvPr>
          <p:cNvPicPr preferRelativeResize="0"/>
          <p:nvPr/>
        </p:nvPicPr>
        <p:blipFill rotWithShape="1">
          <a:blip r:embed="rId3">
            <a:alphaModFix/>
          </a:blip>
          <a:srcRect/>
          <a:stretch/>
        </p:blipFill>
        <p:spPr>
          <a:xfrm>
            <a:off x="7176538" y="95252"/>
            <a:ext cx="9143634" cy="6858000"/>
          </a:xfrm>
          <a:prstGeom prst="rect">
            <a:avLst/>
          </a:prstGeom>
          <a:noFill/>
          <a:ln>
            <a:noFill/>
          </a:ln>
        </p:spPr>
      </p:pic>
      <p:sp>
        <p:nvSpPr>
          <p:cNvPr id="327" name="Google Shape;327;p13">
            <a:extLst>
              <a:ext uri="{FF2B5EF4-FFF2-40B4-BE49-F238E27FC236}">
                <a16:creationId xmlns:a16="http://schemas.microsoft.com/office/drawing/2014/main" id="{BBD73728-0D4C-4527-BFA3-07673A33AE40}"/>
              </a:ext>
            </a:extLst>
          </p:cNvPr>
          <p:cNvSpPr/>
          <p:nvPr/>
        </p:nvSpPr>
        <p:spPr>
          <a:xfrm>
            <a:off x="-26417" y="168269"/>
            <a:ext cx="8319811"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rPr>
              <a:t>UU </a:t>
            </a:r>
            <a:r>
              <a:rPr lang="en-US" dirty="0" err="1">
                <a:solidFill>
                  <a:schemeClr val="tx1"/>
                </a:solidFill>
                <a:latin typeface="Calibri"/>
                <a:ea typeface="Calibri"/>
                <a:cs typeface="Calibri"/>
                <a:sym typeface="Calibri"/>
              </a:rPr>
              <a:t>Nomor</a:t>
            </a:r>
            <a:r>
              <a:rPr lang="en-US" dirty="0">
                <a:solidFill>
                  <a:schemeClr val="tx1"/>
                </a:solidFill>
                <a:latin typeface="Calibri"/>
                <a:ea typeface="Calibri"/>
                <a:cs typeface="Calibri"/>
                <a:sym typeface="Calibri"/>
              </a:rPr>
              <a:t> 16 </a:t>
            </a:r>
            <a:r>
              <a:rPr lang="en-US" dirty="0" err="1">
                <a:solidFill>
                  <a:schemeClr val="tx1"/>
                </a:solidFill>
                <a:latin typeface="Calibri"/>
                <a:ea typeface="Calibri"/>
                <a:cs typeface="Calibri"/>
                <a:sym typeface="Calibri"/>
              </a:rPr>
              <a:t>Tahun</a:t>
            </a:r>
            <a:r>
              <a:rPr lang="en-US" dirty="0">
                <a:solidFill>
                  <a:schemeClr val="tx1"/>
                </a:solidFill>
                <a:latin typeface="Calibri"/>
                <a:ea typeface="Calibri"/>
                <a:cs typeface="Calibri"/>
                <a:sym typeface="Calibri"/>
              </a:rPr>
              <a:t> 1997 </a:t>
            </a:r>
            <a:r>
              <a:rPr lang="en-US" dirty="0" err="1">
                <a:solidFill>
                  <a:schemeClr val="tx1"/>
                </a:solidFill>
                <a:latin typeface="Calibri"/>
                <a:ea typeface="Calibri"/>
                <a:cs typeface="Calibri"/>
                <a:sym typeface="Calibri"/>
              </a:rPr>
              <a:t>tentang</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Statistik</a:t>
            </a:r>
            <a:endParaRPr lang="en-US" dirty="0">
              <a:solidFill>
                <a:schemeClr val="tx1"/>
              </a:solidFill>
              <a:latin typeface="Calibri"/>
              <a:ea typeface="Calibri"/>
              <a:cs typeface="Calibri"/>
              <a:sym typeface="Calibri"/>
            </a:endParaRPr>
          </a:p>
          <a:p>
            <a:pPr marL="342900" marR="0" lvl="0" indent="-342900" rtl="0">
              <a:spcBef>
                <a:spcPts val="0"/>
              </a:spcBef>
              <a:spcAft>
                <a:spcPts val="0"/>
              </a:spcAft>
              <a:buAutoNum type="arabicPeriod"/>
            </a:pPr>
            <a:r>
              <a:rPr lang="en-US" dirty="0" err="1">
                <a:solidFill>
                  <a:schemeClr val="tx1"/>
                </a:solidFill>
                <a:latin typeface="Calibri"/>
                <a:ea typeface="Calibri"/>
                <a:cs typeface="Calibri"/>
                <a:sym typeface="Calibri"/>
              </a:rPr>
              <a:t>Peraturan</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Pemerintah</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Nomor</a:t>
            </a:r>
            <a:r>
              <a:rPr lang="en-US" dirty="0">
                <a:solidFill>
                  <a:schemeClr val="tx1"/>
                </a:solidFill>
                <a:latin typeface="Calibri"/>
                <a:ea typeface="Calibri"/>
                <a:cs typeface="Calibri"/>
                <a:sym typeface="Calibri"/>
              </a:rPr>
              <a:t> 51 </a:t>
            </a:r>
            <a:r>
              <a:rPr lang="en-US" dirty="0" err="1">
                <a:solidFill>
                  <a:schemeClr val="tx1"/>
                </a:solidFill>
                <a:latin typeface="Calibri"/>
                <a:ea typeface="Calibri"/>
                <a:cs typeface="Calibri"/>
                <a:sym typeface="Calibri"/>
              </a:rPr>
              <a:t>Tahun</a:t>
            </a:r>
            <a:r>
              <a:rPr lang="en-US" dirty="0">
                <a:solidFill>
                  <a:schemeClr val="tx1"/>
                </a:solidFill>
                <a:latin typeface="Calibri"/>
                <a:ea typeface="Calibri"/>
                <a:cs typeface="Calibri"/>
                <a:sym typeface="Calibri"/>
              </a:rPr>
              <a:t> 1999 </a:t>
            </a:r>
            <a:r>
              <a:rPr lang="en-US" dirty="0" err="1">
                <a:solidFill>
                  <a:schemeClr val="tx1"/>
                </a:solidFill>
                <a:latin typeface="Calibri"/>
                <a:ea typeface="Calibri"/>
                <a:cs typeface="Calibri"/>
                <a:sym typeface="Calibri"/>
              </a:rPr>
              <a:t>tentang</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Penyelenggaraan</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Statistik</a:t>
            </a:r>
            <a:endParaRPr lang="en-US" dirty="0">
              <a:solidFill>
                <a:schemeClr val="tx1"/>
              </a:solidFill>
              <a:latin typeface="Calibri"/>
              <a:ea typeface="Calibri"/>
              <a:cs typeface="Calibri"/>
              <a:sym typeface="Calibri"/>
            </a:endParaRPr>
          </a:p>
          <a:p>
            <a:pPr marL="342900" marR="0" lvl="0" indent="-342900" rtl="0">
              <a:spcBef>
                <a:spcPts val="0"/>
              </a:spcBef>
              <a:spcAft>
                <a:spcPts val="0"/>
              </a:spcAft>
              <a:buAutoNum type="arabicPeriod"/>
            </a:pPr>
            <a:r>
              <a:rPr lang="en-US" dirty="0" err="1">
                <a:solidFill>
                  <a:schemeClr val="tx1"/>
                </a:solidFill>
                <a:latin typeface="Calibri"/>
                <a:ea typeface="Calibri"/>
                <a:cs typeface="Calibri"/>
                <a:sym typeface="Calibri"/>
              </a:rPr>
              <a:t>Peraturan</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Presiden</a:t>
            </a:r>
            <a:r>
              <a:rPr lang="en-US" dirty="0">
                <a:solidFill>
                  <a:schemeClr val="tx1"/>
                </a:solidFill>
                <a:latin typeface="Calibri"/>
                <a:ea typeface="Calibri"/>
                <a:cs typeface="Calibri"/>
                <a:sym typeface="Calibri"/>
              </a:rPr>
              <a:t> Republik Indonesia </a:t>
            </a:r>
            <a:r>
              <a:rPr lang="en-US" dirty="0" err="1">
                <a:solidFill>
                  <a:schemeClr val="tx1"/>
                </a:solidFill>
                <a:latin typeface="Calibri"/>
                <a:ea typeface="Calibri"/>
                <a:cs typeface="Calibri"/>
                <a:sym typeface="Calibri"/>
              </a:rPr>
              <a:t>Nomor</a:t>
            </a:r>
            <a:r>
              <a:rPr lang="en-US" dirty="0">
                <a:solidFill>
                  <a:schemeClr val="tx1"/>
                </a:solidFill>
                <a:latin typeface="Calibri"/>
                <a:ea typeface="Calibri"/>
                <a:cs typeface="Calibri"/>
                <a:sym typeface="Calibri"/>
              </a:rPr>
              <a:t> 86 </a:t>
            </a:r>
            <a:r>
              <a:rPr lang="en-US" dirty="0" err="1">
                <a:solidFill>
                  <a:schemeClr val="tx1"/>
                </a:solidFill>
                <a:latin typeface="Calibri"/>
                <a:ea typeface="Calibri"/>
                <a:cs typeface="Calibri"/>
                <a:sym typeface="Calibri"/>
              </a:rPr>
              <a:t>Tahun</a:t>
            </a:r>
            <a:r>
              <a:rPr lang="en-US" dirty="0">
                <a:solidFill>
                  <a:schemeClr val="tx1"/>
                </a:solidFill>
                <a:latin typeface="Calibri"/>
                <a:ea typeface="Calibri"/>
                <a:cs typeface="Calibri"/>
                <a:sym typeface="Calibri"/>
              </a:rPr>
              <a:t> 2007 </a:t>
            </a:r>
            <a:r>
              <a:rPr lang="en-US" dirty="0" err="1">
                <a:solidFill>
                  <a:schemeClr val="tx1"/>
                </a:solidFill>
                <a:latin typeface="Calibri"/>
                <a:ea typeface="Calibri"/>
                <a:cs typeface="Calibri"/>
                <a:sym typeface="Calibri"/>
              </a:rPr>
              <a:t>tentang</a:t>
            </a:r>
            <a:r>
              <a:rPr lang="en-US" dirty="0">
                <a:solidFill>
                  <a:schemeClr val="tx1"/>
                </a:solidFill>
                <a:latin typeface="Calibri"/>
                <a:ea typeface="Calibri"/>
                <a:cs typeface="Calibri"/>
                <a:sym typeface="Calibri"/>
              </a:rPr>
              <a:t> Badan Pusat </a:t>
            </a:r>
            <a:r>
              <a:rPr lang="en-US" dirty="0" err="1">
                <a:solidFill>
                  <a:schemeClr val="tx1"/>
                </a:solidFill>
                <a:latin typeface="Calibri"/>
                <a:ea typeface="Calibri"/>
                <a:cs typeface="Calibri"/>
                <a:sym typeface="Calibri"/>
              </a:rPr>
              <a:t>Statistik</a:t>
            </a:r>
            <a:endParaRPr lang="en-US" dirty="0">
              <a:solidFill>
                <a:schemeClr val="tx1"/>
              </a:solidFill>
              <a:latin typeface="Calibri"/>
              <a:ea typeface="Calibri"/>
              <a:cs typeface="Calibri"/>
              <a:sym typeface="Calibri"/>
            </a:endParaRP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rPr>
              <a:t>Keputusan </a:t>
            </a:r>
            <a:r>
              <a:rPr lang="en-US" dirty="0" err="1">
                <a:solidFill>
                  <a:schemeClr val="tx1"/>
                </a:solidFill>
                <a:latin typeface="Calibri"/>
                <a:ea typeface="Calibri"/>
                <a:cs typeface="Calibri"/>
                <a:sym typeface="Calibri"/>
              </a:rPr>
              <a:t>Kepala</a:t>
            </a:r>
            <a:r>
              <a:rPr lang="en-US" dirty="0">
                <a:solidFill>
                  <a:schemeClr val="tx1"/>
                </a:solidFill>
                <a:latin typeface="Calibri"/>
                <a:ea typeface="Calibri"/>
                <a:cs typeface="Calibri"/>
                <a:sym typeface="Calibri"/>
              </a:rPr>
              <a:t> BPS No 5 </a:t>
            </a:r>
            <a:r>
              <a:rPr lang="en-US" dirty="0" err="1">
                <a:solidFill>
                  <a:schemeClr val="tx1"/>
                </a:solidFill>
                <a:latin typeface="Calibri"/>
                <a:ea typeface="Calibri"/>
                <a:cs typeface="Calibri"/>
                <a:sym typeface="Calibri"/>
              </a:rPr>
              <a:t>Tahun</a:t>
            </a:r>
            <a:r>
              <a:rPr lang="en-US" dirty="0">
                <a:solidFill>
                  <a:schemeClr val="tx1"/>
                </a:solidFill>
                <a:latin typeface="Calibri"/>
                <a:ea typeface="Calibri"/>
                <a:cs typeface="Calibri"/>
                <a:sym typeface="Calibri"/>
              </a:rPr>
              <a:t> 2000 </a:t>
            </a:r>
            <a:r>
              <a:rPr lang="en-US" dirty="0" err="1">
                <a:solidFill>
                  <a:schemeClr val="tx1"/>
                </a:solidFill>
                <a:latin typeface="Calibri"/>
                <a:ea typeface="Calibri"/>
                <a:cs typeface="Calibri"/>
                <a:sym typeface="Calibri"/>
              </a:rPr>
              <a:t>Tentang</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Sistem</a:t>
            </a:r>
            <a:r>
              <a:rPr lang="en-US" dirty="0">
                <a:solidFill>
                  <a:schemeClr val="tx1"/>
                </a:solidFill>
                <a:latin typeface="Calibri"/>
                <a:ea typeface="Calibri"/>
                <a:cs typeface="Calibri"/>
                <a:sym typeface="Calibri"/>
              </a:rPr>
              <a:t> </a:t>
            </a:r>
            <a:r>
              <a:rPr lang="en-US" dirty="0" err="1">
                <a:solidFill>
                  <a:schemeClr val="tx1"/>
                </a:solidFill>
                <a:latin typeface="Calibri"/>
                <a:ea typeface="Calibri"/>
                <a:cs typeface="Calibri"/>
                <a:sym typeface="Calibri"/>
              </a:rPr>
              <a:t>Statistik</a:t>
            </a:r>
            <a:r>
              <a:rPr lang="en-US" dirty="0">
                <a:solidFill>
                  <a:schemeClr val="tx1"/>
                </a:solidFill>
                <a:latin typeface="Calibri"/>
                <a:ea typeface="Calibri"/>
                <a:cs typeface="Calibri"/>
                <a:sym typeface="Calibri"/>
              </a:rPr>
              <a:t> Nasional</a:t>
            </a: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rPr>
              <a:t>Fundamental Principles of Official Statistics (United Nations General Assembly resolution 68/261</a:t>
            </a: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rPr>
              <a:t>United Nations National Quality Assurance Frameworks Manual for Official Statistics, Including recommendations, the framework and implementation guidance – UN 2019</a:t>
            </a: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rPr>
              <a:t>DAMA International (2017). Data Management Body of Knowledge, 2nd ed. New </a:t>
            </a:r>
            <a:r>
              <a:rPr lang="en-US" dirty="0" err="1">
                <a:solidFill>
                  <a:schemeClr val="tx1"/>
                </a:solidFill>
                <a:latin typeface="Calibri"/>
                <a:ea typeface="Calibri"/>
                <a:cs typeface="Calibri"/>
                <a:sym typeface="Calibri"/>
              </a:rPr>
              <a:t>Jersey:Technics</a:t>
            </a:r>
            <a:r>
              <a:rPr lang="en-US" dirty="0">
                <a:solidFill>
                  <a:schemeClr val="tx1"/>
                </a:solidFill>
                <a:latin typeface="Calibri"/>
                <a:ea typeface="Calibri"/>
                <a:cs typeface="Calibri"/>
                <a:sym typeface="Calibri"/>
              </a:rPr>
              <a:t> Publications.</a:t>
            </a: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rPr>
              <a:t>Joined-Up Data Standards project (2016). The frontiers of data interoperability for sustainable development.</a:t>
            </a: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rPr>
              <a:t>Palfrey, J. &amp; Gasser, U. (2012). Interop: The promise and perils of highly interconnected systems. New York: Basic Books.</a:t>
            </a: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rPr>
              <a:t>Steiner, R. (2014). Non-invasive data governance: The path of least resistance and greatest success. New Jersey: Technics Publications.</a:t>
            </a: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hlinkClick r:id="rId4"/>
              </a:rPr>
              <a:t>https://sdgs.un.org/goals</a:t>
            </a:r>
            <a:endParaRPr lang="en-US" dirty="0">
              <a:solidFill>
                <a:schemeClr val="tx1"/>
              </a:solidFill>
              <a:latin typeface="Calibri"/>
              <a:ea typeface="Calibri"/>
              <a:cs typeface="Calibri"/>
              <a:sym typeface="Calibri"/>
            </a:endParaRP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hlinkClick r:id="rId5"/>
              </a:rPr>
              <a:t>https://www.sdg2030indonesia.org/</a:t>
            </a:r>
            <a:endParaRPr lang="en-US" dirty="0">
              <a:solidFill>
                <a:schemeClr val="tx1"/>
              </a:solidFill>
              <a:latin typeface="Calibri"/>
              <a:ea typeface="Calibri"/>
              <a:cs typeface="Calibri"/>
              <a:sym typeface="Calibri"/>
            </a:endParaRP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hlinkClick r:id="rId6"/>
              </a:rPr>
              <a:t>http://sdgs.bappenas.go.id/sekilas-sdgs/</a:t>
            </a:r>
            <a:endParaRPr lang="en-US" dirty="0">
              <a:solidFill>
                <a:schemeClr val="tx1"/>
              </a:solidFill>
              <a:latin typeface="Calibri"/>
              <a:ea typeface="Calibri"/>
              <a:cs typeface="Calibri"/>
              <a:sym typeface="Calibri"/>
            </a:endParaRP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hlinkClick r:id="rId7"/>
              </a:rPr>
              <a:t>http://sdgsindonesia.or.id/</a:t>
            </a:r>
            <a:endParaRPr lang="en-US" dirty="0">
              <a:solidFill>
                <a:schemeClr val="tx1"/>
              </a:solidFill>
              <a:latin typeface="Calibri"/>
              <a:ea typeface="Calibri"/>
              <a:cs typeface="Calibri"/>
              <a:sym typeface="Calibri"/>
            </a:endParaRP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hlinkClick r:id="rId8"/>
              </a:rPr>
              <a:t>https://sig.bps.go.id</a:t>
            </a:r>
            <a:endParaRPr lang="en-US" dirty="0">
              <a:solidFill>
                <a:schemeClr val="tx1"/>
              </a:solidFill>
              <a:latin typeface="Calibri"/>
              <a:ea typeface="Calibri"/>
              <a:cs typeface="Calibri"/>
              <a:sym typeface="Calibri"/>
            </a:endParaRP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hlinkClick r:id="rId9"/>
              </a:rPr>
              <a:t>https://www.data4sdgs.org/resources/interoperability-practitioners-guide-joining-data-development-sector</a:t>
            </a:r>
            <a:r>
              <a:rPr lang="en-US" dirty="0">
                <a:solidFill>
                  <a:schemeClr val="tx1"/>
                </a:solidFill>
                <a:latin typeface="Calibri"/>
                <a:ea typeface="Calibri"/>
                <a:cs typeface="Calibri"/>
                <a:sym typeface="Calibri"/>
              </a:rPr>
              <a:t> </a:t>
            </a: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hlinkClick r:id="rId10"/>
              </a:rPr>
              <a:t>https://unstats.un.org/wiki/plugins/servlet/mobile?contentId=36143964#content/view/36143964</a:t>
            </a:r>
            <a:endParaRPr lang="en-US" dirty="0">
              <a:solidFill>
                <a:schemeClr val="tx1"/>
              </a:solidFill>
              <a:latin typeface="Calibri"/>
              <a:ea typeface="Calibri"/>
              <a:cs typeface="Calibri"/>
              <a:sym typeface="Calibri"/>
            </a:endParaRP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hlinkClick r:id="rId11"/>
              </a:rPr>
              <a:t>https://data.go.id/</a:t>
            </a:r>
            <a:endParaRPr lang="en-US" dirty="0">
              <a:solidFill>
                <a:schemeClr val="tx1"/>
              </a:solidFill>
              <a:latin typeface="Calibri"/>
              <a:ea typeface="Calibri"/>
              <a:cs typeface="Calibri"/>
              <a:sym typeface="Calibri"/>
            </a:endParaRPr>
          </a:p>
          <a:p>
            <a:pPr marL="342900" marR="0" lvl="0" indent="-342900" rtl="0">
              <a:spcBef>
                <a:spcPts val="0"/>
              </a:spcBef>
              <a:spcAft>
                <a:spcPts val="0"/>
              </a:spcAft>
              <a:buAutoNum type="arabicPeriod"/>
            </a:pPr>
            <a:r>
              <a:rPr lang="en-US" dirty="0">
                <a:solidFill>
                  <a:schemeClr val="tx1"/>
                </a:solidFill>
                <a:latin typeface="Calibri"/>
                <a:ea typeface="Calibri"/>
                <a:cs typeface="Calibri"/>
                <a:sym typeface="Calibri"/>
                <a:hlinkClick r:id="rId12"/>
              </a:rPr>
              <a:t>https://bps.go.id/</a:t>
            </a:r>
            <a:r>
              <a:rPr lang="en-US" dirty="0">
                <a:solidFill>
                  <a:schemeClr val="tx1"/>
                </a:solidFill>
                <a:latin typeface="Calibri"/>
                <a:ea typeface="Calibri"/>
                <a:cs typeface="Calibri"/>
                <a:sym typeface="Calibri"/>
              </a:rPr>
              <a:t> </a:t>
            </a:r>
            <a:endParaRPr dirty="0">
              <a:solidFill>
                <a:schemeClr val="tx1"/>
              </a:solidFill>
              <a:latin typeface="Calibri"/>
              <a:ea typeface="Calibri"/>
              <a:cs typeface="Calibri"/>
              <a:sym typeface="Calibri"/>
            </a:endParaRPr>
          </a:p>
        </p:txBody>
      </p:sp>
      <p:sp>
        <p:nvSpPr>
          <p:cNvPr id="328" name="Google Shape;328;p13">
            <a:extLst>
              <a:ext uri="{FF2B5EF4-FFF2-40B4-BE49-F238E27FC236}">
                <a16:creationId xmlns:a16="http://schemas.microsoft.com/office/drawing/2014/main" id="{CC205CD6-F113-8360-76E9-C5835A97FEAD}"/>
              </a:ext>
            </a:extLst>
          </p:cNvPr>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9" name="Google Shape;329;p13">
            <a:extLst>
              <a:ext uri="{FF2B5EF4-FFF2-40B4-BE49-F238E27FC236}">
                <a16:creationId xmlns:a16="http://schemas.microsoft.com/office/drawing/2014/main" id="{6F0E379E-0BA3-DE8F-577C-4F7D3901215C}"/>
              </a:ext>
            </a:extLst>
          </p:cNvPr>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30" name="Google Shape;330;p13" descr="Logo&#10;&#10;Description automatically generated">
            <a:extLst>
              <a:ext uri="{FF2B5EF4-FFF2-40B4-BE49-F238E27FC236}">
                <a16:creationId xmlns:a16="http://schemas.microsoft.com/office/drawing/2014/main" id="{1E16A122-A010-EA7D-731C-9382B3E6FB86}"/>
              </a:ext>
            </a:extLst>
          </p:cNvPr>
          <p:cNvPicPr preferRelativeResize="0"/>
          <p:nvPr/>
        </p:nvPicPr>
        <p:blipFill rotWithShape="1">
          <a:blip r:embed="rId13">
            <a:alphaModFix/>
          </a:blip>
          <a:srcRect/>
          <a:stretch/>
        </p:blipFill>
        <p:spPr>
          <a:xfrm>
            <a:off x="250627" y="89589"/>
            <a:ext cx="607786" cy="607786"/>
          </a:xfrm>
          <a:prstGeom prst="rect">
            <a:avLst/>
          </a:prstGeom>
          <a:noFill/>
          <a:ln>
            <a:noFill/>
          </a:ln>
        </p:spPr>
      </p:pic>
      <p:sp>
        <p:nvSpPr>
          <p:cNvPr id="331" name="Google Shape;331;p13">
            <a:extLst>
              <a:ext uri="{FF2B5EF4-FFF2-40B4-BE49-F238E27FC236}">
                <a16:creationId xmlns:a16="http://schemas.microsoft.com/office/drawing/2014/main" id="{B9CE5533-F5AD-9EDE-FFF4-FD65F8F00B0F}"/>
              </a:ext>
            </a:extLst>
          </p:cNvPr>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2" name="Google Shape;332;p13">
            <a:extLst>
              <a:ext uri="{FF2B5EF4-FFF2-40B4-BE49-F238E27FC236}">
                <a16:creationId xmlns:a16="http://schemas.microsoft.com/office/drawing/2014/main" id="{E86CC98B-7A6D-7093-21BC-C45B8D5B6E48}"/>
              </a:ext>
            </a:extLst>
          </p:cNvPr>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 name="Google Shape;333;p13">
            <a:extLst>
              <a:ext uri="{FF2B5EF4-FFF2-40B4-BE49-F238E27FC236}">
                <a16:creationId xmlns:a16="http://schemas.microsoft.com/office/drawing/2014/main" id="{31F8048E-1538-D498-34C5-F1A320A6A7D1}"/>
              </a:ext>
            </a:extLst>
          </p:cNvPr>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16</a:t>
            </a:fld>
            <a:endParaRPr sz="2400" b="1">
              <a:solidFill>
                <a:srgbClr val="1B449C"/>
              </a:solidFill>
            </a:endParaRPr>
          </a:p>
        </p:txBody>
      </p:sp>
      <p:sp>
        <p:nvSpPr>
          <p:cNvPr id="334" name="Google Shape;334;p13">
            <a:extLst>
              <a:ext uri="{FF2B5EF4-FFF2-40B4-BE49-F238E27FC236}">
                <a16:creationId xmlns:a16="http://schemas.microsoft.com/office/drawing/2014/main" id="{24D73863-4E9C-638A-C029-D91FEB8419B0}"/>
              </a:ext>
            </a:extLst>
          </p:cNvPr>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 name="Google Shape;335;p13">
            <a:extLst>
              <a:ext uri="{FF2B5EF4-FFF2-40B4-BE49-F238E27FC236}">
                <a16:creationId xmlns:a16="http://schemas.microsoft.com/office/drawing/2014/main" id="{9C95F509-BAE5-517E-10D3-E41A4CE90B08}"/>
              </a:ext>
            </a:extLst>
          </p:cNvPr>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336" name="Google Shape;336;p13">
            <a:extLst>
              <a:ext uri="{FF2B5EF4-FFF2-40B4-BE49-F238E27FC236}">
                <a16:creationId xmlns:a16="http://schemas.microsoft.com/office/drawing/2014/main" id="{7B5C016B-A42F-EAE8-7D76-50CBDF7A66BD}"/>
              </a:ext>
            </a:extLst>
          </p:cNvPr>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37" name="Google Shape;337;p13">
            <a:extLst>
              <a:ext uri="{FF2B5EF4-FFF2-40B4-BE49-F238E27FC236}">
                <a16:creationId xmlns:a16="http://schemas.microsoft.com/office/drawing/2014/main" id="{B123F18B-43E3-DE5A-E0AE-A8999878CEAA}"/>
              </a:ext>
            </a:extLst>
          </p:cNvPr>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BAHAN BACAAN DAN REFERENSI</a:t>
            </a:r>
            <a:endParaRPr sz="3600" b="1">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4147502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pic>
        <p:nvPicPr>
          <p:cNvPr id="344" name="Google Shape;344;p14"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345" name="Google Shape;345;p14"/>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6" name="Google Shape;346;p14"/>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 name="Google Shape;347;p14"/>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48" name="Google Shape;348;p14"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349" name="Google Shape;349;p14"/>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0" name="Google Shape;350;p14"/>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1" name="Google Shape;351;p14"/>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17</a:t>
            </a:fld>
            <a:endParaRPr sz="2400" b="1">
              <a:solidFill>
                <a:srgbClr val="1B449C"/>
              </a:solidFill>
            </a:endParaRPr>
          </a:p>
        </p:txBody>
      </p:sp>
      <p:sp>
        <p:nvSpPr>
          <p:cNvPr id="352" name="Google Shape;352;p14"/>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 name="Google Shape;353;p14"/>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354" name="Google Shape;354;p14"/>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5" name="Google Shape;355;p14"/>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TATA TERTIB PERKULIAHAN</a:t>
            </a:r>
            <a:endParaRPr sz="3600" b="1">
              <a:solidFill>
                <a:schemeClr val="lt1"/>
              </a:solidFill>
              <a:latin typeface="Calibri"/>
              <a:ea typeface="Calibri"/>
              <a:cs typeface="Calibri"/>
              <a:sym typeface="Calibri"/>
            </a:endParaRPr>
          </a:p>
        </p:txBody>
      </p:sp>
      <p:sp>
        <p:nvSpPr>
          <p:cNvPr id="356" name="Google Shape;356;p14"/>
          <p:cNvSpPr/>
          <p:nvPr/>
        </p:nvSpPr>
        <p:spPr>
          <a:xfrm>
            <a:off x="368715" y="975591"/>
            <a:ext cx="10510519" cy="5262979"/>
          </a:xfrm>
          <a:prstGeom prst="rect">
            <a:avLst/>
          </a:prstGeom>
          <a:noFill/>
          <a:ln>
            <a:noFill/>
          </a:ln>
        </p:spPr>
        <p:txBody>
          <a:bodyPr spcFirstLastPara="1" wrap="square" lIns="91425" tIns="45700" rIns="91425" bIns="45700" anchor="t" anchorCtr="0">
            <a:spAutoFit/>
          </a:bodyPr>
          <a:lstStyle/>
          <a:p>
            <a:pPr marL="365125" marR="0" lvl="0" indent="-365125" algn="l" rtl="0">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Mahasiswa hadir di ruang perkuliahan </a:t>
            </a:r>
            <a:r>
              <a:rPr lang="en-US" sz="2800" b="1">
                <a:solidFill>
                  <a:srgbClr val="002060"/>
                </a:solidFill>
                <a:latin typeface="Calibri"/>
                <a:ea typeface="Calibri"/>
                <a:cs typeface="Calibri"/>
                <a:sym typeface="Calibri"/>
              </a:rPr>
              <a:t>sebelum kuliah dimulai.</a:t>
            </a:r>
            <a:endParaRPr/>
          </a:p>
          <a:p>
            <a:pPr marL="365125" marR="0" lvl="0" indent="-365125" algn="l" rtl="0">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Mahasiswa </a:t>
            </a:r>
            <a:r>
              <a:rPr lang="en-US" sz="2800" b="1">
                <a:solidFill>
                  <a:srgbClr val="002060"/>
                </a:solidFill>
                <a:latin typeface="Calibri"/>
                <a:ea typeface="Calibri"/>
                <a:cs typeface="Calibri"/>
                <a:sym typeface="Calibri"/>
              </a:rPr>
              <a:t>wajib mengisi daftar hadir </a:t>
            </a:r>
            <a:r>
              <a:rPr lang="en-US" sz="2800">
                <a:solidFill>
                  <a:srgbClr val="002060"/>
                </a:solidFill>
                <a:latin typeface="Calibri"/>
                <a:ea typeface="Calibri"/>
                <a:cs typeface="Calibri"/>
                <a:sym typeface="Calibri"/>
              </a:rPr>
              <a:t>perkuliahan.</a:t>
            </a:r>
            <a:endParaRPr/>
          </a:p>
          <a:p>
            <a:pPr marL="365125" marR="0" lvl="0" indent="-365125" algn="l" rtl="0">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Mahasiswa </a:t>
            </a:r>
            <a:r>
              <a:rPr lang="en-US" sz="2800" b="1">
                <a:solidFill>
                  <a:srgbClr val="002060"/>
                </a:solidFill>
                <a:latin typeface="Calibri"/>
                <a:ea typeface="Calibri"/>
                <a:cs typeface="Calibri"/>
                <a:sym typeface="Calibri"/>
              </a:rPr>
              <a:t>terikat </a:t>
            </a:r>
            <a:r>
              <a:rPr lang="en-US" sz="2800">
                <a:solidFill>
                  <a:srgbClr val="002060"/>
                </a:solidFill>
                <a:latin typeface="Calibri"/>
                <a:ea typeface="Calibri"/>
                <a:cs typeface="Calibri"/>
                <a:sym typeface="Calibri"/>
              </a:rPr>
              <a:t>pada aturan dan tata tertib yang berlaku.</a:t>
            </a:r>
            <a:endParaRPr sz="2800">
              <a:solidFill>
                <a:srgbClr val="002060"/>
              </a:solidFill>
              <a:latin typeface="Calibri"/>
              <a:ea typeface="Calibri"/>
              <a:cs typeface="Calibri"/>
              <a:sym typeface="Calibri"/>
            </a:endParaRPr>
          </a:p>
          <a:p>
            <a:pPr marL="365125" marR="0" lvl="0" indent="-365125" algn="l" rtl="0">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Mahasiswa </a:t>
            </a:r>
            <a:r>
              <a:rPr lang="en-US" sz="2800" b="1">
                <a:solidFill>
                  <a:srgbClr val="002060"/>
                </a:solidFill>
                <a:latin typeface="Calibri"/>
                <a:ea typeface="Calibri"/>
                <a:cs typeface="Calibri"/>
                <a:sym typeface="Calibri"/>
              </a:rPr>
              <a:t>tidak tidur </a:t>
            </a:r>
            <a:r>
              <a:rPr lang="en-US" sz="2800">
                <a:solidFill>
                  <a:srgbClr val="002060"/>
                </a:solidFill>
                <a:latin typeface="Calibri"/>
                <a:ea typeface="Calibri"/>
                <a:cs typeface="Calibri"/>
                <a:sym typeface="Calibri"/>
              </a:rPr>
              <a:t>di kelas.</a:t>
            </a:r>
            <a:endParaRPr/>
          </a:p>
          <a:p>
            <a:pPr marL="365125" marR="0" lvl="0" indent="-365125" algn="l" rtl="0">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Mahasiswa </a:t>
            </a:r>
            <a:r>
              <a:rPr lang="en-US" sz="2800" b="1">
                <a:solidFill>
                  <a:srgbClr val="002060"/>
                </a:solidFill>
                <a:latin typeface="Calibri"/>
                <a:ea typeface="Calibri"/>
                <a:cs typeface="Calibri"/>
                <a:sym typeface="Calibri"/>
              </a:rPr>
              <a:t>tidak melakukan kegiatan makan </a:t>
            </a:r>
            <a:r>
              <a:rPr lang="en-US" sz="2800">
                <a:solidFill>
                  <a:srgbClr val="002060"/>
                </a:solidFill>
                <a:latin typeface="Calibri"/>
                <a:ea typeface="Calibri"/>
                <a:cs typeface="Calibri"/>
                <a:sym typeface="Calibri"/>
              </a:rPr>
              <a:t>selama dosen. menyampaikan materi kecuali telah dipersilakan oleh dosen.</a:t>
            </a:r>
            <a:endParaRPr/>
          </a:p>
          <a:p>
            <a:pPr marL="365125" marR="0" lvl="0" indent="-365125" algn="l" rtl="0">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Mahasiswa </a:t>
            </a:r>
            <a:r>
              <a:rPr lang="en-US" sz="2800" b="1">
                <a:solidFill>
                  <a:srgbClr val="002060"/>
                </a:solidFill>
                <a:latin typeface="Calibri"/>
                <a:ea typeface="Calibri"/>
                <a:cs typeface="Calibri"/>
                <a:sym typeface="Calibri"/>
              </a:rPr>
              <a:t>tidak berbuat gaduh </a:t>
            </a:r>
            <a:r>
              <a:rPr lang="en-US" sz="2800">
                <a:solidFill>
                  <a:srgbClr val="002060"/>
                </a:solidFill>
                <a:latin typeface="Calibri"/>
                <a:ea typeface="Calibri"/>
                <a:cs typeface="Calibri"/>
                <a:sym typeface="Calibri"/>
              </a:rPr>
              <a:t>sehingga mengganggu mahasiswa lain.</a:t>
            </a:r>
            <a:endParaRPr/>
          </a:p>
          <a:p>
            <a:pPr marL="365125" marR="0" lvl="0" indent="-365125" algn="l" rtl="0">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Mahasiswa </a:t>
            </a:r>
            <a:r>
              <a:rPr lang="en-US" sz="2800" b="1">
                <a:solidFill>
                  <a:srgbClr val="002060"/>
                </a:solidFill>
                <a:latin typeface="Calibri"/>
                <a:ea typeface="Calibri"/>
                <a:cs typeface="Calibri"/>
                <a:sym typeface="Calibri"/>
              </a:rPr>
              <a:t>tidak membuka gadget atau laptop </a:t>
            </a:r>
            <a:r>
              <a:rPr lang="en-US" sz="2800">
                <a:solidFill>
                  <a:srgbClr val="002060"/>
                </a:solidFill>
                <a:latin typeface="Calibri"/>
                <a:ea typeface="Calibri"/>
                <a:cs typeface="Calibri"/>
                <a:sym typeface="Calibri"/>
              </a:rPr>
              <a:t>kecuali diizinkan dosen dan terkait materi pembelajaran yang disampaikan dosen.</a:t>
            </a:r>
            <a:endParaRPr/>
          </a:p>
          <a:p>
            <a:pPr marL="365125" marR="0" lvl="0" indent="-365125" algn="l" rtl="0">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Mahasiswa wajib meminta izin kepada dosen pengampu apabila meninggalkan tempat perkuliahan karena adanya suatu keperluan.</a:t>
            </a:r>
            <a:endParaRPr sz="2800">
              <a:solidFill>
                <a:srgbClr val="00206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pic>
        <p:nvPicPr>
          <p:cNvPr id="362" name="Google Shape;362;p15"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363" name="Google Shape;363;p15"/>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4" name="Google Shape;364;p15"/>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5" name="Google Shape;365;p15"/>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66" name="Google Shape;366;p15"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367" name="Google Shape;367;p15"/>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8" name="Google Shape;368;p15"/>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9" name="Google Shape;369;p15"/>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18</a:t>
            </a:fld>
            <a:endParaRPr sz="2400" b="1">
              <a:solidFill>
                <a:srgbClr val="1B449C"/>
              </a:solidFill>
            </a:endParaRPr>
          </a:p>
        </p:txBody>
      </p:sp>
      <p:sp>
        <p:nvSpPr>
          <p:cNvPr id="370" name="Google Shape;370;p15"/>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1" name="Google Shape;371;p15"/>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372" name="Google Shape;372;p15"/>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73" name="Google Shape;373;p15"/>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TATA TERTIB PERKULIAHAN</a:t>
            </a:r>
            <a:endParaRPr sz="3600" b="1">
              <a:solidFill>
                <a:schemeClr val="lt1"/>
              </a:solidFill>
              <a:latin typeface="Calibri"/>
              <a:ea typeface="Calibri"/>
              <a:cs typeface="Calibri"/>
              <a:sym typeface="Calibri"/>
            </a:endParaRPr>
          </a:p>
        </p:txBody>
      </p:sp>
      <p:sp>
        <p:nvSpPr>
          <p:cNvPr id="374" name="Google Shape;374;p15"/>
          <p:cNvSpPr txBox="1"/>
          <p:nvPr/>
        </p:nvSpPr>
        <p:spPr>
          <a:xfrm>
            <a:off x="307538" y="1117170"/>
            <a:ext cx="10371618" cy="5693866"/>
          </a:xfrm>
          <a:prstGeom prst="rect">
            <a:avLst/>
          </a:prstGeom>
          <a:noFill/>
          <a:ln>
            <a:noFill/>
          </a:ln>
        </p:spPr>
        <p:txBody>
          <a:bodyPr spcFirstLastPara="1" wrap="square" lIns="91425" tIns="45700" rIns="91425" bIns="45700" anchor="t" anchorCtr="0">
            <a:spAutoFit/>
          </a:bodyPr>
          <a:lstStyle/>
          <a:p>
            <a:pPr marL="528638" marR="0" lvl="0" indent="-528638" algn="just" rtl="0">
              <a:spcBef>
                <a:spcPts val="0"/>
              </a:spcBef>
              <a:spcAft>
                <a:spcPts val="0"/>
              </a:spcAft>
              <a:buClr>
                <a:srgbClr val="002060"/>
              </a:buClr>
              <a:buSzPts val="2800"/>
              <a:buFont typeface="Calibri"/>
              <a:buAutoNum type="arabicPeriod" startAt="9"/>
            </a:pPr>
            <a:r>
              <a:rPr lang="en-US" sz="2800">
                <a:solidFill>
                  <a:srgbClr val="002060"/>
                </a:solidFill>
                <a:latin typeface="Calibri"/>
                <a:ea typeface="Calibri"/>
                <a:cs typeface="Calibri"/>
                <a:sym typeface="Calibri"/>
              </a:rPr>
              <a:t>Dosen dapat memberi peringatan kepada mahasiswa yang dianggap mengganggu jalannya perkuliahan dan berhak mengeluarkan mahasiswa yang bersangkutan dari ruang kuliah apabila mahasiswa tetap mengganggu jalannya perkuliahan setelah diberikan peringatan.</a:t>
            </a:r>
            <a:endParaRPr/>
          </a:p>
          <a:p>
            <a:pPr marL="528638" marR="0" lvl="0" indent="-528638" algn="just" rtl="0">
              <a:spcBef>
                <a:spcPts val="0"/>
              </a:spcBef>
              <a:spcAft>
                <a:spcPts val="0"/>
              </a:spcAft>
              <a:buClr>
                <a:srgbClr val="002060"/>
              </a:buClr>
              <a:buSzPts val="2800"/>
              <a:buFont typeface="Calibri"/>
              <a:buAutoNum type="arabicPeriod" startAt="9"/>
            </a:pPr>
            <a:r>
              <a:rPr lang="en-US" sz="2800">
                <a:solidFill>
                  <a:srgbClr val="002060"/>
                </a:solidFill>
                <a:latin typeface="Calibri"/>
                <a:ea typeface="Calibri"/>
                <a:cs typeface="Calibri"/>
                <a:sym typeface="Calibri"/>
              </a:rPr>
              <a:t>Mahasiswa yang berhalangan mengikuti perkuliahan karena sakit atau alasan yang sangat penting wajib menyampaikan surat ijin tidak mengikuti kuliah secara tertulis kepada dosen pengampu mata kuliah.</a:t>
            </a:r>
            <a:endParaRPr/>
          </a:p>
          <a:p>
            <a:pPr marL="528638" marR="0" lvl="0" indent="-528638" algn="just" rtl="0">
              <a:spcBef>
                <a:spcPts val="0"/>
              </a:spcBef>
              <a:spcAft>
                <a:spcPts val="0"/>
              </a:spcAft>
              <a:buClr>
                <a:srgbClr val="002060"/>
              </a:buClr>
              <a:buSzPts val="2800"/>
              <a:buFont typeface="Calibri"/>
              <a:buAutoNum type="arabicPeriod" startAt="9"/>
            </a:pPr>
            <a:r>
              <a:rPr lang="en-US" sz="2800">
                <a:solidFill>
                  <a:srgbClr val="002060"/>
                </a:solidFill>
                <a:latin typeface="Calibri"/>
                <a:ea typeface="Calibri"/>
                <a:cs typeface="Calibri"/>
                <a:sym typeface="Calibri"/>
              </a:rPr>
              <a:t>Surat beserta bukti pendukung disampaikan melalui Bagian Administrasi Akademik &amp; Kemahasiswaan (BAAK) selambat-lambatnya 1 (satu) minggu setelah masuk kuliah.</a:t>
            </a:r>
            <a:endParaRPr sz="2800">
              <a:solidFill>
                <a:srgbClr val="002060"/>
              </a:solidFill>
              <a:latin typeface="Calibri"/>
              <a:ea typeface="Calibri"/>
              <a:cs typeface="Calibri"/>
              <a:sym typeface="Calibri"/>
            </a:endParaRPr>
          </a:p>
          <a:p>
            <a:pPr marL="365125" marR="0" lvl="0" indent="-365125" algn="l" rtl="0">
              <a:spcBef>
                <a:spcPts val="0"/>
              </a:spcBef>
              <a:spcAft>
                <a:spcPts val="0"/>
              </a:spcAft>
              <a:buNone/>
            </a:pPr>
            <a:endParaRPr sz="2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pic>
        <p:nvPicPr>
          <p:cNvPr id="380" name="Google Shape;380;p16"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381" name="Google Shape;381;p16"/>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2" name="Google Shape;382;p16"/>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3" name="Google Shape;383;p16"/>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84" name="Google Shape;384;p16"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385" name="Google Shape;385;p16"/>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6" name="Google Shape;386;p16"/>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7" name="Google Shape;387;p16"/>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19</a:t>
            </a:fld>
            <a:endParaRPr sz="2400" b="1">
              <a:solidFill>
                <a:srgbClr val="1B449C"/>
              </a:solidFill>
            </a:endParaRPr>
          </a:p>
        </p:txBody>
      </p:sp>
      <p:sp>
        <p:nvSpPr>
          <p:cNvPr id="388" name="Google Shape;388;p16"/>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9" name="Google Shape;389;p16"/>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390" name="Google Shape;390;p16"/>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91" name="Google Shape;391;p16"/>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TATA TERTIB PERKULIAHAN</a:t>
            </a:r>
            <a:endParaRPr sz="3600" b="1">
              <a:solidFill>
                <a:schemeClr val="lt1"/>
              </a:solidFill>
              <a:latin typeface="Calibri"/>
              <a:ea typeface="Calibri"/>
              <a:cs typeface="Calibri"/>
              <a:sym typeface="Calibri"/>
            </a:endParaRPr>
          </a:p>
        </p:txBody>
      </p:sp>
      <p:sp>
        <p:nvSpPr>
          <p:cNvPr id="392" name="Google Shape;392;p16"/>
          <p:cNvSpPr txBox="1"/>
          <p:nvPr/>
        </p:nvSpPr>
        <p:spPr>
          <a:xfrm>
            <a:off x="629919" y="1280160"/>
            <a:ext cx="10049235" cy="3539430"/>
          </a:xfrm>
          <a:prstGeom prst="rect">
            <a:avLst/>
          </a:prstGeom>
          <a:noFill/>
          <a:ln>
            <a:noFill/>
          </a:ln>
        </p:spPr>
        <p:txBody>
          <a:bodyPr spcFirstLastPara="1" wrap="square" lIns="91425" tIns="45700" rIns="91425" bIns="45700" anchor="t" anchorCtr="0">
            <a:spAutoFit/>
          </a:bodyPr>
          <a:lstStyle/>
          <a:p>
            <a:pPr marL="447675" marR="0" lvl="0" indent="-447675" algn="just" rtl="0">
              <a:spcBef>
                <a:spcPts val="0"/>
              </a:spcBef>
              <a:spcAft>
                <a:spcPts val="0"/>
              </a:spcAft>
              <a:buNone/>
            </a:pPr>
            <a:r>
              <a:rPr lang="en-US" sz="2800">
                <a:solidFill>
                  <a:srgbClr val="002060"/>
                </a:solidFill>
                <a:latin typeface="Calibri"/>
                <a:ea typeface="Calibri"/>
                <a:cs typeface="Calibri"/>
                <a:sym typeface="Calibri"/>
              </a:rPr>
              <a:t>12.Mahasiswa dapat diberikan ijin tidak mengikuti kuliah (dispensasi) jika ditugaskan untuk mengikuti kegiatan kemahasiswaan di luar kampus yang membawa nama/mewakili Polstat STIS. Surat dispensasi ditandatangani oleh Wakil Direktur Bidang Kemahasiswaan.</a:t>
            </a:r>
            <a:endParaRPr sz="2800">
              <a:solidFill>
                <a:srgbClr val="002060"/>
              </a:solidFill>
              <a:latin typeface="Calibri"/>
              <a:ea typeface="Calibri"/>
              <a:cs typeface="Calibri"/>
              <a:sym typeface="Calibri"/>
            </a:endParaRPr>
          </a:p>
          <a:p>
            <a:pPr marL="528638" marR="0" lvl="0" indent="-528638" algn="l" rtl="0">
              <a:spcBef>
                <a:spcPts val="0"/>
              </a:spcBef>
              <a:spcAft>
                <a:spcPts val="0"/>
              </a:spcAft>
              <a:buNone/>
            </a:pPr>
            <a:r>
              <a:rPr lang="en-US" sz="2800">
                <a:solidFill>
                  <a:srgbClr val="002060"/>
                </a:solidFill>
                <a:latin typeface="Calibri"/>
                <a:ea typeface="Calibri"/>
                <a:cs typeface="Calibri"/>
                <a:sym typeface="Calibri"/>
              </a:rPr>
              <a:t>13. Mahasiswa wajib </a:t>
            </a:r>
            <a:r>
              <a:rPr lang="en-US" sz="2800" b="1">
                <a:solidFill>
                  <a:srgbClr val="002060"/>
                </a:solidFill>
                <a:latin typeface="Calibri"/>
                <a:ea typeface="Calibri"/>
                <a:cs typeface="Calibri"/>
                <a:sym typeface="Calibri"/>
              </a:rPr>
              <a:t>memperhatikan etika </a:t>
            </a:r>
            <a:r>
              <a:rPr lang="en-US" sz="2800">
                <a:solidFill>
                  <a:srgbClr val="002060"/>
                </a:solidFill>
                <a:latin typeface="Calibri"/>
                <a:ea typeface="Calibri"/>
                <a:cs typeface="Calibri"/>
                <a:sym typeface="Calibri"/>
              </a:rPr>
              <a:t>jika akan menghubungi dosen/tim dosen (pada hari dan jam kerja)</a:t>
            </a:r>
            <a:endParaRPr/>
          </a:p>
          <a:p>
            <a:pPr marL="365125" marR="0" lvl="0" indent="-365125" algn="l" rtl="0">
              <a:spcBef>
                <a:spcPts val="0"/>
              </a:spcBef>
              <a:spcAft>
                <a:spcPts val="0"/>
              </a:spcAft>
              <a:buNone/>
            </a:pPr>
            <a:endParaRPr sz="2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pic>
        <p:nvPicPr>
          <p:cNvPr id="398" name="Google Shape;398;p17"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399" name="Google Shape;399;p17"/>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0" name="Google Shape;400;p17"/>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1" name="Google Shape;401;p17"/>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02" name="Google Shape;402;p17"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403" name="Google Shape;403;p17"/>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4" name="Google Shape;404;p17"/>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5" name="Google Shape;405;p17"/>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20</a:t>
            </a:fld>
            <a:endParaRPr sz="2400" b="1">
              <a:solidFill>
                <a:srgbClr val="1B449C"/>
              </a:solidFill>
            </a:endParaRPr>
          </a:p>
        </p:txBody>
      </p:sp>
      <p:sp>
        <p:nvSpPr>
          <p:cNvPr id="406" name="Google Shape;406;p17"/>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7" name="Google Shape;407;p17"/>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408" name="Google Shape;408;p17"/>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09" name="Google Shape;409;p17"/>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TATA TERTIB UJIAN SEMESTER</a:t>
            </a:r>
            <a:endParaRPr sz="3600" b="1">
              <a:solidFill>
                <a:schemeClr val="lt1"/>
              </a:solidFill>
              <a:latin typeface="Calibri"/>
              <a:ea typeface="Calibri"/>
              <a:cs typeface="Calibri"/>
              <a:sym typeface="Calibri"/>
            </a:endParaRPr>
          </a:p>
        </p:txBody>
      </p:sp>
      <p:sp>
        <p:nvSpPr>
          <p:cNvPr id="410" name="Google Shape;410;p17"/>
          <p:cNvSpPr txBox="1"/>
          <p:nvPr/>
        </p:nvSpPr>
        <p:spPr>
          <a:xfrm>
            <a:off x="421043" y="1202225"/>
            <a:ext cx="10495640" cy="5262979"/>
          </a:xfrm>
          <a:prstGeom prst="rect">
            <a:avLst/>
          </a:prstGeom>
          <a:noFill/>
          <a:ln>
            <a:noFill/>
          </a:ln>
        </p:spPr>
        <p:txBody>
          <a:bodyPr spcFirstLastPara="1" wrap="square" lIns="91425" tIns="45700" rIns="91425" bIns="45700" anchor="t" anchorCtr="0">
            <a:spAutoFit/>
          </a:bodyPr>
          <a:lstStyle/>
          <a:p>
            <a:pPr marL="514350" marR="0" lvl="0" indent="-514350" algn="just" rtl="0">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Mahasiswa dapat mengikuti ujian pada suatu mata kuliah apabila persentase kehadiran pada setiap mid/semester </a:t>
            </a:r>
            <a:r>
              <a:rPr lang="en-US" sz="2800" b="1">
                <a:solidFill>
                  <a:srgbClr val="002060"/>
                </a:solidFill>
                <a:latin typeface="Calibri"/>
                <a:ea typeface="Calibri"/>
                <a:cs typeface="Calibri"/>
                <a:sym typeface="Calibri"/>
              </a:rPr>
              <a:t>sekurang-kurangnya 8O%</a:t>
            </a:r>
            <a:r>
              <a:rPr lang="en-US" sz="2800">
                <a:solidFill>
                  <a:srgbClr val="002060"/>
                </a:solidFill>
                <a:latin typeface="Calibri"/>
                <a:ea typeface="Calibri"/>
                <a:cs typeface="Calibri"/>
                <a:sym typeface="Calibri"/>
              </a:rPr>
              <a:t>.</a:t>
            </a:r>
            <a:endParaRPr sz="2800">
              <a:solidFill>
                <a:srgbClr val="002060"/>
              </a:solidFill>
              <a:latin typeface="Calibri"/>
              <a:ea typeface="Calibri"/>
              <a:cs typeface="Calibri"/>
              <a:sym typeface="Calibri"/>
            </a:endParaRPr>
          </a:p>
          <a:p>
            <a:pPr marL="514350" marR="0" lvl="0" indent="-514350" algn="l" rtl="0">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Ujian semester dilaksanakan </a:t>
            </a:r>
            <a:r>
              <a:rPr lang="en-US" sz="2800" b="1">
                <a:solidFill>
                  <a:srgbClr val="002060"/>
                </a:solidFill>
                <a:latin typeface="Calibri"/>
                <a:ea typeface="Calibri"/>
                <a:cs typeface="Calibri"/>
                <a:sym typeface="Calibri"/>
              </a:rPr>
              <a:t>di ruangan yang sudah ditentukan</a:t>
            </a:r>
            <a:endParaRPr sz="2800" b="1">
              <a:solidFill>
                <a:srgbClr val="002060"/>
              </a:solidFill>
              <a:latin typeface="Calibri"/>
              <a:ea typeface="Calibri"/>
              <a:cs typeface="Calibri"/>
              <a:sym typeface="Calibri"/>
            </a:endParaRPr>
          </a:p>
          <a:p>
            <a:pPr marL="514350" marR="0" lvl="0" indent="-514350" algn="l" rtl="0">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Peserta ujian hadir </a:t>
            </a:r>
            <a:r>
              <a:rPr lang="en-US" sz="2800" b="1">
                <a:solidFill>
                  <a:srgbClr val="002060"/>
                </a:solidFill>
                <a:latin typeface="Calibri"/>
                <a:ea typeface="Calibri"/>
                <a:cs typeface="Calibri"/>
                <a:sym typeface="Calibri"/>
              </a:rPr>
              <a:t>minimal 10 menit sebelum ujian </a:t>
            </a:r>
            <a:r>
              <a:rPr lang="en-US" sz="2800">
                <a:solidFill>
                  <a:srgbClr val="002060"/>
                </a:solidFill>
                <a:latin typeface="Calibri"/>
                <a:ea typeface="Calibri"/>
                <a:cs typeface="Calibri"/>
                <a:sym typeface="Calibri"/>
              </a:rPr>
              <a:t>semester berlangsung</a:t>
            </a:r>
            <a:endParaRPr sz="2800">
              <a:solidFill>
                <a:srgbClr val="002060"/>
              </a:solidFill>
              <a:latin typeface="Calibri"/>
              <a:ea typeface="Calibri"/>
              <a:cs typeface="Calibri"/>
              <a:sym typeface="Calibri"/>
            </a:endParaRPr>
          </a:p>
          <a:p>
            <a:pPr marL="514350" marR="0" lvl="0" indent="-514350" algn="l" rtl="0">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Peserta ujian yang datang terlambat </a:t>
            </a:r>
            <a:r>
              <a:rPr lang="en-US" sz="2800" b="1">
                <a:solidFill>
                  <a:srgbClr val="002060"/>
                </a:solidFill>
                <a:latin typeface="Calibri"/>
                <a:ea typeface="Calibri"/>
                <a:cs typeface="Calibri"/>
                <a:sym typeface="Calibri"/>
              </a:rPr>
              <a:t>tidak diberikan perpanjangan waktu</a:t>
            </a:r>
            <a:endParaRPr sz="2800" b="1">
              <a:solidFill>
                <a:srgbClr val="002060"/>
              </a:solidFill>
              <a:latin typeface="Calibri"/>
              <a:ea typeface="Calibri"/>
              <a:cs typeface="Calibri"/>
              <a:sym typeface="Calibri"/>
            </a:endParaRPr>
          </a:p>
          <a:p>
            <a:pPr marL="514350" marR="0" lvl="0" indent="-514350" algn="l" rtl="0">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Peserta </a:t>
            </a:r>
            <a:r>
              <a:rPr lang="en-US" sz="2800" b="1">
                <a:solidFill>
                  <a:srgbClr val="002060"/>
                </a:solidFill>
                <a:latin typeface="Calibri"/>
                <a:ea typeface="Calibri"/>
                <a:cs typeface="Calibri"/>
                <a:sym typeface="Calibri"/>
              </a:rPr>
              <a:t>wajib mengisi dan menandatangani daftar hadir </a:t>
            </a:r>
            <a:r>
              <a:rPr lang="en-US" sz="2800">
                <a:solidFill>
                  <a:srgbClr val="002060"/>
                </a:solidFill>
                <a:latin typeface="Calibri"/>
                <a:ea typeface="Calibri"/>
                <a:cs typeface="Calibri"/>
                <a:sym typeface="Calibri"/>
              </a:rPr>
              <a:t>ujian</a:t>
            </a:r>
            <a:endParaRPr sz="2800">
              <a:solidFill>
                <a:srgbClr val="002060"/>
              </a:solidFill>
              <a:latin typeface="Calibri"/>
              <a:ea typeface="Calibri"/>
              <a:cs typeface="Calibri"/>
              <a:sym typeface="Calibri"/>
            </a:endParaRPr>
          </a:p>
          <a:p>
            <a:pPr marL="514350" marR="0" lvl="0" indent="-514350" algn="l" rtl="0">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Peserta wajib </a:t>
            </a:r>
            <a:r>
              <a:rPr lang="en-US" sz="2800" b="1">
                <a:solidFill>
                  <a:srgbClr val="002060"/>
                </a:solidFill>
                <a:latin typeface="Calibri"/>
                <a:ea typeface="Calibri"/>
                <a:cs typeface="Calibri"/>
                <a:sym typeface="Calibri"/>
              </a:rPr>
              <a:t>mematikan HP </a:t>
            </a:r>
            <a:r>
              <a:rPr lang="en-US" sz="2800">
                <a:solidFill>
                  <a:srgbClr val="002060"/>
                </a:solidFill>
                <a:latin typeface="Calibri"/>
                <a:ea typeface="Calibri"/>
                <a:cs typeface="Calibri"/>
                <a:sym typeface="Calibri"/>
              </a:rPr>
              <a:t>dan alat komunikasi lainnya</a:t>
            </a:r>
            <a:endParaRPr sz="2800">
              <a:solidFill>
                <a:srgbClr val="002060"/>
              </a:solidFill>
              <a:latin typeface="Calibri"/>
              <a:ea typeface="Calibri"/>
              <a:cs typeface="Calibri"/>
              <a:sym typeface="Calibri"/>
            </a:endParaRPr>
          </a:p>
          <a:p>
            <a:pPr marL="514350" marR="0" lvl="0" indent="-514350" algn="l" rtl="0">
              <a:spcBef>
                <a:spcPts val="0"/>
              </a:spcBef>
              <a:spcAft>
                <a:spcPts val="0"/>
              </a:spcAft>
              <a:buClr>
                <a:srgbClr val="002060"/>
              </a:buClr>
              <a:buSzPts val="2800"/>
              <a:buFont typeface="Calibri"/>
              <a:buAutoNum type="arabicPeriod"/>
            </a:pPr>
            <a:r>
              <a:rPr lang="en-US" sz="2800">
                <a:solidFill>
                  <a:srgbClr val="002060"/>
                </a:solidFill>
                <a:latin typeface="Calibri"/>
                <a:ea typeface="Calibri"/>
                <a:cs typeface="Calibri"/>
                <a:sym typeface="Calibri"/>
              </a:rPr>
              <a:t>Selama ujian semester berlangsung, peserta ujian </a:t>
            </a:r>
            <a:r>
              <a:rPr lang="en-US" sz="2800" b="1">
                <a:solidFill>
                  <a:srgbClr val="002060"/>
                </a:solidFill>
                <a:latin typeface="Calibri"/>
                <a:ea typeface="Calibri"/>
                <a:cs typeface="Calibri"/>
                <a:sym typeface="Calibri"/>
              </a:rPr>
              <a:t>dilarang</a:t>
            </a:r>
            <a:r>
              <a:rPr lang="en-US" sz="2800">
                <a:solidFill>
                  <a:srgbClr val="002060"/>
                </a:solidFill>
                <a:latin typeface="Calibri"/>
                <a:ea typeface="Calibri"/>
                <a:cs typeface="Calibri"/>
                <a:sym typeface="Calibri"/>
              </a:rPr>
              <a:t> </a:t>
            </a:r>
            <a:r>
              <a:rPr lang="en-US" sz="2800" b="1">
                <a:solidFill>
                  <a:srgbClr val="002060"/>
                </a:solidFill>
                <a:latin typeface="Calibri"/>
                <a:ea typeface="Calibri"/>
                <a:cs typeface="Calibri"/>
                <a:sym typeface="Calibri"/>
              </a:rPr>
              <a:t>makan, minum, merokok di dalam ruang ujian.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pic>
        <p:nvPicPr>
          <p:cNvPr id="416" name="Google Shape;416;p18"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417" name="Google Shape;417;p18"/>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8" name="Google Shape;418;p18"/>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9" name="Google Shape;419;p18"/>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20" name="Google Shape;420;p18"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421" name="Google Shape;421;p18"/>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2" name="Google Shape;422;p18"/>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3" name="Google Shape;423;p18"/>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21</a:t>
            </a:fld>
            <a:endParaRPr sz="2400" b="1">
              <a:solidFill>
                <a:srgbClr val="1B449C"/>
              </a:solidFill>
            </a:endParaRPr>
          </a:p>
        </p:txBody>
      </p:sp>
      <p:sp>
        <p:nvSpPr>
          <p:cNvPr id="424" name="Google Shape;424;p18"/>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5" name="Google Shape;425;p18"/>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426" name="Google Shape;426;p18"/>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27" name="Google Shape;427;p18"/>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TATA TERTIB UJIAN SEMESTER</a:t>
            </a:r>
            <a:endParaRPr sz="3600" b="1">
              <a:solidFill>
                <a:schemeClr val="lt1"/>
              </a:solidFill>
              <a:latin typeface="Calibri"/>
              <a:ea typeface="Calibri"/>
              <a:cs typeface="Calibri"/>
              <a:sym typeface="Calibri"/>
            </a:endParaRPr>
          </a:p>
        </p:txBody>
      </p:sp>
      <p:sp>
        <p:nvSpPr>
          <p:cNvPr id="428" name="Google Shape;428;p18"/>
          <p:cNvSpPr txBox="1"/>
          <p:nvPr/>
        </p:nvSpPr>
        <p:spPr>
          <a:xfrm>
            <a:off x="116142" y="846457"/>
            <a:ext cx="9909252" cy="6124754"/>
          </a:xfrm>
          <a:prstGeom prst="rect">
            <a:avLst/>
          </a:prstGeom>
          <a:noFill/>
          <a:ln>
            <a:noFill/>
          </a:ln>
        </p:spPr>
        <p:txBody>
          <a:bodyPr spcFirstLastPara="1" wrap="square" lIns="91425" tIns="45700" rIns="91425" bIns="45700" anchor="t" anchorCtr="0">
            <a:spAutoFit/>
          </a:bodyPr>
          <a:lstStyle/>
          <a:p>
            <a:pPr marL="447675" marR="0" lvl="0" indent="-447675" algn="just" rtl="0">
              <a:spcBef>
                <a:spcPts val="0"/>
              </a:spcBef>
              <a:spcAft>
                <a:spcPts val="0"/>
              </a:spcAft>
              <a:buNone/>
            </a:pPr>
            <a:r>
              <a:rPr lang="en-US" sz="2800">
                <a:solidFill>
                  <a:srgbClr val="002060"/>
                </a:solidFill>
                <a:latin typeface="Calibri"/>
                <a:ea typeface="Calibri"/>
                <a:cs typeface="Calibri"/>
                <a:sym typeface="Calibri"/>
              </a:rPr>
              <a:t>8. Segala sesuatu yang tidak jelas selama ujian </a:t>
            </a:r>
            <a:r>
              <a:rPr lang="en-US" sz="2800" b="1">
                <a:solidFill>
                  <a:srgbClr val="002060"/>
                </a:solidFill>
                <a:latin typeface="Calibri"/>
                <a:ea typeface="Calibri"/>
                <a:cs typeface="Calibri"/>
                <a:sym typeface="Calibri"/>
              </a:rPr>
              <a:t>hanya dapat ditanyakan kepada pengawas ujian.</a:t>
            </a:r>
            <a:endParaRPr/>
          </a:p>
          <a:p>
            <a:pPr marL="447675" marR="0" lvl="0" indent="-447675" algn="just" rtl="0">
              <a:spcBef>
                <a:spcPts val="0"/>
              </a:spcBef>
              <a:spcAft>
                <a:spcPts val="0"/>
              </a:spcAft>
              <a:buNone/>
            </a:pPr>
            <a:r>
              <a:rPr lang="en-US" sz="2800">
                <a:solidFill>
                  <a:srgbClr val="002060"/>
                </a:solidFill>
                <a:latin typeface="Calibri"/>
                <a:ea typeface="Calibri"/>
                <a:cs typeface="Calibri"/>
                <a:sym typeface="Calibri"/>
              </a:rPr>
              <a:t>9.  Apabila mahasiswa terbukti melakukan pelanggaran tata tertib maka akan dikenakan sanksi akademik sesuai peraturan yang berlaku.</a:t>
            </a:r>
            <a:endParaRPr/>
          </a:p>
          <a:p>
            <a:pPr marL="627063" marR="0" lvl="0" indent="-627063" algn="just" rtl="0">
              <a:spcBef>
                <a:spcPts val="0"/>
              </a:spcBef>
              <a:spcAft>
                <a:spcPts val="0"/>
              </a:spcAft>
              <a:buNone/>
            </a:pPr>
            <a:r>
              <a:rPr lang="en-US" sz="2800">
                <a:solidFill>
                  <a:srgbClr val="002060"/>
                </a:solidFill>
                <a:latin typeface="Calibri"/>
                <a:ea typeface="Calibri"/>
                <a:cs typeface="Calibri"/>
                <a:sym typeface="Calibri"/>
              </a:rPr>
              <a:t>10. Ujian susulan dapat diberikan pada mahasiswa yang tidak dapat mengikuti ujian pada waktu yang telah ditetapkan karena alasan: </a:t>
            </a:r>
            <a:endParaRPr sz="2800">
              <a:solidFill>
                <a:srgbClr val="002060"/>
              </a:solidFill>
              <a:latin typeface="Calibri"/>
              <a:ea typeface="Calibri"/>
              <a:cs typeface="Calibri"/>
              <a:sym typeface="Calibri"/>
            </a:endParaRPr>
          </a:p>
          <a:p>
            <a:pPr marL="900113" marR="0" lvl="0" indent="-273050" algn="just" rtl="0">
              <a:spcBef>
                <a:spcPts val="0"/>
              </a:spcBef>
              <a:spcAft>
                <a:spcPts val="0"/>
              </a:spcAft>
              <a:buClr>
                <a:srgbClr val="002060"/>
              </a:buClr>
              <a:buSzPts val="2800"/>
              <a:buFont typeface="Calibri"/>
              <a:buAutoNum type="alphaLcPeriod"/>
            </a:pPr>
            <a:r>
              <a:rPr lang="en-US" sz="2800">
                <a:solidFill>
                  <a:srgbClr val="002060"/>
                </a:solidFill>
                <a:latin typeface="Calibri"/>
                <a:ea typeface="Calibri"/>
                <a:cs typeface="Calibri"/>
                <a:sym typeface="Calibri"/>
              </a:rPr>
              <a:t> Sakit rawat inap atau rawat jalan; dan </a:t>
            </a:r>
            <a:endParaRPr sz="2800">
              <a:solidFill>
                <a:srgbClr val="002060"/>
              </a:solidFill>
              <a:latin typeface="Calibri"/>
              <a:ea typeface="Calibri"/>
              <a:cs typeface="Calibri"/>
              <a:sym typeface="Calibri"/>
            </a:endParaRPr>
          </a:p>
          <a:p>
            <a:pPr marL="982663" marR="0" lvl="0" indent="-355600" algn="just" rtl="0">
              <a:spcBef>
                <a:spcPts val="0"/>
              </a:spcBef>
              <a:spcAft>
                <a:spcPts val="0"/>
              </a:spcAft>
              <a:buClr>
                <a:srgbClr val="002060"/>
              </a:buClr>
              <a:buSzPts val="2800"/>
              <a:buFont typeface="Calibri"/>
              <a:buAutoNum type="alphaLcPeriod"/>
            </a:pPr>
            <a:r>
              <a:rPr lang="en-US" sz="2800">
                <a:solidFill>
                  <a:srgbClr val="002060"/>
                </a:solidFill>
                <a:latin typeface="Calibri"/>
                <a:ea typeface="Calibri"/>
                <a:cs typeface="Calibri"/>
                <a:sym typeface="Calibri"/>
              </a:rPr>
              <a:t>Mengalami musibah yang melibatkan yang bersangkutan dan/atau keluarga dekat (orang tua dan saudara kandung).</a:t>
            </a:r>
            <a:endParaRPr sz="2800">
              <a:solidFill>
                <a:srgbClr val="002060"/>
              </a:solidFill>
              <a:latin typeface="Calibri"/>
              <a:ea typeface="Calibri"/>
              <a:cs typeface="Calibri"/>
              <a:sym typeface="Calibri"/>
            </a:endParaRPr>
          </a:p>
          <a:p>
            <a:pPr marL="627063" marR="0" lvl="0" indent="-627063" algn="just" rtl="0">
              <a:spcBef>
                <a:spcPts val="0"/>
              </a:spcBef>
              <a:spcAft>
                <a:spcPts val="0"/>
              </a:spcAft>
              <a:buNone/>
            </a:pPr>
            <a:r>
              <a:rPr lang="en-US" sz="2800">
                <a:solidFill>
                  <a:srgbClr val="002060"/>
                </a:solidFill>
                <a:latin typeface="Calibri"/>
                <a:ea typeface="Calibri"/>
                <a:cs typeface="Calibri"/>
                <a:sym typeface="Calibri"/>
              </a:rPr>
              <a:t>11. Surat ijin untuk mengikuti ujian susulan diberikan oleh pejabat yang berwenang di BAAK setelah mempertimbangkan bukti-bukti pendukung pada poin 10. </a:t>
            </a:r>
            <a:endParaRPr sz="2800" b="1">
              <a:solidFill>
                <a:srgbClr val="00206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pic>
        <p:nvPicPr>
          <p:cNvPr id="434" name="Google Shape;434;p19"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435" name="Google Shape;435;p19"/>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6" name="Google Shape;436;p19"/>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7" name="Google Shape;437;p19"/>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38" name="Google Shape;438;p19"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439" name="Google Shape;439;p19"/>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0" name="Google Shape;440;p19"/>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1" name="Google Shape;441;p19"/>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22</a:t>
            </a:fld>
            <a:endParaRPr sz="2400" b="1">
              <a:solidFill>
                <a:srgbClr val="1B449C"/>
              </a:solidFill>
            </a:endParaRPr>
          </a:p>
        </p:txBody>
      </p:sp>
      <p:sp>
        <p:nvSpPr>
          <p:cNvPr id="442" name="Google Shape;442;p19"/>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3" name="Google Shape;443;p19"/>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444" name="Google Shape;444;p19"/>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45" name="Google Shape;445;p19"/>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EVALUASI HASIL BELAJAR</a:t>
            </a:r>
            <a:endParaRPr sz="3600" b="1">
              <a:solidFill>
                <a:schemeClr val="lt1"/>
              </a:solidFill>
              <a:latin typeface="Calibri"/>
              <a:ea typeface="Calibri"/>
              <a:cs typeface="Calibri"/>
              <a:sym typeface="Calibri"/>
            </a:endParaRPr>
          </a:p>
        </p:txBody>
      </p:sp>
      <p:pic>
        <p:nvPicPr>
          <p:cNvPr id="446" name="Google Shape;446;p19"/>
          <p:cNvPicPr preferRelativeResize="0"/>
          <p:nvPr/>
        </p:nvPicPr>
        <p:blipFill rotWithShape="1">
          <a:blip r:embed="rId5">
            <a:alphaModFix/>
          </a:blip>
          <a:srcRect/>
          <a:stretch/>
        </p:blipFill>
        <p:spPr>
          <a:xfrm>
            <a:off x="647864" y="1941199"/>
            <a:ext cx="9368582" cy="4368496"/>
          </a:xfrm>
          <a:prstGeom prst="rect">
            <a:avLst/>
          </a:prstGeom>
          <a:noFill/>
          <a:ln>
            <a:noFill/>
          </a:ln>
        </p:spPr>
      </p:pic>
      <p:sp>
        <p:nvSpPr>
          <p:cNvPr id="447" name="Google Shape;447;p19"/>
          <p:cNvSpPr txBox="1"/>
          <p:nvPr/>
        </p:nvSpPr>
        <p:spPr>
          <a:xfrm>
            <a:off x="250627" y="975591"/>
            <a:ext cx="11219278" cy="954107"/>
          </a:xfrm>
          <a:prstGeom prst="rect">
            <a:avLst/>
          </a:prstGeom>
          <a:noFill/>
          <a:ln>
            <a:noFill/>
          </a:ln>
        </p:spPr>
        <p:txBody>
          <a:bodyPr spcFirstLastPara="1" wrap="square" lIns="91425" tIns="45700" rIns="91425" bIns="45700" anchor="t" anchorCtr="0">
            <a:spAutoFit/>
          </a:bodyPr>
          <a:lstStyle/>
          <a:p>
            <a:pPr marL="365125" marR="0" lvl="0" indent="-365125" algn="l" rtl="0">
              <a:spcBef>
                <a:spcPts val="0"/>
              </a:spcBef>
              <a:spcAft>
                <a:spcPts val="0"/>
              </a:spcAft>
              <a:buNone/>
            </a:pPr>
            <a:r>
              <a:rPr lang="en-US" sz="2800">
                <a:solidFill>
                  <a:srgbClr val="002060"/>
                </a:solidFill>
                <a:latin typeface="Calibri"/>
                <a:ea typeface="Calibri"/>
                <a:cs typeface="Calibri"/>
                <a:sym typeface="Calibri"/>
              </a:rPr>
              <a:t>1. Rentang Nilai, Nilai Mutu serta Bobot dalam Penilaian Hasil Belajar Mahasiswa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pic>
        <p:nvPicPr>
          <p:cNvPr id="453" name="Google Shape;453;p20"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454" name="Google Shape;454;p20"/>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5" name="Google Shape;455;p20"/>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6" name="Google Shape;456;p20"/>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57" name="Google Shape;457;p20"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458" name="Google Shape;458;p20"/>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9" name="Google Shape;459;p20"/>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0" name="Google Shape;460;p20"/>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23</a:t>
            </a:fld>
            <a:endParaRPr sz="2400" b="1">
              <a:solidFill>
                <a:srgbClr val="1B449C"/>
              </a:solidFill>
            </a:endParaRPr>
          </a:p>
        </p:txBody>
      </p:sp>
      <p:sp>
        <p:nvSpPr>
          <p:cNvPr id="461" name="Google Shape;461;p20"/>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2" name="Google Shape;462;p20"/>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463" name="Google Shape;463;p20"/>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64" name="Google Shape;464;p20"/>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EVALUASI HASIL BELAJAR</a:t>
            </a:r>
            <a:endParaRPr sz="3600" b="1">
              <a:solidFill>
                <a:schemeClr val="lt1"/>
              </a:solidFill>
              <a:latin typeface="Calibri"/>
              <a:ea typeface="Calibri"/>
              <a:cs typeface="Calibri"/>
              <a:sym typeface="Calibri"/>
            </a:endParaRPr>
          </a:p>
        </p:txBody>
      </p:sp>
      <p:sp>
        <p:nvSpPr>
          <p:cNvPr id="465" name="Google Shape;465;p20"/>
          <p:cNvSpPr txBox="1"/>
          <p:nvPr/>
        </p:nvSpPr>
        <p:spPr>
          <a:xfrm>
            <a:off x="605411" y="1259840"/>
            <a:ext cx="10073700" cy="3540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002060"/>
                </a:solidFill>
                <a:latin typeface="Calibri"/>
                <a:ea typeface="Calibri"/>
                <a:cs typeface="Calibri"/>
                <a:sym typeface="Calibri"/>
              </a:rPr>
              <a:t>2. Ketentuan untuk dapat melanjutkan ke semester berikutnya: </a:t>
            </a:r>
            <a:endParaRPr sz="2800">
              <a:solidFill>
                <a:srgbClr val="002060"/>
              </a:solidFill>
              <a:latin typeface="Calibri"/>
              <a:ea typeface="Calibri"/>
              <a:cs typeface="Calibri"/>
              <a:sym typeface="Calibri"/>
            </a:endParaRPr>
          </a:p>
          <a:p>
            <a:pPr marL="812800" marR="0" lvl="0" indent="-365125" algn="l" rtl="0">
              <a:spcBef>
                <a:spcPts val="0"/>
              </a:spcBef>
              <a:spcAft>
                <a:spcPts val="0"/>
              </a:spcAft>
              <a:buClr>
                <a:srgbClr val="002060"/>
              </a:buClr>
              <a:buSzPts val="2800"/>
              <a:buFont typeface="Calibri"/>
              <a:buAutoNum type="alphaLcPeriod"/>
            </a:pPr>
            <a:r>
              <a:rPr lang="en-US" sz="2800">
                <a:solidFill>
                  <a:srgbClr val="002060"/>
                </a:solidFill>
                <a:latin typeface="Calibri"/>
                <a:ea typeface="Calibri"/>
                <a:cs typeface="Calibri"/>
                <a:sym typeface="Calibri"/>
              </a:rPr>
              <a:t>memiliki nilai IPK sekurang-kurangnya 2,50 </a:t>
            </a:r>
            <a:endParaRPr sz="2800">
              <a:solidFill>
                <a:srgbClr val="002060"/>
              </a:solidFill>
              <a:latin typeface="Calibri"/>
              <a:ea typeface="Calibri"/>
              <a:cs typeface="Calibri"/>
              <a:sym typeface="Calibri"/>
            </a:endParaRPr>
          </a:p>
          <a:p>
            <a:pPr marL="812800" marR="0" lvl="0" indent="-365125" algn="l" rtl="0">
              <a:spcBef>
                <a:spcPts val="0"/>
              </a:spcBef>
              <a:spcAft>
                <a:spcPts val="0"/>
              </a:spcAft>
              <a:buClr>
                <a:srgbClr val="002060"/>
              </a:buClr>
              <a:buSzPts val="2800"/>
              <a:buFont typeface="Calibri"/>
              <a:buAutoNum type="alphaLcPeriod"/>
            </a:pPr>
            <a:r>
              <a:rPr lang="en-US" sz="2800">
                <a:solidFill>
                  <a:srgbClr val="002060"/>
                </a:solidFill>
                <a:latin typeface="Calibri"/>
                <a:ea typeface="Calibri"/>
                <a:cs typeface="Calibri"/>
                <a:sym typeface="Calibri"/>
              </a:rPr>
              <a:t>tidak memiliki nilai E pada mata kuliah/kegiatan akademik terstruktur yang diikuti</a:t>
            </a:r>
            <a:endParaRPr sz="2800">
              <a:solidFill>
                <a:srgbClr val="002060"/>
              </a:solidFill>
              <a:latin typeface="Calibri"/>
              <a:ea typeface="Calibri"/>
              <a:cs typeface="Calibri"/>
              <a:sym typeface="Calibri"/>
            </a:endParaRPr>
          </a:p>
          <a:p>
            <a:pPr marL="812800" marR="0" lvl="0" indent="-365125" algn="l" rtl="0">
              <a:spcBef>
                <a:spcPts val="0"/>
              </a:spcBef>
              <a:spcAft>
                <a:spcPts val="0"/>
              </a:spcAft>
              <a:buClr>
                <a:srgbClr val="002060"/>
              </a:buClr>
              <a:buSzPts val="2800"/>
              <a:buFont typeface="Calibri"/>
              <a:buAutoNum type="alphaLcPeriod"/>
            </a:pPr>
            <a:r>
              <a:rPr lang="en-US" sz="2800">
                <a:solidFill>
                  <a:srgbClr val="002060"/>
                </a:solidFill>
                <a:latin typeface="Calibri"/>
                <a:ea typeface="Calibri"/>
                <a:cs typeface="Calibri"/>
                <a:sym typeface="Calibri"/>
              </a:rPr>
              <a:t>memiliki nilai sekurang-kurangnya C untuk mata kuliah Wajib Umum</a:t>
            </a:r>
            <a:endParaRPr sz="2800">
              <a:solidFill>
                <a:srgbClr val="002060"/>
              </a:solidFill>
              <a:latin typeface="Calibri"/>
              <a:ea typeface="Calibri"/>
              <a:cs typeface="Calibri"/>
              <a:sym typeface="Calibri"/>
            </a:endParaRPr>
          </a:p>
          <a:p>
            <a:pPr marL="812800" marR="0" lvl="0" indent="-365125" algn="l" rtl="0">
              <a:spcBef>
                <a:spcPts val="0"/>
              </a:spcBef>
              <a:spcAft>
                <a:spcPts val="0"/>
              </a:spcAft>
              <a:buClr>
                <a:srgbClr val="002060"/>
              </a:buClr>
              <a:buSzPts val="2800"/>
              <a:buFont typeface="Calibri"/>
              <a:buAutoNum type="alphaLcPeriod"/>
            </a:pPr>
            <a:r>
              <a:rPr lang="en-US" sz="2800">
                <a:solidFill>
                  <a:srgbClr val="002060"/>
                </a:solidFill>
                <a:latin typeface="Calibri"/>
                <a:ea typeface="Calibri"/>
                <a:cs typeface="Calibri"/>
                <a:sym typeface="Calibri"/>
              </a:rPr>
              <a:t>memiliki skor pelanggaran non akademik tidak melebihi batas yang ditetapkan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pic>
        <p:nvPicPr>
          <p:cNvPr id="471" name="Google Shape;471;p21"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472" name="Google Shape;472;p21"/>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3" name="Google Shape;473;p21"/>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4" name="Google Shape;474;p21"/>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75" name="Google Shape;475;p21"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476" name="Google Shape;476;p21"/>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7" name="Google Shape;477;p21"/>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8" name="Google Shape;478;p21"/>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24</a:t>
            </a:fld>
            <a:endParaRPr sz="2400" b="1">
              <a:solidFill>
                <a:srgbClr val="1B449C"/>
              </a:solidFill>
            </a:endParaRPr>
          </a:p>
        </p:txBody>
      </p:sp>
      <p:sp>
        <p:nvSpPr>
          <p:cNvPr id="479" name="Google Shape;479;p21"/>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0" name="Google Shape;480;p21"/>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481" name="Google Shape;481;p21"/>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82" name="Google Shape;482;p21"/>
          <p:cNvSpPr txBox="1"/>
          <p:nvPr/>
        </p:nvSpPr>
        <p:spPr>
          <a:xfrm>
            <a:off x="993886" y="95251"/>
            <a:ext cx="66697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EVALUASI HASIL BELAJAR</a:t>
            </a:r>
            <a:endParaRPr sz="3600" b="1">
              <a:solidFill>
                <a:schemeClr val="lt1"/>
              </a:solidFill>
              <a:latin typeface="Calibri"/>
              <a:ea typeface="Calibri"/>
              <a:cs typeface="Calibri"/>
              <a:sym typeface="Calibri"/>
            </a:endParaRPr>
          </a:p>
        </p:txBody>
      </p:sp>
      <p:sp>
        <p:nvSpPr>
          <p:cNvPr id="483" name="Google Shape;483;p21"/>
          <p:cNvSpPr txBox="1"/>
          <p:nvPr/>
        </p:nvSpPr>
        <p:spPr>
          <a:xfrm>
            <a:off x="417245" y="1131310"/>
            <a:ext cx="10073744" cy="5262979"/>
          </a:xfrm>
          <a:prstGeom prst="rect">
            <a:avLst/>
          </a:prstGeom>
          <a:noFill/>
          <a:ln>
            <a:noFill/>
          </a:ln>
        </p:spPr>
        <p:txBody>
          <a:bodyPr spcFirstLastPara="1" wrap="square" lIns="91425" tIns="45700" rIns="91425" bIns="45700" anchor="t" anchorCtr="0">
            <a:spAutoFit/>
          </a:bodyPr>
          <a:lstStyle/>
          <a:p>
            <a:pPr marL="365125" marR="0" lvl="0" indent="-365125" algn="just" rtl="0">
              <a:spcBef>
                <a:spcPts val="0"/>
              </a:spcBef>
              <a:spcAft>
                <a:spcPts val="0"/>
              </a:spcAft>
              <a:buNone/>
            </a:pPr>
            <a:r>
              <a:rPr lang="en-US" sz="2800">
                <a:solidFill>
                  <a:srgbClr val="002060"/>
                </a:solidFill>
                <a:latin typeface="Calibri"/>
                <a:ea typeface="Calibri"/>
                <a:cs typeface="Calibri"/>
                <a:sym typeface="Calibri"/>
              </a:rPr>
              <a:t>3. Jika seorang mahasiswa telah memenuhi syarat sebagaimana ketentuan pada poin 2 akan tetapi terdapat mata kuliah wajib prodi yang bernilai D/D+, maka mahasiswa yang bersangkutan dapat melanjutkan studi pada semester berikutnya dengan syarat: </a:t>
            </a:r>
            <a:endParaRPr sz="2800">
              <a:solidFill>
                <a:srgbClr val="002060"/>
              </a:solidFill>
              <a:latin typeface="Calibri"/>
              <a:ea typeface="Calibri"/>
              <a:cs typeface="Calibri"/>
              <a:sym typeface="Calibri"/>
            </a:endParaRPr>
          </a:p>
          <a:p>
            <a:pPr marL="879475" marR="0" lvl="0" indent="-514350" algn="just" rtl="0">
              <a:spcBef>
                <a:spcPts val="0"/>
              </a:spcBef>
              <a:spcAft>
                <a:spcPts val="0"/>
              </a:spcAft>
              <a:buClr>
                <a:srgbClr val="002060"/>
              </a:buClr>
              <a:buSzPts val="2800"/>
              <a:buFont typeface="Calibri"/>
              <a:buAutoNum type="alphaLcPeriod"/>
            </a:pPr>
            <a:r>
              <a:rPr lang="en-US" sz="2800">
                <a:solidFill>
                  <a:srgbClr val="002060"/>
                </a:solidFill>
                <a:latin typeface="Calibri"/>
                <a:ea typeface="Calibri"/>
                <a:cs typeface="Calibri"/>
                <a:sym typeface="Calibri"/>
              </a:rPr>
              <a:t>Wajib mengikuti program tutorial dan ujian perbaikan (untuk mata kuliah yang belum memenuhi syarat) pada semester berikutnya; </a:t>
            </a:r>
            <a:endParaRPr sz="2800">
              <a:solidFill>
                <a:srgbClr val="002060"/>
              </a:solidFill>
              <a:latin typeface="Calibri"/>
              <a:ea typeface="Calibri"/>
              <a:cs typeface="Calibri"/>
              <a:sym typeface="Calibri"/>
            </a:endParaRPr>
          </a:p>
          <a:p>
            <a:pPr marL="879475" marR="0" lvl="0" indent="-514350" algn="just" rtl="0">
              <a:spcBef>
                <a:spcPts val="0"/>
              </a:spcBef>
              <a:spcAft>
                <a:spcPts val="0"/>
              </a:spcAft>
              <a:buClr>
                <a:srgbClr val="002060"/>
              </a:buClr>
              <a:buSzPts val="2800"/>
              <a:buFont typeface="Calibri"/>
              <a:buAutoNum type="alphaLcPeriod"/>
            </a:pPr>
            <a:r>
              <a:rPr lang="en-US" sz="2800">
                <a:solidFill>
                  <a:srgbClr val="002060"/>
                </a:solidFill>
                <a:latin typeface="Calibri"/>
                <a:ea typeface="Calibri"/>
                <a:cs typeface="Calibri"/>
                <a:sym typeface="Calibri"/>
              </a:rPr>
              <a:t>Ketentuan lebih lanjut mengenai teknis penyelenggaraan tutorial dan ujian perbaikan akan diberikan pada ketentuan (SOP) yang dibuat Prodi; dan </a:t>
            </a:r>
            <a:endParaRPr sz="2800">
              <a:solidFill>
                <a:srgbClr val="002060"/>
              </a:solidFill>
              <a:latin typeface="Calibri"/>
              <a:ea typeface="Calibri"/>
              <a:cs typeface="Calibri"/>
              <a:sym typeface="Calibri"/>
            </a:endParaRPr>
          </a:p>
          <a:p>
            <a:pPr marL="879475" marR="0" lvl="0" indent="-514350" algn="just" rtl="0">
              <a:spcBef>
                <a:spcPts val="0"/>
              </a:spcBef>
              <a:spcAft>
                <a:spcPts val="0"/>
              </a:spcAft>
              <a:buClr>
                <a:srgbClr val="002060"/>
              </a:buClr>
              <a:buSzPts val="2800"/>
              <a:buFont typeface="Calibri"/>
              <a:buAutoNum type="alphaLcPeriod"/>
            </a:pPr>
            <a:r>
              <a:rPr lang="en-US" sz="2800">
                <a:solidFill>
                  <a:srgbClr val="002060"/>
                </a:solidFill>
                <a:latin typeface="Calibri"/>
                <a:ea typeface="Calibri"/>
                <a:cs typeface="Calibri"/>
                <a:sym typeface="Calibri"/>
              </a:rPr>
              <a:t>Nilai ujian perbaikan yang dapat diperoleh setinggi-tingginya adalah C.</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pic>
        <p:nvPicPr>
          <p:cNvPr id="489" name="Google Shape;489;p22"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490" name="Google Shape;490;p22"/>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1" name="Google Shape;491;p22"/>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2" name="Google Shape;492;p22"/>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93" name="Google Shape;493;p22"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494" name="Google Shape;494;p22"/>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5" name="Google Shape;495;p22"/>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6" name="Google Shape;496;p22"/>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25</a:t>
            </a:fld>
            <a:endParaRPr sz="2400" b="1">
              <a:solidFill>
                <a:srgbClr val="1B449C"/>
              </a:solidFill>
            </a:endParaRPr>
          </a:p>
        </p:txBody>
      </p:sp>
      <p:sp>
        <p:nvSpPr>
          <p:cNvPr id="497" name="Google Shape;497;p22"/>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8" name="Google Shape;498;p22"/>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499" name="Google Shape;499;p22"/>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500" name="Google Shape;500;p22"/>
          <p:cNvSpPr txBox="1"/>
          <p:nvPr/>
        </p:nvSpPr>
        <p:spPr>
          <a:xfrm>
            <a:off x="993886" y="95251"/>
            <a:ext cx="930893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EDOM (Evaluasi Dosen oleh Mahasiswa)</a:t>
            </a:r>
            <a:endParaRPr sz="3600" b="1">
              <a:solidFill>
                <a:schemeClr val="lt1"/>
              </a:solidFill>
              <a:latin typeface="Calibri"/>
              <a:ea typeface="Calibri"/>
              <a:cs typeface="Calibri"/>
              <a:sym typeface="Calibri"/>
            </a:endParaRPr>
          </a:p>
        </p:txBody>
      </p:sp>
      <p:sp>
        <p:nvSpPr>
          <p:cNvPr id="501" name="Google Shape;501;p22"/>
          <p:cNvSpPr txBox="1"/>
          <p:nvPr/>
        </p:nvSpPr>
        <p:spPr>
          <a:xfrm>
            <a:off x="722095" y="1219200"/>
            <a:ext cx="9580727" cy="1815882"/>
          </a:xfrm>
          <a:prstGeom prst="rect">
            <a:avLst/>
          </a:prstGeom>
          <a:noFill/>
          <a:ln>
            <a:noFill/>
          </a:ln>
        </p:spPr>
        <p:txBody>
          <a:bodyPr spcFirstLastPara="1" wrap="square" lIns="91425" tIns="45700" rIns="91425" bIns="45700" anchor="t" anchorCtr="0">
            <a:spAutoFit/>
          </a:bodyPr>
          <a:lstStyle/>
          <a:p>
            <a:pPr marL="365125" marR="0" lvl="0" indent="-365125" algn="l" rtl="0">
              <a:spcBef>
                <a:spcPts val="0"/>
              </a:spcBef>
              <a:spcAft>
                <a:spcPts val="0"/>
              </a:spcAft>
              <a:buClr>
                <a:srgbClr val="002060"/>
              </a:buClr>
              <a:buSzPts val="2800"/>
              <a:buFont typeface="Noto Sans Symbols"/>
              <a:buChar char="⮚"/>
            </a:pPr>
            <a:r>
              <a:rPr lang="en-US" sz="2800">
                <a:solidFill>
                  <a:srgbClr val="002060"/>
                </a:solidFill>
                <a:latin typeface="Calibri"/>
                <a:ea typeface="Calibri"/>
                <a:cs typeface="Calibri"/>
                <a:sym typeface="Calibri"/>
              </a:rPr>
              <a:t>Evaluasi Dosen Oleh Mahasiswa (EDOM) adalah instrumen untuk </a:t>
            </a:r>
            <a:r>
              <a:rPr lang="en-US" sz="2800" b="1">
                <a:solidFill>
                  <a:srgbClr val="002060"/>
                </a:solidFill>
                <a:latin typeface="Calibri"/>
                <a:ea typeface="Calibri"/>
                <a:cs typeface="Calibri"/>
                <a:sym typeface="Calibri"/>
              </a:rPr>
              <a:t>menilai kinerja dosen dalam proses pembelajaran</a:t>
            </a:r>
            <a:r>
              <a:rPr lang="en-US" sz="2800">
                <a:solidFill>
                  <a:srgbClr val="002060"/>
                </a:solidFill>
                <a:latin typeface="Calibri"/>
                <a:ea typeface="Calibri"/>
                <a:cs typeface="Calibri"/>
                <a:sym typeface="Calibri"/>
              </a:rPr>
              <a:t>.</a:t>
            </a:r>
            <a:endParaRPr/>
          </a:p>
          <a:p>
            <a:pPr marL="365125" marR="0" lvl="0" indent="-365125" algn="l" rtl="0">
              <a:spcBef>
                <a:spcPts val="0"/>
              </a:spcBef>
              <a:spcAft>
                <a:spcPts val="0"/>
              </a:spcAft>
              <a:buClr>
                <a:srgbClr val="002060"/>
              </a:buClr>
              <a:buSzPts val="2800"/>
              <a:buFont typeface="Noto Sans Symbols"/>
              <a:buChar char="⮚"/>
            </a:pPr>
            <a:r>
              <a:rPr lang="en-US" sz="2800">
                <a:solidFill>
                  <a:srgbClr val="002060"/>
                </a:solidFill>
                <a:latin typeface="Calibri"/>
                <a:ea typeface="Calibri"/>
                <a:cs typeface="Calibri"/>
                <a:sym typeface="Calibri"/>
              </a:rPr>
              <a:t>EDOM wajib diisi oleh mahasiswa melalui SIPADU dua kali selama satu semester (setelah pelaksanaan UTS dan UAS)</a:t>
            </a:r>
            <a:endParaRPr sz="2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pic>
        <p:nvPicPr>
          <p:cNvPr id="507" name="Google Shape;507;p23" descr="A picture containing outdoor, city, town, road&#10;&#10;Description automatically generated"/>
          <p:cNvPicPr preferRelativeResize="0"/>
          <p:nvPr/>
        </p:nvPicPr>
        <p:blipFill rotWithShape="1">
          <a:blip r:embed="rId3">
            <a:alphaModFix/>
          </a:blip>
          <a:srcRect/>
          <a:stretch/>
        </p:blipFill>
        <p:spPr>
          <a:xfrm>
            <a:off x="6859846" y="0"/>
            <a:ext cx="9143634" cy="6858000"/>
          </a:xfrm>
          <a:prstGeom prst="rect">
            <a:avLst/>
          </a:prstGeom>
          <a:noFill/>
          <a:ln>
            <a:noFill/>
          </a:ln>
        </p:spPr>
      </p:pic>
      <p:sp>
        <p:nvSpPr>
          <p:cNvPr id="508" name="Google Shape;508;p23"/>
          <p:cNvSpPr/>
          <p:nvPr/>
        </p:nvSpPr>
        <p:spPr>
          <a:xfrm>
            <a:off x="-26417" y="168269"/>
            <a:ext cx="12102275" cy="6858001"/>
          </a:xfrm>
          <a:custGeom>
            <a:avLst/>
            <a:gdLst/>
            <a:ahLst/>
            <a:cxnLst/>
            <a:rect l="l" t="t" r="r" b="b"/>
            <a:pathLst>
              <a:path w="12102275" h="6858001" extrusionOk="0">
                <a:moveTo>
                  <a:pt x="0" y="0"/>
                </a:moveTo>
                <a:lnTo>
                  <a:pt x="3947886" y="0"/>
                </a:lnTo>
                <a:lnTo>
                  <a:pt x="3947886" y="1"/>
                </a:lnTo>
                <a:lnTo>
                  <a:pt x="12102275" y="1"/>
                </a:lnTo>
                <a:lnTo>
                  <a:pt x="10014164" y="6858000"/>
                </a:lnTo>
                <a:lnTo>
                  <a:pt x="9272803" y="6858000"/>
                </a:lnTo>
                <a:lnTo>
                  <a:pt x="9272802" y="6858001"/>
                </a:lnTo>
                <a:lnTo>
                  <a:pt x="2022928" y="6858001"/>
                </a:lnTo>
                <a:lnTo>
                  <a:pt x="2022928"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9" name="Google Shape;509;p23"/>
          <p:cNvSpPr/>
          <p:nvPr/>
        </p:nvSpPr>
        <p:spPr>
          <a:xfrm>
            <a:off x="9997153" y="0"/>
            <a:ext cx="2279290" cy="6858000"/>
          </a:xfrm>
          <a:custGeom>
            <a:avLst/>
            <a:gdLst/>
            <a:ahLst/>
            <a:cxnLst/>
            <a:rect l="l" t="t" r="r" b="b"/>
            <a:pathLst>
              <a:path w="2279290" h="6858000" extrusionOk="0">
                <a:moveTo>
                  <a:pt x="2088111" y="0"/>
                </a:moveTo>
                <a:lnTo>
                  <a:pt x="2279290" y="0"/>
                </a:lnTo>
                <a:lnTo>
                  <a:pt x="185433" y="6858000"/>
                </a:lnTo>
                <a:lnTo>
                  <a:pt x="0" y="6858000"/>
                </a:lnTo>
                <a:lnTo>
                  <a:pt x="2088111" y="0"/>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0" name="Google Shape;510;p23"/>
          <p:cNvSpPr/>
          <p:nvPr/>
        </p:nvSpPr>
        <p:spPr>
          <a:xfrm>
            <a:off x="-27297" y="-1"/>
            <a:ext cx="9479828" cy="807323"/>
          </a:xfrm>
          <a:custGeom>
            <a:avLst/>
            <a:gdLst/>
            <a:ahLst/>
            <a:cxnLst/>
            <a:rect l="l" t="t" r="r" b="b"/>
            <a:pathLst>
              <a:path w="9479828" h="807323" extrusionOk="0">
                <a:moveTo>
                  <a:pt x="3456704" y="0"/>
                </a:moveTo>
                <a:lnTo>
                  <a:pt x="3890420" y="0"/>
                </a:lnTo>
                <a:lnTo>
                  <a:pt x="3890420" y="1"/>
                </a:lnTo>
                <a:lnTo>
                  <a:pt x="4314819" y="1"/>
                </a:lnTo>
                <a:lnTo>
                  <a:pt x="4471804" y="1"/>
                </a:lnTo>
                <a:lnTo>
                  <a:pt x="4490109" y="1"/>
                </a:lnTo>
                <a:lnTo>
                  <a:pt x="9479828" y="1"/>
                </a:lnTo>
                <a:lnTo>
                  <a:pt x="9233340" y="807322"/>
                </a:lnTo>
                <a:lnTo>
                  <a:pt x="4490109" y="807322"/>
                </a:lnTo>
                <a:lnTo>
                  <a:pt x="4471804" y="807322"/>
                </a:lnTo>
                <a:lnTo>
                  <a:pt x="4471804" y="807323"/>
                </a:lnTo>
                <a:lnTo>
                  <a:pt x="3890420" y="807323"/>
                </a:lnTo>
                <a:lnTo>
                  <a:pt x="3456704" y="807323"/>
                </a:lnTo>
                <a:lnTo>
                  <a:pt x="2763423" y="807323"/>
                </a:lnTo>
                <a:lnTo>
                  <a:pt x="2343507" y="807323"/>
                </a:lnTo>
                <a:lnTo>
                  <a:pt x="907427" y="807323"/>
                </a:lnTo>
                <a:lnTo>
                  <a:pt x="629823" y="807323"/>
                </a:lnTo>
                <a:lnTo>
                  <a:pt x="0" y="807323"/>
                </a:lnTo>
                <a:lnTo>
                  <a:pt x="0" y="1"/>
                </a:lnTo>
                <a:lnTo>
                  <a:pt x="629823" y="1"/>
                </a:lnTo>
                <a:lnTo>
                  <a:pt x="907427" y="1"/>
                </a:lnTo>
                <a:lnTo>
                  <a:pt x="2343507" y="1"/>
                </a:lnTo>
                <a:lnTo>
                  <a:pt x="3456704" y="1"/>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11" name="Google Shape;511;p23" descr="Logo&#10;&#10;Description automatically generated"/>
          <p:cNvPicPr preferRelativeResize="0"/>
          <p:nvPr/>
        </p:nvPicPr>
        <p:blipFill rotWithShape="1">
          <a:blip r:embed="rId4">
            <a:alphaModFix/>
          </a:blip>
          <a:srcRect/>
          <a:stretch/>
        </p:blipFill>
        <p:spPr>
          <a:xfrm>
            <a:off x="250627" y="89589"/>
            <a:ext cx="607786" cy="607786"/>
          </a:xfrm>
          <a:prstGeom prst="rect">
            <a:avLst/>
          </a:prstGeom>
          <a:noFill/>
          <a:ln>
            <a:noFill/>
          </a:ln>
        </p:spPr>
      </p:pic>
      <p:sp>
        <p:nvSpPr>
          <p:cNvPr id="512" name="Google Shape;512;p23"/>
          <p:cNvSpPr/>
          <p:nvPr/>
        </p:nvSpPr>
        <p:spPr>
          <a:xfrm>
            <a:off x="10302822" y="0"/>
            <a:ext cx="5700658" cy="6858000"/>
          </a:xfrm>
          <a:custGeom>
            <a:avLst/>
            <a:gdLst/>
            <a:ahLst/>
            <a:cxnLst/>
            <a:rect l="l" t="t" r="r" b="b"/>
            <a:pathLst>
              <a:path w="5700658" h="6858000" extrusionOk="0">
                <a:moveTo>
                  <a:pt x="2093858" y="0"/>
                </a:moveTo>
                <a:lnTo>
                  <a:pt x="5700658" y="0"/>
                </a:lnTo>
                <a:lnTo>
                  <a:pt x="5700658" y="6858000"/>
                </a:lnTo>
                <a:lnTo>
                  <a:pt x="0" y="6858000"/>
                </a:lnTo>
                <a:lnTo>
                  <a:pt x="2093858" y="0"/>
                </a:lnTo>
                <a:close/>
              </a:path>
            </a:pathLst>
          </a:cu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3" name="Google Shape;513;p23"/>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4" name="Google Shape;514;p23"/>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26</a:t>
            </a:fld>
            <a:endParaRPr sz="2400" b="1">
              <a:solidFill>
                <a:srgbClr val="1B449C"/>
              </a:solidFill>
            </a:endParaRPr>
          </a:p>
        </p:txBody>
      </p:sp>
      <p:sp>
        <p:nvSpPr>
          <p:cNvPr id="515" name="Google Shape;515;p23"/>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6" name="Google Shape;516;p23"/>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517" name="Google Shape;517;p23"/>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518" name="Google Shape;518;p23"/>
          <p:cNvSpPr txBox="1"/>
          <p:nvPr/>
        </p:nvSpPr>
        <p:spPr>
          <a:xfrm>
            <a:off x="993886" y="95251"/>
            <a:ext cx="930893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lt1"/>
                </a:solidFill>
                <a:latin typeface="Calibri"/>
                <a:ea typeface="Calibri"/>
                <a:cs typeface="Calibri"/>
                <a:sym typeface="Calibri"/>
              </a:rPr>
              <a:t>REFERENSI</a:t>
            </a:r>
            <a:endParaRPr sz="3600" b="1">
              <a:solidFill>
                <a:schemeClr val="lt1"/>
              </a:solidFill>
              <a:latin typeface="Calibri"/>
              <a:ea typeface="Calibri"/>
              <a:cs typeface="Calibri"/>
              <a:sym typeface="Calibri"/>
            </a:endParaRPr>
          </a:p>
        </p:txBody>
      </p:sp>
      <p:sp>
        <p:nvSpPr>
          <p:cNvPr id="519" name="Google Shape;519;p23"/>
          <p:cNvSpPr txBox="1"/>
          <p:nvPr/>
        </p:nvSpPr>
        <p:spPr>
          <a:xfrm>
            <a:off x="650240" y="1503680"/>
            <a:ext cx="9652582" cy="2677656"/>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002060"/>
              </a:buClr>
              <a:buSzPts val="2800"/>
              <a:buFont typeface="Calibri"/>
              <a:buAutoNum type="arabicPeriod"/>
            </a:pPr>
            <a:r>
              <a:rPr lang="en-US" sz="2800" dirty="0" err="1">
                <a:solidFill>
                  <a:srgbClr val="002060"/>
                </a:solidFill>
                <a:latin typeface="Calibri"/>
                <a:ea typeface="Calibri"/>
                <a:cs typeface="Calibri"/>
                <a:sym typeface="Calibri"/>
              </a:rPr>
              <a:t>Perdir</a:t>
            </a:r>
            <a:r>
              <a:rPr lang="en-US" sz="2800" dirty="0">
                <a:solidFill>
                  <a:srgbClr val="002060"/>
                </a:solidFill>
                <a:latin typeface="Calibri"/>
                <a:ea typeface="Calibri"/>
                <a:cs typeface="Calibri"/>
                <a:sym typeface="Calibri"/>
              </a:rPr>
              <a:t> No. 002 </a:t>
            </a:r>
            <a:r>
              <a:rPr lang="en-US" sz="2800" dirty="0" err="1">
                <a:solidFill>
                  <a:srgbClr val="002060"/>
                </a:solidFill>
                <a:latin typeface="Calibri"/>
                <a:ea typeface="Calibri"/>
                <a:cs typeface="Calibri"/>
                <a:sym typeface="Calibri"/>
              </a:rPr>
              <a:t>Tahun</a:t>
            </a:r>
            <a:r>
              <a:rPr lang="en-US" sz="2800" dirty="0">
                <a:solidFill>
                  <a:srgbClr val="002060"/>
                </a:solidFill>
                <a:latin typeface="Calibri"/>
                <a:ea typeface="Calibri"/>
                <a:cs typeface="Calibri"/>
                <a:sym typeface="Calibri"/>
              </a:rPr>
              <a:t> 2020 </a:t>
            </a:r>
            <a:r>
              <a:rPr lang="en-US" sz="2800" dirty="0" err="1">
                <a:solidFill>
                  <a:srgbClr val="002060"/>
                </a:solidFill>
                <a:latin typeface="Calibri"/>
                <a:ea typeface="Calibri"/>
                <a:cs typeface="Calibri"/>
                <a:sym typeface="Calibri"/>
              </a:rPr>
              <a:t>tentang</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Pedoman</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Penyelenggaraan</a:t>
            </a:r>
            <a:r>
              <a:rPr lang="en-US" sz="2800" dirty="0">
                <a:solidFill>
                  <a:srgbClr val="002060"/>
                </a:solidFill>
                <a:latin typeface="Calibri"/>
                <a:ea typeface="Calibri"/>
                <a:cs typeface="Calibri"/>
                <a:sym typeface="Calibri"/>
              </a:rPr>
              <a:t> Pendidikan di </a:t>
            </a:r>
            <a:r>
              <a:rPr lang="en-US" sz="2800" dirty="0" err="1">
                <a:solidFill>
                  <a:srgbClr val="002060"/>
                </a:solidFill>
                <a:latin typeface="Calibri"/>
                <a:ea typeface="Calibri"/>
                <a:cs typeface="Calibri"/>
                <a:sym typeface="Calibri"/>
              </a:rPr>
              <a:t>Politeknik</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Statistika</a:t>
            </a:r>
            <a:r>
              <a:rPr lang="en-US" sz="2800" dirty="0">
                <a:solidFill>
                  <a:srgbClr val="002060"/>
                </a:solidFill>
                <a:latin typeface="Calibri"/>
                <a:ea typeface="Calibri"/>
                <a:cs typeface="Calibri"/>
                <a:sym typeface="Calibri"/>
              </a:rPr>
              <a:t> STIS</a:t>
            </a:r>
            <a:endParaRPr dirty="0"/>
          </a:p>
          <a:p>
            <a:pPr marL="342900" marR="0" lvl="0" indent="-342900" algn="l" rtl="0">
              <a:spcBef>
                <a:spcPts val="0"/>
              </a:spcBef>
              <a:spcAft>
                <a:spcPts val="0"/>
              </a:spcAft>
              <a:buClr>
                <a:srgbClr val="002060"/>
              </a:buClr>
              <a:buSzPts val="2800"/>
              <a:buFont typeface="Calibri"/>
              <a:buAutoNum type="arabicPeriod"/>
            </a:pPr>
            <a:r>
              <a:rPr lang="en-US" sz="2800" dirty="0" err="1">
                <a:solidFill>
                  <a:srgbClr val="002060"/>
                </a:solidFill>
                <a:latin typeface="Calibri"/>
                <a:ea typeface="Calibri"/>
                <a:cs typeface="Calibri"/>
                <a:sym typeface="Calibri"/>
              </a:rPr>
              <a:t>Perdir</a:t>
            </a:r>
            <a:r>
              <a:rPr lang="en-US" sz="2800" dirty="0">
                <a:solidFill>
                  <a:srgbClr val="002060"/>
                </a:solidFill>
                <a:latin typeface="Calibri"/>
                <a:ea typeface="Calibri"/>
                <a:cs typeface="Calibri"/>
                <a:sym typeface="Calibri"/>
              </a:rPr>
              <a:t> No. 003 </a:t>
            </a:r>
            <a:r>
              <a:rPr lang="en-US" sz="2800" dirty="0" err="1">
                <a:solidFill>
                  <a:srgbClr val="002060"/>
                </a:solidFill>
                <a:latin typeface="Calibri"/>
                <a:ea typeface="Calibri"/>
                <a:cs typeface="Calibri"/>
                <a:sym typeface="Calibri"/>
              </a:rPr>
              <a:t>Tahun</a:t>
            </a:r>
            <a:r>
              <a:rPr lang="en-US" sz="2800" dirty="0">
                <a:solidFill>
                  <a:srgbClr val="002060"/>
                </a:solidFill>
                <a:latin typeface="Calibri"/>
                <a:ea typeface="Calibri"/>
                <a:cs typeface="Calibri"/>
                <a:sym typeface="Calibri"/>
              </a:rPr>
              <a:t> 2020 </a:t>
            </a:r>
            <a:r>
              <a:rPr lang="en-US" sz="2800" dirty="0" err="1">
                <a:solidFill>
                  <a:srgbClr val="002060"/>
                </a:solidFill>
                <a:latin typeface="Calibri"/>
                <a:ea typeface="Calibri"/>
                <a:cs typeface="Calibri"/>
                <a:sym typeface="Calibri"/>
              </a:rPr>
              <a:t>tentang</a:t>
            </a:r>
            <a:r>
              <a:rPr lang="en-US" sz="2800" dirty="0">
                <a:solidFill>
                  <a:srgbClr val="002060"/>
                </a:solidFill>
                <a:latin typeface="Calibri"/>
                <a:ea typeface="Calibri"/>
                <a:cs typeface="Calibri"/>
                <a:sym typeface="Calibri"/>
              </a:rPr>
              <a:t> Kode </a:t>
            </a:r>
            <a:r>
              <a:rPr lang="en-US" sz="2800" dirty="0" err="1">
                <a:solidFill>
                  <a:srgbClr val="002060"/>
                </a:solidFill>
                <a:latin typeface="Calibri"/>
                <a:ea typeface="Calibri"/>
                <a:cs typeface="Calibri"/>
                <a:sym typeface="Calibri"/>
              </a:rPr>
              <a:t>Etik</a:t>
            </a:r>
            <a:r>
              <a:rPr lang="en-US" sz="2800" dirty="0">
                <a:solidFill>
                  <a:srgbClr val="002060"/>
                </a:solidFill>
                <a:latin typeface="Calibri"/>
                <a:ea typeface="Calibri"/>
                <a:cs typeface="Calibri"/>
                <a:sym typeface="Calibri"/>
              </a:rPr>
              <a:t> dan Tata </a:t>
            </a:r>
            <a:r>
              <a:rPr lang="en-US" sz="2800" dirty="0" err="1">
                <a:solidFill>
                  <a:srgbClr val="002060"/>
                </a:solidFill>
                <a:latin typeface="Calibri"/>
                <a:ea typeface="Calibri"/>
                <a:cs typeface="Calibri"/>
                <a:sym typeface="Calibri"/>
              </a:rPr>
              <a:t>Tertib</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Mahasiswa</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Politeknik</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Statistika</a:t>
            </a:r>
            <a:r>
              <a:rPr lang="en-US" sz="2800" dirty="0">
                <a:solidFill>
                  <a:srgbClr val="002060"/>
                </a:solidFill>
                <a:latin typeface="Calibri"/>
                <a:ea typeface="Calibri"/>
                <a:cs typeface="Calibri"/>
                <a:sym typeface="Calibri"/>
              </a:rPr>
              <a:t> STIS</a:t>
            </a:r>
            <a:endParaRPr dirty="0"/>
          </a:p>
          <a:p>
            <a:pPr marL="342900" marR="0" lvl="0" indent="-342900" algn="l" rtl="0">
              <a:spcBef>
                <a:spcPts val="0"/>
              </a:spcBef>
              <a:spcAft>
                <a:spcPts val="0"/>
              </a:spcAft>
              <a:buClr>
                <a:srgbClr val="002060"/>
              </a:buClr>
              <a:buSzPts val="2800"/>
              <a:buFont typeface="Calibri"/>
              <a:buAutoNum type="arabicPeriod"/>
            </a:pPr>
            <a:r>
              <a:rPr lang="en-US" sz="2800" dirty="0">
                <a:solidFill>
                  <a:srgbClr val="002060"/>
                </a:solidFill>
                <a:latin typeface="Calibri"/>
                <a:ea typeface="Calibri"/>
                <a:cs typeface="Calibri"/>
                <a:sym typeface="Calibri"/>
              </a:rPr>
              <a:t>SK </a:t>
            </a:r>
            <a:r>
              <a:rPr lang="en-US" sz="2800" dirty="0" err="1">
                <a:solidFill>
                  <a:srgbClr val="002060"/>
                </a:solidFill>
                <a:latin typeface="Calibri"/>
                <a:ea typeface="Calibri"/>
                <a:cs typeface="Calibri"/>
                <a:sym typeface="Calibri"/>
              </a:rPr>
              <a:t>Direktur</a:t>
            </a:r>
            <a:r>
              <a:rPr lang="en-US" sz="2800" dirty="0">
                <a:solidFill>
                  <a:srgbClr val="002060"/>
                </a:solidFill>
                <a:latin typeface="Calibri"/>
                <a:ea typeface="Calibri"/>
                <a:cs typeface="Calibri"/>
                <a:sym typeface="Calibri"/>
              </a:rPr>
              <a:t> No. 50 </a:t>
            </a:r>
            <a:r>
              <a:rPr lang="en-US" sz="2800" dirty="0" err="1">
                <a:solidFill>
                  <a:srgbClr val="002060"/>
                </a:solidFill>
                <a:latin typeface="Calibri"/>
                <a:ea typeface="Calibri"/>
                <a:cs typeface="Calibri"/>
                <a:sym typeface="Calibri"/>
              </a:rPr>
              <a:t>tahun</a:t>
            </a:r>
            <a:r>
              <a:rPr lang="en-US" sz="2800" dirty="0">
                <a:solidFill>
                  <a:srgbClr val="002060"/>
                </a:solidFill>
                <a:latin typeface="Calibri"/>
                <a:ea typeface="Calibri"/>
                <a:cs typeface="Calibri"/>
                <a:sym typeface="Calibri"/>
              </a:rPr>
              <a:t> 2024 </a:t>
            </a:r>
            <a:r>
              <a:rPr lang="en-US" sz="2800" dirty="0" err="1">
                <a:solidFill>
                  <a:srgbClr val="002060"/>
                </a:solidFill>
                <a:latin typeface="Calibri"/>
                <a:ea typeface="Calibri"/>
                <a:cs typeface="Calibri"/>
                <a:sym typeface="Calibri"/>
              </a:rPr>
              <a:t>tentang</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Kalender</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Akademik</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Politeknik</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Statistika</a:t>
            </a:r>
            <a:r>
              <a:rPr lang="en-US" sz="2800" dirty="0">
                <a:solidFill>
                  <a:srgbClr val="002060"/>
                </a:solidFill>
                <a:latin typeface="Calibri"/>
                <a:ea typeface="Calibri"/>
                <a:cs typeface="Calibri"/>
                <a:sym typeface="Calibri"/>
              </a:rPr>
              <a:t> STIS </a:t>
            </a:r>
            <a:r>
              <a:rPr lang="en-US" sz="2800" dirty="0" err="1">
                <a:solidFill>
                  <a:srgbClr val="002060"/>
                </a:solidFill>
                <a:latin typeface="Calibri"/>
                <a:ea typeface="Calibri"/>
                <a:cs typeface="Calibri"/>
                <a:sym typeface="Calibri"/>
              </a:rPr>
              <a:t>Tahun</a:t>
            </a:r>
            <a:r>
              <a:rPr lang="en-US" sz="2800" dirty="0">
                <a:solidFill>
                  <a:srgbClr val="002060"/>
                </a:solidFill>
                <a:latin typeface="Calibri"/>
                <a:ea typeface="Calibri"/>
                <a:cs typeface="Calibri"/>
                <a:sym typeface="Calibri"/>
              </a:rPr>
              <a:t> </a:t>
            </a:r>
            <a:r>
              <a:rPr lang="en-US" sz="2800" dirty="0" err="1">
                <a:solidFill>
                  <a:srgbClr val="002060"/>
                </a:solidFill>
                <a:latin typeface="Calibri"/>
                <a:ea typeface="Calibri"/>
                <a:cs typeface="Calibri"/>
                <a:sym typeface="Calibri"/>
              </a:rPr>
              <a:t>Akademik</a:t>
            </a:r>
            <a:r>
              <a:rPr lang="en-US" sz="2800" dirty="0">
                <a:solidFill>
                  <a:srgbClr val="002060"/>
                </a:solidFill>
                <a:latin typeface="Calibri"/>
                <a:ea typeface="Calibri"/>
                <a:cs typeface="Calibri"/>
                <a:sym typeface="Calibri"/>
              </a:rPr>
              <a:t> 2024/2025</a:t>
            </a:r>
            <a:endParaRPr sz="2800" dirty="0">
              <a:solidFill>
                <a:srgbClr val="00206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24"/>
          <p:cNvSpPr/>
          <p:nvPr/>
        </p:nvSpPr>
        <p:spPr>
          <a:xfrm rot="10800000">
            <a:off x="11079819" y="6128722"/>
            <a:ext cx="390086" cy="729279"/>
          </a:xfrm>
          <a:custGeom>
            <a:avLst/>
            <a:gdLst/>
            <a:ahLst/>
            <a:cxnLst/>
            <a:rect l="l" t="t" r="r" b="b"/>
            <a:pathLst>
              <a:path w="390086" h="729279" extrusionOk="0">
                <a:moveTo>
                  <a:pt x="167426" y="729279"/>
                </a:moveTo>
                <a:lnTo>
                  <a:pt x="0" y="729279"/>
                </a:lnTo>
                <a:lnTo>
                  <a:pt x="222659" y="2"/>
                </a:lnTo>
                <a:lnTo>
                  <a:pt x="390086" y="0"/>
                </a:lnTo>
                <a:lnTo>
                  <a:pt x="167426" y="729279"/>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5" name="Google Shape;525;p24"/>
          <p:cNvSpPr txBox="1">
            <a:spLocks noGrp="1"/>
          </p:cNvSpPr>
          <p:nvPr>
            <p:ph type="sldNum" idx="12"/>
          </p:nvPr>
        </p:nvSpPr>
        <p:spPr>
          <a:xfrm>
            <a:off x="11473519" y="6309695"/>
            <a:ext cx="54967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2400" b="1">
                <a:solidFill>
                  <a:srgbClr val="1B449C"/>
                </a:solidFill>
              </a:rPr>
              <a:t>27</a:t>
            </a:fld>
            <a:endParaRPr sz="2400" b="1">
              <a:solidFill>
                <a:srgbClr val="1B449C"/>
              </a:solidFill>
            </a:endParaRPr>
          </a:p>
        </p:txBody>
      </p:sp>
      <p:sp>
        <p:nvSpPr>
          <p:cNvPr id="526" name="Google Shape;526;p24"/>
          <p:cNvSpPr/>
          <p:nvPr/>
        </p:nvSpPr>
        <p:spPr>
          <a:xfrm rot="10800000">
            <a:off x="10679155" y="6381259"/>
            <a:ext cx="475056" cy="476741"/>
          </a:xfrm>
          <a:custGeom>
            <a:avLst/>
            <a:gdLst/>
            <a:ahLst/>
            <a:cxnLst/>
            <a:rect l="l" t="t" r="r" b="b"/>
            <a:pathLst>
              <a:path w="475056" h="476741" extrusionOk="0">
                <a:moveTo>
                  <a:pt x="329500" y="476741"/>
                </a:moveTo>
                <a:lnTo>
                  <a:pt x="263073" y="476741"/>
                </a:lnTo>
                <a:lnTo>
                  <a:pt x="220051" y="476741"/>
                </a:lnTo>
                <a:lnTo>
                  <a:pt x="175876" y="476741"/>
                </a:lnTo>
                <a:lnTo>
                  <a:pt x="153624" y="476741"/>
                </a:lnTo>
                <a:lnTo>
                  <a:pt x="109449" y="476741"/>
                </a:lnTo>
                <a:lnTo>
                  <a:pt x="66427" y="476741"/>
                </a:lnTo>
                <a:lnTo>
                  <a:pt x="0" y="476741"/>
                </a:lnTo>
                <a:lnTo>
                  <a:pt x="145555" y="1"/>
                </a:lnTo>
                <a:lnTo>
                  <a:pt x="255005" y="0"/>
                </a:lnTo>
                <a:lnTo>
                  <a:pt x="255005" y="1"/>
                </a:lnTo>
                <a:lnTo>
                  <a:pt x="321432" y="0"/>
                </a:lnTo>
                <a:lnTo>
                  <a:pt x="321432" y="1"/>
                </a:lnTo>
                <a:lnTo>
                  <a:pt x="408629" y="0"/>
                </a:lnTo>
                <a:lnTo>
                  <a:pt x="408629" y="1"/>
                </a:lnTo>
                <a:lnTo>
                  <a:pt x="475056" y="0"/>
                </a:lnTo>
                <a:close/>
              </a:path>
            </a:pathLst>
          </a:cu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7" name="Google Shape;527;p24"/>
          <p:cNvSpPr/>
          <p:nvPr/>
        </p:nvSpPr>
        <p:spPr>
          <a:xfrm rot="10800000">
            <a:off x="-1" y="0"/>
            <a:ext cx="1279580" cy="4191000"/>
          </a:xfrm>
          <a:custGeom>
            <a:avLst/>
            <a:gdLst/>
            <a:ahLst/>
            <a:cxnLst/>
            <a:rect l="l" t="t" r="r" b="b"/>
            <a:pathLst>
              <a:path w="1702042" h="5574687" extrusionOk="0">
                <a:moveTo>
                  <a:pt x="1702042" y="5574687"/>
                </a:moveTo>
                <a:lnTo>
                  <a:pt x="0" y="5574687"/>
                </a:lnTo>
                <a:lnTo>
                  <a:pt x="1702042" y="0"/>
                </a:lnTo>
                <a:close/>
              </a:path>
            </a:pathLst>
          </a:custGeom>
          <a:solidFill>
            <a:srgbClr val="1B4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8" name="Google Shape;528;p24"/>
          <p:cNvSpPr/>
          <p:nvPr/>
        </p:nvSpPr>
        <p:spPr>
          <a:xfrm rot="10800000">
            <a:off x="250627" y="1006045"/>
            <a:ext cx="825074" cy="2049661"/>
          </a:xfrm>
          <a:custGeom>
            <a:avLst/>
            <a:gdLst/>
            <a:ahLst/>
            <a:cxnLst/>
            <a:rect l="l" t="t" r="r" b="b"/>
            <a:pathLst>
              <a:path w="1097478" h="2726371" extrusionOk="0">
                <a:moveTo>
                  <a:pt x="265073" y="2726371"/>
                </a:moveTo>
                <a:lnTo>
                  <a:pt x="0" y="2726369"/>
                </a:lnTo>
                <a:lnTo>
                  <a:pt x="832404" y="0"/>
                </a:lnTo>
                <a:lnTo>
                  <a:pt x="1097478" y="0"/>
                </a:lnTo>
                <a:lnTo>
                  <a:pt x="265073" y="2726371"/>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29" name="Google Shape;529;p24" descr="Logo&#10;&#10;Description automatically generated"/>
          <p:cNvPicPr preferRelativeResize="0"/>
          <p:nvPr/>
        </p:nvPicPr>
        <p:blipFill rotWithShape="1">
          <a:blip r:embed="rId3">
            <a:alphaModFix/>
          </a:blip>
          <a:srcRect/>
          <a:stretch/>
        </p:blipFill>
        <p:spPr>
          <a:xfrm>
            <a:off x="250627" y="89589"/>
            <a:ext cx="607786" cy="607786"/>
          </a:xfrm>
          <a:prstGeom prst="rect">
            <a:avLst/>
          </a:prstGeom>
          <a:noFill/>
          <a:ln>
            <a:noFill/>
          </a:ln>
        </p:spPr>
      </p:pic>
      <p:sp>
        <p:nvSpPr>
          <p:cNvPr id="530" name="Google Shape;530;p24"/>
          <p:cNvSpPr txBox="1"/>
          <p:nvPr/>
        </p:nvSpPr>
        <p:spPr>
          <a:xfrm>
            <a:off x="9506245" y="168269"/>
            <a:ext cx="25696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1B449C"/>
                </a:solidFill>
                <a:latin typeface="Calibri"/>
                <a:ea typeface="Calibri"/>
                <a:cs typeface="Calibri"/>
                <a:sym typeface="Calibri"/>
              </a:rPr>
              <a:t>For Better Official Statistics</a:t>
            </a:r>
            <a:endParaRPr sz="1600" i="1">
              <a:solidFill>
                <a:srgbClr val="1B449C"/>
              </a:solidFill>
              <a:latin typeface="Calibri"/>
              <a:ea typeface="Calibri"/>
              <a:cs typeface="Calibri"/>
              <a:sym typeface="Calibri"/>
            </a:endParaRPr>
          </a:p>
        </p:txBody>
      </p:sp>
      <p:sp>
        <p:nvSpPr>
          <p:cNvPr id="531" name="Google Shape;531;p24"/>
          <p:cNvSpPr/>
          <p:nvPr/>
        </p:nvSpPr>
        <p:spPr>
          <a:xfrm>
            <a:off x="9404398" y="87880"/>
            <a:ext cx="201148" cy="499331"/>
          </a:xfrm>
          <a:prstGeom prst="parallelogram">
            <a:avLst>
              <a:gd name="adj" fmla="val 71688"/>
            </a:avLst>
          </a:prstGeom>
          <a:solidFill>
            <a:srgbClr val="B4E8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532" name="Google Shape;532;p24"/>
          <p:cNvSpPr/>
          <p:nvPr/>
        </p:nvSpPr>
        <p:spPr>
          <a:xfrm>
            <a:off x="11819757" y="151626"/>
            <a:ext cx="270280" cy="499331"/>
          </a:xfrm>
          <a:custGeom>
            <a:avLst/>
            <a:gdLst/>
            <a:ahLst/>
            <a:cxnLst/>
            <a:rect l="l" t="t" r="r" b="b"/>
            <a:pathLst>
              <a:path w="436991" h="807322" extrusionOk="0">
                <a:moveTo>
                  <a:pt x="245812" y="0"/>
                </a:moveTo>
                <a:lnTo>
                  <a:pt x="436991" y="0"/>
                </a:lnTo>
                <a:lnTo>
                  <a:pt x="190503" y="807322"/>
                </a:lnTo>
                <a:lnTo>
                  <a:pt x="0" y="807322"/>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3" name="Google Shape;533;p24"/>
          <p:cNvSpPr/>
          <p:nvPr/>
        </p:nvSpPr>
        <p:spPr>
          <a:xfrm>
            <a:off x="12023191" y="48463"/>
            <a:ext cx="270280" cy="499331"/>
          </a:xfrm>
          <a:custGeom>
            <a:avLst/>
            <a:gdLst/>
            <a:ahLst/>
            <a:cxnLst/>
            <a:rect l="l" t="t" r="r" b="b"/>
            <a:pathLst>
              <a:path w="436991" h="807322" extrusionOk="0">
                <a:moveTo>
                  <a:pt x="245812" y="0"/>
                </a:moveTo>
                <a:lnTo>
                  <a:pt x="436991" y="0"/>
                </a:lnTo>
                <a:lnTo>
                  <a:pt x="190503" y="807322"/>
                </a:lnTo>
                <a:lnTo>
                  <a:pt x="0" y="807322"/>
                </a:lnTo>
                <a:close/>
              </a:path>
            </a:pathLst>
          </a:custGeom>
          <a:solidFill>
            <a:srgbClr val="EA9E2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4" name="Google Shape;534;p24"/>
          <p:cNvSpPr txBox="1"/>
          <p:nvPr/>
        </p:nvSpPr>
        <p:spPr>
          <a:xfrm>
            <a:off x="1987488" y="2729839"/>
            <a:ext cx="9760867"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a:solidFill>
                  <a:schemeClr val="dk1"/>
                </a:solidFill>
                <a:latin typeface="Calibri"/>
                <a:ea typeface="Calibri"/>
                <a:cs typeface="Calibri"/>
                <a:sym typeface="Calibri"/>
              </a:rPr>
              <a:t>Terima kasih</a:t>
            </a:r>
            <a:endParaRPr sz="6000" b="1">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5296</TotalTime>
  <Words>2226</Words>
  <Application>Microsoft Office PowerPoint</Application>
  <PresentationFormat>Widescreen</PresentationFormat>
  <Paragraphs>327</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Noto Sans Symbols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Isfan Nur Fauzi</dc:creator>
  <cp:lastModifiedBy>Tio</cp:lastModifiedBy>
  <cp:revision>19</cp:revision>
  <dcterms:created xsi:type="dcterms:W3CDTF">2021-02-05T06:37:09Z</dcterms:created>
  <dcterms:modified xsi:type="dcterms:W3CDTF">2026-03-02T05:44:00Z</dcterms:modified>
</cp:coreProperties>
</file>